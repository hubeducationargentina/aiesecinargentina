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Lst>
  <p:sldSz cy="5143500" cx="9144000"/>
  <p:notesSz cx="6858000" cy="9144000"/>
  <p:embeddedFontLst>
    <p:embeddedFont>
      <p:font typeface="Nunito"/>
      <p:regular r:id="rId9"/>
      <p:bold r:id="rId10"/>
      <p:italic r:id="rId11"/>
      <p:boldItalic r:id="rId12"/>
    </p:embeddedFont>
    <p:embeddedFont>
      <p:font typeface="Lato"/>
      <p:regular r:id="rId13"/>
      <p:bold r:id="rId14"/>
      <p:italic r:id="rId15"/>
      <p:boldItalic r:id="rId16"/>
    </p:embeddedFont>
    <p:embeddedFont>
      <p:font typeface="Montserrat"/>
      <p:regular r:id="rId17"/>
      <p:bold r:id="rId18"/>
      <p:italic r:id="rId19"/>
      <p:boldItalic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Montserrat-boldItalic.fntdata"/><Relationship Id="rId11" Type="http://schemas.openxmlformats.org/officeDocument/2006/relationships/font" Target="fonts/Nunito-italic.fntdata"/><Relationship Id="rId10" Type="http://schemas.openxmlformats.org/officeDocument/2006/relationships/font" Target="fonts/Nunito-bold.fntdata"/><Relationship Id="rId13" Type="http://schemas.openxmlformats.org/officeDocument/2006/relationships/font" Target="fonts/Lato-regular.fntdata"/><Relationship Id="rId12" Type="http://schemas.openxmlformats.org/officeDocument/2006/relationships/font" Target="fonts/Nunito-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font" Target="fonts/Nunito-regular.fntdata"/><Relationship Id="rId15" Type="http://schemas.openxmlformats.org/officeDocument/2006/relationships/font" Target="fonts/Lato-italic.fntdata"/><Relationship Id="rId14" Type="http://schemas.openxmlformats.org/officeDocument/2006/relationships/font" Target="fonts/Lato-bold.fntdata"/><Relationship Id="rId17" Type="http://schemas.openxmlformats.org/officeDocument/2006/relationships/font" Target="fonts/Montserrat-regular.fntdata"/><Relationship Id="rId16" Type="http://schemas.openxmlformats.org/officeDocument/2006/relationships/font" Target="fonts/Lato-boldItalic.fntdata"/><Relationship Id="rId5" Type="http://schemas.openxmlformats.org/officeDocument/2006/relationships/notesMaster" Target="notesMasters/notesMaster1.xml"/><Relationship Id="rId19" Type="http://schemas.openxmlformats.org/officeDocument/2006/relationships/font" Target="fonts/Montserrat-italic.fntdata"/><Relationship Id="rId6" Type="http://schemas.openxmlformats.org/officeDocument/2006/relationships/slide" Target="slides/slide1.xml"/><Relationship Id="rId18" Type="http://schemas.openxmlformats.org/officeDocument/2006/relationships/font" Target="fonts/Montserrat-bold.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63bbf733ac_0_3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63bbf733ac_0_3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63bbf733ac_0_2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63bbf733ac_0_2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63bc1dfc17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63bc1dfc17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3.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 name="Shape 53"/>
        <p:cNvGrpSpPr/>
        <p:nvPr/>
      </p:nvGrpSpPr>
      <p:grpSpPr>
        <a:xfrm>
          <a:off x="0" y="0"/>
          <a:ext cx="0" cy="0"/>
          <a:chOff x="0" y="0"/>
          <a:chExt cx="0" cy="0"/>
        </a:xfrm>
      </p:grpSpPr>
      <p:sp>
        <p:nvSpPr>
          <p:cNvPr id="54" name="Google Shape;54;p13"/>
          <p:cNvSpPr/>
          <p:nvPr/>
        </p:nvSpPr>
        <p:spPr>
          <a:xfrm>
            <a:off x="3958200" y="2654050"/>
            <a:ext cx="2260500" cy="812100"/>
          </a:xfrm>
          <a:prstGeom prst="roundRect">
            <a:avLst>
              <a:gd fmla="val 16667" name="adj"/>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 name="Google Shape;55;p13"/>
          <p:cNvSpPr txBox="1"/>
          <p:nvPr/>
        </p:nvSpPr>
        <p:spPr>
          <a:xfrm>
            <a:off x="448550" y="1118500"/>
            <a:ext cx="8010600" cy="2592900"/>
          </a:xfrm>
          <a:prstGeom prst="rect">
            <a:avLst/>
          </a:prstGeom>
          <a:noFill/>
          <a:ln>
            <a:noFill/>
          </a:ln>
        </p:spPr>
        <p:txBody>
          <a:bodyPr anchorCtr="0" anchor="t" bIns="86425" lIns="86425" spcFirstLastPara="1" rIns="86425" wrap="square" tIns="86425">
            <a:noAutofit/>
          </a:bodyPr>
          <a:lstStyle/>
          <a:p>
            <a:pPr indent="0" lvl="0" marL="0" rtl="0" algn="ctr">
              <a:lnSpc>
                <a:spcPct val="70000"/>
              </a:lnSpc>
              <a:spcBef>
                <a:spcPts val="6807"/>
              </a:spcBef>
              <a:spcAft>
                <a:spcPts val="0"/>
              </a:spcAft>
              <a:buClr>
                <a:schemeClr val="dk1"/>
              </a:buClr>
              <a:buSzPts val="1100"/>
              <a:buFont typeface="Arial"/>
              <a:buNone/>
            </a:pPr>
            <a:r>
              <a:rPr b="1" lang="en" sz="7300">
                <a:solidFill>
                  <a:schemeClr val="lt1"/>
                </a:solidFill>
                <a:latin typeface="Lato"/>
                <a:ea typeface="Lato"/>
                <a:cs typeface="Lato"/>
                <a:sym typeface="Lato"/>
              </a:rPr>
              <a:t>TIPs para performar como un </a:t>
            </a:r>
            <a:r>
              <a:rPr b="1" lang="en" sz="7300">
                <a:solidFill>
                  <a:schemeClr val="dk1"/>
                </a:solidFill>
                <a:latin typeface="Lato"/>
                <a:ea typeface="Lato"/>
                <a:cs typeface="Lato"/>
                <a:sym typeface="Lato"/>
              </a:rPr>
              <a:t>PRO</a:t>
            </a:r>
            <a:endParaRPr b="1" sz="7300">
              <a:solidFill>
                <a:schemeClr val="dk1"/>
              </a:solidFill>
              <a:latin typeface="Lato"/>
              <a:ea typeface="Lato"/>
              <a:cs typeface="Lato"/>
              <a:sym typeface="Lato"/>
            </a:endParaRPr>
          </a:p>
          <a:p>
            <a:pPr indent="0" lvl="0" marL="0" rtl="0" algn="l">
              <a:spcBef>
                <a:spcPts val="6807"/>
              </a:spcBef>
              <a:spcAft>
                <a:spcPts val="0"/>
              </a:spcAft>
              <a:buNone/>
            </a:pPr>
            <a:r>
              <a:t/>
            </a:r>
            <a:endParaRPr sz="100">
              <a:solidFill>
                <a:schemeClr val="dk2"/>
              </a:solidFill>
              <a:latin typeface="Lato"/>
              <a:ea typeface="Lato"/>
              <a:cs typeface="Lato"/>
              <a:sym typeface="Lat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9" name="Shape 59"/>
        <p:cNvGrpSpPr/>
        <p:nvPr/>
      </p:nvGrpSpPr>
      <p:grpSpPr>
        <a:xfrm>
          <a:off x="0" y="0"/>
          <a:ext cx="0" cy="0"/>
          <a:chOff x="0" y="0"/>
          <a:chExt cx="0" cy="0"/>
        </a:xfrm>
      </p:grpSpPr>
      <p:sp>
        <p:nvSpPr>
          <p:cNvPr id="60" name="Google Shape;60;p14"/>
          <p:cNvSpPr txBox="1"/>
          <p:nvPr/>
        </p:nvSpPr>
        <p:spPr>
          <a:xfrm>
            <a:off x="332125" y="265450"/>
            <a:ext cx="3643200" cy="482400"/>
          </a:xfrm>
          <a:prstGeom prst="rect">
            <a:avLst/>
          </a:prstGeom>
          <a:noFill/>
          <a:ln>
            <a:noFill/>
          </a:ln>
        </p:spPr>
        <p:txBody>
          <a:bodyPr anchorCtr="0" anchor="t" bIns="86425" lIns="86425" spcFirstLastPara="1" rIns="86425" wrap="square" tIns="86425">
            <a:noAutofit/>
          </a:bodyPr>
          <a:lstStyle/>
          <a:p>
            <a:pPr indent="0" lvl="0" marL="0" rtl="0" algn="l">
              <a:lnSpc>
                <a:spcPct val="90000"/>
              </a:lnSpc>
              <a:spcBef>
                <a:spcPts val="0"/>
              </a:spcBef>
              <a:spcAft>
                <a:spcPts val="0"/>
              </a:spcAft>
              <a:buNone/>
            </a:pPr>
            <a:r>
              <a:rPr lang="en" sz="4000">
                <a:solidFill>
                  <a:schemeClr val="lt1"/>
                </a:solidFill>
                <a:highlight>
                  <a:srgbClr val="405E78"/>
                </a:highlight>
                <a:latin typeface="Montserrat"/>
                <a:ea typeface="Montserrat"/>
                <a:cs typeface="Montserrat"/>
                <a:sym typeface="Montserrat"/>
              </a:rPr>
              <a:t>Anotá:</a:t>
            </a:r>
            <a:endParaRPr sz="4000">
              <a:solidFill>
                <a:schemeClr val="lt1"/>
              </a:solidFill>
              <a:highlight>
                <a:srgbClr val="405E78"/>
              </a:highlight>
              <a:latin typeface="Montserrat"/>
              <a:ea typeface="Montserrat"/>
              <a:cs typeface="Montserrat"/>
              <a:sym typeface="Montserrat"/>
            </a:endParaRPr>
          </a:p>
          <a:p>
            <a:pPr indent="0" lvl="0" marL="0" rtl="0" algn="l">
              <a:spcBef>
                <a:spcPts val="0"/>
              </a:spcBef>
              <a:spcAft>
                <a:spcPts val="0"/>
              </a:spcAft>
              <a:buNone/>
            </a:pPr>
            <a:r>
              <a:t/>
            </a:r>
            <a:endParaRPr sz="4000">
              <a:solidFill>
                <a:srgbClr val="405E78"/>
              </a:solidFill>
              <a:latin typeface="Nunito"/>
              <a:ea typeface="Nunito"/>
              <a:cs typeface="Nunito"/>
              <a:sym typeface="Nunito"/>
            </a:endParaRPr>
          </a:p>
        </p:txBody>
      </p:sp>
      <p:sp>
        <p:nvSpPr>
          <p:cNvPr id="61" name="Google Shape;61;p14"/>
          <p:cNvSpPr txBox="1"/>
          <p:nvPr/>
        </p:nvSpPr>
        <p:spPr>
          <a:xfrm>
            <a:off x="448550" y="1118500"/>
            <a:ext cx="5817600" cy="3434700"/>
          </a:xfrm>
          <a:prstGeom prst="rect">
            <a:avLst/>
          </a:prstGeom>
          <a:noFill/>
          <a:ln>
            <a:noFill/>
          </a:ln>
        </p:spPr>
        <p:txBody>
          <a:bodyPr anchorCtr="0" anchor="t" bIns="86425" lIns="86425" spcFirstLastPara="1" rIns="86425" wrap="square" tIns="86425">
            <a:noAutofit/>
          </a:bodyPr>
          <a:lstStyle/>
          <a:p>
            <a:pPr indent="-311150" lvl="0" marL="457200" rtl="0" algn="just">
              <a:lnSpc>
                <a:spcPct val="100000"/>
              </a:lnSpc>
              <a:spcBef>
                <a:spcPts val="6807"/>
              </a:spcBef>
              <a:spcAft>
                <a:spcPts val="0"/>
              </a:spcAft>
              <a:buClr>
                <a:schemeClr val="dk1"/>
              </a:buClr>
              <a:buSzPts val="1300"/>
              <a:buFont typeface="Lato"/>
              <a:buChar char="●"/>
            </a:pPr>
            <a:r>
              <a:rPr b="1" lang="en" sz="1300">
                <a:solidFill>
                  <a:schemeClr val="dk1"/>
                </a:solidFill>
                <a:latin typeface="Lato"/>
                <a:ea typeface="Lato"/>
                <a:cs typeface="Lato"/>
                <a:sym typeface="Lato"/>
              </a:rPr>
              <a:t>Edita solo las celdas en </a:t>
            </a:r>
            <a:r>
              <a:rPr b="1" lang="en" sz="1300">
                <a:solidFill>
                  <a:srgbClr val="F1C232"/>
                </a:solidFill>
                <a:latin typeface="Lato"/>
                <a:ea typeface="Lato"/>
                <a:cs typeface="Lato"/>
                <a:sym typeface="Lato"/>
              </a:rPr>
              <a:t>amarillo</a:t>
            </a:r>
            <a:r>
              <a:rPr b="1" lang="en" sz="1300">
                <a:solidFill>
                  <a:schemeClr val="dk1"/>
                </a:solidFill>
                <a:latin typeface="Lato"/>
                <a:ea typeface="Lato"/>
                <a:cs typeface="Lato"/>
                <a:sym typeface="Lato"/>
              </a:rPr>
              <a:t>, o de lo contrario podrías dañar no solo esa sección específica, sino también otras secciones de tus compañeros, ya que varias pestañas y secciones estan conectadas.</a:t>
            </a:r>
            <a:endParaRPr b="1" sz="1300">
              <a:solidFill>
                <a:schemeClr val="dk1"/>
              </a:solidFill>
              <a:latin typeface="Lato"/>
              <a:ea typeface="Lato"/>
              <a:cs typeface="Lato"/>
              <a:sym typeface="Lato"/>
            </a:endParaRPr>
          </a:p>
          <a:p>
            <a:pPr indent="-311150" lvl="0" marL="457200" rtl="0" algn="just">
              <a:lnSpc>
                <a:spcPct val="100000"/>
              </a:lnSpc>
              <a:spcBef>
                <a:spcPts val="0"/>
              </a:spcBef>
              <a:spcAft>
                <a:spcPts val="0"/>
              </a:spcAft>
              <a:buClr>
                <a:schemeClr val="dk1"/>
              </a:buClr>
              <a:buSzPts val="1300"/>
              <a:buFont typeface="Lato"/>
              <a:buChar char="●"/>
            </a:pPr>
            <a:r>
              <a:rPr b="1" lang="en" sz="1300">
                <a:solidFill>
                  <a:schemeClr val="dk1"/>
                </a:solidFill>
                <a:latin typeface="Lato"/>
                <a:ea typeface="Lato"/>
                <a:cs typeface="Lato"/>
                <a:sym typeface="Lato"/>
              </a:rPr>
              <a:t>No crees, ni elimines columnas o filas, por las mismas razones del punto anterior.</a:t>
            </a:r>
            <a:endParaRPr b="1" sz="1300">
              <a:solidFill>
                <a:schemeClr val="dk1"/>
              </a:solidFill>
              <a:latin typeface="Lato"/>
              <a:ea typeface="Lato"/>
              <a:cs typeface="Lato"/>
              <a:sym typeface="Lato"/>
            </a:endParaRPr>
          </a:p>
          <a:p>
            <a:pPr indent="-311150" lvl="0" marL="457200" rtl="0" algn="just">
              <a:lnSpc>
                <a:spcPct val="100000"/>
              </a:lnSpc>
              <a:spcBef>
                <a:spcPts val="0"/>
              </a:spcBef>
              <a:spcAft>
                <a:spcPts val="0"/>
              </a:spcAft>
              <a:buClr>
                <a:schemeClr val="dk1"/>
              </a:buClr>
              <a:buSzPts val="1300"/>
              <a:buFont typeface="Lato"/>
              <a:buChar char="●"/>
            </a:pPr>
            <a:r>
              <a:rPr b="1" lang="en" sz="1300">
                <a:solidFill>
                  <a:schemeClr val="dk1"/>
                </a:solidFill>
                <a:latin typeface="Lato"/>
                <a:ea typeface="Lato"/>
                <a:cs typeface="Lato"/>
                <a:sym typeface="Lato"/>
              </a:rPr>
              <a:t>Para crear una nueva pestaña de performance, crea siempre una copia de la pestaña original llamada “[HACER COPIA] Nombre” y a esta pestaña creada ponle el nombre del miembro de tal forma que se te haga fácil distinguirlo.</a:t>
            </a:r>
            <a:endParaRPr b="1" sz="1300">
              <a:solidFill>
                <a:schemeClr val="dk1"/>
              </a:solidFill>
              <a:latin typeface="Lato"/>
              <a:ea typeface="Lato"/>
              <a:cs typeface="Lato"/>
              <a:sym typeface="Lato"/>
            </a:endParaRPr>
          </a:p>
          <a:p>
            <a:pPr indent="-311150" lvl="0" marL="457200" rtl="0" algn="just">
              <a:lnSpc>
                <a:spcPct val="100000"/>
              </a:lnSpc>
              <a:spcBef>
                <a:spcPts val="0"/>
              </a:spcBef>
              <a:spcAft>
                <a:spcPts val="0"/>
              </a:spcAft>
              <a:buClr>
                <a:schemeClr val="dk1"/>
              </a:buClr>
              <a:buSzPts val="1300"/>
              <a:buFont typeface="Lato"/>
              <a:buChar char="●"/>
            </a:pPr>
            <a:r>
              <a:rPr b="1" lang="en" sz="1300">
                <a:solidFill>
                  <a:schemeClr val="dk1"/>
                </a:solidFill>
                <a:latin typeface="Lato"/>
                <a:ea typeface="Lato"/>
                <a:cs typeface="Lato"/>
                <a:sym typeface="Lato"/>
              </a:rPr>
              <a:t>En la pestaña “Membresía” es ideal que se actualice automáticamente, pero no siempre lo hará, por lo que puedes incluir manualmente el nombre exacto de la pestaña de performance que acabas de crear en la columna “A”, esto te permitirá ver el consolidado del performance de tus miembros mensualmente.</a:t>
            </a:r>
            <a:endParaRPr b="1" sz="1300">
              <a:solidFill>
                <a:schemeClr val="dk1"/>
              </a:solidFill>
              <a:latin typeface="Lato"/>
              <a:ea typeface="Lato"/>
              <a:cs typeface="Lato"/>
              <a:sym typeface="Lato"/>
            </a:endParaRPr>
          </a:p>
          <a:p>
            <a:pPr indent="0" lvl="0" marL="0" rtl="0" algn="l">
              <a:spcBef>
                <a:spcPts val="6807"/>
              </a:spcBef>
              <a:spcAft>
                <a:spcPts val="0"/>
              </a:spcAft>
              <a:buNone/>
            </a:pPr>
            <a:r>
              <a:t/>
            </a:r>
            <a:endParaRPr sz="1300">
              <a:solidFill>
                <a:schemeClr val="dk2"/>
              </a:solidFill>
              <a:latin typeface="Lato"/>
              <a:ea typeface="Lato"/>
              <a:cs typeface="Lato"/>
              <a:sym typeface="La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5" name="Shape 65"/>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