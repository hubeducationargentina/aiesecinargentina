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Black"/>
      <p:bold r:id="rId33"/>
      <p:boldItalic r:id="rId34"/>
    </p:embeddedFont>
    <p:embeddedFont>
      <p:font typeface="Lato Ligh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Montserrat ExtraBold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20" Type="http://schemas.openxmlformats.org/officeDocument/2006/relationships/slide" Target="slides/slide14.xml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22" Type="http://schemas.openxmlformats.org/officeDocument/2006/relationships/slide" Target="slides/slide16.xml"/><Relationship Id="rId44" Type="http://schemas.openxmlformats.org/officeDocument/2006/relationships/font" Target="fonts/MontserratExtra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MontserratExtraBol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MontserratBlack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LatoLight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Black-boldItalic.fntdata"/><Relationship Id="rId15" Type="http://schemas.openxmlformats.org/officeDocument/2006/relationships/slide" Target="slides/slide9.xml"/><Relationship Id="rId37" Type="http://schemas.openxmlformats.org/officeDocument/2006/relationships/font" Target="fonts/LatoLight-italic.fntdata"/><Relationship Id="rId14" Type="http://schemas.openxmlformats.org/officeDocument/2006/relationships/slide" Target="slides/slide8.xml"/><Relationship Id="rId36" Type="http://schemas.openxmlformats.org/officeDocument/2006/relationships/font" Target="fonts/LatoLight-bold.fntdata"/><Relationship Id="rId17" Type="http://schemas.openxmlformats.org/officeDocument/2006/relationships/slide" Target="slides/slide11.xml"/><Relationship Id="rId39" Type="http://schemas.openxmlformats.org/officeDocument/2006/relationships/font" Target="fonts/MontserratMedium-regular.fntdata"/><Relationship Id="rId16" Type="http://schemas.openxmlformats.org/officeDocument/2006/relationships/slide" Target="slides/slide10.xml"/><Relationship Id="rId38" Type="http://schemas.openxmlformats.org/officeDocument/2006/relationships/font" Target="fonts/Lato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3dbc07195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3dbc07195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444c64f2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444c64f2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444c64f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444c64f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444c64f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444c64f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444c64f2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444c64f2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444c64f2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444c64f2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444c64f2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444c64f2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444c64f2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444c64f2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444c64f2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444c64f2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3ddb62d0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3ddb62d0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4594cfad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4594cfad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4594cfad6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4594cfad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4594cfad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4594cfad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4594cfad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4594cfad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3ddb62d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3ddb62d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444c64f2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444c64f2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4ec97456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4ec97456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3bc1dfc1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3bc1dfc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Vertical Title and Text">
  <p:cSld name="TITLE_AND_BOD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4419600" y="4629150"/>
            <a:ext cx="213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Slide">
  <p:cSld name="18_Title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/>
          <p:nvPr>
            <p:ph idx="2" type="pic"/>
          </p:nvPr>
        </p:nvSpPr>
        <p:spPr>
          <a:xfrm>
            <a:off x="0" y="0"/>
            <a:ext cx="9144000" cy="2923200"/>
          </a:xfrm>
          <a:prstGeom prst="rect">
            <a:avLst/>
          </a:prstGeom>
          <a:solidFill>
            <a:srgbClr val="F2F2F2">
              <a:alpha val="2471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BFBFB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3914550" y="0"/>
            <a:ext cx="9242375" cy="924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1900" y="1059175"/>
            <a:ext cx="5144700" cy="51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7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4115950" y="-2646225"/>
            <a:ext cx="7564125" cy="75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7"/>
          <p:cNvPicPr preferRelativeResize="0"/>
          <p:nvPr/>
        </p:nvPicPr>
        <p:blipFill rotWithShape="1">
          <a:blip r:embed="rId4">
            <a:alphaModFix/>
          </a:blip>
          <a:srcRect b="26577" l="0" r="0" t="27360"/>
          <a:stretch/>
        </p:blipFill>
        <p:spPr>
          <a:xfrm>
            <a:off x="3882450" y="4385200"/>
            <a:ext cx="1379100" cy="63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27"/>
          <p:cNvCxnSpPr>
            <a:stCxn id="103" idx="3"/>
          </p:cNvCxnSpPr>
          <p:nvPr/>
        </p:nvCxnSpPr>
        <p:spPr>
          <a:xfrm>
            <a:off x="5261550" y="4702825"/>
            <a:ext cx="3543000" cy="0"/>
          </a:xfrm>
          <a:prstGeom prst="straightConnector1">
            <a:avLst/>
          </a:prstGeom>
          <a:noFill/>
          <a:ln cap="flat" cmpd="sng" w="19050">
            <a:solidFill>
              <a:srgbClr val="2065A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27"/>
          <p:cNvCxnSpPr/>
          <p:nvPr/>
        </p:nvCxnSpPr>
        <p:spPr>
          <a:xfrm>
            <a:off x="270450" y="4702825"/>
            <a:ext cx="3543000" cy="0"/>
          </a:xfrm>
          <a:prstGeom prst="straightConnector1">
            <a:avLst/>
          </a:prstGeom>
          <a:noFill/>
          <a:ln cap="flat" cmpd="sng" w="19050">
            <a:solidFill>
              <a:srgbClr val="2065A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/>
          <p:nvPr/>
        </p:nvSpPr>
        <p:spPr>
          <a:xfrm>
            <a:off x="2190150" y="1529100"/>
            <a:ext cx="4763700" cy="208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A384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5C000"/>
              </a:solidFill>
            </a:endParaRPr>
          </a:p>
        </p:txBody>
      </p:sp>
      <p:sp>
        <p:nvSpPr>
          <p:cNvPr id="111" name="Google Shape;111;p28"/>
          <p:cNvSpPr txBox="1"/>
          <p:nvPr/>
        </p:nvSpPr>
        <p:spPr>
          <a:xfrm>
            <a:off x="845100" y="2042668"/>
            <a:ext cx="7453800" cy="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>
                <a:solidFill>
                  <a:srgbClr val="A38417"/>
                </a:solidFill>
                <a:latin typeface="Montserrat"/>
                <a:ea typeface="Montserrat"/>
                <a:cs typeface="Montserrat"/>
                <a:sym typeface="Montserrat"/>
              </a:rPr>
              <a:t>A2030</a:t>
            </a:r>
            <a:endParaRPr b="1" sz="10000">
              <a:solidFill>
                <a:srgbClr val="A384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0">
              <a:solidFill>
                <a:srgbClr val="F5C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rgbClr val="F5C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/>
        </p:nvSpPr>
        <p:spPr>
          <a:xfrm>
            <a:off x="376200" y="2242050"/>
            <a:ext cx="83916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7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¿</a:t>
            </a:r>
            <a:r>
              <a:rPr lang="en" sz="5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Saben que es la</a:t>
            </a:r>
            <a:r>
              <a:rPr lang="en" sz="67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" sz="67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Mid Term </a:t>
            </a:r>
            <a:br>
              <a:rPr lang="en" sz="67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" sz="7100">
                <a:solidFill>
                  <a:srgbClr val="F5C000"/>
                </a:solidFill>
                <a:highlight>
                  <a:schemeClr val="lt1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Ambition?</a:t>
            </a:r>
            <a:endParaRPr sz="7100">
              <a:solidFill>
                <a:srgbClr val="F5C000"/>
              </a:solidFill>
              <a:highlight>
                <a:schemeClr val="lt1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/>
          <p:nvPr/>
        </p:nvSpPr>
        <p:spPr>
          <a:xfrm>
            <a:off x="336500" y="1637975"/>
            <a:ext cx="5602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A3841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¿Porque debería importarme esto hoy?</a:t>
            </a:r>
            <a:endParaRPr sz="4800">
              <a:solidFill>
                <a:srgbClr val="A3841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4900">
              <a:solidFill>
                <a:srgbClr val="A3841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/>
        </p:nvSpPr>
        <p:spPr>
          <a:xfrm>
            <a:off x="1061100" y="4092565"/>
            <a:ext cx="7021800" cy="7137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txBody>
          <a:bodyPr anchorCtr="0" anchor="t" bIns="93550" lIns="93550" spcFirstLastPara="1" rIns="93550" wrap="square" tIns="9355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7367"/>
              </a:spcBef>
              <a:spcAft>
                <a:spcPts val="0"/>
              </a:spcAft>
              <a:buNone/>
            </a:pPr>
            <a:r>
              <a:rPr lang="en" sz="5303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2015</a:t>
            </a:r>
            <a:endParaRPr sz="5303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7367"/>
              </a:spcBef>
              <a:spcAft>
                <a:spcPts val="7367"/>
              </a:spcAft>
              <a:buNone/>
            </a:pPr>
            <a:r>
              <a:t/>
            </a:r>
            <a:endParaRPr sz="5303">
              <a:solidFill>
                <a:schemeClr val="lt1"/>
              </a:solidFill>
              <a:highlight>
                <a:srgbClr val="A38417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7" name="Google Shape;127;p31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100" y="337225"/>
            <a:ext cx="7021794" cy="3448284"/>
          </a:xfrm>
          <a:prstGeom prst="rect">
            <a:avLst/>
          </a:prstGeom>
          <a:noFill/>
          <a:ln cap="flat" cmpd="sng" w="30925">
            <a:solidFill>
              <a:srgbClr val="F5C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/>
        </p:nvSpPr>
        <p:spPr>
          <a:xfrm>
            <a:off x="1453863" y="2720418"/>
            <a:ext cx="6188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3" name="Google Shape;133;p32"/>
          <p:cNvSpPr txBox="1"/>
          <p:nvPr/>
        </p:nvSpPr>
        <p:spPr>
          <a:xfrm>
            <a:off x="351675" y="1389200"/>
            <a:ext cx="8679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4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statement están en forma de simples engranajes pero también incluyen una descripción detallada.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statements estan muy conectados 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AIESEC 2010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tienen una forma de objetivo, especificaciones y formas de entrega.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logro de AIESEC 2010 impulsó las ambiciones para los objetivos de AIESEC 2015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4" name="Google Shape;134;p32"/>
          <p:cNvSpPr txBox="1"/>
          <p:nvPr/>
        </p:nvSpPr>
        <p:spPr>
          <a:xfrm>
            <a:off x="351675" y="3465600"/>
            <a:ext cx="7981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4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objetivos no se alcanzaron en gran medida.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Habia un crecimiento continuo en membresía.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Cultura fuerte (own it, believe it, make it happen).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Roadmap no fue descargada a la network.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5" name="Google Shape;135;p32"/>
          <p:cNvSpPr txBox="1"/>
          <p:nvPr/>
        </p:nvSpPr>
        <p:spPr>
          <a:xfrm>
            <a:off x="753300" y="800850"/>
            <a:ext cx="2148000" cy="5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3500">
                <a:solidFill>
                  <a:srgbClr val="F5C000"/>
                </a:solidFill>
                <a:highlight>
                  <a:schemeClr val="l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Insights</a:t>
            </a:r>
            <a:endParaRPr sz="4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6" name="Google Shape;136;p32"/>
          <p:cNvSpPr txBox="1"/>
          <p:nvPr/>
        </p:nvSpPr>
        <p:spPr>
          <a:xfrm>
            <a:off x="753300" y="2822950"/>
            <a:ext cx="2881500" cy="5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5C000"/>
                </a:solidFill>
                <a:highlight>
                  <a:schemeClr val="l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Resultados</a:t>
            </a:r>
            <a:endParaRPr sz="3500">
              <a:solidFill>
                <a:srgbClr val="F5C000"/>
              </a:solidFill>
              <a:highlight>
                <a:schemeClr val="lt1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/>
          <p:nvPr/>
        </p:nvSpPr>
        <p:spPr>
          <a:xfrm>
            <a:off x="1061100" y="4075315"/>
            <a:ext cx="7021800" cy="7137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txBody>
          <a:bodyPr anchorCtr="0" anchor="t" bIns="93550" lIns="93550" spcFirstLastPara="1" rIns="93550" wrap="square" tIns="9355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7367"/>
              </a:spcBef>
              <a:spcAft>
                <a:spcPts val="0"/>
              </a:spcAft>
              <a:buNone/>
            </a:pPr>
            <a:r>
              <a:rPr lang="en" sz="5303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2020</a:t>
            </a:r>
            <a:endParaRPr sz="5303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7367"/>
              </a:spcBef>
              <a:spcAft>
                <a:spcPts val="7367"/>
              </a:spcAft>
              <a:buNone/>
            </a:pPr>
            <a:r>
              <a:t/>
            </a:r>
            <a:endParaRPr sz="5303">
              <a:solidFill>
                <a:schemeClr val="lt1"/>
              </a:solidFill>
              <a:highlight>
                <a:srgbClr val="A38417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2" name="Google Shape;142;p33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12" y="797000"/>
            <a:ext cx="7757574" cy="2890700"/>
          </a:xfrm>
          <a:prstGeom prst="rect">
            <a:avLst/>
          </a:prstGeom>
          <a:noFill/>
          <a:ln cap="flat" cmpd="sng" w="30925">
            <a:solidFill>
              <a:srgbClr val="F5C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"/>
          <p:cNvSpPr txBox="1"/>
          <p:nvPr/>
        </p:nvSpPr>
        <p:spPr>
          <a:xfrm>
            <a:off x="1453863" y="2720418"/>
            <a:ext cx="6188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8" name="Google Shape;148;p34"/>
          <p:cNvSpPr txBox="1"/>
          <p:nvPr/>
        </p:nvSpPr>
        <p:spPr>
          <a:xfrm>
            <a:off x="753300" y="800850"/>
            <a:ext cx="2148000" cy="5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3500">
                <a:solidFill>
                  <a:srgbClr val="F5C000"/>
                </a:solidFill>
                <a:highlight>
                  <a:schemeClr val="l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Insights</a:t>
            </a:r>
            <a:endParaRPr sz="4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34"/>
          <p:cNvSpPr txBox="1"/>
          <p:nvPr/>
        </p:nvSpPr>
        <p:spPr>
          <a:xfrm>
            <a:off x="753300" y="2822950"/>
            <a:ext cx="2881500" cy="5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5C000"/>
                </a:solidFill>
                <a:highlight>
                  <a:schemeClr val="l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Resultados</a:t>
            </a:r>
            <a:endParaRPr sz="3500">
              <a:solidFill>
                <a:srgbClr val="F5C000"/>
              </a:solidFill>
              <a:highlight>
                <a:schemeClr val="lt1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351675" y="1389200"/>
            <a:ext cx="8679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4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tienen 3 drivers que abarcan intercambios, membresía, alianzas, dinero, lo que hace difícil que se vaya a una cosa como foco.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roadmap es muy específico, lo que es bueno en parte pero hace que sea difícil de implementar  y de entender para algunas entidades o para los LCs.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tienen medibles que en ese momento no se podían medír 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34"/>
          <p:cNvSpPr txBox="1"/>
          <p:nvPr/>
        </p:nvSpPr>
        <p:spPr>
          <a:xfrm>
            <a:off x="351675" y="3415800"/>
            <a:ext cx="7981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4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gente no se queda en AIESEC mas de 6 meses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Nuestro programa de practicas profesionales tiene una caída en números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hay ingresos por partners o empresas 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5"/>
          <p:cNvSpPr txBox="1"/>
          <p:nvPr/>
        </p:nvSpPr>
        <p:spPr>
          <a:xfrm>
            <a:off x="1061100" y="4075315"/>
            <a:ext cx="7021800" cy="71370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txBody>
          <a:bodyPr anchorCtr="0" anchor="t" bIns="93550" lIns="93550" spcFirstLastPara="1" rIns="93550" wrap="square" tIns="9355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7367"/>
              </a:spcBef>
              <a:spcAft>
                <a:spcPts val="0"/>
              </a:spcAft>
              <a:buNone/>
            </a:pPr>
            <a:r>
              <a:rPr lang="en" sz="5303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</a:t>
            </a:r>
            <a:endParaRPr sz="5303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7367"/>
              </a:spcBef>
              <a:spcAft>
                <a:spcPts val="7367"/>
              </a:spcAft>
              <a:buNone/>
            </a:pPr>
            <a:r>
              <a:t/>
            </a:r>
            <a:endParaRPr sz="5303">
              <a:solidFill>
                <a:schemeClr val="lt1"/>
              </a:solidFill>
              <a:highlight>
                <a:srgbClr val="A38417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7" name="Google Shape;157;p35" title="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25" y="706750"/>
            <a:ext cx="8203150" cy="3158175"/>
          </a:xfrm>
          <a:prstGeom prst="rect">
            <a:avLst/>
          </a:prstGeom>
          <a:noFill/>
          <a:ln cap="flat" cmpd="sng" w="30925">
            <a:solidFill>
              <a:srgbClr val="F5C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"/>
          <p:cNvSpPr txBox="1"/>
          <p:nvPr/>
        </p:nvSpPr>
        <p:spPr>
          <a:xfrm>
            <a:off x="1453863" y="2720418"/>
            <a:ext cx="6188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3" name="Google Shape;163;p36"/>
          <p:cNvSpPr txBox="1"/>
          <p:nvPr/>
        </p:nvSpPr>
        <p:spPr>
          <a:xfrm>
            <a:off x="753300" y="800850"/>
            <a:ext cx="2148000" cy="5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3500">
                <a:solidFill>
                  <a:srgbClr val="F5C000"/>
                </a:solidFill>
                <a:highlight>
                  <a:schemeClr val="l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Insights</a:t>
            </a:r>
            <a:endParaRPr sz="4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4" name="Google Shape;164;p36"/>
          <p:cNvSpPr txBox="1"/>
          <p:nvPr/>
        </p:nvSpPr>
        <p:spPr>
          <a:xfrm>
            <a:off x="753300" y="2822950"/>
            <a:ext cx="2881500" cy="5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5C000"/>
                </a:solidFill>
                <a:highlight>
                  <a:schemeClr val="l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Resultados</a:t>
            </a:r>
            <a:endParaRPr sz="3500">
              <a:solidFill>
                <a:srgbClr val="F5C000"/>
              </a:solidFill>
              <a:highlight>
                <a:schemeClr val="lt1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highlight>
                <a:srgbClr val="F5C000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5" name="Google Shape;165;p36"/>
          <p:cNvSpPr txBox="1"/>
          <p:nvPr/>
        </p:nvSpPr>
        <p:spPr>
          <a:xfrm>
            <a:off x="351675" y="1389200"/>
            <a:ext cx="8679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4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tienen 3 drivers que abarcan intercambios, membresía, alianzas, dinero, lo que hace difícil que se vaya a una cosa como foco.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roadmap es muy específico, lo que es bueno en parte pero hace que sea difícil de implementar  y de entender para algunas entidades o para los LCs.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tienen medibles que en ese momento no se podían medír 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6" name="Google Shape;166;p36"/>
          <p:cNvSpPr txBox="1"/>
          <p:nvPr/>
        </p:nvSpPr>
        <p:spPr>
          <a:xfrm>
            <a:off x="351675" y="3415800"/>
            <a:ext cx="7981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49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gente no se queda en AIESEC mas de 6 meses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Nuestro programa de practicas profesionales tiene una caída en números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hay ingresos por partners o empresas 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/>
        </p:nvSpPr>
        <p:spPr>
          <a:xfrm>
            <a:off x="376200" y="1758475"/>
            <a:ext cx="83916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¿Que necesitamos en los 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próximos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5 años? </a:t>
            </a:r>
            <a:endParaRPr sz="49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49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8"/>
          <p:cNvSpPr/>
          <p:nvPr/>
        </p:nvSpPr>
        <p:spPr>
          <a:xfrm>
            <a:off x="0" y="4798200"/>
            <a:ext cx="9144000" cy="345300"/>
          </a:xfrm>
          <a:prstGeom prst="rect">
            <a:avLst/>
          </a:prstGeom>
          <a:gradFill>
            <a:gsLst>
              <a:gs pos="0">
                <a:srgbClr val="037EF3"/>
              </a:gs>
              <a:gs pos="26000">
                <a:srgbClr val="0CB9C1"/>
              </a:gs>
              <a:gs pos="50000">
                <a:srgbClr val="00C16E"/>
              </a:gs>
              <a:gs pos="75000">
                <a:srgbClr val="F4B224"/>
              </a:gs>
              <a:gs pos="100000">
                <a:srgbClr val="F48924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8" title="A2030 Exchange &amp; Growth Statement (Color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887" y="1509063"/>
            <a:ext cx="6942223" cy="21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9"/>
          <p:cNvSpPr/>
          <p:nvPr/>
        </p:nvSpPr>
        <p:spPr>
          <a:xfrm>
            <a:off x="0" y="4798200"/>
            <a:ext cx="9144000" cy="345300"/>
          </a:xfrm>
          <a:prstGeom prst="rect">
            <a:avLst/>
          </a:prstGeom>
          <a:gradFill>
            <a:gsLst>
              <a:gs pos="0">
                <a:srgbClr val="037EF3"/>
              </a:gs>
              <a:gs pos="26000">
                <a:srgbClr val="0CB9C1"/>
              </a:gs>
              <a:gs pos="50000">
                <a:srgbClr val="00C16E"/>
              </a:gs>
              <a:gs pos="75000">
                <a:srgbClr val="F4B224"/>
              </a:gs>
              <a:gs pos="100000">
                <a:srgbClr val="F48924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9" title="A2030 Exchange &amp; Leadership Statement (Color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551" y="1634227"/>
            <a:ext cx="7392886" cy="18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/>
          <p:nvPr/>
        </p:nvSpPr>
        <p:spPr>
          <a:xfrm>
            <a:off x="0" y="4798200"/>
            <a:ext cx="9144000" cy="345300"/>
          </a:xfrm>
          <a:prstGeom prst="rect">
            <a:avLst/>
          </a:prstGeom>
          <a:gradFill>
            <a:gsLst>
              <a:gs pos="0">
                <a:srgbClr val="037EF3"/>
              </a:gs>
              <a:gs pos="26000">
                <a:srgbClr val="0CB9C1"/>
              </a:gs>
              <a:gs pos="50000">
                <a:srgbClr val="00C16E"/>
              </a:gs>
              <a:gs pos="75000">
                <a:srgbClr val="F4B224"/>
              </a:gs>
              <a:gs pos="100000">
                <a:srgbClr val="F48924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40" title="A2030 Exchange &amp; Relevance Statement (Color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976" y="1754812"/>
            <a:ext cx="7322051" cy="163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 title="A2030 Full Statements - Variant 1 (Gradient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400" y="-255950"/>
            <a:ext cx="7998802" cy="565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1"/>
          <p:cNvSpPr/>
          <p:nvPr/>
        </p:nvSpPr>
        <p:spPr>
          <a:xfrm rot="-5400000">
            <a:off x="-2553150" y="2424750"/>
            <a:ext cx="5352900" cy="246600"/>
          </a:xfrm>
          <a:prstGeom prst="rect">
            <a:avLst/>
          </a:prstGeom>
          <a:gradFill>
            <a:gsLst>
              <a:gs pos="0">
                <a:srgbClr val="037EF3"/>
              </a:gs>
              <a:gs pos="26000">
                <a:srgbClr val="0CB9C1"/>
              </a:gs>
              <a:gs pos="50000">
                <a:srgbClr val="00C16E"/>
              </a:gs>
              <a:gs pos="75000">
                <a:srgbClr val="F4B224"/>
              </a:gs>
              <a:gs pos="100000">
                <a:srgbClr val="F48924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/>
        </p:nvSpPr>
        <p:spPr>
          <a:xfrm>
            <a:off x="987600" y="1514575"/>
            <a:ext cx="71688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Cómo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debería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verse tu LC en 2030 si esto se hiciera realidad? </a:t>
            </a:r>
            <a:endParaRPr sz="4900">
              <a:solidFill>
                <a:srgbClr val="F5C000"/>
              </a:solidFill>
              <a:highlight>
                <a:schemeClr val="lt1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/>
        </p:nvSpPr>
        <p:spPr>
          <a:xfrm>
            <a:off x="987600" y="1281575"/>
            <a:ext cx="71688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¿Que debería pasar en los 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próximos</a:t>
            </a:r>
            <a:r>
              <a:rPr lang="en" sz="49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12 meses en tu LC para que esto suceda? </a:t>
            </a:r>
            <a:endParaRPr sz="4900">
              <a:solidFill>
                <a:srgbClr val="F5C000"/>
              </a:solidFill>
              <a:highlight>
                <a:schemeClr val="lt1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/>
        </p:nvSpPr>
        <p:spPr>
          <a:xfrm>
            <a:off x="987600" y="1794000"/>
            <a:ext cx="71688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El </a:t>
            </a:r>
            <a:r>
              <a:rPr lang="en" sz="6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propósito</a:t>
            </a:r>
            <a:r>
              <a:rPr lang="en" sz="6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lo buscas vos</a:t>
            </a:r>
            <a:endParaRPr sz="6400">
              <a:solidFill>
                <a:srgbClr val="F5C000"/>
              </a:solidFill>
              <a:highlight>
                <a:schemeClr val="lt1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5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