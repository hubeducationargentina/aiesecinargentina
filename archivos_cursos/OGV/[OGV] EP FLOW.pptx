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Lato Black" panose="020F0A02020204030203" pitchFamily="34" charset="0"/>
      <p:bold r:id="rId28"/>
      <p:boldItalic r:id="rId29"/>
    </p:embeddedFont>
    <p:embeddedFont>
      <p:font typeface="Lato Light" panose="020F0302020204030203" pitchFamily="34" charset="0"/>
      <p:regular r:id="rId30"/>
      <p:bold r:id="rId31"/>
      <p:italic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Nunito" pitchFamily="2" charset="0"/>
      <p:regular r:id="rId38"/>
      <p:bold r:id="rId39"/>
      <p:italic r:id="rId40"/>
      <p:boldItalic r:id="rId41"/>
    </p:embeddedFont>
    <p:embeddedFont>
      <p:font typeface="Oleo Script" panose="020B0604020202020204" charset="0"/>
      <p:regular r:id="rId42"/>
      <p:bold r:id="rId43"/>
    </p:embeddedFont>
    <p:embeddedFont>
      <p:font typeface="Raleway" pitchFamily="2" charset="0"/>
      <p:regular r:id="rId44"/>
      <p:bold r:id="rId45"/>
      <p:italic r:id="rId46"/>
      <p:boldItalic r:id="rId47"/>
    </p:embeddedFont>
    <p:embeddedFont>
      <p:font typeface="Raleway Medium" pitchFamily="2" charset="0"/>
      <p:regular r:id="rId48"/>
      <p:bold r:id="rId49"/>
      <p:italic r:id="rId50"/>
      <p:boldItalic r:id="rId51"/>
    </p:embeddedFont>
    <p:embeddedFont>
      <p:font typeface="Shadows Into Light" panose="020B0604020202020204" charset="0"/>
      <p:regular r:id="rId52"/>
    </p:embeddedFont>
    <p:embeddedFont>
      <p:font typeface="Staatliches" pitchFamily="2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font" Target="fonts/font3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3" Type="http://schemas.openxmlformats.org/officeDocument/2006/relationships/font" Target="fonts/font34.fntdata"/><Relationship Id="rId5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font" Target="fonts/font3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52" Type="http://schemas.openxmlformats.org/officeDocument/2006/relationships/font" Target="fonts/font3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bbf733ac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bbf733ac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8d30bacb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8d30bacb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3bbf733ac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3bbf733ac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3bbf733ac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3bbf733ac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3bbf733ac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3bbf733ac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3bbf733ac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3bbf733ac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3bbf733ac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3bbf733ac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385e42d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385e42d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385e42d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385e42d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385e42d9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7385e42d9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385e42d9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385e42d9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8d30bacbe_0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8d30bacbe_0_1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8d30bacbe_0_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8d30bacbe_0_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3bbf733ac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3bbf733ac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8d30bacbe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8d30bacbe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8d30bacbe_0_1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78d30bacbe_0_1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45f88cf0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745f88cf0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iesec.org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presentation/d/1Omef4i64BagnzcfSubcxyfcL2qaxHYsBho_urlifUIo/edit?usp=sharing" TargetMode="External"/><Relationship Id="rId3" Type="http://schemas.openxmlformats.org/officeDocument/2006/relationships/image" Target="../media/image15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64699" y="1749100"/>
            <a:ext cx="64146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EP FLOW</a:t>
            </a:r>
            <a:endParaRPr sz="10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6807"/>
              </a:spcBef>
              <a:spcAft>
                <a:spcPts val="0"/>
              </a:spcAft>
              <a:buNone/>
            </a:pPr>
            <a:endParaRPr sz="1701" dirty="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r="69839"/>
          <a:stretch/>
        </p:blipFill>
        <p:spPr>
          <a:xfrm>
            <a:off x="3965113" y="1193000"/>
            <a:ext cx="1213773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632075" y="1783925"/>
            <a:ext cx="3534900" cy="11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 b="1">
                <a:solidFill>
                  <a:schemeClr val="lt1"/>
                </a:solidFill>
                <a:latin typeface="Oleo Script"/>
                <a:ea typeface="Oleo Script"/>
                <a:cs typeface="Oleo Script"/>
                <a:sym typeface="Oleo Script"/>
              </a:rPr>
              <a:t>Yarely</a:t>
            </a:r>
            <a:endParaRPr sz="9200" b="1">
              <a:solidFill>
                <a:schemeClr val="lt1"/>
              </a:solidFill>
              <a:latin typeface="Oleo Script"/>
              <a:ea typeface="Oleo Script"/>
              <a:cs typeface="Oleo Script"/>
              <a:sym typeface="Oleo Scrip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358225" y="2896975"/>
            <a:ext cx="21372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EST Coach</a:t>
            </a:r>
            <a:endParaRPr sz="40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t="30622" b="14468"/>
          <a:stretch/>
        </p:blipFill>
        <p:spPr>
          <a:xfrm rot="-5400000">
            <a:off x="751700" y="913200"/>
            <a:ext cx="3398400" cy="33171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818400" y="1591150"/>
            <a:ext cx="750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El principal objetivo de este flow de venta es:</a:t>
            </a:r>
            <a:endParaRPr sz="24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85400" y="1816225"/>
            <a:ext cx="8173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ENCONTRAR AL EP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1420800" y="2678950"/>
            <a:ext cx="63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PARA NUESTRAS OPORTUNIDADES</a:t>
            </a:r>
            <a:endParaRPr sz="24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818400" y="3233050"/>
            <a:ext cx="750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así enfocarlo mucho más rápido, tener mejores conversiones y que nuestros miembros tengan más claridad del proceso de venta de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5400" y="4052813"/>
            <a:ext cx="733200" cy="7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Conocer m buyer  person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78" name="Google Shape;7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6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80" name="Google Shape;80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16"/>
          <p:cNvSpPr txBox="1"/>
          <p:nvPr/>
        </p:nvSpPr>
        <p:spPr>
          <a:xfrm>
            <a:off x="663897" y="1125898"/>
            <a:ext cx="11166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75" b="1">
                <a:solidFill>
                  <a:srgbClr val="F75A40"/>
                </a:solidFill>
                <a:latin typeface="Lato"/>
                <a:ea typeface="Lato"/>
                <a:cs typeface="Lato"/>
                <a:sym typeface="Lato"/>
              </a:rPr>
              <a:t>Requisitos</a:t>
            </a:r>
            <a:endParaRPr sz="177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01655" y="4750827"/>
            <a:ext cx="1924500" cy="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47">
                <a:solidFill>
                  <a:srgbClr val="F75A40"/>
                </a:solidFill>
                <a:latin typeface="Lato"/>
                <a:ea typeface="Lato"/>
                <a:cs typeface="Lato"/>
                <a:sym typeface="Lato"/>
              </a:rPr>
              <a:t>*Pregunta a tu asesor.</a:t>
            </a:r>
            <a:endParaRPr sz="94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286981" y="1171223"/>
            <a:ext cx="6078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75" b="1">
                <a:solidFill>
                  <a:srgbClr val="F75A40"/>
                </a:solidFill>
                <a:latin typeface="Lato"/>
                <a:ea typeface="Lato"/>
                <a:cs typeface="Lato"/>
                <a:sym typeface="Lato"/>
              </a:rPr>
              <a:t>Goals</a:t>
            </a:r>
            <a:endParaRPr sz="177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824741" y="1695805"/>
            <a:ext cx="1758900" cy="9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Be a Volunteer</a:t>
            </a:r>
            <a:endParaRPr sz="1262" b="1">
              <a:latin typeface="Lato"/>
              <a:ea typeface="Lato"/>
              <a:cs typeface="Lato"/>
              <a:sym typeface="Lato"/>
            </a:endParaRPr>
          </a:p>
          <a:p>
            <a:pPr marL="15034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-Cambiar al país/mundo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-Contribuir a algo grande.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0" lvl="0" indent="0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-Ayudar a otros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831498" y="2726087"/>
            <a:ext cx="1518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Development Seeker</a:t>
            </a:r>
            <a:endParaRPr sz="1262" b="1">
              <a:latin typeface="Lato"/>
              <a:ea typeface="Lato"/>
              <a:cs typeface="Lato"/>
              <a:sym typeface="Lato"/>
            </a:endParaRPr>
          </a:p>
          <a:p>
            <a:pPr marL="15034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-Desarrollo personal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0" lvl="0" indent="0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-Mejorar mi persona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824741" y="3525524"/>
            <a:ext cx="1924500" cy="9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The Travel Enthusiastic</a:t>
            </a:r>
            <a:endParaRPr sz="1262" b="1">
              <a:latin typeface="Lato"/>
              <a:ea typeface="Lato"/>
              <a:cs typeface="Lato"/>
              <a:sym typeface="Lato"/>
            </a:endParaRPr>
          </a:p>
          <a:p>
            <a:pPr marL="15034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-Explorar una nueva cultura.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260598" lvl="0" indent="0" algn="l" rtl="0">
              <a:lnSpc>
                <a:spcPct val="119166"/>
              </a:lnSpc>
              <a:spcBef>
                <a:spcPts val="39"/>
              </a:spcBef>
              <a:spcAft>
                <a:spcPts val="0"/>
              </a:spcAft>
              <a:buNone/>
            </a:pPr>
            <a:r>
              <a:rPr lang="en" sz="1262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-Viajar y conocer nuevas  personas.</a:t>
            </a:r>
            <a:endParaRPr sz="1262"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06594" y="1144816"/>
            <a:ext cx="277021" cy="3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050" y="1047475"/>
            <a:ext cx="472745" cy="47273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01657" y="1683133"/>
            <a:ext cx="22767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75" rIns="0" bIns="0" anchor="t" anchorCtr="0">
            <a:spAutoFit/>
          </a:bodyPr>
          <a:lstStyle/>
          <a:p>
            <a:pPr marL="15034" marR="0" lvl="0" indent="0" algn="l" rtl="0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Edad</a:t>
            </a:r>
            <a:endParaRPr sz="1183" b="1">
              <a:latin typeface="Lato"/>
              <a:ea typeface="Lato"/>
              <a:cs typeface="Lato"/>
              <a:sym typeface="Lato"/>
            </a:endParaRPr>
          </a:p>
          <a:p>
            <a:pPr marL="15034" marR="0" lvl="0" indent="0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-18 a 30 años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0" lvl="0" indent="0" algn="l" rtl="0">
              <a:lnSpc>
                <a:spcPct val="119166"/>
              </a:lnSpc>
              <a:spcBef>
                <a:spcPts val="474"/>
              </a:spcBef>
              <a:spcAft>
                <a:spcPts val="0"/>
              </a:spcAft>
              <a:buNone/>
            </a:pPr>
            <a:r>
              <a:rPr lang="en" sz="1183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Disponibilidad</a:t>
            </a:r>
            <a:endParaRPr sz="1183" b="1">
              <a:latin typeface="Lato"/>
              <a:ea typeface="Lato"/>
              <a:cs typeface="Lato"/>
              <a:sym typeface="Lato"/>
            </a:endParaRPr>
          </a:p>
          <a:p>
            <a:pPr marL="15034" marR="65149" lvl="0" indent="0" algn="l" rtl="0">
              <a:lnSpc>
                <a:spcPct val="119166"/>
              </a:lnSpc>
              <a:spcBef>
                <a:spcPts val="39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-Contar con al menos 6 semanas  para realizar tu voluntariado.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0" lvl="0" indent="0" algn="l" rtl="0">
              <a:lnSpc>
                <a:spcPct val="119583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" sz="1183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Idiomas</a:t>
            </a:r>
            <a:endParaRPr sz="1183" b="1">
              <a:latin typeface="Lato"/>
              <a:ea typeface="Lato"/>
              <a:cs typeface="Lato"/>
              <a:sym typeface="Lato"/>
            </a:endParaRPr>
          </a:p>
          <a:p>
            <a:pPr marL="15034" marR="0" lvl="0" indent="0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-Hablar y entender inglés básico.*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marL="15034" marR="0" lvl="0" indent="0" algn="l" rtl="0">
              <a:lnSpc>
                <a:spcPct val="119166"/>
              </a:lnSpc>
              <a:spcBef>
                <a:spcPts val="474"/>
              </a:spcBef>
              <a:spcAft>
                <a:spcPts val="0"/>
              </a:spcAft>
              <a:buNone/>
            </a:pPr>
            <a:r>
              <a:rPr lang="en" sz="1183" b="1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endParaRPr sz="1183" b="1">
              <a:latin typeface="Lato"/>
              <a:ea typeface="Lato"/>
              <a:cs typeface="Lato"/>
              <a:sym typeface="Lato"/>
            </a:endParaRPr>
          </a:p>
          <a:p>
            <a:pPr marL="15034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-Perﬁl culturalmente tolerante;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marL="95219" marR="0" lvl="0" indent="-75173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84"/>
              <a:buFont typeface="Lato Light"/>
              <a:buChar char="-"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Dispuesto a prender;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  <a:p>
            <a:pPr marL="95219" marR="0" lvl="0" indent="-75173" algn="l" rtl="0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84"/>
              <a:buFont typeface="Lato Light"/>
              <a:buChar char="-"/>
            </a:pPr>
            <a:r>
              <a:rPr lang="en" sz="1183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Ganas de trabajar.</a:t>
            </a:r>
            <a:endParaRPr sz="1183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201656" y="4361975"/>
            <a:ext cx="22767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75" tIns="36075" rIns="36075" bIns="360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 b="1">
                <a:latin typeface="Lato"/>
                <a:ea typeface="Lato"/>
                <a:cs typeface="Lato"/>
                <a:sym typeface="Lato"/>
              </a:rPr>
              <a:t>Vacunación completa (COVID)</a:t>
            </a:r>
            <a:endParaRPr sz="1183"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061101" y="1683125"/>
            <a:ext cx="3571849" cy="3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Customer flow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98" name="Google Shape;9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7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100" name="Google Shape;100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7"/>
          <p:cNvGrpSpPr/>
          <p:nvPr/>
        </p:nvGrpSpPr>
        <p:grpSpPr>
          <a:xfrm>
            <a:off x="577449" y="951052"/>
            <a:ext cx="4250421" cy="4003072"/>
            <a:chOff x="0" y="0"/>
            <a:chExt cx="3478819" cy="3586339"/>
          </a:xfrm>
        </p:grpSpPr>
        <p:grpSp>
          <p:nvGrpSpPr>
            <p:cNvPr id="102" name="Google Shape;102;p17"/>
            <p:cNvGrpSpPr/>
            <p:nvPr/>
          </p:nvGrpSpPr>
          <p:grpSpPr>
            <a:xfrm>
              <a:off x="495347" y="288637"/>
              <a:ext cx="2453339" cy="3112044"/>
              <a:chOff x="-95198" y="10671"/>
              <a:chExt cx="2453339" cy="3112044"/>
            </a:xfrm>
          </p:grpSpPr>
          <p:sp>
            <p:nvSpPr>
              <p:cNvPr id="103" name="Google Shape;103;p17"/>
              <p:cNvSpPr/>
              <p:nvPr/>
            </p:nvSpPr>
            <p:spPr>
              <a:xfrm>
                <a:off x="-75520" y="757215"/>
                <a:ext cx="2394900" cy="2365500"/>
              </a:xfrm>
              <a:prstGeom prst="ellipse">
                <a:avLst/>
              </a:prstGeom>
              <a:noFill/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4" name="Google Shape;104;p17"/>
              <p:cNvSpPr/>
              <p:nvPr/>
            </p:nvSpPr>
            <p:spPr>
              <a:xfrm rot="10276046">
                <a:off x="2246947" y="1624292"/>
                <a:ext cx="103858" cy="10446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59" y="0"/>
                    </a:moveTo>
                    <a:lnTo>
                      <a:pt x="21600" y="21600"/>
                    </a:lnTo>
                    <a:lnTo>
                      <a:pt x="0" y="21560"/>
                    </a:lnTo>
                    <a:close/>
                  </a:path>
                </a:pathLst>
              </a:custGeom>
              <a:solidFill>
                <a:srgbClr val="52565E"/>
              </a:solidFill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5" name="Google Shape;105;p17"/>
              <p:cNvSpPr/>
              <p:nvPr/>
            </p:nvSpPr>
            <p:spPr>
              <a:xfrm rot="-7652907">
                <a:off x="1870551" y="2758884"/>
                <a:ext cx="103050" cy="1054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932" y="0"/>
                    </a:moveTo>
                    <a:lnTo>
                      <a:pt x="21600" y="21473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52565E"/>
              </a:solidFill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6" name="Google Shape;106;p17"/>
              <p:cNvSpPr/>
              <p:nvPr/>
            </p:nvSpPr>
            <p:spPr>
              <a:xfrm rot="-1014981">
                <a:off x="-82214" y="2210306"/>
                <a:ext cx="103741" cy="104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25" y="0"/>
                    </a:moveTo>
                    <a:lnTo>
                      <a:pt x="21600" y="21600"/>
                    </a:lnTo>
                    <a:lnTo>
                      <a:pt x="0" y="21527"/>
                    </a:lnTo>
                    <a:close/>
                  </a:path>
                </a:pathLst>
              </a:custGeom>
              <a:solidFill>
                <a:srgbClr val="52565E"/>
              </a:solidFill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7" name="Google Shape;107;p17"/>
              <p:cNvSpPr/>
              <p:nvPr/>
            </p:nvSpPr>
            <p:spPr>
              <a:xfrm rot="2919025">
                <a:off x="389936" y="913465"/>
                <a:ext cx="103153" cy="105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935" y="0"/>
                    </a:moveTo>
                    <a:lnTo>
                      <a:pt x="21600" y="2147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52565E"/>
              </a:solidFill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8" name="Google Shape;108;p17"/>
              <p:cNvSpPr/>
              <p:nvPr/>
            </p:nvSpPr>
            <p:spPr>
              <a:xfrm rot="10276046">
                <a:off x="1023375" y="384122"/>
                <a:ext cx="103858" cy="10446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759" y="0"/>
                    </a:moveTo>
                    <a:lnTo>
                      <a:pt x="21600" y="21600"/>
                    </a:lnTo>
                    <a:lnTo>
                      <a:pt x="0" y="21560"/>
                    </a:lnTo>
                    <a:close/>
                  </a:path>
                </a:pathLst>
              </a:custGeom>
              <a:solidFill>
                <a:srgbClr val="52565E"/>
              </a:solidFill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9" name="Google Shape;109;p17"/>
              <p:cNvSpPr/>
              <p:nvPr/>
            </p:nvSpPr>
            <p:spPr>
              <a:xfrm>
                <a:off x="615008" y="10671"/>
                <a:ext cx="433836" cy="3705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cubicBezTo>
                      <a:pt x="9323" y="2866"/>
                      <a:pt x="16523" y="10066"/>
                      <a:pt x="21600" y="21600"/>
                    </a:cubicBezTo>
                  </a:path>
                </a:pathLst>
              </a:custGeom>
              <a:noFill/>
              <a:ln w="12700" cap="flat" cmpd="sng">
                <a:solidFill>
                  <a:srgbClr val="52565E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" name="Google Shape;110;p17"/>
            <p:cNvSpPr/>
            <p:nvPr/>
          </p:nvSpPr>
          <p:spPr>
            <a:xfrm>
              <a:off x="77687" y="0"/>
              <a:ext cx="1121400" cy="476100"/>
            </a:xfrm>
            <a:prstGeom prst="roundRect">
              <a:avLst>
                <a:gd name="adj" fmla="val 15000"/>
              </a:avLst>
            </a:prstGeom>
            <a:solidFill>
              <a:srgbClr val="0A8EA0"/>
            </a:solidFill>
            <a:ln w="1270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  <a:effectLst>
              <a:outerShdw blurRad="25400" dist="50800" dir="27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lang="en" sz="11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ATTRACTION</a:t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1033446" y="794186"/>
              <a:ext cx="1307700" cy="394500"/>
            </a:xfrm>
            <a:prstGeom prst="roundRect">
              <a:avLst>
                <a:gd name="adj" fmla="val 15000"/>
              </a:avLst>
            </a:prstGeom>
            <a:solidFill>
              <a:srgbClr val="F85B40"/>
            </a:solidFill>
            <a:ln w="1270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  <a:effectLst>
              <a:outerShdw blurRad="25400" dist="50800" dir="27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lang="en" sz="11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CONSIDERATION</a:t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2171119" y="2032224"/>
              <a:ext cx="1307700" cy="371400"/>
            </a:xfrm>
            <a:prstGeom prst="roundRect">
              <a:avLst>
                <a:gd name="adj" fmla="val 15480"/>
              </a:avLst>
            </a:prstGeom>
            <a:solidFill>
              <a:srgbClr val="FFC845"/>
            </a:solidFill>
            <a:ln w="1270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  <a:effectLst>
              <a:outerShdw blurRad="25400" dist="50800" dir="27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lang="en" sz="11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PREPARATION</a:t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1158802" y="3110239"/>
              <a:ext cx="1307700" cy="476100"/>
            </a:xfrm>
            <a:prstGeom prst="roundRect">
              <a:avLst>
                <a:gd name="adj" fmla="val 15000"/>
              </a:avLst>
            </a:prstGeom>
            <a:solidFill>
              <a:srgbClr val="F48923"/>
            </a:solidFill>
            <a:ln w="1270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  <a:effectLst>
              <a:outerShdw blurRad="25400" dist="50800" dir="27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lang="en" sz="11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EXPERIENCE</a:t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0" y="1979914"/>
              <a:ext cx="1069200" cy="476100"/>
            </a:xfrm>
            <a:prstGeom prst="roundRect">
              <a:avLst>
                <a:gd name="adj" fmla="val 15000"/>
              </a:avLst>
            </a:prstGeom>
            <a:solidFill>
              <a:srgbClr val="30C39D"/>
            </a:solidFill>
            <a:ln w="1270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  <a:effectLst>
              <a:outerShdw blurRad="25400" dist="50800" dir="27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Lato"/>
                <a:buNone/>
              </a:pPr>
              <a:r>
                <a:rPr lang="en" sz="11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POST EXPERIENCE</a:t>
              </a:r>
              <a:endParaRPr/>
            </a:p>
          </p:txBody>
        </p:sp>
      </p:grpSp>
      <p:sp>
        <p:nvSpPr>
          <p:cNvPr id="115" name="Google Shape;115;p17"/>
          <p:cNvSpPr txBox="1"/>
          <p:nvPr/>
        </p:nvSpPr>
        <p:spPr>
          <a:xfrm>
            <a:off x="968466" y="1503713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Visitor -</a:t>
            </a:r>
            <a:r>
              <a:rPr lang="en" sz="1100" i="1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Sign up</a:t>
            </a: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2170778" y="2303406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i="1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Sign up</a:t>
            </a: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- APL 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2170778" y="2506763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APL - ACC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2170778" y="2722636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ACC - APD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4011350" y="3661789"/>
            <a:ext cx="10638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APD-RE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3954580" y="3041989"/>
            <a:ext cx="14283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 APD-OPEN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85250" y="3742057"/>
            <a:ext cx="14283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FI - CO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61406" y="3933236"/>
            <a:ext cx="14283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E"/>
              </a:buClr>
              <a:buSzPts val="1100"/>
              <a:buFont typeface="Lato"/>
              <a:buNone/>
            </a:pPr>
            <a:r>
              <a:rPr lang="en" sz="1100" b="0" i="1" u="none" strike="noStrike" cap="none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CO - Open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494328" y="2040244"/>
            <a:ext cx="783756" cy="11025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11442" y="4741"/>
                  <a:pt x="18642" y="11941"/>
                  <a:pt x="21600" y="21600"/>
                </a:cubicBezTo>
              </a:path>
            </a:pathLst>
          </a:custGeom>
          <a:noFill/>
          <a:ln w="12700" cap="flat" cmpd="sng">
            <a:solidFill>
              <a:srgbClr val="52565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 rot="275270">
            <a:off x="3647858" y="2015772"/>
            <a:ext cx="627445" cy="605549"/>
            <a:chOff x="593491" y="-46896"/>
            <a:chExt cx="670061" cy="542020"/>
          </a:xfrm>
        </p:grpSpPr>
        <p:sp>
          <p:nvSpPr>
            <p:cNvPr id="125" name="Google Shape;125;p17"/>
            <p:cNvSpPr txBox="1"/>
            <p:nvPr/>
          </p:nvSpPr>
          <p:spPr>
            <a:xfrm rot="2518738">
              <a:off x="941787" y="261231"/>
              <a:ext cx="309931" cy="150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E"/>
                </a:buClr>
                <a:buSzPts val="800"/>
                <a:buFont typeface="Lato"/>
                <a:buNone/>
              </a:pPr>
              <a:r>
                <a:rPr lang="en" sz="800" b="0" i="0" u="none" strike="noStrike" cap="none">
                  <a:solidFill>
                    <a:srgbClr val="52565E"/>
                  </a:solidFill>
                  <a:latin typeface="Lato"/>
                  <a:ea typeface="Lato"/>
                  <a:cs typeface="Lato"/>
                  <a:sym typeface="Lato"/>
                </a:rPr>
                <a:t>APD</a:t>
              </a: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 rot="1867599">
              <a:off x="601432" y="46553"/>
              <a:ext cx="398118" cy="1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E"/>
                </a:buClr>
                <a:buSzPts val="800"/>
                <a:buFont typeface="Lato"/>
                <a:buNone/>
              </a:pPr>
              <a:r>
                <a:rPr lang="en" sz="800" b="0" i="0" u="none" strike="noStrike" cap="none">
                  <a:solidFill>
                    <a:srgbClr val="52565E"/>
                  </a:solidFill>
                  <a:latin typeface="Lato"/>
                  <a:ea typeface="Lato"/>
                  <a:cs typeface="Lato"/>
                  <a:sym typeface="Lato"/>
                </a:rPr>
                <a:t>BREAK</a:t>
              </a:r>
              <a:endParaRPr/>
            </a:p>
          </p:txBody>
        </p:sp>
      </p:grpSp>
      <p:sp>
        <p:nvSpPr>
          <p:cNvPr id="127" name="Google Shape;127;p17"/>
          <p:cNvSpPr/>
          <p:nvPr/>
        </p:nvSpPr>
        <p:spPr>
          <a:xfrm>
            <a:off x="274625" y="854850"/>
            <a:ext cx="4868400" cy="2090700"/>
          </a:xfrm>
          <a:prstGeom prst="rect">
            <a:avLst/>
          </a:prstGeom>
          <a:noFill/>
          <a:ln w="19050" cap="flat" cmpd="sng">
            <a:solidFill>
              <a:srgbClr val="0CB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17"/>
          <p:cNvGrpSpPr/>
          <p:nvPr/>
        </p:nvGrpSpPr>
        <p:grpSpPr>
          <a:xfrm>
            <a:off x="5860094" y="3884700"/>
            <a:ext cx="1542401" cy="1154638"/>
            <a:chOff x="5939759" y="-955499"/>
            <a:chExt cx="1387800" cy="1034436"/>
          </a:xfrm>
        </p:grpSpPr>
        <p:sp>
          <p:nvSpPr>
            <p:cNvPr id="129" name="Google Shape;129;p17"/>
            <p:cNvSpPr txBox="1"/>
            <p:nvPr/>
          </p:nvSpPr>
          <p:spPr>
            <a:xfrm>
              <a:off x="5939759" y="-428963"/>
              <a:ext cx="1387800" cy="507900"/>
            </a:xfrm>
            <a:prstGeom prst="rect">
              <a:avLst/>
            </a:prstGeom>
            <a:solidFill>
              <a:srgbClr val="037AF5"/>
            </a:solidFill>
            <a:ln w="1270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  <a:effectLst>
              <a:outerShdw blurRad="25400" dist="50800" dir="27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9025" tIns="19025" rIns="19025" bIns="19025" anchor="ctr" anchorCtr="0">
              <a:no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Lato Black"/>
                <a:buNone/>
              </a:pPr>
              <a:r>
                <a:rPr lang="en" sz="3000" b="0" i="0" u="none" strike="noStrike" cap="none">
                  <a:solidFill>
                    <a:srgbClr val="FFFFFF"/>
                  </a:solidFill>
                  <a:latin typeface="Lato Black"/>
                  <a:ea typeface="Lato Black"/>
                  <a:cs typeface="Lato Black"/>
                  <a:sym typeface="Lato Black"/>
                </a:rPr>
                <a:t>Youth</a:t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5991065" y="-955499"/>
              <a:ext cx="1285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ctr" anchorCtr="0">
              <a:no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37AF5"/>
                </a:buClr>
                <a:buSzPts val="2600"/>
                <a:buFont typeface="Lato"/>
                <a:buNone/>
              </a:pPr>
              <a:r>
                <a:rPr lang="en" sz="2600" b="0" i="0" u="none" strike="noStrike" cap="none">
                  <a:solidFill>
                    <a:srgbClr val="037AF5"/>
                  </a:solidFill>
                  <a:latin typeface="Lato"/>
                  <a:ea typeface="Lato"/>
                  <a:cs typeface="Lato"/>
                  <a:sym typeface="Lato"/>
                </a:rPr>
                <a:t>Status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STATUS DEL CF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36" name="Google Shape;136;p18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137" name="Google Shape;137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8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139" name="Google Shape;139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18"/>
          <p:cNvSpPr txBox="1"/>
          <p:nvPr/>
        </p:nvSpPr>
        <p:spPr>
          <a:xfrm>
            <a:off x="1800441" y="1052117"/>
            <a:ext cx="49500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00"/>
              <a:buFont typeface="Lato"/>
              <a:buNone/>
            </a:pPr>
            <a:r>
              <a:rPr lang="en" sz="1200" b="0" i="0" u="none" strike="noStrike" cap="none">
                <a:solidFill>
                  <a:srgbClr val="424242"/>
                </a:solidFill>
                <a:latin typeface="Lato Light"/>
                <a:ea typeface="Lato Light"/>
                <a:cs typeface="Lato Light"/>
                <a:sym typeface="Lato Light"/>
              </a:rPr>
              <a:t>Una persona entre 18 y 30 años visita la plataforma de AIESEC  </a:t>
            </a:r>
            <a:r>
              <a:rPr lang="en" sz="1200" b="0" i="0" u="sng" strike="noStrike" cap="none">
                <a:solidFill>
                  <a:srgbClr val="0000FF"/>
                </a:solidFill>
                <a:latin typeface="Lato Light"/>
                <a:ea typeface="Lato Light"/>
                <a:cs typeface="Lato Light"/>
                <a:sym typeface="Lato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aiesec.org</a:t>
            </a:r>
            <a:endParaRPr sz="1500" b="0" i="0" u="none" strike="noStrike" cap="none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800441" y="1552935"/>
            <a:ext cx="49428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00"/>
              <a:buFont typeface="Lato"/>
              <a:buNone/>
            </a:pPr>
            <a:r>
              <a:rPr lang="en" sz="1200" b="0" i="0" u="none" strike="noStrike" cap="none">
                <a:solidFill>
                  <a:srgbClr val="424242"/>
                </a:solidFill>
                <a:latin typeface="Lato Light"/>
                <a:ea typeface="Lato Light"/>
                <a:cs typeface="Lato Light"/>
                <a:sym typeface="Lato Light"/>
              </a:rPr>
              <a:t>El/la joven crea un perfil en la plataforma de AIESEC.</a:t>
            </a:r>
            <a:endParaRPr sz="1500" b="0" i="0" u="none" strike="noStrike" cap="none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800441" y="2040121"/>
            <a:ext cx="494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800"/>
              <a:buFont typeface="Lato"/>
              <a:buNone/>
            </a:pPr>
            <a:r>
              <a:rPr lang="en" sz="1200" b="0" i="0" u="none" strike="noStrike" cap="none">
                <a:solidFill>
                  <a:srgbClr val="424242"/>
                </a:solidFill>
                <a:latin typeface="Lato Light"/>
                <a:ea typeface="Lato Light"/>
                <a:cs typeface="Lato Light"/>
                <a:sym typeface="Lato Light"/>
              </a:rPr>
              <a:t>El/la joven aplica a una oportunidad de AIESEC y se convierte en un potencial participante de intercambio. </a:t>
            </a:r>
            <a:endParaRPr sz="1500" b="0" i="0" u="none" strike="noStrike" cap="none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723552" y="1050238"/>
            <a:ext cx="912900" cy="292200"/>
          </a:xfrm>
          <a:prstGeom prst="roundRect">
            <a:avLst>
              <a:gd name="adj" fmla="val 16667"/>
            </a:avLst>
          </a:prstGeom>
          <a:solidFill>
            <a:srgbClr val="FFB34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VISITOR</a:t>
            </a:r>
            <a:endParaRPr sz="1200" b="0" i="0" u="none" strike="noStrike" cap="non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23552" y="1552935"/>
            <a:ext cx="912900" cy="292200"/>
          </a:xfrm>
          <a:prstGeom prst="roundRect">
            <a:avLst>
              <a:gd name="adj" fmla="val 16667"/>
            </a:avLst>
          </a:prstGeom>
          <a:solidFill>
            <a:srgbClr val="FFB34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OPEN/SU</a:t>
            </a:r>
            <a:endParaRPr sz="1100"/>
          </a:p>
        </p:txBody>
      </p:sp>
      <p:sp>
        <p:nvSpPr>
          <p:cNvPr id="145" name="Google Shape;145;p18"/>
          <p:cNvSpPr/>
          <p:nvPr/>
        </p:nvSpPr>
        <p:spPr>
          <a:xfrm>
            <a:off x="723552" y="2040121"/>
            <a:ext cx="912900" cy="292200"/>
          </a:xfrm>
          <a:prstGeom prst="roundRect">
            <a:avLst>
              <a:gd name="adj" fmla="val 16667"/>
            </a:avLst>
          </a:prstGeom>
          <a:solidFill>
            <a:srgbClr val="FFB34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APL</a:t>
            </a:r>
            <a:endParaRPr sz="1100"/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7">
            <a:alphaModFix/>
          </a:blip>
          <a:srcRect l="3073" t="28968" r="28922" b="46038"/>
          <a:stretch/>
        </p:blipFill>
        <p:spPr>
          <a:xfrm>
            <a:off x="454700" y="2539925"/>
            <a:ext cx="5776500" cy="1484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73350" y="4085325"/>
            <a:ext cx="66771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Es preguntarnos constantemente </a:t>
            </a:r>
            <a:r>
              <a:rPr lang="en"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¿Cuántas de las personas que contactamos pasan a la siguiente etapa? ¿Cuántas de las personas interesadas aplicaron? ¿Cuántas de las personas que aplicaron son approvals?</a:t>
            </a:r>
            <a:endParaRPr sz="15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239400" y="1355211"/>
            <a:ext cx="1305600" cy="354900"/>
          </a:xfrm>
          <a:prstGeom prst="roundRect">
            <a:avLst>
              <a:gd name="adj" fmla="val 16529"/>
            </a:avLst>
          </a:prstGeom>
          <a:solidFill>
            <a:srgbClr val="F85B40"/>
          </a:solidFill>
          <a:ln w="57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1496" dist="22992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95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QUÉ HACER</a:t>
            </a:r>
            <a:endParaRPr sz="995"/>
          </a:p>
        </p:txBody>
      </p:sp>
      <p:sp>
        <p:nvSpPr>
          <p:cNvPr id="153" name="Google Shape;153;p19"/>
          <p:cNvSpPr/>
          <p:nvPr/>
        </p:nvSpPr>
        <p:spPr>
          <a:xfrm>
            <a:off x="1544800" y="1503619"/>
            <a:ext cx="366000" cy="57900"/>
          </a:xfrm>
          <a:prstGeom prst="rightArrow">
            <a:avLst>
              <a:gd name="adj1" fmla="val 50000"/>
              <a:gd name="adj2" fmla="val 116706"/>
            </a:avLst>
          </a:prstGeom>
          <a:solidFill>
            <a:srgbClr val="F47721"/>
          </a:solidFill>
          <a:ln w="4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775" tIns="82775" rIns="82775" bIns="82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995299" y="1198250"/>
            <a:ext cx="50283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775" tIns="82775" rIns="82775" bIns="8277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6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 trabajo con el equipo, idear estrategias y acciones que generen que personas se interesen por nuestro programa. Como por ejemplo, intervenciones físicas en universidades, saloneos en institutos de idiomas, etc. </a:t>
            </a:r>
            <a:endParaRPr sz="1086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39400" y="2125354"/>
            <a:ext cx="1305600" cy="354900"/>
          </a:xfrm>
          <a:prstGeom prst="roundRect">
            <a:avLst>
              <a:gd name="adj" fmla="val 16529"/>
            </a:avLst>
          </a:prstGeom>
          <a:solidFill>
            <a:srgbClr val="F85B40"/>
          </a:solidFill>
          <a:ln w="57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1496" dist="22992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95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 QUIÉN</a:t>
            </a:r>
            <a:endParaRPr sz="995"/>
          </a:p>
        </p:txBody>
      </p:sp>
      <p:sp>
        <p:nvSpPr>
          <p:cNvPr id="156" name="Google Shape;156;p19"/>
          <p:cNvSpPr txBox="1"/>
          <p:nvPr/>
        </p:nvSpPr>
        <p:spPr>
          <a:xfrm>
            <a:off x="1995299" y="2135605"/>
            <a:ext cx="50283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775" tIns="82775" rIns="82775" bIns="82775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86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OGX Consideration Team</a:t>
            </a:r>
            <a:endParaRPr sz="1086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86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Personas de tu LC que quieran participar</a:t>
            </a:r>
            <a:endParaRPr sz="1086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1544800" y="2273761"/>
            <a:ext cx="366000" cy="57900"/>
          </a:xfrm>
          <a:prstGeom prst="rightArrow">
            <a:avLst>
              <a:gd name="adj1" fmla="val 50000"/>
              <a:gd name="adj2" fmla="val 116706"/>
            </a:avLst>
          </a:prstGeom>
          <a:solidFill>
            <a:srgbClr val="F47721"/>
          </a:solidFill>
          <a:ln w="4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775" tIns="82775" rIns="82775" bIns="82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ATTRACTION 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160" name="Google Shape;160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9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162" name="Google Shape;162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9"/>
          <p:cNvSpPr txBox="1"/>
          <p:nvPr/>
        </p:nvSpPr>
        <p:spPr>
          <a:xfrm>
            <a:off x="936450" y="538050"/>
            <a:ext cx="20853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54132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Visitor - SU</a:t>
            </a:r>
            <a:endParaRPr sz="2500">
              <a:solidFill>
                <a:srgbClr val="F54132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21250" y="3532575"/>
            <a:ext cx="6379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1">
                <a:solidFill>
                  <a:srgbClr val="FFAB40"/>
                </a:solidFill>
                <a:latin typeface="Lato"/>
                <a:ea typeface="Lato"/>
                <a:cs typeface="Lato"/>
                <a:sym typeface="Lato"/>
              </a:rPr>
              <a:t>¿POR DÓNDE DIFUNDIR MIS OPPS?</a:t>
            </a:r>
            <a:endParaRPr sz="2200" b="1" i="1">
              <a:solidFill>
                <a:srgbClr val="FFAB4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6">
            <a:alphaModFix/>
          </a:blip>
          <a:srcRect b="21135"/>
          <a:stretch/>
        </p:blipFill>
        <p:spPr>
          <a:xfrm>
            <a:off x="255088" y="3480538"/>
            <a:ext cx="795415" cy="6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-7" y="4360113"/>
            <a:ext cx="738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highlight>
                  <a:srgbClr val="F85A40"/>
                </a:highlight>
                <a:latin typeface="Lato Black"/>
                <a:ea typeface="Lato Black"/>
                <a:cs typeface="Lato Black"/>
                <a:sym typeface="Lato Black"/>
              </a:rPr>
              <a:t>GV:</a:t>
            </a:r>
            <a:endParaRPr>
              <a:highlight>
                <a:srgbClr val="F85A40"/>
              </a:highlight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75500" y="4309113"/>
            <a:ext cx="6216900" cy="594600"/>
          </a:xfrm>
          <a:prstGeom prst="roundRect">
            <a:avLst>
              <a:gd name="adj" fmla="val 16667"/>
            </a:avLst>
          </a:prstGeom>
          <a:solidFill>
            <a:srgbClr val="F85A4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STORIES, POSTS, SHARINGS, GRUPOS DE FACEBOOK DE ESTUDIANTES.</a:t>
            </a:r>
            <a:br>
              <a:rPr lang="en" sz="12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" sz="12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INTERVENCIONES EN ESCUELAS, UNIVERSIDADES DEL PERFIL FOCO Y SALONEOS </a:t>
            </a:r>
            <a:endParaRPr/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0700" y="1866955"/>
            <a:ext cx="1946799" cy="194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CONSIDERATION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175" name="Google Shape;175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0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177" name="Google Shape;177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20"/>
          <p:cNvSpPr txBox="1"/>
          <p:nvPr/>
        </p:nvSpPr>
        <p:spPr>
          <a:xfrm>
            <a:off x="828300" y="443625"/>
            <a:ext cx="7487400" cy="13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La fase de </a:t>
            </a:r>
            <a:r>
              <a:rPr lang="en" sz="1400" i="1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consideration</a:t>
            </a:r>
            <a:r>
              <a:rPr lang="en" sz="14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 comienza cuando el cliente empieza a evaluar las diferentes propuestas que tiene a su disposición. En esta etapa debemos proporcionar información crítica y pertinente para ayudar a nuestro cliente a toma la mejor decisión posible.</a:t>
            </a:r>
            <a:endParaRPr sz="16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896307" y="2309429"/>
            <a:ext cx="1214100" cy="392100"/>
          </a:xfrm>
          <a:prstGeom prst="roundRect">
            <a:avLst>
              <a:gd name="adj" fmla="val 16529"/>
            </a:avLst>
          </a:prstGeom>
          <a:solidFill>
            <a:srgbClr val="F85B40"/>
          </a:solidFill>
          <a:ln w="63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" dist="25400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CONSIDERATION</a:t>
            </a:r>
            <a:endParaRPr sz="1100"/>
          </a:p>
        </p:txBody>
      </p:sp>
      <p:sp>
        <p:nvSpPr>
          <p:cNvPr id="180" name="Google Shape;180;p20"/>
          <p:cNvSpPr/>
          <p:nvPr/>
        </p:nvSpPr>
        <p:spPr>
          <a:xfrm>
            <a:off x="2894826" y="2902152"/>
            <a:ext cx="1214100" cy="6255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 cap="flat" cmpd="sng">
            <a:solidFill>
              <a:srgbClr val="F85A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Lato"/>
                <a:ea typeface="Lato"/>
                <a:cs typeface="Lato"/>
                <a:sym typeface="Lato"/>
              </a:rPr>
              <a:t>Esta es la etapa del </a:t>
            </a:r>
            <a:r>
              <a:rPr lang="en" sz="900" i="1">
                <a:solidFill>
                  <a:srgbClr val="262626"/>
                </a:solidFill>
                <a:latin typeface="Lato"/>
                <a:ea typeface="Lato"/>
                <a:cs typeface="Lato"/>
                <a:sym typeface="Lato"/>
              </a:rPr>
              <a:t>customer flow </a:t>
            </a:r>
            <a:r>
              <a:rPr lang="en" sz="900">
                <a:solidFill>
                  <a:srgbClr val="262626"/>
                </a:solidFill>
                <a:latin typeface="Lato"/>
                <a:ea typeface="Lato"/>
                <a:cs typeface="Lato"/>
                <a:sym typeface="Lato"/>
              </a:rPr>
              <a:t>donde “vendemos”. </a:t>
            </a:r>
            <a:endParaRPr sz="1100"/>
          </a:p>
        </p:txBody>
      </p:sp>
      <p:sp>
        <p:nvSpPr>
          <p:cNvPr id="181" name="Google Shape;181;p20"/>
          <p:cNvSpPr txBox="1"/>
          <p:nvPr/>
        </p:nvSpPr>
        <p:spPr>
          <a:xfrm>
            <a:off x="2147700" y="1809175"/>
            <a:ext cx="699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PROCESO DE VENTA</a:t>
            </a:r>
            <a:endParaRPr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316851" y="2340875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Conoce tu programa.</a:t>
            </a:r>
            <a:endParaRPr sz="1100"/>
          </a:p>
        </p:txBody>
      </p:sp>
      <p:sp>
        <p:nvSpPr>
          <p:cNvPr id="183" name="Google Shape;183;p20"/>
          <p:cNvSpPr/>
          <p:nvPr/>
        </p:nvSpPr>
        <p:spPr>
          <a:xfrm>
            <a:off x="5828474" y="2340875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Conoce tu mercado (</a:t>
            </a:r>
            <a:r>
              <a:rPr lang="en" sz="900" i="1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buyer persona</a:t>
            </a: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100"/>
          </a:p>
        </p:txBody>
      </p:sp>
      <p:sp>
        <p:nvSpPr>
          <p:cNvPr id="184" name="Google Shape;184;p20"/>
          <p:cNvSpPr/>
          <p:nvPr/>
        </p:nvSpPr>
        <p:spPr>
          <a:xfrm>
            <a:off x="7340096" y="2340873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Primer contacto (first contact).</a:t>
            </a:r>
            <a:endParaRPr sz="1100"/>
          </a:p>
        </p:txBody>
      </p:sp>
      <p:sp>
        <p:nvSpPr>
          <p:cNvPr id="185" name="Google Shape;185;p20"/>
          <p:cNvSpPr/>
          <p:nvPr/>
        </p:nvSpPr>
        <p:spPr>
          <a:xfrm>
            <a:off x="7340096" y="3012946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Cita de ventas (meeting de consideration).</a:t>
            </a:r>
            <a:endParaRPr sz="1000"/>
          </a:p>
        </p:txBody>
      </p:sp>
      <p:sp>
        <p:nvSpPr>
          <p:cNvPr id="186" name="Google Shape;186;p20"/>
          <p:cNvSpPr/>
          <p:nvPr/>
        </p:nvSpPr>
        <p:spPr>
          <a:xfrm>
            <a:off x="5848358" y="3012946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Follow up</a:t>
            </a:r>
            <a:endParaRPr sz="1100"/>
          </a:p>
        </p:txBody>
      </p:sp>
      <p:sp>
        <p:nvSpPr>
          <p:cNvPr id="187" name="Google Shape;187;p20"/>
          <p:cNvSpPr/>
          <p:nvPr/>
        </p:nvSpPr>
        <p:spPr>
          <a:xfrm>
            <a:off x="4316851" y="3012946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Cierre de venta.</a:t>
            </a:r>
            <a:endParaRPr sz="1100"/>
          </a:p>
        </p:txBody>
      </p:sp>
      <p:sp>
        <p:nvSpPr>
          <p:cNvPr id="188" name="Google Shape;188;p20"/>
          <p:cNvSpPr/>
          <p:nvPr/>
        </p:nvSpPr>
        <p:spPr>
          <a:xfrm>
            <a:off x="4316850" y="3682117"/>
            <a:ext cx="1214100" cy="360300"/>
          </a:xfrm>
          <a:prstGeom prst="roundRect">
            <a:avLst>
              <a:gd name="adj" fmla="val 10345"/>
            </a:avLst>
          </a:prstGeom>
          <a:solidFill>
            <a:srgbClr val="FFC8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Post venta.</a:t>
            </a:r>
            <a:endParaRPr sz="1100"/>
          </a:p>
        </p:txBody>
      </p:sp>
      <p:sp>
        <p:nvSpPr>
          <p:cNvPr id="189" name="Google Shape;189;p20"/>
          <p:cNvSpPr/>
          <p:nvPr/>
        </p:nvSpPr>
        <p:spPr>
          <a:xfrm>
            <a:off x="5588242" y="2430685"/>
            <a:ext cx="183600" cy="18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6350" cap="flat" cmpd="sng">
            <a:solidFill>
              <a:srgbClr val="F4772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099865" y="2414963"/>
            <a:ext cx="183600" cy="18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6350" cap="flat" cmpd="sng">
            <a:solidFill>
              <a:srgbClr val="F4772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 rot="10800000">
            <a:off x="7091265" y="3094365"/>
            <a:ext cx="192000" cy="18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6350" cap="flat" cmpd="sng">
            <a:solidFill>
              <a:srgbClr val="F4772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 rot="-5400000" flipH="1">
            <a:off x="7860543" y="2777654"/>
            <a:ext cx="181500" cy="19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6350" cap="flat" cmpd="sng">
            <a:solidFill>
              <a:srgbClr val="F4772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 rot="10800000">
            <a:off x="5588173" y="3098571"/>
            <a:ext cx="192000" cy="18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6350" cap="flat" cmpd="sng">
            <a:solidFill>
              <a:srgbClr val="F4772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 rot="-5400000" flipH="1">
            <a:off x="4833223" y="3429689"/>
            <a:ext cx="181500" cy="19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6350" cap="flat" cmpd="sng">
            <a:solidFill>
              <a:srgbClr val="F4772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613798" y="1257638"/>
            <a:ext cx="3914525" cy="3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/>
          <p:nvPr/>
        </p:nvSpPr>
        <p:spPr>
          <a:xfrm>
            <a:off x="824711" y="1996350"/>
            <a:ext cx="1442100" cy="392100"/>
          </a:xfrm>
          <a:prstGeom prst="roundRect">
            <a:avLst>
              <a:gd name="adj" fmla="val 16529"/>
            </a:avLst>
          </a:prstGeom>
          <a:solidFill>
            <a:srgbClr val="F85B40"/>
          </a:solidFill>
          <a:ln w="63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" dist="25400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QUÉ HACER</a:t>
            </a:r>
            <a:endParaRPr sz="1100"/>
          </a:p>
        </p:txBody>
      </p:sp>
      <p:sp>
        <p:nvSpPr>
          <p:cNvPr id="201" name="Google Shape;201;p21"/>
          <p:cNvSpPr/>
          <p:nvPr/>
        </p:nvSpPr>
        <p:spPr>
          <a:xfrm>
            <a:off x="2266813" y="2160300"/>
            <a:ext cx="404100" cy="64200"/>
          </a:xfrm>
          <a:prstGeom prst="rightArrow">
            <a:avLst>
              <a:gd name="adj1" fmla="val 50000"/>
              <a:gd name="adj2" fmla="val 116706"/>
            </a:avLst>
          </a:prstGeom>
          <a:solidFill>
            <a:srgbClr val="F47721"/>
          </a:solidFill>
          <a:ln w="47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2764488" y="1222250"/>
            <a:ext cx="55548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Revisa </a:t>
            </a:r>
            <a:r>
              <a:rPr lang="en" sz="1200" i="1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podio y expa c</a:t>
            </a: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onstantemente para ver tus nuevos SUs. Contáctalos y cambia su estatus en la plataforma a contactado.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Recuerda utilizar tu Speech de ventas adaptado a la campaña de atracción para que la venta sea lo mejor posible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No olvides incluir en tu speech de venta una </a:t>
            </a:r>
            <a:r>
              <a:rPr lang="en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explicación de qué es la organización, qué es el programa, oportunidades y beneficios. 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Acompaña al EP en el proceso de decidir qué oportunidad tomar, al decidir, mandale el link de la oportunidad y acompañalo en el proceso de aplicar. </a:t>
            </a:r>
            <a:endParaRPr sz="14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24711" y="3839100"/>
            <a:ext cx="1442100" cy="392100"/>
          </a:xfrm>
          <a:prstGeom prst="roundRect">
            <a:avLst>
              <a:gd name="adj" fmla="val 16529"/>
            </a:avLst>
          </a:prstGeom>
          <a:solidFill>
            <a:srgbClr val="F85B40"/>
          </a:solidFill>
          <a:ln w="63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" dist="25400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 QUIÉN</a:t>
            </a:r>
            <a:endParaRPr sz="1100"/>
          </a:p>
        </p:txBody>
      </p:sp>
      <p:sp>
        <p:nvSpPr>
          <p:cNvPr id="204" name="Google Shape;204;p21"/>
          <p:cNvSpPr txBox="1"/>
          <p:nvPr/>
        </p:nvSpPr>
        <p:spPr>
          <a:xfrm>
            <a:off x="2764488" y="3645150"/>
            <a:ext cx="555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OGX Consideration Team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rPr>
              <a:t>IR Partner</a:t>
            </a:r>
            <a:endParaRPr sz="12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266813" y="4003050"/>
            <a:ext cx="404100" cy="64200"/>
          </a:xfrm>
          <a:prstGeom prst="rightArrow">
            <a:avLst>
              <a:gd name="adj1" fmla="val 50000"/>
              <a:gd name="adj2" fmla="val 116706"/>
            </a:avLst>
          </a:prstGeom>
          <a:solidFill>
            <a:srgbClr val="F47721"/>
          </a:solidFill>
          <a:ln w="47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" name="Google Shape;206;p21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207" name="Google Shape;207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1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209" name="Google Shape;209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21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CONSIDERATION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1510250" y="617650"/>
            <a:ext cx="169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54132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SU - APL</a:t>
            </a:r>
            <a:endParaRPr sz="2400">
              <a:solidFill>
                <a:srgbClr val="F54132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2"/>
          <p:cNvGrpSpPr/>
          <p:nvPr/>
        </p:nvGrpSpPr>
        <p:grpSpPr>
          <a:xfrm>
            <a:off x="8151633" y="0"/>
            <a:ext cx="562488" cy="854843"/>
            <a:chOff x="8056825" y="0"/>
            <a:chExt cx="513453" cy="732450"/>
          </a:xfrm>
        </p:grpSpPr>
        <p:pic>
          <p:nvPicPr>
            <p:cNvPr id="217" name="Google Shape;217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2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219" name="Google Shape;219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22"/>
          <p:cNvSpPr txBox="1"/>
          <p:nvPr/>
        </p:nvSpPr>
        <p:spPr>
          <a:xfrm>
            <a:off x="2642000" y="186225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EXPA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1732400" y="854850"/>
            <a:ext cx="741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EXPA es nuestra herramienta de base. </a:t>
            </a:r>
            <a:endParaRPr sz="2400">
              <a:solidFill>
                <a:srgbClr val="3F3F3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1154575" y="1593750"/>
            <a:ext cx="28743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Sign Ups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Aplicantes.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Accepted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Approved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Realized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Finished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NPS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LPS</a:t>
            </a:r>
            <a:endParaRPr sz="1800">
              <a:solidFill>
                <a:srgbClr val="01010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-571500" algn="l" rtl="0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010101"/>
                </a:solidFill>
                <a:latin typeface="Lato"/>
                <a:ea typeface="Lato"/>
                <a:cs typeface="Lato"/>
                <a:sym typeface="Lato"/>
              </a:rPr>
              <a:t>Oportunidades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8200" y="1456050"/>
            <a:ext cx="4430400" cy="3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/>
          </a:blip>
          <a:srcRect t="19187" r="29158" b="9004"/>
          <a:stretch/>
        </p:blipFill>
        <p:spPr>
          <a:xfrm>
            <a:off x="2086203" y="838817"/>
            <a:ext cx="6534357" cy="415755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2014401" y="718049"/>
            <a:ext cx="1647000" cy="833700"/>
          </a:xfrm>
          <a:prstGeom prst="ellipse">
            <a:avLst/>
          </a:prstGeom>
          <a:noFill/>
          <a:ln w="8850" cap="flat" cmpd="sng">
            <a:solidFill>
              <a:srgbClr val="650B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975" tIns="84975" rIns="84975" bIns="84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1"/>
          </a:p>
        </p:txBody>
      </p:sp>
      <p:cxnSp>
        <p:nvCxnSpPr>
          <p:cNvPr id="230" name="Google Shape;230;p23"/>
          <p:cNvCxnSpPr/>
          <p:nvPr/>
        </p:nvCxnSpPr>
        <p:spPr>
          <a:xfrm flipH="1">
            <a:off x="3711459" y="1124908"/>
            <a:ext cx="626100" cy="2100"/>
          </a:xfrm>
          <a:prstGeom prst="straightConnector1">
            <a:avLst/>
          </a:prstGeom>
          <a:noFill/>
          <a:ln w="13300" cap="flat" cmpd="sng">
            <a:solidFill>
              <a:srgbClr val="650BEC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1" name="Google Shape;231;p23"/>
          <p:cNvSpPr/>
          <p:nvPr/>
        </p:nvSpPr>
        <p:spPr>
          <a:xfrm rot="5400372">
            <a:off x="6944326" y="2829825"/>
            <a:ext cx="2771700" cy="1243500"/>
          </a:xfrm>
          <a:prstGeom prst="ellipse">
            <a:avLst/>
          </a:prstGeom>
          <a:noFill/>
          <a:ln w="8850" cap="flat" cmpd="sng">
            <a:solidFill>
              <a:srgbClr val="650B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975" tIns="84975" rIns="84975" bIns="84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1"/>
          </a:p>
        </p:txBody>
      </p:sp>
      <p:sp>
        <p:nvSpPr>
          <p:cNvPr id="232" name="Google Shape;232;p23"/>
          <p:cNvSpPr txBox="1"/>
          <p:nvPr/>
        </p:nvSpPr>
        <p:spPr>
          <a:xfrm>
            <a:off x="4387779" y="930378"/>
            <a:ext cx="40974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75" tIns="84975" rIns="84975" bIns="84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7" b="1">
                <a:solidFill>
                  <a:srgbClr val="FFFFFF"/>
                </a:solidFill>
                <a:highlight>
                  <a:srgbClr val="450B6D"/>
                </a:highlight>
                <a:latin typeface="Raleway"/>
                <a:ea typeface="Raleway"/>
                <a:cs typeface="Raleway"/>
                <a:sym typeface="Raleway"/>
              </a:rPr>
              <a:t>1) Ingreso a “people” y puedo ver todos los SUs</a:t>
            </a:r>
            <a:endParaRPr sz="1487">
              <a:solidFill>
                <a:srgbClr val="FFFFFF"/>
              </a:solidFill>
              <a:highlight>
                <a:srgbClr val="450B6D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24935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87">
              <a:solidFill>
                <a:srgbClr val="01010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522975" y="1656682"/>
            <a:ext cx="40974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75" tIns="84975" rIns="84975" bIns="84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4" b="1">
                <a:solidFill>
                  <a:srgbClr val="FFFFFF"/>
                </a:solidFill>
                <a:highlight>
                  <a:srgbClr val="450B6D"/>
                </a:highlight>
                <a:latin typeface="Raleway"/>
                <a:ea typeface="Raleway"/>
                <a:cs typeface="Raleway"/>
                <a:sym typeface="Raleway"/>
              </a:rPr>
              <a:t>2) Aquí puedo ver el estatus “open” “aplicante” “aceptado” “approval”</a:t>
            </a:r>
            <a:endParaRPr sz="1394">
              <a:solidFill>
                <a:srgbClr val="FFFFFF"/>
              </a:solidFill>
              <a:highlight>
                <a:srgbClr val="450B6D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24935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87">
              <a:solidFill>
                <a:srgbClr val="01010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234" name="Google Shape;234;p23"/>
          <p:cNvCxnSpPr>
            <a:endCxn id="233" idx="2"/>
          </p:cNvCxnSpPr>
          <p:nvPr/>
        </p:nvCxnSpPr>
        <p:spPr>
          <a:xfrm rot="10800000">
            <a:off x="6571675" y="2065582"/>
            <a:ext cx="1275000" cy="459600"/>
          </a:xfrm>
          <a:prstGeom prst="straightConnector1">
            <a:avLst/>
          </a:prstGeom>
          <a:noFill/>
          <a:ln w="13300" cap="flat" cmpd="sng">
            <a:solidFill>
              <a:srgbClr val="650BEC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CONTACTO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40" name="Google Shape;240;p24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243" name="Google Shape;243;p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24"/>
          <p:cNvSpPr txBox="1"/>
          <p:nvPr/>
        </p:nvSpPr>
        <p:spPr>
          <a:xfrm>
            <a:off x="161050" y="1795725"/>
            <a:ext cx="4232100" cy="1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Saludo, nombre, decir que somos de AIESEC y una referencia “la organización que gestiona intercambios”..</a:t>
            </a:r>
            <a:endParaRPr sz="1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Transmitimos confianza y emoción, debemos lograr el </a:t>
            </a:r>
            <a:r>
              <a:rPr lang="en" sz="17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primer objetivo: </a:t>
            </a:r>
            <a:r>
              <a:rPr lang="en" sz="17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agendar una reunión informativa (IS)</a:t>
            </a:r>
            <a:endParaRPr sz="1700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SIEMPRE finalizo la charla con una pregunta </a:t>
            </a:r>
            <a:endParaRPr sz="13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1208159" y="854850"/>
            <a:ext cx="4684200" cy="765300"/>
          </a:xfrm>
          <a:prstGeom prst="rect">
            <a:avLst/>
          </a:prstGeom>
          <a:noFill/>
          <a:ln>
            <a:noFill/>
          </a:ln>
          <a:effectLst>
            <a:outerShdw blurRad="28013" dist="9338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9625" tIns="89625" rIns="89625" bIns="896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9"/>
              <a:buFont typeface="Arial"/>
              <a:buNone/>
            </a:pPr>
            <a:r>
              <a:rPr lang="en" sz="3529" b="1" i="0" u="none" strike="noStrike" cap="none">
                <a:solidFill>
                  <a:srgbClr val="FFFFFF"/>
                </a:solidFill>
                <a:highlight>
                  <a:srgbClr val="FF0000"/>
                </a:highlight>
                <a:latin typeface="Lato"/>
                <a:ea typeface="Lato"/>
                <a:cs typeface="Lato"/>
                <a:sym typeface="Lato"/>
              </a:rPr>
              <a:t>EN MENOS DE </a:t>
            </a:r>
            <a:r>
              <a:rPr lang="en" sz="3529" b="1">
                <a:solidFill>
                  <a:srgbClr val="FFFFFF"/>
                </a:solidFill>
                <a:highlight>
                  <a:srgbClr val="FF0000"/>
                </a:highlight>
                <a:latin typeface="Lato"/>
                <a:ea typeface="Lato"/>
                <a:cs typeface="Lato"/>
                <a:sym typeface="Lato"/>
              </a:rPr>
              <a:t>12</a:t>
            </a:r>
            <a:r>
              <a:rPr lang="en" sz="3529" b="1" i="0" u="none" strike="noStrike" cap="none">
                <a:solidFill>
                  <a:srgbClr val="FFFFFF"/>
                </a:solidFill>
                <a:highlight>
                  <a:srgbClr val="FF0000"/>
                </a:highlight>
                <a:latin typeface="Lato"/>
                <a:ea typeface="Lato"/>
                <a:cs typeface="Lato"/>
                <a:sym typeface="Lato"/>
              </a:rPr>
              <a:t> HS</a:t>
            </a:r>
            <a:endParaRPr sz="3529" b="1" i="0" u="none" strike="noStrike" cap="none">
              <a:solidFill>
                <a:srgbClr val="FFFFFF"/>
              </a:solidFill>
              <a:highlight>
                <a:srgbClr val="FF0000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5800" y="617650"/>
            <a:ext cx="4477576" cy="44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REUNIÓN INFORMATIVA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52" name="Google Shape;252;p25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255" name="Google Shape;255;p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25"/>
          <p:cNvSpPr txBox="1"/>
          <p:nvPr/>
        </p:nvSpPr>
        <p:spPr>
          <a:xfrm>
            <a:off x="1208159" y="854850"/>
            <a:ext cx="4684200" cy="765300"/>
          </a:xfrm>
          <a:prstGeom prst="rect">
            <a:avLst/>
          </a:prstGeom>
          <a:noFill/>
          <a:ln>
            <a:noFill/>
          </a:ln>
          <a:effectLst>
            <a:outerShdw blurRad="28013" dist="9338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9625" tIns="89625" rIns="89625" bIns="896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9"/>
              <a:buFont typeface="Arial"/>
              <a:buNone/>
            </a:pPr>
            <a:r>
              <a:rPr lang="en" sz="3529" b="1" i="0" u="none" strike="noStrike" cap="none">
                <a:solidFill>
                  <a:srgbClr val="FFFFFF"/>
                </a:solidFill>
                <a:highlight>
                  <a:srgbClr val="FF0000"/>
                </a:highlight>
                <a:latin typeface="Lato"/>
                <a:ea typeface="Lato"/>
                <a:cs typeface="Lato"/>
                <a:sym typeface="Lato"/>
              </a:rPr>
              <a:t>EN MENOS DE </a:t>
            </a:r>
            <a:r>
              <a:rPr lang="en" sz="3529" b="1">
                <a:solidFill>
                  <a:srgbClr val="FFFFFF"/>
                </a:solidFill>
                <a:highlight>
                  <a:srgbClr val="FF0000"/>
                </a:highlight>
                <a:latin typeface="Lato"/>
                <a:ea typeface="Lato"/>
                <a:cs typeface="Lato"/>
                <a:sym typeface="Lato"/>
              </a:rPr>
              <a:t>24</a:t>
            </a:r>
            <a:r>
              <a:rPr lang="en" sz="3529" b="1" i="0" u="none" strike="noStrike" cap="none">
                <a:solidFill>
                  <a:srgbClr val="FFFFFF"/>
                </a:solidFill>
                <a:highlight>
                  <a:srgbClr val="FF0000"/>
                </a:highlight>
                <a:latin typeface="Lato"/>
                <a:ea typeface="Lato"/>
                <a:cs typeface="Lato"/>
                <a:sym typeface="Lato"/>
              </a:rPr>
              <a:t> HS</a:t>
            </a:r>
            <a:endParaRPr sz="3529" b="1" i="0" u="none" strike="noStrike" cap="none">
              <a:solidFill>
                <a:srgbClr val="FFFFFF"/>
              </a:solidFill>
              <a:highlight>
                <a:srgbClr val="FF0000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1204000" y="962300"/>
            <a:ext cx="4265900" cy="428744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38400" y="1704425"/>
            <a:ext cx="4684200" cy="10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La misma la debemos agendar </a:t>
            </a:r>
            <a:r>
              <a:rPr lang="en" sz="1600" b="1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entre las 48 horas</a:t>
            </a: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 Para eso, mi equipo debe tener como rutina dos (2) espacios de consultoría a la semana 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2538175" y="3038775"/>
            <a:ext cx="4580700" cy="14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Analizo sus intereses</a:t>
            </a:r>
            <a:endParaRPr sz="1600" b="1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A la consultoría debo ir con 2/3 oportunidades para ofrecer, alienadas a sus intereses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Durante o luego de la reunión el EP debe aplicar. Si lo realiza luego de la reunión, procuremos que sea entre las 24hs </a:t>
            </a:r>
            <a:endParaRPr sz="1600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/>
        </p:nvSpPr>
        <p:spPr>
          <a:xfrm>
            <a:off x="485400" y="2017650"/>
            <a:ext cx="8173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TIPS</a:t>
            </a:r>
            <a:endParaRPr/>
          </a:p>
        </p:txBody>
      </p:sp>
      <p:pic>
        <p:nvPicPr>
          <p:cNvPr id="265" name="Google Shape;2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5400" y="1487788"/>
            <a:ext cx="733200" cy="7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TIPS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71" name="Google Shape;271;p27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272" name="Google Shape;272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27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274" name="Google Shape;274;p2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" name="Google Shape;275;p27"/>
          <p:cNvSpPr txBox="1"/>
          <p:nvPr/>
        </p:nvSpPr>
        <p:spPr>
          <a:xfrm>
            <a:off x="-862675" y="831349"/>
            <a:ext cx="8074200" cy="878700"/>
          </a:xfrm>
          <a:prstGeom prst="rect">
            <a:avLst/>
          </a:prstGeom>
          <a:noFill/>
          <a:ln>
            <a:noFill/>
          </a:ln>
          <a:effectLst>
            <a:outerShdw blurRad="25898" dist="8633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2850" tIns="82850" rIns="82850" bIns="82850" anchor="t" anchorCtr="0">
            <a:spAutoFit/>
          </a:bodyPr>
          <a:lstStyle/>
          <a:p>
            <a:pPr marL="414374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18" b="1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Ofrecer una oportunidad puntual </a:t>
            </a:r>
            <a:endParaRPr sz="2718" b="1">
              <a:solidFill>
                <a:srgbClr val="52565E"/>
              </a:solidFill>
              <a:latin typeface="Lato"/>
              <a:ea typeface="Lato"/>
              <a:cs typeface="Lato"/>
              <a:sym typeface="Lato"/>
            </a:endParaRPr>
          </a:p>
          <a:p>
            <a:pPr marL="414374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3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(asegúrate de conocer beneficios, cosas del lugar, ONG, etc)</a:t>
            </a:r>
            <a:endParaRPr sz="1903"/>
          </a:p>
        </p:txBody>
      </p:sp>
      <p:sp>
        <p:nvSpPr>
          <p:cNvPr id="276" name="Google Shape;276;p27"/>
          <p:cNvSpPr/>
          <p:nvPr/>
        </p:nvSpPr>
        <p:spPr>
          <a:xfrm>
            <a:off x="299900" y="1822002"/>
            <a:ext cx="5748900" cy="378900"/>
          </a:xfrm>
          <a:prstGeom prst="roundRect">
            <a:avLst>
              <a:gd name="adj" fmla="val 16667"/>
            </a:avLst>
          </a:prstGeom>
          <a:solidFill>
            <a:srgbClr val="F85A40"/>
          </a:solidFill>
          <a:ln>
            <a:noFill/>
          </a:ln>
          <a:effectLst>
            <a:outerShdw blurRad="25898" dist="8633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2850" tIns="82850" rIns="82850" bIns="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Solo 1 oportunidad va garantizar que el EP pueda decidir más fácilmente.</a:t>
            </a:r>
            <a:endParaRPr sz="1268">
              <a:solidFill>
                <a:srgbClr val="FFFFFF"/>
              </a:solidFill>
            </a:endParaRPr>
          </a:p>
        </p:txBody>
      </p:sp>
      <p:pic>
        <p:nvPicPr>
          <p:cNvPr id="277" name="Google Shape;27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002" y="2403164"/>
            <a:ext cx="2608486" cy="153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2374" y="2403165"/>
            <a:ext cx="2608464" cy="1538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/>
          <p:nvPr/>
        </p:nvSpPr>
        <p:spPr>
          <a:xfrm>
            <a:off x="1935112" y="4143591"/>
            <a:ext cx="2461800" cy="5112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8625" cap="flat" cmpd="sng">
            <a:solidFill>
              <a:srgbClr val="F85A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850" tIns="82850" rIns="82850" bIns="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8" b="1">
                <a:solidFill>
                  <a:srgbClr val="595959"/>
                </a:solidFill>
              </a:rPr>
              <a:t>Para hacer tus propias imágenes podes entrar </a:t>
            </a:r>
            <a:r>
              <a:rPr lang="en" sz="1268" b="1" u="sng">
                <a:solidFill>
                  <a:srgbClr val="595959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aquí</a:t>
            </a:r>
            <a:endParaRPr sz="1268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86425" rIns="86425" bIns="86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highlight>
                  <a:srgbClr val="FFAB40"/>
                </a:highlight>
                <a:latin typeface="Staatliches"/>
                <a:ea typeface="Staatliches"/>
                <a:cs typeface="Staatliches"/>
                <a:sym typeface="Staatliches"/>
              </a:rPr>
              <a:t>TIPS</a:t>
            </a:r>
            <a:endParaRPr sz="4000">
              <a:solidFill>
                <a:srgbClr val="FFFFFF"/>
              </a:solidFill>
              <a:highlight>
                <a:srgbClr val="FFAB40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405E78"/>
              </a:solidFill>
              <a:highlight>
                <a:srgbClr val="FFAB4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85" name="Google Shape;285;p28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286" name="Google Shape;286;p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8"/>
            <p:cNvSpPr/>
            <p:nvPr/>
          </p:nvSpPr>
          <p:spPr>
            <a:xfrm>
              <a:off x="8085399" y="0"/>
              <a:ext cx="456565" cy="675640"/>
            </a:xfrm>
            <a:custGeom>
              <a:avLst/>
              <a:gdLst/>
              <a:ahLst/>
              <a:cxnLst/>
              <a:rect l="l" t="t" r="r" b="b"/>
              <a:pathLst>
                <a:path w="456565" h="675640" extrusionOk="0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2"/>
            </a:p>
          </p:txBody>
        </p:sp>
        <p:pic>
          <p:nvPicPr>
            <p:cNvPr id="288" name="Google Shape;288;p2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" name="Google Shape;289;p28"/>
          <p:cNvSpPr txBox="1"/>
          <p:nvPr/>
        </p:nvSpPr>
        <p:spPr>
          <a:xfrm>
            <a:off x="289850" y="969900"/>
            <a:ext cx="6037500" cy="598500"/>
          </a:xfrm>
          <a:prstGeom prst="rect">
            <a:avLst/>
          </a:prstGeom>
          <a:noFill/>
          <a:ln>
            <a:noFill/>
          </a:ln>
          <a:effectLst>
            <a:outerShdw blurRad="26457" dist="8819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4650" tIns="84650" rIns="84650" bIns="84650" anchor="t" anchorCtr="0">
            <a:spAutoFit/>
          </a:bodyPr>
          <a:lstStyle/>
          <a:p>
            <a:pPr marL="423311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7" b="1">
                <a:solidFill>
                  <a:srgbClr val="52565E"/>
                </a:solidFill>
                <a:latin typeface="Lato"/>
                <a:ea typeface="Lato"/>
                <a:cs typeface="Lato"/>
                <a:sym typeface="Lato"/>
              </a:rPr>
              <a:t>Reducción del mensaje de ventas.</a:t>
            </a:r>
            <a:endParaRPr sz="2777"/>
          </a:p>
        </p:txBody>
      </p:sp>
      <p:sp>
        <p:nvSpPr>
          <p:cNvPr id="290" name="Google Shape;290;p28"/>
          <p:cNvSpPr/>
          <p:nvPr/>
        </p:nvSpPr>
        <p:spPr>
          <a:xfrm>
            <a:off x="299479" y="1903370"/>
            <a:ext cx="5849700" cy="354000"/>
          </a:xfrm>
          <a:prstGeom prst="roundRect">
            <a:avLst>
              <a:gd name="adj" fmla="val 16667"/>
            </a:avLst>
          </a:prstGeom>
          <a:solidFill>
            <a:srgbClr val="F85A40"/>
          </a:solidFill>
          <a:ln>
            <a:noFill/>
          </a:ln>
          <a:effectLst>
            <a:outerShdw blurRad="26457" dist="8819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4650" tIns="84650" rIns="84650" bIns="84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1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Para llegar más rápido a pactar la IS y que asistan EPs enfocados:</a:t>
            </a:r>
            <a:endParaRPr sz="740" b="1">
              <a:solidFill>
                <a:srgbClr val="FFFFFF"/>
              </a:solidFill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08368" y="2427301"/>
            <a:ext cx="58497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650" tIns="84650" rIns="84650" bIns="84650" anchor="t" anchorCtr="0">
            <a:spAutoFit/>
          </a:bodyPr>
          <a:lstStyle/>
          <a:p>
            <a:pPr marL="423311" lvl="0" indent="-305724" algn="l" rtl="0">
              <a:spcBef>
                <a:spcPts val="926"/>
              </a:spcBef>
              <a:spcAft>
                <a:spcPts val="0"/>
              </a:spcAft>
              <a:buClr>
                <a:srgbClr val="595959"/>
              </a:buClr>
              <a:buSzPts val="1481"/>
              <a:buFont typeface="Lato Light"/>
              <a:buAutoNum type="arabicPeriod"/>
            </a:pPr>
            <a:r>
              <a:rPr lang="en" sz="1481">
                <a:solidFill>
                  <a:srgbClr val="595959"/>
                </a:solidFill>
                <a:latin typeface="Lato Light"/>
                <a:ea typeface="Lato Light"/>
                <a:cs typeface="Lato Light"/>
                <a:sym typeface="Lato Light"/>
              </a:rPr>
              <a:t>Contar brevemente que es GV. </a:t>
            </a:r>
            <a:endParaRPr sz="1481">
              <a:solidFill>
                <a:srgbClr val="595959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23311" lvl="0" indent="-305724" algn="l" rtl="0">
              <a:spcBef>
                <a:spcPts val="926"/>
              </a:spcBef>
              <a:spcAft>
                <a:spcPts val="0"/>
              </a:spcAft>
              <a:buClr>
                <a:srgbClr val="595959"/>
              </a:buClr>
              <a:buSzPts val="1481"/>
              <a:buFont typeface="Lato Light"/>
              <a:buAutoNum type="arabicPeriod"/>
            </a:pPr>
            <a:r>
              <a:rPr lang="en" sz="1481">
                <a:solidFill>
                  <a:srgbClr val="595959"/>
                </a:solidFill>
                <a:latin typeface="Lato Light"/>
                <a:ea typeface="Lato Light"/>
                <a:cs typeface="Lato Light"/>
                <a:sym typeface="Lato Light"/>
              </a:rPr>
              <a:t>Pasar opp (imagen) </a:t>
            </a:r>
            <a:r>
              <a:rPr lang="en" sz="1481" b="1" i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[incluyendo en la imagen que hará el voluntario en el proyecto, como se llama el proyecto, ODS, lugar de destino, fecha, week by week activities]</a:t>
            </a:r>
            <a:endParaRPr sz="1481" b="1"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23311" lvl="0" indent="-305724" algn="l" rtl="0">
              <a:spcBef>
                <a:spcPts val="926"/>
              </a:spcBef>
              <a:spcAft>
                <a:spcPts val="0"/>
              </a:spcAft>
              <a:buClr>
                <a:srgbClr val="595959"/>
              </a:buClr>
              <a:buSzPts val="1481"/>
              <a:buFont typeface="Lato Light"/>
              <a:buAutoNum type="arabicPeriod"/>
            </a:pPr>
            <a:r>
              <a:rPr lang="en" sz="1481">
                <a:solidFill>
                  <a:srgbClr val="595959"/>
                </a:solidFill>
                <a:latin typeface="Lato Light"/>
                <a:ea typeface="Lato Light"/>
                <a:cs typeface="Lato Light"/>
                <a:sym typeface="Lato Light"/>
              </a:rPr>
              <a:t>Enviar un audio explicando quienes somos y qué vamos a resolver en la reunión </a:t>
            </a:r>
            <a:endParaRPr sz="1481">
              <a:solidFill>
                <a:srgbClr val="595959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423311" lvl="0" indent="-305724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81"/>
              <a:buFont typeface="Lato Light"/>
              <a:buAutoNum type="arabicPeriod"/>
            </a:pPr>
            <a:r>
              <a:rPr lang="en" sz="1481">
                <a:solidFill>
                  <a:srgbClr val="595959"/>
                </a:solidFill>
                <a:latin typeface="Lato Light"/>
                <a:ea typeface="Lato Light"/>
                <a:cs typeface="Lato Light"/>
                <a:sym typeface="Lato Light"/>
              </a:rPr>
              <a:t>Pedir info relevante al EP para saber que oportunidades puede interesar (a que se dedica, pais que le gustaria, etc)</a:t>
            </a:r>
            <a:endParaRPr sz="1481">
              <a:solidFill>
                <a:srgbClr val="59595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292" name="Google Shape;29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3075" y="969900"/>
            <a:ext cx="4328950" cy="43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On-screen Show (16:9)</PresentationFormat>
  <Paragraphs>133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Nunito</vt:lpstr>
      <vt:lpstr>Montserrat</vt:lpstr>
      <vt:lpstr>Lato Black</vt:lpstr>
      <vt:lpstr>Calibri</vt:lpstr>
      <vt:lpstr>Raleway</vt:lpstr>
      <vt:lpstr>Shadows Into Light</vt:lpstr>
      <vt:lpstr>Staatliches</vt:lpstr>
      <vt:lpstr>Lato</vt:lpstr>
      <vt:lpstr>Raleway Medium</vt:lpstr>
      <vt:lpstr>Arial</vt:lpstr>
      <vt:lpstr>Oleo Script</vt:lpstr>
      <vt:lpstr>Lato Light</vt:lpstr>
      <vt:lpstr>Helvetica Neue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INGENIERIA INDUSTRIAL: ANDRES MAURICIO LARGO DUARTE</cp:lastModifiedBy>
  <cp:revision>1</cp:revision>
  <dcterms:modified xsi:type="dcterms:W3CDTF">2025-08-27T22:04:05Z</dcterms:modified>
</cp:coreProperties>
</file>