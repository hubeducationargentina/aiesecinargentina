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Staatliches"/>
      <p:regular r:id="rId19"/>
    </p:embeddedFont>
    <p:embeddedFont>
      <p:font typeface="Nunito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Lato Light"/>
      <p:regular r:id="rId32"/>
      <p:bold r:id="rId33"/>
      <p:italic r:id="rId34"/>
      <p:boldItalic r:id="rId35"/>
    </p:embeddedFont>
    <p:embeddedFont>
      <p:font typeface="Raleway Light"/>
      <p:regular r:id="rId36"/>
      <p:bold r:id="rId37"/>
      <p:italic r:id="rId38"/>
      <p:boldItalic r:id="rId39"/>
    </p:embeddedFont>
    <p:embeddedFont>
      <p:font typeface="Oleo Script"/>
      <p:regular r:id="rId40"/>
      <p:bold r:id="rId41"/>
    </p:embeddedFont>
    <p:embeddedFont>
      <p:font typeface="Lato Black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leoScript-regular.fntdata"/><Relationship Id="rId20" Type="http://schemas.openxmlformats.org/officeDocument/2006/relationships/font" Target="fonts/Nunito-regular.fntdata"/><Relationship Id="rId42" Type="http://schemas.openxmlformats.org/officeDocument/2006/relationships/font" Target="fonts/LatoBlack-bold.fntdata"/><Relationship Id="rId41" Type="http://schemas.openxmlformats.org/officeDocument/2006/relationships/font" Target="fonts/OleoScript-bold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43" Type="http://schemas.openxmlformats.org/officeDocument/2006/relationships/font" Target="fonts/LatoBlack-boldItalic.fntdata"/><Relationship Id="rId24" Type="http://schemas.openxmlformats.org/officeDocument/2006/relationships/font" Target="fonts/Montserrat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33" Type="http://schemas.openxmlformats.org/officeDocument/2006/relationships/font" Target="fonts/LatoLight-bold.fntdata"/><Relationship Id="rId10" Type="http://schemas.openxmlformats.org/officeDocument/2006/relationships/slide" Target="slides/slide5.xml"/><Relationship Id="rId32" Type="http://schemas.openxmlformats.org/officeDocument/2006/relationships/font" Target="fonts/LatoLight-regular.fntdata"/><Relationship Id="rId13" Type="http://schemas.openxmlformats.org/officeDocument/2006/relationships/slide" Target="slides/slide8.xml"/><Relationship Id="rId35" Type="http://schemas.openxmlformats.org/officeDocument/2006/relationships/font" Target="fonts/Lato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LatoLight-italic.fntdata"/><Relationship Id="rId15" Type="http://schemas.openxmlformats.org/officeDocument/2006/relationships/font" Target="fonts/Raleway-regular.fntdata"/><Relationship Id="rId37" Type="http://schemas.openxmlformats.org/officeDocument/2006/relationships/font" Target="fonts/RalewayLight-bold.fntdata"/><Relationship Id="rId14" Type="http://schemas.openxmlformats.org/officeDocument/2006/relationships/slide" Target="slides/slide9.xml"/><Relationship Id="rId36" Type="http://schemas.openxmlformats.org/officeDocument/2006/relationships/font" Target="fonts/RalewayLight-regular.fntdata"/><Relationship Id="rId17" Type="http://schemas.openxmlformats.org/officeDocument/2006/relationships/font" Target="fonts/Raleway-italic.fntdata"/><Relationship Id="rId39" Type="http://schemas.openxmlformats.org/officeDocument/2006/relationships/font" Target="fonts/RalewayLight-boldItalic.fntdata"/><Relationship Id="rId16" Type="http://schemas.openxmlformats.org/officeDocument/2006/relationships/font" Target="fonts/Raleway-bold.fntdata"/><Relationship Id="rId38" Type="http://schemas.openxmlformats.org/officeDocument/2006/relationships/font" Target="fonts/RalewayLight-italic.fntdata"/><Relationship Id="rId19" Type="http://schemas.openxmlformats.org/officeDocument/2006/relationships/font" Target="fonts/Staatliches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bbf733ac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bbf733ac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bbf733ac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3bbf733ac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3bbf733ac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3bbf733ac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3bbf733ac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3bbf733ac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385e42d9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385e42d9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3bbf733ac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3bbf733ac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385e42d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385e42d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3bbf733ac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3bbf733ac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3bc1dfc1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3bc1dfc1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8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jp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6.jp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49175" y="2121750"/>
            <a:ext cx="8151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PROPUESTA DE VALOR oGV</a:t>
            </a:r>
            <a:endParaRPr b="1" sz="7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69839" t="0"/>
          <a:stretch/>
        </p:blipFill>
        <p:spPr>
          <a:xfrm>
            <a:off x="3818088" y="830400"/>
            <a:ext cx="1213773" cy="11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632075" y="1783925"/>
            <a:ext cx="35349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200">
                <a:solidFill>
                  <a:schemeClr val="lt1"/>
                </a:solidFill>
                <a:latin typeface="Oleo Script"/>
                <a:ea typeface="Oleo Script"/>
                <a:cs typeface="Oleo Script"/>
                <a:sym typeface="Oleo Script"/>
              </a:rPr>
              <a:t>Yarely</a:t>
            </a:r>
            <a:endParaRPr b="1" sz="9200">
              <a:solidFill>
                <a:schemeClr val="lt1"/>
              </a:solidFill>
              <a:latin typeface="Oleo Script"/>
              <a:ea typeface="Oleo Script"/>
              <a:cs typeface="Oleo Script"/>
              <a:sym typeface="Oleo Script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358225" y="2896975"/>
            <a:ext cx="21372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EST Coach</a:t>
            </a:r>
            <a:endParaRPr sz="40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 b="14468" l="0" r="0" t="30622"/>
          <a:stretch/>
        </p:blipFill>
        <p:spPr>
          <a:xfrm rot="-5400000">
            <a:off x="751700" y="913200"/>
            <a:ext cx="3398400" cy="33171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973202" y="1517500"/>
            <a:ext cx="71976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¿Porqué OGV? </a:t>
            </a:r>
            <a:endParaRPr sz="10000">
              <a:solidFill>
                <a:schemeClr val="dk2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869250" y="2935000"/>
            <a:ext cx="74055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Vas a impactar al mundo mientras te </a:t>
            </a:r>
            <a:r>
              <a:rPr lang="en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desarrollas</a:t>
            </a:r>
            <a:r>
              <a:rPr lang="en" sz="4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4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2325" y="0"/>
            <a:ext cx="1911676" cy="191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869300" y="135250"/>
            <a:ext cx="53619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highlight>
                  <a:schemeClr val="accent4"/>
                </a:highlight>
                <a:latin typeface="Staatliches"/>
                <a:ea typeface="Staatliches"/>
                <a:cs typeface="Staatliches"/>
                <a:sym typeface="Staatliches"/>
              </a:rPr>
              <a:t>Voluntariado  Global </a:t>
            </a:r>
            <a:endParaRPr sz="4000">
              <a:solidFill>
                <a:schemeClr val="lt1"/>
              </a:solidFill>
              <a:highlight>
                <a:schemeClr val="accent4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405E78"/>
              </a:solidFill>
              <a:highlight>
                <a:schemeClr val="accent4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87650" y="1213800"/>
            <a:ext cx="4090849" cy="409084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1460150" y="1001150"/>
            <a:ext cx="56442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 es solo un viaje, es una inversión en ti y en el planeta</a:t>
            </a:r>
            <a:endParaRPr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6324" y="1490200"/>
            <a:ext cx="694125" cy="6941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3587950" y="1532450"/>
            <a:ext cx="3811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Programa de Voluntariado en el extranjero con nuest</a:t>
            </a: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ras cooperaciones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2488" y="2300850"/>
            <a:ext cx="541800" cy="5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3587950" y="2300850"/>
            <a:ext cx="3811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 estudiante entre 18 y 30 años de edad.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587950" y="3102250"/>
            <a:ext cx="38118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Disponibilidad de viaje entre 6 a 12 semanas.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72149" y="3056874"/>
            <a:ext cx="562500" cy="5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3587950" y="4049675"/>
            <a:ext cx="381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Nivel de Inglés básico (si es necesario).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72138" y="3833600"/>
            <a:ext cx="562500" cy="562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6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86" name="Google Shape;86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6"/>
            <p:cNvSpPr/>
            <p:nvPr/>
          </p:nvSpPr>
          <p:spPr>
            <a:xfrm>
              <a:off x="8085399" y="0"/>
              <a:ext cx="456565" cy="675640"/>
            </a:xfrm>
            <a:custGeom>
              <a:rect b="b" l="l" r="r" t="t"/>
              <a:pathLst>
                <a:path extrusionOk="0" h="675640" w="456565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2"/>
            </a:p>
          </p:txBody>
        </p:sp>
        <p:pic>
          <p:nvPicPr>
            <p:cNvPr id="88" name="Google Shape;88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2695725" y="186225"/>
            <a:ext cx="55887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4000">
                <a:solidFill>
                  <a:schemeClr val="lt1"/>
                </a:solidFill>
                <a:highlight>
                  <a:schemeClr val="accent4"/>
                </a:highlight>
                <a:latin typeface="Staatliches"/>
                <a:ea typeface="Staatliches"/>
                <a:cs typeface="Staatliches"/>
                <a:sym typeface="Staatliches"/>
              </a:rPr>
              <a:t>Por cual razón debo ser un</a:t>
            </a:r>
            <a:endParaRPr b="1" sz="4000">
              <a:solidFill>
                <a:schemeClr val="lt1"/>
              </a:solidFill>
              <a:highlight>
                <a:schemeClr val="accent4"/>
              </a:highlight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1" lang="en" sz="4000">
                <a:solidFill>
                  <a:schemeClr val="lt1"/>
                </a:solidFill>
                <a:highlight>
                  <a:schemeClr val="accent4"/>
                </a:highlight>
                <a:latin typeface="Staatliches"/>
                <a:ea typeface="Staatliches"/>
                <a:cs typeface="Staatliches"/>
                <a:sym typeface="Staatliches"/>
              </a:rPr>
              <a:t>Voluntario Global</a:t>
            </a:r>
            <a:r>
              <a:rPr lang="en" sz="4000">
                <a:solidFill>
                  <a:schemeClr val="lt1"/>
                </a:solidFill>
                <a:highlight>
                  <a:schemeClr val="accent4"/>
                </a:highlight>
                <a:latin typeface="Staatliches"/>
                <a:ea typeface="Staatliches"/>
                <a:cs typeface="Staatliches"/>
                <a:sym typeface="Staatliches"/>
              </a:rPr>
              <a:t>?</a:t>
            </a:r>
            <a:endParaRPr sz="4000">
              <a:solidFill>
                <a:schemeClr val="lt1"/>
              </a:solidFill>
              <a:highlight>
                <a:schemeClr val="accent4"/>
              </a:highlight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1341550" y="1904750"/>
            <a:ext cx="71595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50">
            <a:spAutoFit/>
          </a:bodyPr>
          <a:lstStyle/>
          <a:p>
            <a:pPr indent="-736600" lvl="0" marL="863600" marR="1270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F1C131"/>
                </a:solidFill>
                <a:latin typeface="Raleway"/>
                <a:ea typeface="Raleway"/>
                <a:cs typeface="Raleway"/>
                <a:sym typeface="Raleway"/>
              </a:rPr>
              <a:t>Experiencia intercultural: </a:t>
            </a:r>
            <a:r>
              <a:rPr lang="en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Experimenta una nueva cultura, conoce personas de ideas aﬁnes y expande tu red en todo el mundo como voluntario.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1341550" y="2725475"/>
            <a:ext cx="70506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50">
            <a:spAutoFit/>
          </a:bodyPr>
          <a:lstStyle/>
          <a:p>
            <a:pPr indent="-736600" lvl="0" marL="863600" marR="1270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A73064"/>
                </a:solidFill>
                <a:latin typeface="Raleway"/>
                <a:ea typeface="Raleway"/>
                <a:cs typeface="Raleway"/>
                <a:sym typeface="Raleway"/>
              </a:rPr>
              <a:t>Desarrollarse: </a:t>
            </a:r>
            <a:r>
              <a:rPr lang="en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Sal de tu zona de confort y vive en un entorno desaﬁante que desarrollará tus competencias de liderazgo, habilidades personales y mejorará tus capacidades lingüísticas.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1341550" y="3766700"/>
            <a:ext cx="70506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650">
            <a:spAutoFit/>
          </a:bodyPr>
          <a:lstStyle/>
          <a:p>
            <a:pPr indent="-736600" lvl="0" marL="863600" marR="12700" rtl="0" algn="l">
              <a:lnSpc>
                <a:spcPct val="102299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3C91D8"/>
                </a:solidFill>
                <a:latin typeface="Raleway"/>
                <a:ea typeface="Raleway"/>
                <a:cs typeface="Raleway"/>
                <a:sym typeface="Raleway"/>
              </a:rPr>
              <a:t>Contribuir a los Objetivos de Desarrollo Sostenible: </a:t>
            </a:r>
            <a:r>
              <a:rPr lang="en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Encuentra un proyecto en el mundo que contribuya a una causa que te interesa. Todos los proyectos de Voluntariado Global están diseñados para contribuir a los Objetivos de Desarrollo Sostenible.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100" y="1579050"/>
            <a:ext cx="1295755" cy="3376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17"/>
          <p:cNvGrpSpPr/>
          <p:nvPr/>
        </p:nvGrpSpPr>
        <p:grpSpPr>
          <a:xfrm>
            <a:off x="8392158" y="0"/>
            <a:ext cx="562488" cy="854843"/>
            <a:chOff x="8056825" y="0"/>
            <a:chExt cx="513453" cy="732450"/>
          </a:xfrm>
        </p:grpSpPr>
        <p:pic>
          <p:nvPicPr>
            <p:cNvPr id="99" name="Google Shape;99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7"/>
            <p:cNvSpPr/>
            <p:nvPr/>
          </p:nvSpPr>
          <p:spPr>
            <a:xfrm>
              <a:off x="8085399" y="0"/>
              <a:ext cx="456565" cy="675640"/>
            </a:xfrm>
            <a:custGeom>
              <a:rect b="b" l="l" r="r" t="t"/>
              <a:pathLst>
                <a:path extrusionOk="0" h="675640" w="456565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2"/>
            </a:p>
          </p:txBody>
        </p:sp>
        <p:pic>
          <p:nvPicPr>
            <p:cNvPr id="101" name="Google Shape;101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/>
        </p:nvSpPr>
        <p:spPr>
          <a:xfrm>
            <a:off x="641000" y="186225"/>
            <a:ext cx="55887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highlight>
                  <a:schemeClr val="accent4"/>
                </a:highlight>
                <a:latin typeface="Staatliches"/>
                <a:ea typeface="Staatliches"/>
                <a:cs typeface="Staatliches"/>
                <a:sym typeface="Staatliches"/>
              </a:rPr>
              <a:t>Objetivos de desarrollo </a:t>
            </a:r>
            <a:r>
              <a:rPr b="1" lang="en" sz="4000">
                <a:solidFill>
                  <a:schemeClr val="lt1"/>
                </a:solidFill>
                <a:highlight>
                  <a:schemeClr val="accent4"/>
                </a:highlight>
                <a:latin typeface="Staatliches"/>
                <a:ea typeface="Staatliches"/>
                <a:cs typeface="Staatliches"/>
                <a:sym typeface="Staatliches"/>
              </a:rPr>
              <a:t>sostenible</a:t>
            </a:r>
            <a:endParaRPr sz="4000">
              <a:solidFill>
                <a:schemeClr val="lt1"/>
              </a:solidFill>
              <a:highlight>
                <a:schemeClr val="accent4"/>
              </a:highlight>
              <a:latin typeface="Staatliches"/>
              <a:ea typeface="Staatliches"/>
              <a:cs typeface="Staatliches"/>
              <a:sym typeface="Staatliches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4">
            <a:alphaModFix/>
          </a:blip>
          <a:srcRect b="0" l="0" r="0" t="20653"/>
          <a:stretch/>
        </p:blipFill>
        <p:spPr>
          <a:xfrm>
            <a:off x="428887" y="1506025"/>
            <a:ext cx="5234025" cy="26483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251550" y="4154375"/>
            <a:ext cx="6978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52D40"/>
                </a:solidFill>
                <a:latin typeface="Raleway Light"/>
                <a:ea typeface="Raleway Light"/>
                <a:cs typeface="Raleway Light"/>
                <a:sym typeface="Raleway Light"/>
              </a:rPr>
              <a:t>AIESEC se alinea a los Objetivos de Desarrollo Sostenible de manera que </a:t>
            </a:r>
            <a:r>
              <a:rPr b="1" lang="en" sz="1300">
                <a:solidFill>
                  <a:srgbClr val="252D40"/>
                </a:solidFill>
                <a:latin typeface="Raleway"/>
                <a:ea typeface="Raleway"/>
                <a:cs typeface="Raleway"/>
                <a:sym typeface="Raleway"/>
              </a:rPr>
              <a:t>todos nuestros proyectos aportan al cumplimiento de éstos </a:t>
            </a:r>
            <a:r>
              <a:rPr lang="en" sz="1300">
                <a:solidFill>
                  <a:srgbClr val="252D40"/>
                </a:solidFill>
                <a:latin typeface="Raleway Light"/>
                <a:ea typeface="Raleway Light"/>
                <a:cs typeface="Raleway Light"/>
                <a:sym typeface="Raleway Light"/>
              </a:rPr>
              <a:t>y tenemos </a:t>
            </a:r>
            <a:r>
              <a:rPr b="1" lang="en" sz="1300">
                <a:solidFill>
                  <a:srgbClr val="252D40"/>
                </a:solidFill>
                <a:latin typeface="Raleway"/>
                <a:ea typeface="Raleway"/>
                <a:cs typeface="Raleway"/>
                <a:sym typeface="Raleway"/>
              </a:rPr>
              <a:t>sistema de medición del impacto </a:t>
            </a:r>
            <a:r>
              <a:rPr lang="en" sz="1300">
                <a:solidFill>
                  <a:srgbClr val="252D40"/>
                </a:solidFill>
                <a:latin typeface="Raleway Light"/>
                <a:ea typeface="Raleway Light"/>
                <a:cs typeface="Raleway Light"/>
                <a:sym typeface="Raleway Light"/>
              </a:rPr>
              <a:t>que nuestros proyectos están generando.  </a:t>
            </a:r>
            <a:endParaRPr sz="1300">
              <a:solidFill>
                <a:srgbClr val="252D40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grpSp>
        <p:nvGrpSpPr>
          <p:cNvPr id="109" name="Google Shape;109;p18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110" name="Google Shape;110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18"/>
            <p:cNvSpPr/>
            <p:nvPr/>
          </p:nvSpPr>
          <p:spPr>
            <a:xfrm>
              <a:off x="8085399" y="0"/>
              <a:ext cx="456565" cy="675640"/>
            </a:xfrm>
            <a:custGeom>
              <a:rect b="b" l="l" r="r" t="t"/>
              <a:pathLst>
                <a:path extrusionOk="0" h="675640" w="456565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2"/>
            </a:p>
          </p:txBody>
        </p:sp>
        <p:pic>
          <p:nvPicPr>
            <p:cNvPr id="112" name="Google Shape;112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9"/>
          <p:cNvGrpSpPr/>
          <p:nvPr/>
        </p:nvGrpSpPr>
        <p:grpSpPr>
          <a:xfrm>
            <a:off x="161058" y="0"/>
            <a:ext cx="562488" cy="854843"/>
            <a:chOff x="8056825" y="0"/>
            <a:chExt cx="513453" cy="732450"/>
          </a:xfrm>
        </p:grpSpPr>
        <p:pic>
          <p:nvPicPr>
            <p:cNvPr id="118" name="Google Shape;11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56825" y="0"/>
              <a:ext cx="513453" cy="732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9"/>
            <p:cNvSpPr/>
            <p:nvPr/>
          </p:nvSpPr>
          <p:spPr>
            <a:xfrm>
              <a:off x="8085399" y="0"/>
              <a:ext cx="456565" cy="675640"/>
            </a:xfrm>
            <a:custGeom>
              <a:rect b="b" l="l" r="r" t="t"/>
              <a:pathLst>
                <a:path extrusionOk="0" h="675640" w="456565">
                  <a:moveTo>
                    <a:pt x="380248" y="675303"/>
                  </a:moveTo>
                  <a:lnTo>
                    <a:pt x="76051" y="675303"/>
                  </a:lnTo>
                  <a:lnTo>
                    <a:pt x="61145" y="673828"/>
                  </a:lnTo>
                  <a:lnTo>
                    <a:pt x="22274" y="653028"/>
                  </a:lnTo>
                  <a:lnTo>
                    <a:pt x="1474" y="614158"/>
                  </a:lnTo>
                  <a:lnTo>
                    <a:pt x="0" y="599252"/>
                  </a:lnTo>
                  <a:lnTo>
                    <a:pt x="1" y="0"/>
                  </a:lnTo>
                  <a:lnTo>
                    <a:pt x="456303" y="5"/>
                  </a:lnTo>
                  <a:lnTo>
                    <a:pt x="456299" y="599252"/>
                  </a:lnTo>
                  <a:lnTo>
                    <a:pt x="450323" y="628854"/>
                  </a:lnTo>
                  <a:lnTo>
                    <a:pt x="434025" y="653028"/>
                  </a:lnTo>
                  <a:lnTo>
                    <a:pt x="409851" y="669327"/>
                  </a:lnTo>
                  <a:lnTo>
                    <a:pt x="380248" y="675303"/>
                  </a:lnTo>
                  <a:close/>
                </a:path>
              </a:pathLst>
            </a:custGeom>
            <a:solidFill>
              <a:srgbClr val="F75A4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2"/>
            </a:p>
          </p:txBody>
        </p:sp>
        <p:pic>
          <p:nvPicPr>
            <p:cNvPr id="120" name="Google Shape;120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37175" y="160562"/>
              <a:ext cx="352749" cy="354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" name="Google Shape;121;p19"/>
          <p:cNvSpPr/>
          <p:nvPr/>
        </p:nvSpPr>
        <p:spPr>
          <a:xfrm>
            <a:off x="1611610" y="3281185"/>
            <a:ext cx="6713100" cy="962400"/>
          </a:xfrm>
          <a:prstGeom prst="homePlate">
            <a:avLst>
              <a:gd fmla="val 5000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1611610" y="2211344"/>
            <a:ext cx="6713100" cy="962400"/>
          </a:xfrm>
          <a:prstGeom prst="homePlate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1611610" y="1141502"/>
            <a:ext cx="6713100" cy="962400"/>
          </a:xfrm>
          <a:prstGeom prst="homePlate">
            <a:avLst>
              <a:gd fmla="val 5000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3554096" y="1118312"/>
            <a:ext cx="35613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9">
                <a:solidFill>
                  <a:srgbClr val="F85A40"/>
                </a:solidFill>
                <a:latin typeface="Lato Black"/>
                <a:ea typeface="Lato Black"/>
                <a:cs typeface="Lato Black"/>
                <a:sym typeface="Lato Black"/>
              </a:rPr>
              <a:t>Antes del Voluntariado</a:t>
            </a:r>
            <a:endParaRPr sz="1639">
              <a:solidFill>
                <a:srgbClr val="F85A4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3585846" y="1367720"/>
            <a:ext cx="34191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2925" lIns="92925" spcFirstLastPara="1" rIns="92925" wrap="square" tIns="92925">
            <a:noAutofit/>
          </a:bodyPr>
          <a:lstStyle/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000"/>
              <a:buFont typeface="Lato Light"/>
              <a:buChar char="❖"/>
            </a:pPr>
            <a:r>
              <a:rPr lang="en" sz="1000">
                <a:solidFill>
                  <a:srgbClr val="5E5E5E"/>
                </a:solidFill>
                <a:latin typeface="Lato Light"/>
                <a:ea typeface="Lato Light"/>
                <a:cs typeface="Lato Light"/>
                <a:sym typeface="Lato Light"/>
              </a:rPr>
              <a:t>Guía y asesoramiento</a:t>
            </a:r>
            <a:endParaRPr sz="1000">
              <a:solidFill>
                <a:srgbClr val="5E5E5E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000"/>
              <a:buFont typeface="Lato Light"/>
              <a:buChar char="❖"/>
            </a:pPr>
            <a:r>
              <a:rPr lang="en" sz="1000">
                <a:solidFill>
                  <a:srgbClr val="5E5E5E"/>
                </a:solidFill>
                <a:latin typeface="Lato Light"/>
                <a:ea typeface="Lato Light"/>
                <a:cs typeface="Lato Light"/>
                <a:sym typeface="Lato Light"/>
              </a:rPr>
              <a:t>Soporte en visado* y selección de seguro</a:t>
            </a:r>
            <a:endParaRPr sz="1000">
              <a:solidFill>
                <a:srgbClr val="5E5E5E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000"/>
              <a:buFont typeface="Lato Light"/>
              <a:buChar char="❖"/>
            </a:pPr>
            <a:r>
              <a:rPr lang="en" sz="1000">
                <a:solidFill>
                  <a:srgbClr val="5E5E5E"/>
                </a:solidFill>
                <a:latin typeface="Lato Light"/>
                <a:ea typeface="Lato Light"/>
                <a:cs typeface="Lato Light"/>
                <a:sym typeface="Lato Light"/>
              </a:rPr>
              <a:t>OPS</a:t>
            </a:r>
            <a:endParaRPr sz="1000">
              <a:solidFill>
                <a:srgbClr val="5E5E5E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000"/>
              <a:buFont typeface="Lato Light"/>
              <a:buChar char="❖"/>
            </a:pPr>
            <a:r>
              <a:rPr lang="en" sz="1000">
                <a:solidFill>
                  <a:srgbClr val="5E5E5E"/>
                </a:solidFill>
                <a:latin typeface="Lato Light"/>
                <a:ea typeface="Lato Light"/>
                <a:cs typeface="Lato Light"/>
                <a:sym typeface="Lato Light"/>
              </a:rPr>
              <a:t>Invitación a eventos de AIESEC</a:t>
            </a:r>
            <a:endParaRPr sz="1000">
              <a:solidFill>
                <a:srgbClr val="5E5E5E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3554096" y="2187746"/>
            <a:ext cx="3564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9">
                <a:solidFill>
                  <a:srgbClr val="F85A40"/>
                </a:solidFill>
                <a:latin typeface="Lato Black"/>
                <a:ea typeface="Lato Black"/>
                <a:cs typeface="Lato Black"/>
                <a:sym typeface="Lato Black"/>
              </a:rPr>
              <a:t>Durante el Voluntariado </a:t>
            </a:r>
            <a:endParaRPr sz="1639">
              <a:solidFill>
                <a:srgbClr val="F85A4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3551476" y="2426763"/>
            <a:ext cx="36687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2925" lIns="92925" spcFirstLastPara="1" rIns="92925" wrap="square" tIns="929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800"/>
              <a:buFont typeface="Lato Light"/>
              <a:buChar char="❖"/>
            </a:pPr>
            <a:r>
              <a:rPr lang="en" sz="800">
                <a:solidFill>
                  <a:srgbClr val="5E5E5E"/>
                </a:solidFill>
                <a:latin typeface="Lato Light"/>
                <a:ea typeface="Lato Light"/>
                <a:cs typeface="Lato Light"/>
                <a:sym typeface="Lato Light"/>
              </a:rPr>
              <a:t>Hospedaje por las 6 semanas </a:t>
            </a:r>
            <a:endParaRPr sz="800">
              <a:solidFill>
                <a:srgbClr val="5E5E5E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800"/>
              <a:buFont typeface="Lato Light"/>
              <a:buChar char="❖"/>
            </a:pPr>
            <a:r>
              <a:rPr lang="en" sz="800">
                <a:solidFill>
                  <a:srgbClr val="5E5E5E"/>
                </a:solidFill>
                <a:latin typeface="Lato Light"/>
                <a:ea typeface="Lato Light"/>
                <a:cs typeface="Lato Light"/>
                <a:sym typeface="Lato Light"/>
              </a:rPr>
              <a:t>1 a 2 comidas al día*</a:t>
            </a:r>
            <a:endParaRPr sz="800">
              <a:solidFill>
                <a:srgbClr val="5E5E5E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800"/>
              <a:buFont typeface="Lato Light"/>
              <a:buChar char="❖"/>
            </a:pPr>
            <a:r>
              <a:rPr lang="en" sz="800">
                <a:solidFill>
                  <a:srgbClr val="5E5E5E"/>
                </a:solidFill>
                <a:latin typeface="Lato Light"/>
                <a:ea typeface="Lato Light"/>
                <a:cs typeface="Lato Light"/>
                <a:sym typeface="Lato Light"/>
              </a:rPr>
              <a:t>Recepción en tu lugar de destino*</a:t>
            </a:r>
            <a:endParaRPr sz="800">
              <a:solidFill>
                <a:srgbClr val="5E5E5E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279400" lvl="0" marL="4572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Font typeface="Lato Light"/>
              <a:buChar char="❖"/>
            </a:pPr>
            <a:r>
              <a:rPr lang="en" sz="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Seminario de Preparación, orientación y primeras indicaciones</a:t>
            </a:r>
            <a:endParaRPr sz="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279400" lvl="0" marL="4572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Font typeface="Lato Light"/>
              <a:buChar char="❖"/>
            </a:pPr>
            <a:r>
              <a:rPr lang="en" sz="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Comunicación y soporte durante las 6 semanas</a:t>
            </a:r>
            <a:endParaRPr sz="800">
              <a:solidFill>
                <a:srgbClr val="5E5E5E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3548405" y="3617176"/>
            <a:ext cx="34191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2925" lIns="92925" spcFirstLastPara="1" rIns="92925" wrap="square" tIns="92925">
            <a:noAutofit/>
          </a:bodyPr>
          <a:lstStyle/>
          <a:p>
            <a:pPr indent="-293384" lvl="0" marL="45720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020"/>
              <a:buFont typeface="Lato Light"/>
              <a:buChar char="❖"/>
            </a:pPr>
            <a:r>
              <a:rPr lang="en" sz="1020">
                <a:solidFill>
                  <a:srgbClr val="5E5E5E"/>
                </a:solidFill>
                <a:latin typeface="Lato Light"/>
                <a:ea typeface="Lato Light"/>
                <a:cs typeface="Lato Light"/>
                <a:sym typeface="Lato Light"/>
              </a:rPr>
              <a:t>RIS</a:t>
            </a:r>
            <a:endParaRPr sz="1020">
              <a:solidFill>
                <a:srgbClr val="5E5E5E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293384" lvl="0" marL="45720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020"/>
              <a:buFont typeface="Lato Light"/>
              <a:buChar char="❖"/>
            </a:pPr>
            <a:r>
              <a:rPr lang="en" sz="1020">
                <a:solidFill>
                  <a:srgbClr val="5E5E5E"/>
                </a:solidFill>
                <a:latin typeface="Lato Light"/>
                <a:ea typeface="Lato Light"/>
                <a:cs typeface="Lato Light"/>
                <a:sym typeface="Lato Light"/>
              </a:rPr>
              <a:t>Compartir su historia en nuestros canales</a:t>
            </a:r>
            <a:endParaRPr sz="1020">
              <a:solidFill>
                <a:srgbClr val="5E5E5E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-293384" lvl="0" marL="45720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020"/>
              <a:buFont typeface="Lato Light"/>
              <a:buChar char="❖"/>
            </a:pPr>
            <a:r>
              <a:rPr lang="en" sz="1020">
                <a:solidFill>
                  <a:srgbClr val="5E5E5E"/>
                </a:solidFill>
                <a:latin typeface="Lato Light"/>
                <a:ea typeface="Lato Light"/>
                <a:cs typeface="Lato Light"/>
                <a:sym typeface="Lato Light"/>
              </a:rPr>
              <a:t>Unirse a AIESEC o vivir otro intercambio</a:t>
            </a:r>
            <a:endParaRPr sz="1020">
              <a:solidFill>
                <a:srgbClr val="5E5E5E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7361092" y="1147935"/>
            <a:ext cx="707421" cy="707850"/>
          </a:xfrm>
          <a:custGeom>
            <a:rect b="b" l="l" r="r" t="t"/>
            <a:pathLst>
              <a:path extrusionOk="0" h="4578" w="4577">
                <a:moveTo>
                  <a:pt x="2288" y="1"/>
                </a:moveTo>
                <a:cubicBezTo>
                  <a:pt x="1025" y="1"/>
                  <a:pt x="0" y="1024"/>
                  <a:pt x="0" y="2289"/>
                </a:cubicBezTo>
                <a:cubicBezTo>
                  <a:pt x="0" y="3553"/>
                  <a:pt x="1025" y="4577"/>
                  <a:pt x="2288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7371258" y="2227989"/>
            <a:ext cx="687112" cy="687410"/>
          </a:xfrm>
          <a:custGeom>
            <a:rect b="b" l="l" r="r" t="t"/>
            <a:pathLst>
              <a:path extrusionOk="0" h="4578" w="4578">
                <a:moveTo>
                  <a:pt x="2289" y="1"/>
                </a:moveTo>
                <a:cubicBezTo>
                  <a:pt x="1026" y="1"/>
                  <a:pt x="1" y="1024"/>
                  <a:pt x="1" y="2289"/>
                </a:cubicBezTo>
                <a:cubicBezTo>
                  <a:pt x="1" y="3553"/>
                  <a:pt x="1026" y="4577"/>
                  <a:pt x="2289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7370027" y="3297085"/>
            <a:ext cx="696623" cy="696966"/>
          </a:xfrm>
          <a:custGeom>
            <a:rect b="b" l="l" r="r" t="t"/>
            <a:pathLst>
              <a:path extrusionOk="0" h="4578" w="4578">
                <a:moveTo>
                  <a:pt x="2289" y="1"/>
                </a:moveTo>
                <a:cubicBezTo>
                  <a:pt x="1026" y="1"/>
                  <a:pt x="1" y="1024"/>
                  <a:pt x="1" y="2289"/>
                </a:cubicBezTo>
                <a:cubicBezTo>
                  <a:pt x="1" y="3553"/>
                  <a:pt x="1026" y="4577"/>
                  <a:pt x="2289" y="4577"/>
                </a:cubicBezTo>
                <a:cubicBezTo>
                  <a:pt x="3552" y="4577"/>
                  <a:pt x="4577" y="3553"/>
                  <a:pt x="4577" y="2289"/>
                </a:cubicBezTo>
                <a:cubicBezTo>
                  <a:pt x="4577" y="1024"/>
                  <a:pt x="3552" y="1"/>
                  <a:pt x="228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3547261" y="3339140"/>
            <a:ext cx="35604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2925" lIns="92925" spcFirstLastPara="1" rIns="92925" wrap="square" tIns="9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9">
                <a:solidFill>
                  <a:srgbClr val="F85A40"/>
                </a:solidFill>
                <a:latin typeface="Lato Black"/>
                <a:ea typeface="Lato Black"/>
                <a:cs typeface="Lato Black"/>
                <a:sym typeface="Lato Black"/>
              </a:rPr>
              <a:t>Después del Voluntariado </a:t>
            </a:r>
            <a:endParaRPr sz="1639">
              <a:solidFill>
                <a:srgbClr val="F85A4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64491" y="1280314"/>
            <a:ext cx="500643" cy="44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64488" y="2352548"/>
            <a:ext cx="500643" cy="438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47362" y="3425718"/>
            <a:ext cx="534888" cy="44289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/>
          <p:nvPr/>
        </p:nvSpPr>
        <p:spPr>
          <a:xfrm>
            <a:off x="-161150" y="1014425"/>
            <a:ext cx="3468300" cy="3356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850" lIns="34850" spcFirstLastPara="1" rIns="34850" wrap="square" tIns="34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116459" y="1045064"/>
            <a:ext cx="3346137" cy="32947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/>
          <p:nvPr/>
        </p:nvSpPr>
        <p:spPr>
          <a:xfrm>
            <a:off x="822700" y="186225"/>
            <a:ext cx="55887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highlight>
                  <a:schemeClr val="accent4"/>
                </a:highlight>
                <a:latin typeface="Staatliches"/>
                <a:ea typeface="Staatliches"/>
                <a:cs typeface="Staatliches"/>
                <a:sym typeface="Staatliches"/>
              </a:rPr>
              <a:t>beneficios</a:t>
            </a:r>
            <a:endParaRPr sz="4000">
              <a:solidFill>
                <a:schemeClr val="lt1"/>
              </a:solidFill>
              <a:highlight>
                <a:schemeClr val="accent4"/>
              </a:highlight>
              <a:latin typeface="Staatliches"/>
              <a:ea typeface="Staatliches"/>
              <a:cs typeface="Staatliches"/>
              <a:sym typeface="Staatlich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3950400" y="2258325"/>
            <a:ext cx="1243209" cy="2338286"/>
          </a:xfrm>
          <a:custGeom>
            <a:rect b="b" l="l" r="r" t="t"/>
            <a:pathLst>
              <a:path extrusionOk="0" h="3438656" w="1950132">
                <a:moveTo>
                  <a:pt x="1853065" y="3188166"/>
                </a:moveTo>
                <a:cubicBezTo>
                  <a:pt x="1823020" y="3190083"/>
                  <a:pt x="1628923" y="3201990"/>
                  <a:pt x="1602970" y="3173567"/>
                </a:cubicBezTo>
                <a:cubicBezTo>
                  <a:pt x="1499709" y="3060464"/>
                  <a:pt x="1393279" y="2656049"/>
                  <a:pt x="1333852" y="2531075"/>
                </a:cubicBezTo>
                <a:cubicBezTo>
                  <a:pt x="1300820" y="2461620"/>
                  <a:pt x="1134778" y="1892122"/>
                  <a:pt x="1017398" y="1644976"/>
                </a:cubicBezTo>
                <a:lnTo>
                  <a:pt x="1019389" y="1489809"/>
                </a:lnTo>
                <a:cubicBezTo>
                  <a:pt x="1019389" y="1489809"/>
                  <a:pt x="1068641" y="1509642"/>
                  <a:pt x="1079701" y="1516721"/>
                </a:cubicBezTo>
                <a:cubicBezTo>
                  <a:pt x="1120916" y="1543006"/>
                  <a:pt x="1260710" y="1627759"/>
                  <a:pt x="1319290" y="1695334"/>
                </a:cubicBezTo>
                <a:cubicBezTo>
                  <a:pt x="1338128" y="1717085"/>
                  <a:pt x="1367583" y="1766484"/>
                  <a:pt x="1373629" y="1776401"/>
                </a:cubicBezTo>
                <a:cubicBezTo>
                  <a:pt x="1399361" y="1818797"/>
                  <a:pt x="1471692" y="1817359"/>
                  <a:pt x="1521350" y="1785949"/>
                </a:cubicBezTo>
                <a:cubicBezTo>
                  <a:pt x="1545459" y="1770687"/>
                  <a:pt x="1564445" y="1693196"/>
                  <a:pt x="1500889" y="1649658"/>
                </a:cubicBezTo>
                <a:cubicBezTo>
                  <a:pt x="1482161" y="1636828"/>
                  <a:pt x="1418015" y="1612940"/>
                  <a:pt x="1381629" y="1582784"/>
                </a:cubicBezTo>
                <a:cubicBezTo>
                  <a:pt x="1356856" y="1562250"/>
                  <a:pt x="1147017" y="1373756"/>
                  <a:pt x="1120400" y="1344891"/>
                </a:cubicBezTo>
                <a:cubicBezTo>
                  <a:pt x="1103000" y="1326015"/>
                  <a:pt x="1026356" y="1254091"/>
                  <a:pt x="1026356" y="1254091"/>
                </a:cubicBezTo>
                <a:cubicBezTo>
                  <a:pt x="1022264" y="1202553"/>
                  <a:pt x="996975" y="896016"/>
                  <a:pt x="963832" y="763669"/>
                </a:cubicBezTo>
                <a:cubicBezTo>
                  <a:pt x="946469" y="694436"/>
                  <a:pt x="929253" y="649791"/>
                  <a:pt x="929953" y="615728"/>
                </a:cubicBezTo>
                <a:cubicBezTo>
                  <a:pt x="930506" y="589590"/>
                  <a:pt x="924128" y="467676"/>
                  <a:pt x="983113" y="478404"/>
                </a:cubicBezTo>
                <a:cubicBezTo>
                  <a:pt x="1078558" y="495804"/>
                  <a:pt x="1132455" y="301228"/>
                  <a:pt x="1120400" y="185507"/>
                </a:cubicBezTo>
                <a:cubicBezTo>
                  <a:pt x="1110115" y="86671"/>
                  <a:pt x="1049913" y="0"/>
                  <a:pt x="911999" y="0"/>
                </a:cubicBezTo>
                <a:cubicBezTo>
                  <a:pt x="859098" y="0"/>
                  <a:pt x="758971" y="52275"/>
                  <a:pt x="739506" y="140236"/>
                </a:cubicBezTo>
                <a:cubicBezTo>
                  <a:pt x="714990" y="251128"/>
                  <a:pt x="738805" y="292122"/>
                  <a:pt x="739506" y="348563"/>
                </a:cubicBezTo>
                <a:cubicBezTo>
                  <a:pt x="739690" y="364379"/>
                  <a:pt x="741386" y="396083"/>
                  <a:pt x="739506" y="411788"/>
                </a:cubicBezTo>
                <a:cubicBezTo>
                  <a:pt x="737257" y="430368"/>
                  <a:pt x="723838" y="523380"/>
                  <a:pt x="701866" y="548817"/>
                </a:cubicBezTo>
                <a:cubicBezTo>
                  <a:pt x="671526" y="583913"/>
                  <a:pt x="592449" y="630031"/>
                  <a:pt x="521225" y="747301"/>
                </a:cubicBezTo>
                <a:cubicBezTo>
                  <a:pt x="465669" y="838764"/>
                  <a:pt x="415421" y="1053579"/>
                  <a:pt x="377855" y="1179364"/>
                </a:cubicBezTo>
                <a:cubicBezTo>
                  <a:pt x="319313" y="1375415"/>
                  <a:pt x="288714" y="1676864"/>
                  <a:pt x="243444" y="1751665"/>
                </a:cubicBezTo>
                <a:cubicBezTo>
                  <a:pt x="211113" y="1805046"/>
                  <a:pt x="194634" y="1861855"/>
                  <a:pt x="199426" y="1917080"/>
                </a:cubicBezTo>
                <a:cubicBezTo>
                  <a:pt x="209085" y="2028524"/>
                  <a:pt x="332216" y="1999032"/>
                  <a:pt x="356879" y="1951033"/>
                </a:cubicBezTo>
                <a:cubicBezTo>
                  <a:pt x="382795" y="1900564"/>
                  <a:pt x="380141" y="1828566"/>
                  <a:pt x="383422" y="1793249"/>
                </a:cubicBezTo>
                <a:cubicBezTo>
                  <a:pt x="392085" y="1699868"/>
                  <a:pt x="546072" y="1279639"/>
                  <a:pt x="546072" y="1279639"/>
                </a:cubicBezTo>
                <a:cubicBezTo>
                  <a:pt x="546072" y="1279639"/>
                  <a:pt x="536008" y="1559153"/>
                  <a:pt x="532211" y="1605419"/>
                </a:cubicBezTo>
                <a:cubicBezTo>
                  <a:pt x="532211" y="1605419"/>
                  <a:pt x="501981" y="1703776"/>
                  <a:pt x="479051" y="1842096"/>
                </a:cubicBezTo>
                <a:cubicBezTo>
                  <a:pt x="468655" y="1904767"/>
                  <a:pt x="467660" y="1960360"/>
                  <a:pt x="458812" y="2062367"/>
                </a:cubicBezTo>
                <a:cubicBezTo>
                  <a:pt x="446388" y="2205516"/>
                  <a:pt x="420914" y="2382765"/>
                  <a:pt x="392343" y="2511315"/>
                </a:cubicBezTo>
                <a:cubicBezTo>
                  <a:pt x="268623" y="2641119"/>
                  <a:pt x="200200" y="2878680"/>
                  <a:pt x="79355" y="3035948"/>
                </a:cubicBezTo>
                <a:cubicBezTo>
                  <a:pt x="58526" y="3063044"/>
                  <a:pt x="-48199" y="3137697"/>
                  <a:pt x="25753" y="3225990"/>
                </a:cubicBezTo>
                <a:cubicBezTo>
                  <a:pt x="65531" y="3273473"/>
                  <a:pt x="145861" y="3340126"/>
                  <a:pt x="167722" y="3359517"/>
                </a:cubicBezTo>
                <a:cubicBezTo>
                  <a:pt x="179113" y="3369618"/>
                  <a:pt x="242190" y="3430814"/>
                  <a:pt x="286797" y="3436860"/>
                </a:cubicBezTo>
                <a:cubicBezTo>
                  <a:pt x="317469" y="3440989"/>
                  <a:pt x="373947" y="3440474"/>
                  <a:pt x="379219" y="3407773"/>
                </a:cubicBezTo>
                <a:cubicBezTo>
                  <a:pt x="382021" y="3390336"/>
                  <a:pt x="317986" y="3360364"/>
                  <a:pt x="310907" y="3351590"/>
                </a:cubicBezTo>
                <a:cubicBezTo>
                  <a:pt x="275259" y="3307352"/>
                  <a:pt x="250079" y="3235022"/>
                  <a:pt x="246467" y="3195060"/>
                </a:cubicBezTo>
                <a:cubicBezTo>
                  <a:pt x="244771" y="3176221"/>
                  <a:pt x="252734" y="3161954"/>
                  <a:pt x="259038" y="3149125"/>
                </a:cubicBezTo>
                <a:cubicBezTo>
                  <a:pt x="281784" y="3102896"/>
                  <a:pt x="531879" y="2759051"/>
                  <a:pt x="603509" y="2634114"/>
                </a:cubicBezTo>
                <a:cubicBezTo>
                  <a:pt x="677977" y="2504200"/>
                  <a:pt x="766344" y="2202530"/>
                  <a:pt x="818472" y="2074422"/>
                </a:cubicBezTo>
                <a:cubicBezTo>
                  <a:pt x="859872" y="2201866"/>
                  <a:pt x="1072991" y="2572954"/>
                  <a:pt x="1169984" y="2753816"/>
                </a:cubicBezTo>
                <a:cubicBezTo>
                  <a:pt x="1213559" y="2889961"/>
                  <a:pt x="1284747" y="3012612"/>
                  <a:pt x="1412375" y="3244238"/>
                </a:cubicBezTo>
                <a:cubicBezTo>
                  <a:pt x="1434863" y="3285048"/>
                  <a:pt x="1439582" y="3379572"/>
                  <a:pt x="1472871" y="3396308"/>
                </a:cubicBezTo>
                <a:cubicBezTo>
                  <a:pt x="1494253" y="3407073"/>
                  <a:pt x="1524409" y="3401396"/>
                  <a:pt x="1580998" y="3373157"/>
                </a:cubicBezTo>
                <a:cubicBezTo>
                  <a:pt x="1744607" y="3291500"/>
                  <a:pt x="1950132" y="3279961"/>
                  <a:pt x="1950132" y="3240552"/>
                </a:cubicBezTo>
                <a:cubicBezTo>
                  <a:pt x="1950058" y="3205824"/>
                  <a:pt x="1881562" y="3186323"/>
                  <a:pt x="1853065" y="318816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121825" lIns="243725" spcFirstLastPara="1" rIns="243725" wrap="square" tIns="121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270150" y="1535650"/>
            <a:ext cx="860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Creemos en el poder de desarrollar jóvenes líderes, juntos.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