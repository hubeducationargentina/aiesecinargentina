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Staatliches"/>
      <p:regular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Roboto Medium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Oleo Scrip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Roboto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edium-italic.fntdata"/><Relationship Id="rId23" Type="http://schemas.openxmlformats.org/officeDocument/2006/relationships/font" Target="fonts/Roboto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font" Target="fonts/RobotoMedium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font" Target="fonts/Staatliches-regular.fntdata"/><Relationship Id="rId39" Type="http://schemas.openxmlformats.org/officeDocument/2006/relationships/font" Target="fonts/OleoScript-bold.fntdata"/><Relationship Id="rId16" Type="http://schemas.openxmlformats.org/officeDocument/2006/relationships/slide" Target="slides/slide11.xml"/><Relationship Id="rId38" Type="http://schemas.openxmlformats.org/officeDocument/2006/relationships/font" Target="fonts/OleoScript-regular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dbc0718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dbc071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3bbf733ac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3bbf733ac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385e42d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385e42d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85e42d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385e42d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3bbf733a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3bbf733a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3bbf733ac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3bbf733ac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3bbf733a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3bbf733a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3bbf733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63bbf733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385e42d9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385e42d9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3bc1dfc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3bc1df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3bc1dfc1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3bc1dfc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9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9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95400" y="2418100"/>
            <a:ext cx="83532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CÓMO</a:t>
            </a:r>
            <a:r>
              <a:rPr b="1" lang="en" sz="5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DAR UNA INFO SESSIÓN DE oGV</a:t>
            </a:r>
            <a:endParaRPr sz="5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4155" y="3318108"/>
            <a:ext cx="2915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69839" t="0"/>
          <a:stretch/>
        </p:blipFill>
        <p:spPr>
          <a:xfrm>
            <a:off x="3965113" y="1193000"/>
            <a:ext cx="1213773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632075" y="1783925"/>
            <a:ext cx="3534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00">
                <a:solidFill>
                  <a:schemeClr val="lt1"/>
                </a:solidFill>
                <a:latin typeface="Oleo Script"/>
                <a:ea typeface="Oleo Script"/>
                <a:cs typeface="Oleo Script"/>
                <a:sym typeface="Oleo Script"/>
              </a:rPr>
              <a:t>Yarely</a:t>
            </a:r>
            <a:endParaRPr b="1" sz="9200">
              <a:solidFill>
                <a:schemeClr val="lt1"/>
              </a:solidFill>
              <a:latin typeface="Oleo Script"/>
              <a:ea typeface="Oleo Script"/>
              <a:cs typeface="Oleo Script"/>
              <a:sym typeface="Oleo Scrip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358225" y="2896975"/>
            <a:ext cx="21372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EST Coach</a:t>
            </a:r>
            <a:endParaRPr sz="40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14468" l="0" r="0" t="30622"/>
          <a:stretch/>
        </p:blipFill>
        <p:spPr>
          <a:xfrm rot="-5400000">
            <a:off x="751700" y="913200"/>
            <a:ext cx="3398400" cy="33171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8339608" y="0"/>
            <a:ext cx="562488" cy="854843"/>
            <a:chOff x="8056825" y="0"/>
            <a:chExt cx="513453" cy="732450"/>
          </a:xfrm>
        </p:grpSpPr>
        <p:pic>
          <p:nvPicPr>
            <p:cNvPr id="69" name="Google Shape;6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71" name="Google Shape;71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4425" y="2202450"/>
            <a:ext cx="3008199" cy="30081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799275" y="559400"/>
            <a:ext cx="64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 objetivo principal de esta presentación es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darles las herramientas necesarias para que puedan llevar a cabo una Info Session de manera efectiva y profesional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5075" y="1297263"/>
            <a:ext cx="425075" cy="4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794725" y="1263500"/>
            <a:ext cx="606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odos los miembros del 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área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deben  comprender  que no es solo una charla, sino un espacio estratégico para inspirar, informar y conectar a los jóvenes con oportunidades internacionales.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16038" y="1897775"/>
            <a:ext cx="363150" cy="3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794725" y="1756100"/>
            <a:ext cx="606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Dar una guía clara de cómo 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estructurar la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mostrar paso a paso qué elementos debe contener una sesión (introducción, explicación del programa, testimonios, call to action, etc.) para que cualquier miembro pueda replicarla de manera efectiva.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47000" y="2436350"/>
            <a:ext cx="363150" cy="3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1794725" y="2402600"/>
            <a:ext cx="606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Compartir tips prácticos para lograr que los participantes se inscriban en oGV: desde cómo transmitir entusiasmo y usar storytelling, hasta cómo responder dudas frecuentes y motivar a la acción inmediata.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7000" y="2990450"/>
            <a:ext cx="425075" cy="4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842075" y="2974925"/>
            <a:ext cx="771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  <a:latin typeface="Staatliches"/>
                <a:ea typeface="Staatliches"/>
                <a:cs typeface="Staatliches"/>
                <a:sym typeface="Staatliches"/>
              </a:rPr>
              <a:t>Qué debes incluir en tu is</a:t>
            </a:r>
            <a:endParaRPr sz="1800">
              <a:solidFill>
                <a:schemeClr val="accent4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11">
            <a:alphaModFix/>
          </a:blip>
          <a:srcRect b="0" l="0" r="72565" t="0"/>
          <a:stretch/>
        </p:blipFill>
        <p:spPr>
          <a:xfrm>
            <a:off x="1342398" y="3351975"/>
            <a:ext cx="267700" cy="9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1679200" y="34155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Introducción sobre ¿Qué es AIESEC?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679200" y="36705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Hablar sobre uno de los programas GV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647450" y="39497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Compartir testimonios de nuestras experiencias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2446350" y="4483875"/>
            <a:ext cx="42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Abrir oferta de oportunidades que ofrecemos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57775" y="4402725"/>
            <a:ext cx="562500" cy="5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6"/>
          <p:cNvGrpSpPr/>
          <p:nvPr/>
        </p:nvGrpSpPr>
        <p:grpSpPr>
          <a:xfrm>
            <a:off x="8339608" y="0"/>
            <a:ext cx="562488" cy="854843"/>
            <a:chOff x="8056825" y="0"/>
            <a:chExt cx="513453" cy="732450"/>
          </a:xfrm>
        </p:grpSpPr>
        <p:pic>
          <p:nvPicPr>
            <p:cNvPr id="93" name="Google Shape;9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6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95" name="Google Shape;9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6"/>
          <p:cNvSpPr txBox="1"/>
          <p:nvPr/>
        </p:nvSpPr>
        <p:spPr>
          <a:xfrm>
            <a:off x="2924000" y="78800"/>
            <a:ext cx="5415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rgbClr val="F75A40"/>
                </a:highlight>
                <a:latin typeface="Staatliches"/>
                <a:ea typeface="Staatliches"/>
                <a:cs typeface="Staatliches"/>
                <a:sym typeface="Staatliches"/>
              </a:rPr>
              <a:t>Antes de la Info Session</a:t>
            </a:r>
            <a:endParaRPr sz="3000">
              <a:solidFill>
                <a:srgbClr val="405E78"/>
              </a:solidFill>
              <a:highlight>
                <a:srgbClr val="F75A40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97" name="Google Shape;97;p16"/>
          <p:cNvGrpSpPr/>
          <p:nvPr/>
        </p:nvGrpSpPr>
        <p:grpSpPr>
          <a:xfrm>
            <a:off x="5067945" y="1148425"/>
            <a:ext cx="3982138" cy="778911"/>
            <a:chOff x="4530625" y="1206568"/>
            <a:chExt cx="3820529" cy="747300"/>
          </a:xfrm>
        </p:grpSpPr>
        <p:cxnSp>
          <p:nvCxnSpPr>
            <p:cNvPr id="98" name="Google Shape;98;p16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" name="Google Shape;99;p16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75" lIns="95275" spcFirstLastPara="1" rIns="95275" wrap="square" tIns="9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8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459">
                <a:solidFill>
                  <a:srgbClr val="FFFFFF"/>
                </a:solidFill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b="1" lang="en" sz="1250">
                  <a:latin typeface="Roboto"/>
                  <a:ea typeface="Roboto"/>
                  <a:cs typeface="Roboto"/>
                  <a:sym typeface="Roboto"/>
                </a:rPr>
                <a:t>Preparación personal</a:t>
              </a:r>
              <a:br>
                <a:rPr b="1" lang="en" sz="1250"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" sz="600">
                  <a:latin typeface="Roboto"/>
                  <a:ea typeface="Roboto"/>
                  <a:cs typeface="Roboto"/>
                  <a:sym typeface="Roboto"/>
                </a:rPr>
                <a:t>-</a:t>
              </a: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Conocer bien el programa oGV: Beneficios, requisitos, proceso de aplicación, costo y proyectos</a:t>
              </a:r>
              <a:br>
                <a:rPr lang="en" sz="7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700">
                  <a:latin typeface="Roboto"/>
                  <a:ea typeface="Roboto"/>
                  <a:cs typeface="Roboto"/>
                  <a:sym typeface="Roboto"/>
                </a:rPr>
                <a:t>-</a:t>
              </a: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Tes testimonios listos</a:t>
              </a:r>
              <a:br>
                <a:rPr lang="en" sz="6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-Practica tu speech: Ensaya varias veces </a:t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5624351" y="2120689"/>
            <a:ext cx="3425732" cy="778911"/>
            <a:chOff x="5064450" y="2086419"/>
            <a:chExt cx="3286704" cy="747300"/>
          </a:xfrm>
        </p:grpSpPr>
        <p:cxnSp>
          <p:nvCxnSpPr>
            <p:cNvPr id="103" name="Google Shape;103;p16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" name="Google Shape;104;p16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75" lIns="95275" spcFirstLastPara="1" rIns="95275" wrap="square" tIns="9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8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459">
                <a:solidFill>
                  <a:srgbClr val="FFFFFF"/>
                </a:solidFill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latin typeface="Roboto"/>
                  <a:ea typeface="Roboto"/>
                  <a:cs typeface="Roboto"/>
                  <a:sym typeface="Roboto"/>
                </a:rPr>
                <a:t>Diseña el contenido</a:t>
              </a:r>
              <a:endParaRPr b="1" sz="125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Arma tu presentación visual:</a:t>
              </a:r>
              <a:br>
                <a:rPr lang="en" sz="6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Introducción a AIESEC, Que es oGV y ejemplos de proyectos, Proceso de aplicación y beneficios, Testimonios, CTA </a:t>
              </a:r>
              <a:endParaRPr b="1" sz="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6155611" y="3245786"/>
            <a:ext cx="2894472" cy="778911"/>
            <a:chOff x="5574150" y="3083456"/>
            <a:chExt cx="2777004" cy="747300"/>
          </a:xfrm>
        </p:grpSpPr>
        <p:cxnSp>
          <p:nvCxnSpPr>
            <p:cNvPr id="108" name="Google Shape;108;p16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9" name="Google Shape;109;p16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75" lIns="95275" spcFirstLastPara="1" rIns="95275" wrap="square" tIns="9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8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459">
                <a:solidFill>
                  <a:srgbClr val="FFFFFF"/>
                </a:solidFill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latin typeface="Roboto"/>
                  <a:ea typeface="Roboto"/>
                  <a:cs typeface="Roboto"/>
                  <a:sym typeface="Roboto"/>
                </a:rPr>
                <a:t>Planifica la energía</a:t>
              </a:r>
              <a:endParaRPr b="1" sz="125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600">
                  <a:solidFill>
                    <a:schemeClr val="dk1"/>
                  </a:solidFill>
                </a:rPr>
                <a:t>-Prepara un rompehielos divertido de 5 min para empezar con buena vibra.</a:t>
              </a:r>
              <a:br>
                <a:rPr lang="en" sz="600">
                  <a:solidFill>
                    <a:schemeClr val="dk1"/>
                  </a:solidFill>
                </a:rPr>
              </a:br>
              <a:r>
                <a:rPr lang="en" sz="600">
                  <a:solidFill>
                    <a:schemeClr val="dk1"/>
                  </a:solidFill>
                </a:rPr>
                <a:t>-Ten preparada tu </a:t>
              </a:r>
              <a:r>
                <a:rPr b="1" lang="en" sz="600">
                  <a:solidFill>
                    <a:schemeClr val="dk1"/>
                  </a:solidFill>
                </a:rPr>
                <a:t>historia personal o de alguien más</a:t>
              </a:r>
              <a:r>
                <a:rPr lang="en" sz="600">
                  <a:solidFill>
                    <a:schemeClr val="dk1"/>
                  </a:solidFill>
                </a:rPr>
                <a:t> (storytelling) → conecta más que los datos fríos.</a:t>
              </a:r>
              <a:br>
                <a:rPr lang="en" sz="600">
                  <a:solidFill>
                    <a:schemeClr val="dk1"/>
                  </a:solidFill>
                </a:rPr>
              </a:br>
              <a:r>
                <a:rPr lang="en" sz="600">
                  <a:solidFill>
                    <a:schemeClr val="dk1"/>
                  </a:solidFill>
                </a:rPr>
                <a:t>-Descansa bien antes, vístete con look profesional pero fresco y </a:t>
              </a:r>
              <a:r>
                <a:rPr b="1" lang="en" sz="600">
                  <a:solidFill>
                    <a:schemeClr val="dk1"/>
                  </a:solidFill>
                </a:rPr>
                <a:t>proyecta seguridad y entusiasmo</a:t>
              </a:r>
              <a:r>
                <a:rPr lang="en" sz="600">
                  <a:solidFill>
                    <a:schemeClr val="dk1"/>
                  </a:solidFill>
                </a:rPr>
                <a:t>.</a:t>
              </a:r>
              <a:endParaRPr sz="6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68"/>
                </a:spcBef>
                <a:spcAft>
                  <a:spcPts val="1668"/>
                </a:spcAft>
                <a:buNone/>
              </a:pPr>
              <a:r>
                <a:t/>
              </a:r>
              <a:endParaRPr sz="833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765489" y="1670758"/>
            <a:ext cx="3615451" cy="778911"/>
            <a:chOff x="744101" y="1672393"/>
            <a:chExt cx="3468724" cy="747300"/>
          </a:xfrm>
        </p:grpSpPr>
        <p:cxnSp>
          <p:nvCxnSpPr>
            <p:cNvPr id="113" name="Google Shape;113;p16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16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75" lIns="95275" spcFirstLastPara="1" rIns="95275" wrap="square" tIns="9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8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459">
                <a:solidFill>
                  <a:srgbClr val="FFFFFF"/>
                </a:solidFill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latin typeface="Roboto"/>
                  <a:ea typeface="Roboto"/>
                  <a:cs typeface="Roboto"/>
                  <a:sym typeface="Roboto"/>
                </a:rPr>
                <a:t>Conoce a tu público</a:t>
              </a:r>
              <a:endParaRPr b="1" sz="125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-Investiga: ¿Quiénes serán los asistentes?</a:t>
              </a:r>
              <a:br>
                <a:rPr lang="en" sz="6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-Define tu enfoque: no es lo mismo hablar con estudiantes de 1er semestre que con jóvenes de último año</a:t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765489" y="2627147"/>
            <a:ext cx="3149512" cy="778911"/>
            <a:chOff x="744101" y="2507609"/>
            <a:chExt cx="3021694" cy="747300"/>
          </a:xfrm>
        </p:grpSpPr>
        <p:cxnSp>
          <p:nvCxnSpPr>
            <p:cNvPr id="118" name="Google Shape;118;p16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16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802090"/>
            </a:solidFill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75" lIns="95275" spcFirstLastPara="1" rIns="95275" wrap="square" tIns="9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lang="en" sz="833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459">
                <a:solidFill>
                  <a:srgbClr val="FFFFFF"/>
                </a:solidFill>
              </a:endParaRPr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75" lIns="95275" spcFirstLastPara="1" rIns="95275" wrap="square" tIns="9527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latin typeface="Roboto"/>
                  <a:ea typeface="Roboto"/>
                  <a:cs typeface="Roboto"/>
                  <a:sym typeface="Roboto"/>
                </a:rPr>
                <a:t>Prepara la </a:t>
              </a:r>
              <a:r>
                <a:rPr b="1" lang="en" sz="1250">
                  <a:latin typeface="Roboto"/>
                  <a:ea typeface="Roboto"/>
                  <a:cs typeface="Roboto"/>
                  <a:sym typeface="Roboto"/>
                </a:rPr>
                <a:t>logística</a:t>
              </a:r>
              <a:endParaRPr b="1" sz="125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68"/>
                </a:spcAft>
                <a:buNone/>
              </a:pPr>
              <a:r>
                <a:rPr b="1" lang="en" sz="733">
                  <a:latin typeface="Roboto"/>
                  <a:ea typeface="Roboto"/>
                  <a:cs typeface="Roboto"/>
                  <a:sym typeface="Roboto"/>
                </a:rPr>
                <a:t>Espacio físico o virtual: </a:t>
              </a:r>
              <a:br>
                <a:rPr lang="en" sz="633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33">
                  <a:latin typeface="Roboto"/>
                  <a:ea typeface="Roboto"/>
                  <a:cs typeface="Roboto"/>
                  <a:sym typeface="Roboto"/>
                </a:rPr>
                <a:t>-Presencial → salón, proyector, audio, materiales (hojas, QR de inscripción).</a:t>
              </a:r>
              <a:br>
                <a:rPr lang="en" sz="633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33">
                  <a:latin typeface="Roboto"/>
                  <a:ea typeface="Roboto"/>
                  <a:cs typeface="Roboto"/>
                  <a:sym typeface="Roboto"/>
                </a:rPr>
                <a:t>-Virtual → link de Zoom/Meet, presentación lista, prueba de conexión.</a:t>
              </a:r>
              <a:br>
                <a:rPr lang="en" sz="633"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" sz="733">
                  <a:latin typeface="Roboto"/>
                  <a:ea typeface="Roboto"/>
                  <a:cs typeface="Roboto"/>
                  <a:sym typeface="Roboto"/>
                </a:rPr>
                <a:t>Material de apoyo:</a:t>
              </a:r>
              <a:br>
                <a:rPr b="1" lang="en" sz="733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33">
                  <a:latin typeface="Roboto"/>
                  <a:ea typeface="Roboto"/>
                  <a:cs typeface="Roboto"/>
                  <a:sym typeface="Roboto"/>
                </a:rPr>
                <a:t>-Formulario de inscripción </a:t>
              </a:r>
              <a:br>
                <a:rPr lang="en" sz="633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33">
                  <a:latin typeface="Roboto"/>
                  <a:ea typeface="Roboto"/>
                  <a:cs typeface="Roboto"/>
                  <a:sym typeface="Roboto"/>
                </a:rPr>
                <a:t>-Flyers digital</a:t>
              </a:r>
              <a:endParaRPr sz="633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3073029" y="1278515"/>
            <a:ext cx="3657752" cy="3394908"/>
            <a:chOff x="3318063" y="1368287"/>
            <a:chExt cx="2408000" cy="2993482"/>
          </a:xfrm>
        </p:grpSpPr>
        <p:sp>
          <p:nvSpPr>
            <p:cNvPr id="123" name="Google Shape;123;p16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4" name="Google Shape;124;p16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25" name="Google Shape;125;p16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325A5"/>
            </a:solidFill>
            <a:ln>
              <a:noFill/>
            </a:ln>
          </p:spPr>
        </p:sp>
        <p:sp>
          <p:nvSpPr>
            <p:cNvPr id="126" name="Google Shape;126;p16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7" name="Google Shape;127;p16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8" name="Google Shape;128;p16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29" name="Google Shape;129;p16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30" name="Google Shape;130;p16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31" name="Google Shape;131;p16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32" name="Google Shape;132;p16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133" name="Google Shape;133;p16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34" name="Google Shape;134;p16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</p:spPr>
        </p:sp>
        <p:sp>
          <p:nvSpPr>
            <p:cNvPr id="135" name="Google Shape;135;p16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36" name="Google Shape;136;p16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</p:spPr>
        </p:sp>
        <p:sp>
          <p:nvSpPr>
            <p:cNvPr id="137" name="Google Shape;137;p16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61561"/>
            </a:solidFill>
            <a:ln>
              <a:noFill/>
            </a:ln>
          </p:spPr>
        </p:sp>
        <p:sp>
          <p:nvSpPr>
            <p:cNvPr id="138" name="Google Shape;138;p16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71E86"/>
            </a:solidFill>
            <a:ln>
              <a:noFill/>
            </a:ln>
          </p:spPr>
        </p:sp>
        <p:sp>
          <p:nvSpPr>
            <p:cNvPr id="139" name="Google Shape;139;p16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80209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7"/>
          <p:cNvGrpSpPr/>
          <p:nvPr/>
        </p:nvGrpSpPr>
        <p:grpSpPr>
          <a:xfrm>
            <a:off x="241608" y="0"/>
            <a:ext cx="562488" cy="854843"/>
            <a:chOff x="8056825" y="0"/>
            <a:chExt cx="513453" cy="732450"/>
          </a:xfrm>
        </p:grpSpPr>
        <p:pic>
          <p:nvPicPr>
            <p:cNvPr id="145" name="Google Shape;14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7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147" name="Google Shape;147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17"/>
          <p:cNvSpPr txBox="1"/>
          <p:nvPr/>
        </p:nvSpPr>
        <p:spPr>
          <a:xfrm>
            <a:off x="804100" y="186225"/>
            <a:ext cx="5415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rgbClr val="F75A40"/>
                </a:highlight>
                <a:latin typeface="Staatliches"/>
                <a:ea typeface="Staatliches"/>
                <a:cs typeface="Staatliches"/>
                <a:sym typeface="Staatliches"/>
              </a:rPr>
              <a:t>Checklist rápido antes de la IF</a:t>
            </a:r>
            <a:endParaRPr sz="3000">
              <a:solidFill>
                <a:schemeClr val="lt1"/>
              </a:solidFill>
              <a:highlight>
                <a:srgbClr val="F75A40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2578450" y="1319675"/>
            <a:ext cx="48615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✔ Conocer el programa y FAQs.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</a:rPr>
              <a:t> ✔ Ensayar la presentación.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</a:rPr>
              <a:t> ✔ Tener testimonios visuales listos.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</a:rPr>
              <a:t> ✔ Revisar lugar/logística/conexión.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</a:rPr>
              <a:t> ✔ Tener a la mano el link/QR de aplicación.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</a:rPr>
              <a:t> ✔ Planear rompehielos + cierre motivador.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>
                <a:latin typeface="Lato"/>
                <a:ea typeface="Lato"/>
                <a:cs typeface="Lato"/>
                <a:sym typeface="Lato"/>
              </a:rPr>
              <a:t> ✔ Estar mentalmente listo para transmitir energía positiva.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92250" y="1087832"/>
            <a:ext cx="4001950" cy="40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8"/>
          <p:cNvGrpSpPr/>
          <p:nvPr/>
        </p:nvGrpSpPr>
        <p:grpSpPr>
          <a:xfrm>
            <a:off x="241608" y="0"/>
            <a:ext cx="562488" cy="854843"/>
            <a:chOff x="8056825" y="0"/>
            <a:chExt cx="513453" cy="732450"/>
          </a:xfrm>
        </p:grpSpPr>
        <p:pic>
          <p:nvPicPr>
            <p:cNvPr id="156" name="Google Shape;15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8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158" name="Google Shape;158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8"/>
          <p:cNvSpPr txBox="1"/>
          <p:nvPr/>
        </p:nvSpPr>
        <p:spPr>
          <a:xfrm>
            <a:off x="804100" y="186225"/>
            <a:ext cx="5937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rgbClr val="F75A40"/>
                </a:highlight>
                <a:latin typeface="Staatliches"/>
                <a:ea typeface="Staatliches"/>
                <a:cs typeface="Staatliches"/>
                <a:sym typeface="Staatliches"/>
              </a:rPr>
              <a:t>¿Qué debes hacer DURANTE tu Info Session?</a:t>
            </a:r>
            <a:endParaRPr sz="3000">
              <a:solidFill>
                <a:schemeClr val="lt1"/>
              </a:solidFill>
              <a:highlight>
                <a:srgbClr val="F75A40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grpSp>
        <p:nvGrpSpPr>
          <p:cNvPr id="160" name="Google Shape;160;p18"/>
          <p:cNvGrpSpPr/>
          <p:nvPr/>
        </p:nvGrpSpPr>
        <p:grpSpPr>
          <a:xfrm>
            <a:off x="137535" y="1757288"/>
            <a:ext cx="3024619" cy="809672"/>
            <a:chOff x="413268" y="1388773"/>
            <a:chExt cx="3453944" cy="924600"/>
          </a:xfrm>
        </p:grpSpPr>
        <p:cxnSp>
          <p:nvCxnSpPr>
            <p:cNvPr id="161" name="Google Shape;161;p18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cap="flat" cmpd="sng" w="9525">
              <a:solidFill>
                <a:srgbClr val="249C91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2" name="Google Shape;162;p18"/>
            <p:cNvSpPr txBox="1"/>
            <p:nvPr/>
          </p:nvSpPr>
          <p:spPr>
            <a:xfrm>
              <a:off x="413268" y="1388773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latin typeface="Roboto"/>
                  <a:ea typeface="Roboto"/>
                  <a:cs typeface="Roboto"/>
                  <a:sym typeface="Roboto"/>
                </a:rPr>
                <a:t>Bienvenida e introducción</a:t>
              </a:r>
              <a:endParaRPr b="1" sz="7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 </a:t>
              </a:r>
              <a: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Saludo cálido y presentación personal.</a:t>
              </a:r>
              <a:b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-Rompehielos interactivo: puede ser una pregunta divertida o dinámica rápida (ej. </a:t>
              </a:r>
              <a:r>
                <a:rPr i="1"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“Si pudieras viajar a cualquier país a hacer voluntariado, ¿cuál elegirías?”</a:t>
              </a:r>
              <a: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).</a:t>
              </a:r>
              <a:b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-Explicar la agenda de la sesión para que sepan qué esperar.</a:t>
              </a:r>
              <a:endParaRPr sz="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r">
                <a:spcBef>
                  <a:spcPts val="1401"/>
                </a:spcBef>
                <a:spcAft>
                  <a:spcPts val="1401"/>
                </a:spcAft>
                <a:buNone/>
              </a:pPr>
              <a:r>
                <a:t/>
              </a:r>
              <a:endParaRPr sz="7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3" name="Google Shape;163;p18"/>
          <p:cNvGrpSpPr/>
          <p:nvPr/>
        </p:nvGrpSpPr>
        <p:grpSpPr>
          <a:xfrm>
            <a:off x="46085" y="2858351"/>
            <a:ext cx="2857497" cy="809672"/>
            <a:chOff x="308838" y="2646125"/>
            <a:chExt cx="3263100" cy="924600"/>
          </a:xfrm>
        </p:grpSpPr>
        <p:cxnSp>
          <p:nvCxnSpPr>
            <p:cNvPr id="164" name="Google Shape;164;p18"/>
            <p:cNvCxnSpPr/>
            <p:nvPr/>
          </p:nvCxnSpPr>
          <p:spPr>
            <a:xfrm rot="10800000">
              <a:off x="2641938" y="3108425"/>
              <a:ext cx="930000" cy="0"/>
            </a:xfrm>
            <a:prstGeom prst="straightConnector1">
              <a:avLst/>
            </a:prstGeom>
            <a:noFill/>
            <a:ln cap="flat" cmpd="sng" w="9525">
              <a:solidFill>
                <a:srgbClr val="1F887E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5" name="Google Shape;165;p18"/>
            <p:cNvSpPr txBox="1"/>
            <p:nvPr/>
          </p:nvSpPr>
          <p:spPr>
            <a:xfrm>
              <a:off x="308838" y="264612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latin typeface="Roboto"/>
                  <a:ea typeface="Roboto"/>
                  <a:cs typeface="Roboto"/>
                  <a:sym typeface="Roboto"/>
                </a:rPr>
                <a:t>Presentación de AIESEC y su misión</a:t>
              </a:r>
              <a:endParaRPr b="1" sz="7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1401"/>
                </a:spcAft>
                <a:buNone/>
              </a:pP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-Breve historia de AIESEC y su enfoque en liderazgo y desarrollo juvenil.</a:t>
              </a:r>
              <a:br>
                <a:rPr lang="en" sz="6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-Explicar la importancia de los programas de voluntariado en el mundo.</a:t>
              </a:r>
              <a:br>
                <a:rPr lang="en" sz="60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600">
                  <a:latin typeface="Roboto"/>
                  <a:ea typeface="Roboto"/>
                  <a:cs typeface="Roboto"/>
                  <a:sym typeface="Roboto"/>
                </a:rPr>
                <a:t>-Mostrar impacto global con cifras, fotos o videos de proyectos anteriores.</a:t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3854417" y="3511251"/>
            <a:ext cx="3645320" cy="809672"/>
            <a:chOff x="4657738" y="3391700"/>
            <a:chExt cx="4162750" cy="924600"/>
          </a:xfrm>
        </p:grpSpPr>
        <p:cxnSp>
          <p:nvCxnSpPr>
            <p:cNvPr id="167" name="Google Shape;167;p18"/>
            <p:cNvCxnSpPr/>
            <p:nvPr/>
          </p:nvCxnSpPr>
          <p:spPr>
            <a:xfrm>
              <a:off x="4657738" y="3854000"/>
              <a:ext cx="18387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68" name="Google Shape;168;p18"/>
            <p:cNvSpPr txBox="1"/>
            <p:nvPr/>
          </p:nvSpPr>
          <p:spPr>
            <a:xfrm>
              <a:off x="6696488" y="339170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latin typeface="Roboto"/>
                  <a:ea typeface="Roboto"/>
                  <a:cs typeface="Roboto"/>
                  <a:sym typeface="Roboto"/>
                </a:rPr>
                <a:t>Explicación del programa oGV</a:t>
              </a:r>
              <a:br>
                <a:rPr b="1" lang="en" sz="700"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" sz="700">
                  <a:latin typeface="Roboto"/>
                  <a:ea typeface="Roboto"/>
                  <a:cs typeface="Roboto"/>
                  <a:sym typeface="Roboto"/>
                </a:rPr>
                <a:t>-</a:t>
              </a: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Qué es Outgoing Global Volunteer y qué tipo de proyectos existen.</a:t>
              </a:r>
              <a:br>
                <a:rPr lang="en" sz="600"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-Duración, países disponibles, tipos de voluntariado.</a:t>
              </a:r>
              <a:br>
                <a:rPr lang="en" sz="600"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-Testimonios o videos cortos de ex-voluntarios para que vean experiencias reales.</a:t>
              </a:r>
              <a:endParaRPr sz="6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4337891" y="1629613"/>
            <a:ext cx="3161846" cy="809672"/>
            <a:chOff x="5209838" y="1242975"/>
            <a:chExt cx="3610650" cy="924600"/>
          </a:xfrm>
        </p:grpSpPr>
        <p:sp>
          <p:nvSpPr>
            <p:cNvPr id="170" name="Google Shape;170;p18"/>
            <p:cNvSpPr txBox="1"/>
            <p:nvPr/>
          </p:nvSpPr>
          <p:spPr>
            <a:xfrm>
              <a:off x="669648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latin typeface="Roboto"/>
                  <a:ea typeface="Roboto"/>
                  <a:cs typeface="Roboto"/>
                  <a:sym typeface="Roboto"/>
                </a:rPr>
                <a:t>Sesión de preguntas, interacción y cierre</a:t>
              </a:r>
              <a:endParaRPr b="1" sz="7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-Espacio abierto para dudas y preguntas.</a:t>
              </a:r>
              <a:br>
                <a:rPr lang="en" sz="600"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-Dinámica rápida: mini quiz o encuesta sobre lo aprendido.</a:t>
              </a:r>
              <a:endParaRPr sz="600"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401"/>
                </a:spcBef>
                <a:spcAft>
                  <a:spcPts val="1401"/>
                </a:spcAft>
                <a:buNone/>
              </a:pPr>
              <a:r>
                <a:t/>
              </a:r>
              <a:endParaRPr sz="600"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71" name="Google Shape;171;p18"/>
            <p:cNvCxnSpPr/>
            <p:nvPr/>
          </p:nvCxnSpPr>
          <p:spPr>
            <a:xfrm>
              <a:off x="5209838" y="1654113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72" name="Google Shape;172;p18"/>
          <p:cNvGrpSpPr/>
          <p:nvPr/>
        </p:nvGrpSpPr>
        <p:grpSpPr>
          <a:xfrm>
            <a:off x="4688565" y="2664873"/>
            <a:ext cx="2811172" cy="620784"/>
            <a:chOff x="5610288" y="2425183"/>
            <a:chExt cx="3210200" cy="708900"/>
          </a:xfrm>
        </p:grpSpPr>
        <p:cxnSp>
          <p:nvCxnSpPr>
            <p:cNvPr id="173" name="Google Shape;173;p18"/>
            <p:cNvCxnSpPr/>
            <p:nvPr/>
          </p:nvCxnSpPr>
          <p:spPr>
            <a:xfrm>
              <a:off x="5610288" y="2775650"/>
              <a:ext cx="886200" cy="0"/>
            </a:xfrm>
            <a:prstGeom prst="straightConnector1">
              <a:avLst/>
            </a:prstGeom>
            <a:noFill/>
            <a:ln cap="flat" cmpd="sng" w="9525">
              <a:solidFill>
                <a:srgbClr val="1B786F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74" name="Google Shape;174;p18"/>
            <p:cNvSpPr txBox="1"/>
            <p:nvPr/>
          </p:nvSpPr>
          <p:spPr>
            <a:xfrm>
              <a:off x="6696487" y="2425183"/>
              <a:ext cx="2124000" cy="70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latin typeface="Roboto"/>
                  <a:ea typeface="Roboto"/>
                  <a:cs typeface="Roboto"/>
                  <a:sym typeface="Roboto"/>
                </a:rPr>
                <a:t>Proceso de aplicación y requisitos</a:t>
              </a:r>
              <a:endParaRPr b="1" sz="7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-Explicar paso a paso cómo inscribirse.</a:t>
              </a:r>
              <a:br>
                <a:rPr lang="en" sz="600"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-Requisitos de edad, idioma, tiempo de compromiso, etc.</a:t>
              </a:r>
              <a:br>
                <a:rPr lang="en" sz="600"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>
                  <a:latin typeface="Lato"/>
                  <a:ea typeface="Lato"/>
                  <a:cs typeface="Lato"/>
                  <a:sym typeface="Lato"/>
                </a:rPr>
                <a:t>-Costos, beneficios y apoyo de AIESEC durante el proceso.</a:t>
              </a:r>
              <a:endParaRPr sz="600"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401"/>
                </a:spcBef>
                <a:spcAft>
                  <a:spcPts val="1401"/>
                </a:spcAft>
                <a:buNone/>
              </a:pPr>
              <a:r>
                <a:t/>
              </a:r>
              <a:endParaRPr sz="60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2053539" y="1114679"/>
            <a:ext cx="3434671" cy="3429179"/>
            <a:chOff x="2610905" y="610653"/>
            <a:chExt cx="3922200" cy="3922200"/>
          </a:xfrm>
        </p:grpSpPr>
        <p:sp>
          <p:nvSpPr>
            <p:cNvPr id="176" name="Google Shape;176;p18"/>
            <p:cNvSpPr/>
            <p:nvPr/>
          </p:nvSpPr>
          <p:spPr>
            <a:xfrm rot="-4980021">
              <a:off x="3204123" y="1186472"/>
              <a:ext cx="2771960" cy="2771960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 rot="7920309">
              <a:off x="3183402" y="1183149"/>
              <a:ext cx="2777207" cy="277720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/>
            <p:nvPr/>
          </p:nvSpPr>
          <p:spPr>
            <a:xfrm rot="3600063">
              <a:off x="3186335" y="1195681"/>
              <a:ext cx="2777488" cy="2777488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 rot="4024705">
              <a:off x="5326681" y="1940898"/>
              <a:ext cx="578477" cy="57914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B786F"/>
            </a:solidFill>
            <a:ln>
              <a:noFill/>
            </a:ln>
            <a:effectLst>
              <a:outerShdw blurRad="125111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 rot="-6816027">
              <a:off x="5326729" y="1940918"/>
              <a:ext cx="578485" cy="57903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 rot="-9359762">
              <a:off x="3193941" y="1176205"/>
              <a:ext cx="2777287" cy="2777287"/>
            </a:xfrm>
            <a:prstGeom prst="blockArc">
              <a:avLst>
                <a:gd fmla="val 12602522" name="adj1"/>
                <a:gd fmla="val 16867657" name="adj2"/>
                <a:gd fmla="val 20844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 rot="-8936366">
              <a:off x="3659126" y="3173505"/>
              <a:ext cx="578551" cy="578963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F887E"/>
            </a:solidFill>
            <a:ln>
              <a:noFill/>
            </a:ln>
            <a:effectLst>
              <a:outerShdw blurRad="125111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 rot="1824498">
              <a:off x="3659375" y="3173497"/>
              <a:ext cx="578475" cy="578885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600092">
              <a:off x="3198852" y="1195456"/>
              <a:ext cx="2777611" cy="2777611"/>
            </a:xfrm>
            <a:prstGeom prst="blockArc">
              <a:avLst>
                <a:gd fmla="val 12513247" name="adj1"/>
                <a:gd fmla="val 16867657" name="adj2"/>
                <a:gd fmla="val 20844" name="adj3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 rot="-176551">
              <a:off x="4312105" y="1195442"/>
              <a:ext cx="578563" cy="579162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55B55"/>
            </a:solidFill>
            <a:ln>
              <a:noFill/>
            </a:ln>
            <a:effectLst>
              <a:outerShdw blurRad="125111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 rot="10584085">
              <a:off x="4312088" y="1195622"/>
              <a:ext cx="578340" cy="578939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 rot="8344778">
              <a:off x="4940929" y="3162886"/>
              <a:ext cx="578465" cy="578888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1D7E75"/>
            </a:solidFill>
            <a:ln>
              <a:noFill/>
            </a:ln>
            <a:effectLst>
              <a:outerShdw blurRad="125111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 rot="-2495643">
              <a:off x="4941000" y="3162728"/>
              <a:ext cx="578445" cy="579093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 rot="-4556960">
              <a:off x="3257335" y="1939059"/>
              <a:ext cx="578302" cy="57895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249C91"/>
            </a:solidFill>
            <a:ln>
              <a:noFill/>
            </a:ln>
            <a:effectLst>
              <a:outerShdw blurRad="125111" rotWithShape="0" algn="bl">
                <a:srgbClr val="000000">
                  <a:alpha val="43000"/>
                </a:srgbClr>
              </a:outerShdw>
            </a:effectLst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 rot="6204541">
              <a:off x="3257468" y="1938977"/>
              <a:ext cx="578264" cy="578917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4341900" y="127189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1" sz="14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3274219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4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3685317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4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4955323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4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5364737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40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9"/>
          <p:cNvGrpSpPr/>
          <p:nvPr/>
        </p:nvGrpSpPr>
        <p:grpSpPr>
          <a:xfrm>
            <a:off x="241608" y="0"/>
            <a:ext cx="562488" cy="854843"/>
            <a:chOff x="8056825" y="0"/>
            <a:chExt cx="513453" cy="732450"/>
          </a:xfrm>
        </p:grpSpPr>
        <p:pic>
          <p:nvPicPr>
            <p:cNvPr id="201" name="Google Shape;20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9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203" name="Google Shape;203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19"/>
          <p:cNvSpPr txBox="1"/>
          <p:nvPr/>
        </p:nvSpPr>
        <p:spPr>
          <a:xfrm>
            <a:off x="804100" y="186225"/>
            <a:ext cx="5937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rgbClr val="F75A40"/>
                </a:highlight>
                <a:latin typeface="Staatliches"/>
                <a:ea typeface="Staatliches"/>
                <a:cs typeface="Staatliches"/>
                <a:sym typeface="Staatliches"/>
              </a:rPr>
              <a:t>TU IR PARTNER = MEJOR ALIADO</a:t>
            </a:r>
            <a:endParaRPr sz="3000">
              <a:solidFill>
                <a:schemeClr val="lt1"/>
              </a:solidFill>
              <a:highlight>
                <a:srgbClr val="F75A40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pic>
        <p:nvPicPr>
          <p:cNvPr id="205" name="Google Shape;20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4375" y="1847850"/>
            <a:ext cx="3233650" cy="323365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105775" y="854850"/>
            <a:ext cx="593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Tu IR Partner no es solo alguien con quien trabajas, es 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tu guía, tu apoyo y tu inspiración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durante todo el proceso de oGV. Es la persona que: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242239" y="1765762"/>
            <a:ext cx="2704500" cy="2570400"/>
          </a:xfrm>
          <a:prstGeom prst="pentagon">
            <a:avLst>
              <a:gd fmla="val 105146" name="hf"/>
              <a:gd fmla="val 110557" name="vf"/>
            </a:avLst>
          </a:prstGeom>
          <a:solidFill>
            <a:srgbClr val="D786E4"/>
          </a:solidFill>
          <a:ln>
            <a:noFill/>
          </a:ln>
        </p:spPr>
        <p:txBody>
          <a:bodyPr anchorCtr="0" anchor="ctr" bIns="101750" lIns="101750" spcFirstLastPara="1" rIns="101750" wrap="square" tIns="101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694706" y="2486944"/>
            <a:ext cx="1799400" cy="14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750" lIns="101750" spcFirstLastPara="1" rIns="101750" wrap="square" tIns="1017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7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MEJORES AMIGOS</a:t>
            </a:r>
            <a:endParaRPr sz="1557">
              <a:solidFill>
                <a:srgbClr val="701C7F"/>
              </a:solidFill>
            </a:endParaRPr>
          </a:p>
        </p:txBody>
      </p:sp>
      <p:grpSp>
        <p:nvGrpSpPr>
          <p:cNvPr id="209" name="Google Shape;209;p19"/>
          <p:cNvGrpSpPr/>
          <p:nvPr/>
        </p:nvGrpSpPr>
        <p:grpSpPr>
          <a:xfrm>
            <a:off x="2279961" y="1303847"/>
            <a:ext cx="2037703" cy="1156743"/>
            <a:chOff x="4306958" y="1001794"/>
            <a:chExt cx="1831150" cy="1039488"/>
          </a:xfrm>
        </p:grpSpPr>
        <p:sp>
          <p:nvSpPr>
            <p:cNvPr id="210" name="Google Shape;210;p19"/>
            <p:cNvSpPr/>
            <p:nvPr/>
          </p:nvSpPr>
          <p:spPr>
            <a:xfrm>
              <a:off x="4306958" y="1082925"/>
              <a:ext cx="565200" cy="565500"/>
            </a:xfrm>
            <a:prstGeom prst="ellipse">
              <a:avLst/>
            </a:prstGeom>
            <a:solidFill>
              <a:srgbClr val="561561"/>
            </a:solidFill>
            <a:ln>
              <a:noFill/>
            </a:ln>
            <a:effectLst>
              <a:outerShdw blurRad="63597" rotWithShape="0" algn="bl" dir="5400000" dist="21199">
                <a:srgbClr val="212121">
                  <a:alpha val="38000"/>
                </a:srgbClr>
              </a:outerShdw>
            </a:effectLst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01</a:t>
              </a:r>
              <a:endParaRPr sz="133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1" name="Google Shape;211;p19"/>
            <p:cNvSpPr txBox="1"/>
            <p:nvPr/>
          </p:nvSpPr>
          <p:spPr>
            <a:xfrm rot="2162736">
              <a:off x="5029760" y="1294033"/>
              <a:ext cx="1109395" cy="357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50" lIns="101750" spcFirstLastPara="1" rIns="101750" wrap="square" tIns="1017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0">
                  <a:solidFill>
                    <a:srgbClr val="561561"/>
                  </a:solidFill>
                  <a:latin typeface="Roboto"/>
                  <a:ea typeface="Roboto"/>
                  <a:cs typeface="Roboto"/>
                  <a:sym typeface="Roboto"/>
                </a:rPr>
                <a:t>Te orienta y aconseja</a:t>
              </a:r>
              <a:endParaRPr b="1" sz="890">
                <a:solidFill>
                  <a:srgbClr val="561561"/>
                </a:solidFill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 rot="2159678">
              <a:off x="4838902" y="1574444"/>
              <a:ext cx="1119431" cy="152476"/>
            </a:xfrm>
            <a:prstGeom prst="rightArrow">
              <a:avLst>
                <a:gd fmla="val 25514" name="adj1"/>
                <a:gd fmla="val 64322" name="adj2"/>
              </a:avLst>
            </a:prstGeom>
            <a:solidFill>
              <a:srgbClr val="561561"/>
            </a:solidFill>
            <a:ln>
              <a:noFill/>
            </a:ln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19"/>
          <p:cNvGrpSpPr/>
          <p:nvPr/>
        </p:nvGrpSpPr>
        <p:grpSpPr>
          <a:xfrm>
            <a:off x="3692271" y="2433262"/>
            <a:ext cx="879725" cy="1938024"/>
            <a:chOff x="5576108" y="2016725"/>
            <a:chExt cx="790551" cy="1741574"/>
          </a:xfrm>
        </p:grpSpPr>
        <p:sp>
          <p:nvSpPr>
            <p:cNvPr id="214" name="Google Shape;214;p19"/>
            <p:cNvSpPr/>
            <p:nvPr/>
          </p:nvSpPr>
          <p:spPr>
            <a:xfrm>
              <a:off x="5576108" y="2016725"/>
              <a:ext cx="565200" cy="5655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  <a:effectLst>
              <a:outerShdw blurRad="63597" rotWithShape="0" algn="bl" dir="5400000" dist="21199">
                <a:srgbClr val="212121">
                  <a:alpha val="38000"/>
                </a:srgbClr>
              </a:outerShdw>
            </a:effectLst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02</a:t>
              </a:r>
              <a:endParaRPr sz="133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 rot="6484358">
              <a:off x="5469273" y="2996370"/>
              <a:ext cx="1110171" cy="357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50" lIns="101750" spcFirstLastPara="1" rIns="101750" wrap="square" tIns="1017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Resuelve tus dudas</a:t>
              </a:r>
              <a:endParaRPr b="1" sz="890">
                <a:solidFill>
                  <a:srgbClr val="701C7F"/>
                </a:solidFill>
              </a:endParaRPr>
            </a:p>
          </p:txBody>
        </p:sp>
        <p:sp>
          <p:nvSpPr>
            <p:cNvPr id="216" name="Google Shape;216;p19"/>
            <p:cNvSpPr/>
            <p:nvPr/>
          </p:nvSpPr>
          <p:spPr>
            <a:xfrm rot="6479001">
              <a:off x="5275897" y="3050667"/>
              <a:ext cx="1119386" cy="152834"/>
            </a:xfrm>
            <a:prstGeom prst="rightArrow">
              <a:avLst>
                <a:gd fmla="val 25514" name="adj1"/>
                <a:gd fmla="val 64322" name="adj2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1951796" y="4030241"/>
            <a:ext cx="1794029" cy="1047092"/>
            <a:chOff x="4012057" y="3451825"/>
            <a:chExt cx="1612175" cy="940953"/>
          </a:xfrm>
        </p:grpSpPr>
        <p:sp>
          <p:nvSpPr>
            <p:cNvPr id="218" name="Google Shape;218;p19"/>
            <p:cNvSpPr/>
            <p:nvPr/>
          </p:nvSpPr>
          <p:spPr>
            <a:xfrm>
              <a:off x="5059033" y="3451825"/>
              <a:ext cx="565200" cy="565500"/>
            </a:xfrm>
            <a:prstGeom prst="ellipse">
              <a:avLst/>
            </a:prstGeom>
            <a:solidFill>
              <a:srgbClr val="771E86"/>
            </a:solidFill>
            <a:ln>
              <a:noFill/>
            </a:ln>
            <a:effectLst>
              <a:outerShdw blurRad="63597" rotWithShape="0" algn="bl" dir="5400000" dist="21199">
                <a:srgbClr val="212121">
                  <a:alpha val="38000"/>
                </a:srgbClr>
              </a:outerShdw>
            </a:effectLst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03</a:t>
              </a:r>
              <a:endParaRPr sz="133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9" name="Google Shape;219;p19"/>
            <p:cNvSpPr txBox="1"/>
            <p:nvPr/>
          </p:nvSpPr>
          <p:spPr>
            <a:xfrm rot="9294">
              <a:off x="4017981" y="4033678"/>
              <a:ext cx="1109704" cy="3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50" lIns="101750" spcFirstLastPara="1" rIns="101750" wrap="square" tIns="1017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0">
                  <a:solidFill>
                    <a:srgbClr val="771E86"/>
                  </a:solidFill>
                  <a:latin typeface="Roboto"/>
                  <a:ea typeface="Roboto"/>
                  <a:cs typeface="Roboto"/>
                  <a:sym typeface="Roboto"/>
                </a:rPr>
                <a:t>Te motiva a dar tu mejor versión</a:t>
              </a:r>
              <a:endParaRPr b="1" sz="890">
                <a:solidFill>
                  <a:srgbClr val="771E86"/>
                </a:solidFill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 rot="10799079">
              <a:off x="4012507" y="3933353"/>
              <a:ext cx="1119600" cy="152703"/>
            </a:xfrm>
            <a:prstGeom prst="rightArrow">
              <a:avLst>
                <a:gd fmla="val 25514" name="adj1"/>
                <a:gd fmla="val 64322" name="adj2"/>
              </a:avLst>
            </a:prstGeom>
            <a:solidFill>
              <a:srgbClr val="771E86"/>
            </a:solidFill>
            <a:ln>
              <a:noFill/>
            </a:ln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80659" y="3082327"/>
            <a:ext cx="1476325" cy="1577203"/>
            <a:chOff x="2779907" y="2599997"/>
            <a:chExt cx="1326676" cy="1417328"/>
          </a:xfrm>
        </p:grpSpPr>
        <p:sp>
          <p:nvSpPr>
            <p:cNvPr id="222" name="Google Shape;222;p19"/>
            <p:cNvSpPr/>
            <p:nvPr/>
          </p:nvSpPr>
          <p:spPr>
            <a:xfrm>
              <a:off x="3541383" y="3451825"/>
              <a:ext cx="565200" cy="565500"/>
            </a:xfrm>
            <a:prstGeom prst="ellipse">
              <a:avLst/>
            </a:prstGeom>
            <a:solidFill>
              <a:srgbClr val="802090"/>
            </a:solidFill>
            <a:ln>
              <a:noFill/>
            </a:ln>
            <a:effectLst>
              <a:outerShdw blurRad="63597" rotWithShape="0" algn="bl" dir="5400000" dist="21199">
                <a:srgbClr val="212121">
                  <a:alpha val="38000"/>
                </a:srgbClr>
              </a:outerShdw>
            </a:effectLst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04</a:t>
              </a:r>
              <a:endParaRPr sz="133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23" name="Google Shape;223;p19"/>
            <p:cNvSpPr txBox="1"/>
            <p:nvPr/>
          </p:nvSpPr>
          <p:spPr>
            <a:xfrm rot="4327392">
              <a:off x="2565306" y="3026908"/>
              <a:ext cx="1110202" cy="357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50" lIns="101750" spcFirstLastPara="1" rIns="101750" wrap="square" tIns="1017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9325A5"/>
                  </a:solidFill>
                  <a:latin typeface="Roboto"/>
                  <a:ea typeface="Roboto"/>
                  <a:cs typeface="Roboto"/>
                  <a:sym typeface="Roboto"/>
                </a:rPr>
                <a:t>Comparte recursos y tips prácticos</a:t>
              </a:r>
              <a:endParaRPr b="1" sz="800">
                <a:solidFill>
                  <a:srgbClr val="9325A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19"/>
            <p:cNvSpPr/>
            <p:nvPr/>
          </p:nvSpPr>
          <p:spPr>
            <a:xfrm rot="-6478717">
              <a:off x="2755922" y="3079191"/>
              <a:ext cx="1119672" cy="153413"/>
            </a:xfrm>
            <a:prstGeom prst="rightArrow">
              <a:avLst>
                <a:gd fmla="val 25514" name="adj1"/>
                <a:gd fmla="val 64322" name="adj2"/>
              </a:avLst>
            </a:prstGeom>
            <a:solidFill>
              <a:srgbClr val="802090"/>
            </a:solidFill>
            <a:ln>
              <a:noFill/>
            </a:ln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19"/>
          <p:cNvGrpSpPr/>
          <p:nvPr/>
        </p:nvGrpSpPr>
        <p:grpSpPr>
          <a:xfrm>
            <a:off x="855661" y="1305189"/>
            <a:ext cx="1414343" cy="1757361"/>
            <a:chOff x="3027033" y="1003000"/>
            <a:chExt cx="1270977" cy="1579225"/>
          </a:xfrm>
        </p:grpSpPr>
        <p:sp>
          <p:nvSpPr>
            <p:cNvPr id="226" name="Google Shape;226;p19"/>
            <p:cNvSpPr/>
            <p:nvPr/>
          </p:nvSpPr>
          <p:spPr>
            <a:xfrm>
              <a:off x="3027033" y="2016725"/>
              <a:ext cx="565200" cy="565500"/>
            </a:xfrm>
            <a:prstGeom prst="ellipse">
              <a:avLst/>
            </a:prstGeom>
            <a:solidFill>
              <a:srgbClr val="9325A5"/>
            </a:solidFill>
            <a:ln>
              <a:noFill/>
            </a:ln>
            <a:effectLst>
              <a:outerShdw blurRad="63597" rotWithShape="0" algn="bl" dir="5400000" dist="21199">
                <a:srgbClr val="212121">
                  <a:alpha val="38000"/>
                </a:srgbClr>
              </a:outerShdw>
            </a:effectLst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35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05</a:t>
              </a:r>
              <a:endParaRPr sz="1335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27" name="Google Shape;227;p19"/>
            <p:cNvSpPr txBox="1"/>
            <p:nvPr/>
          </p:nvSpPr>
          <p:spPr>
            <a:xfrm rot="-2159593">
              <a:off x="3065900" y="1294706"/>
              <a:ext cx="1109770" cy="35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750" lIns="101750" spcFirstLastPara="1" rIns="101750" wrap="square" tIns="10175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90">
                  <a:solidFill>
                    <a:srgbClr val="802090"/>
                  </a:solidFill>
                  <a:latin typeface="Roboto"/>
                  <a:ea typeface="Roboto"/>
                  <a:cs typeface="Roboto"/>
                  <a:sym typeface="Roboto"/>
                </a:rPr>
                <a:t>Es tu conexión con AIESEC</a:t>
              </a:r>
              <a:endParaRPr b="1" sz="890">
                <a:solidFill>
                  <a:srgbClr val="802090"/>
                </a:solidFill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 rot="-2159137">
              <a:off x="3240473" y="1559002"/>
              <a:ext cx="1119673" cy="153273"/>
            </a:xfrm>
            <a:prstGeom prst="rightArrow">
              <a:avLst>
                <a:gd fmla="val 25514" name="adj1"/>
                <a:gd fmla="val 64322" name="adj2"/>
              </a:avLst>
            </a:prstGeom>
            <a:solidFill>
              <a:srgbClr val="9325A5"/>
            </a:solidFill>
            <a:ln>
              <a:noFill/>
            </a:ln>
          </p:spPr>
          <p:txBody>
            <a:bodyPr anchorCtr="0" anchor="ctr" bIns="101750" lIns="101750" spcFirstLastPara="1" rIns="101750" wrap="square" tIns="101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0"/>
          <p:cNvGrpSpPr/>
          <p:nvPr/>
        </p:nvGrpSpPr>
        <p:grpSpPr>
          <a:xfrm>
            <a:off x="241608" y="0"/>
            <a:ext cx="562488" cy="854843"/>
            <a:chOff x="8056825" y="0"/>
            <a:chExt cx="513453" cy="732450"/>
          </a:xfrm>
        </p:grpSpPr>
        <p:pic>
          <p:nvPicPr>
            <p:cNvPr id="234" name="Google Shape;23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0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236" name="Google Shape;23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20"/>
          <p:cNvSpPr txBox="1"/>
          <p:nvPr/>
        </p:nvSpPr>
        <p:spPr>
          <a:xfrm>
            <a:off x="804100" y="186225"/>
            <a:ext cx="5937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rgbClr val="F75A40"/>
                </a:highlight>
                <a:latin typeface="Staatliches"/>
                <a:ea typeface="Staatliches"/>
                <a:cs typeface="Staatliches"/>
                <a:sym typeface="Staatliches"/>
              </a:rPr>
              <a:t>Prepárate para las preguntas</a:t>
            </a:r>
            <a:endParaRPr sz="3000">
              <a:solidFill>
                <a:schemeClr val="lt1"/>
              </a:solidFill>
              <a:highlight>
                <a:srgbClr val="F75A40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804100" y="854850"/>
            <a:ext cx="5185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Propósito:</a:t>
            </a: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Que cada miembro o lead se sienta seguro al responder y pueda transformar cualquier duda en una oportunidad para motivar a los futuros voluntarios.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293607" y="1529399"/>
            <a:ext cx="3473700" cy="3474000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txBody>
          <a:bodyPr anchorCtr="0" anchor="ctr" bIns="80450" lIns="80450" spcFirstLastPara="1" rIns="80450" wrap="square" tIns="8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4082006" y="1375674"/>
            <a:ext cx="1905863" cy="1905863"/>
            <a:chOff x="3619861" y="407378"/>
            <a:chExt cx="2166000" cy="2166000"/>
          </a:xfrm>
        </p:grpSpPr>
        <p:sp>
          <p:nvSpPr>
            <p:cNvPr id="241" name="Google Shape;241;p20"/>
            <p:cNvSpPr/>
            <p:nvPr/>
          </p:nvSpPr>
          <p:spPr>
            <a:xfrm>
              <a:off x="3619861" y="407378"/>
              <a:ext cx="2166000" cy="2166000"/>
            </a:xfrm>
            <a:prstGeom prst="ellipse">
              <a:avLst/>
            </a:prstGeom>
            <a:solidFill>
              <a:srgbClr val="C4134F"/>
            </a:solidFill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4024522" y="707737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¿Puedo elegir el país donde quiero ir?</a:t>
              </a:r>
              <a:endParaRPr sz="8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4986763" y="2022985"/>
            <a:ext cx="1905863" cy="1905863"/>
            <a:chOff x="4648111" y="1143043"/>
            <a:chExt cx="2166000" cy="2166000"/>
          </a:xfrm>
        </p:grpSpPr>
        <p:sp>
          <p:nvSpPr>
            <p:cNvPr id="244" name="Google Shape;244;p20"/>
            <p:cNvSpPr/>
            <p:nvPr/>
          </p:nvSpPr>
          <p:spPr>
            <a:xfrm>
              <a:off x="4648111" y="1143043"/>
              <a:ext cx="2166000" cy="2166000"/>
            </a:xfrm>
            <a:prstGeom prst="ellipse">
              <a:avLst/>
            </a:prstGeom>
            <a:solidFill>
              <a:srgbClr val="E1165B"/>
            </a:solidFill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5431956" y="1669515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¿Existen becas o apoyos financieros?</a:t>
              </a:r>
              <a:endParaRPr sz="8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4626620" y="3091753"/>
            <a:ext cx="1905863" cy="1905863"/>
            <a:chOff x="4238812" y="2357689"/>
            <a:chExt cx="2166000" cy="2166000"/>
          </a:xfrm>
        </p:grpSpPr>
        <p:sp>
          <p:nvSpPr>
            <p:cNvPr id="247" name="Google Shape;247;p20"/>
            <p:cNvSpPr/>
            <p:nvPr/>
          </p:nvSpPr>
          <p:spPr>
            <a:xfrm>
              <a:off x="4238812" y="2357689"/>
              <a:ext cx="2166000" cy="2166000"/>
            </a:xfrm>
            <a:prstGeom prst="ellipse">
              <a:avLst/>
            </a:prstGeom>
            <a:solidFill>
              <a:srgbClr val="840D35"/>
            </a:solidFill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5047891" y="3185187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¿Necesito experiencia previa o un idioma específico?</a:t>
              </a:r>
              <a:endParaRPr sz="8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" name="Google Shape;249;p20"/>
          <p:cNvGrpSpPr/>
          <p:nvPr/>
        </p:nvGrpSpPr>
        <p:grpSpPr>
          <a:xfrm>
            <a:off x="3521809" y="3091841"/>
            <a:ext cx="1905863" cy="1905863"/>
            <a:chOff x="2983201" y="2357790"/>
            <a:chExt cx="2166000" cy="2166000"/>
          </a:xfrm>
        </p:grpSpPr>
        <p:sp>
          <p:nvSpPr>
            <p:cNvPr id="250" name="Google Shape;250;p20"/>
            <p:cNvSpPr/>
            <p:nvPr/>
          </p:nvSpPr>
          <p:spPr>
            <a:xfrm>
              <a:off x="2983201" y="2357790"/>
              <a:ext cx="2166000" cy="2166000"/>
            </a:xfrm>
            <a:prstGeom prst="ellipse">
              <a:avLst/>
            </a:prstGeom>
            <a:solidFill>
              <a:srgbClr val="AC1146"/>
            </a:solidFill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3059406" y="3168962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¿Qué habilidades puedo desarrollar en el programa?</a:t>
              </a:r>
              <a:endParaRPr sz="8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>
            <a:off x="3177351" y="2022958"/>
            <a:ext cx="1905863" cy="1905863"/>
            <a:chOff x="2591728" y="1143012"/>
            <a:chExt cx="2166000" cy="2166000"/>
          </a:xfrm>
        </p:grpSpPr>
        <p:sp>
          <p:nvSpPr>
            <p:cNvPr id="253" name="Google Shape;253;p20"/>
            <p:cNvSpPr/>
            <p:nvPr/>
          </p:nvSpPr>
          <p:spPr>
            <a:xfrm>
              <a:off x="2591728" y="1143012"/>
              <a:ext cx="2166000" cy="2166000"/>
            </a:xfrm>
            <a:prstGeom prst="ellipse">
              <a:avLst/>
            </a:prstGeom>
            <a:solidFill>
              <a:srgbClr val="B6124A"/>
            </a:solidFill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2830556" y="1666262"/>
              <a:ext cx="1328400" cy="6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450" lIns="80450" spcFirstLastPara="1" rIns="80450" wrap="square" tIns="80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¿Cómo cambiará mi vida personal y profesional?</a:t>
              </a:r>
              <a:endParaRPr sz="87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5" name="Google Shape;255;p20"/>
          <p:cNvSpPr/>
          <p:nvPr/>
        </p:nvSpPr>
        <p:spPr>
          <a:xfrm>
            <a:off x="4491224" y="2727015"/>
            <a:ext cx="1078800" cy="1078800"/>
          </a:xfrm>
          <a:prstGeom prst="ellipse">
            <a:avLst/>
          </a:prstGeom>
          <a:solidFill>
            <a:srgbClr val="F48FB1"/>
          </a:solidFill>
          <a:ln>
            <a:noFill/>
          </a:ln>
        </p:spPr>
        <p:txBody>
          <a:bodyPr anchorCtr="0" anchor="ctr" bIns="80450" lIns="80450" spcFirstLastPara="1" rIns="80450" wrap="square" tIns="8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00775" y="1669800"/>
            <a:ext cx="3473700" cy="347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1"/>
          <p:cNvGrpSpPr/>
          <p:nvPr/>
        </p:nvGrpSpPr>
        <p:grpSpPr>
          <a:xfrm>
            <a:off x="241608" y="0"/>
            <a:ext cx="562488" cy="854843"/>
            <a:chOff x="8056825" y="0"/>
            <a:chExt cx="513453" cy="732450"/>
          </a:xfrm>
        </p:grpSpPr>
        <p:pic>
          <p:nvPicPr>
            <p:cNvPr id="262" name="Google Shape;26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21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264" name="Google Shape;264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1"/>
          <p:cNvSpPr txBox="1"/>
          <p:nvPr/>
        </p:nvSpPr>
        <p:spPr>
          <a:xfrm>
            <a:off x="804100" y="186225"/>
            <a:ext cx="59376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highlight>
                  <a:srgbClr val="F75A40"/>
                </a:highlight>
                <a:latin typeface="Staatliches"/>
                <a:ea typeface="Staatliches"/>
                <a:cs typeface="Staatliches"/>
                <a:sym typeface="Staatliches"/>
              </a:rPr>
              <a:t>Tips para dar una Info Session exitosa</a:t>
            </a:r>
            <a:endParaRPr sz="3000">
              <a:solidFill>
                <a:schemeClr val="lt1"/>
              </a:solidFill>
              <a:highlight>
                <a:srgbClr val="F75A40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591575" y="854850"/>
            <a:ext cx="49980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Conoce tu material 📚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Rompehielos inicial ❄️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Cuenta historias reales </a:t>
            </a: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🎤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Usa recursos visuales 🎨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Interacción constante 🤝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Habla con entusiasmo ✨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Prepárate para dudas ❓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Cierra con un llamado a la acción 🚀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Sé auténtico 💖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Follow-up posterior 📩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535150" y="958975"/>
            <a:ext cx="4184524" cy="418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