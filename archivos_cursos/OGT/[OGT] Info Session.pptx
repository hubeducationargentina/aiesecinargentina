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Montserrat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MontserratMedium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italic.fntdata"/><Relationship Id="rId25" Type="http://schemas.openxmlformats.org/officeDocument/2006/relationships/font" Target="fonts/MontserratMedium-bold.fntdata"/><Relationship Id="rId27" Type="http://schemas.openxmlformats.org/officeDocument/2006/relationships/font" Target="fonts/Montserra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19" Type="http://schemas.openxmlformats.org/officeDocument/2006/relationships/font" Target="fonts/Nunito-boldItalic.fntdata"/><Relationship Id="rId18" Type="http://schemas.openxmlformats.org/officeDocument/2006/relationships/font" Target="fonts/Nuni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8d998742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8d998742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8d998742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8d998742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3bbf733ac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3bbf733ac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8d9987426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8d998742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4c737ed3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4c737ed3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3bbf733ac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3bbf733ac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385e42d9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385e42d9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385e42d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385e42d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45f88cf0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45f88cf0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3bc1dfc1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3bc1dfc1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0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1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17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jpg"/><Relationship Id="rId4" Type="http://schemas.openxmlformats.org/officeDocument/2006/relationships/image" Target="../media/image9.gif"/><Relationship Id="rId5" Type="http://schemas.openxmlformats.org/officeDocument/2006/relationships/image" Target="../media/image7.gif"/><Relationship Id="rId6" Type="http://schemas.openxmlformats.org/officeDocument/2006/relationships/hyperlink" Target="https://docs.google.com/presentation/d/1Db2UQUSPCcaTRMnXm9vW84UuuUkAi3ml6DCH88kAWfk/edit?usp=sharing" TargetMode="External"/><Relationship Id="rId7" Type="http://schemas.openxmlformats.org/officeDocument/2006/relationships/image" Target="../media/image8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15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3.png"/><Relationship Id="rId5" Type="http://schemas.openxmlformats.org/officeDocument/2006/relationships/image" Target="../media/image13.gif"/><Relationship Id="rId6" Type="http://schemas.openxmlformats.org/officeDocument/2006/relationships/image" Target="../media/image6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6.gif"/><Relationship Id="rId5" Type="http://schemas.openxmlformats.org/officeDocument/2006/relationships/image" Target="../media/image5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19350" y="1844366"/>
            <a:ext cx="8455800" cy="30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Info Session</a:t>
            </a:r>
            <a:endParaRPr b="1" sz="8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8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-124974" y="1327846"/>
            <a:ext cx="4205400" cy="14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6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EST </a:t>
            </a:r>
            <a:endParaRPr b="1" sz="7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Coach</a:t>
            </a:r>
            <a:endParaRPr b="1" sz="7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oGT</a:t>
            </a:r>
            <a:endParaRPr b="1" sz="7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25.2</a:t>
            </a:r>
            <a:endParaRPr b="1" sz="7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6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t/>
            </a:r>
            <a:endParaRPr sz="7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0" name="Google Shape;60;p14" title="Gero el guapo.jpg"/>
          <p:cNvPicPr preferRelativeResize="0"/>
          <p:nvPr/>
        </p:nvPicPr>
        <p:blipFill rotWithShape="1">
          <a:blip r:embed="rId4">
            <a:alphaModFix/>
          </a:blip>
          <a:srcRect b="22333" l="0" r="0" t="21847"/>
          <a:stretch/>
        </p:blipFill>
        <p:spPr>
          <a:xfrm>
            <a:off x="4469550" y="284100"/>
            <a:ext cx="2721900" cy="27009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3960000" dist="76200">
              <a:srgbClr val="1155CC">
                <a:alpha val="50000"/>
              </a:srgbClr>
            </a:outerShdw>
          </a:effectLst>
        </p:spPr>
      </p:pic>
      <p:sp>
        <p:nvSpPr>
          <p:cNvPr id="61" name="Google Shape;61;p14"/>
          <p:cNvSpPr txBox="1"/>
          <p:nvPr/>
        </p:nvSpPr>
        <p:spPr>
          <a:xfrm>
            <a:off x="3727801" y="3427898"/>
            <a:ext cx="4205400" cy="14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Gerónimo</a:t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Salazar</a:t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2132725" y="-16629"/>
            <a:ext cx="65019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¿Qué es una IS y su importancia?</a:t>
            </a:r>
            <a:endParaRPr b="1" sz="3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1497850" y="1176200"/>
            <a:ext cx="7588800" cy="28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Una Info Session es posiblemente el primer contacto virtual donde los EPs pueden recibir información concreta sobre las oportunidades de AIESEC y es el mejor momento para hacer que apliquen a las oportunidades y obtener retroalimentación de los EPs durante el espacio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descr="a laptop with a black screen and green icons on the bottom (proporcionada por Tenor)"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7625" y="3045700"/>
            <a:ext cx="2870050" cy="193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2132725" y="58100"/>
            <a:ext cx="65019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¿Cómo debo prepararme para mi IS?</a:t>
            </a:r>
            <a:endParaRPr sz="3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193696" y="1693675"/>
            <a:ext cx="23781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1- Conocimiento previo</a:t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3050" y="1984225"/>
            <a:ext cx="2670900" cy="302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3189248" y="1693675"/>
            <a:ext cx="26709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2- Preparación de material</a:t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090100" y="1984225"/>
            <a:ext cx="2830500" cy="302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6440691" y="1693675"/>
            <a:ext cx="23781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3- Rutina y planificación</a:t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6253975" y="1984225"/>
            <a:ext cx="2780100" cy="302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0" y="2102585"/>
            <a:ext cx="2631300" cy="28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" sz="1100">
                <a:solidFill>
                  <a:schemeClr val="dk2"/>
                </a:solidFill>
              </a:rPr>
              <a:t>Entender el programa de GT y su propuesta de valor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" sz="1100">
                <a:solidFill>
                  <a:schemeClr val="dk2"/>
                </a:solidFill>
              </a:rPr>
              <a:t>Entender cuales son las oportunidades que voy a ofrecer en el IS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" sz="1100">
                <a:solidFill>
                  <a:schemeClr val="dk2"/>
                </a:solidFill>
              </a:rPr>
              <a:t>Conocer el background de mis leads para hacer macht con lo que voy a presentar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" sz="1100">
                <a:solidFill>
                  <a:schemeClr val="dk2"/>
                </a:solidFill>
              </a:rPr>
              <a:t>Practica el speech y realiza simulacros</a:t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030259" y="2119656"/>
            <a:ext cx="2780100" cy="28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" sz="1100">
                <a:solidFill>
                  <a:schemeClr val="dk2"/>
                </a:solidFill>
              </a:rPr>
              <a:t>Ya tienes un material que el MC provee para las IS así que adaptalo a tus necesidades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" sz="1100">
                <a:solidFill>
                  <a:schemeClr val="dk2"/>
                </a:solidFill>
              </a:rPr>
              <a:t>Solicita a tus IRs material gráfico e información de procesos legales que sean relevantes para que tus EPs se sientan más en confianza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" sz="1100">
                <a:solidFill>
                  <a:schemeClr val="dk2"/>
                </a:solidFill>
              </a:rPr>
              <a:t>Si el espacio es presencial ten todo bien preparado y obten material como flyers y herramientas como un proyector para ese día importante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6147950" y="2130410"/>
            <a:ext cx="2955000" cy="28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" sz="1100">
                <a:solidFill>
                  <a:schemeClr val="dk2"/>
                </a:solidFill>
              </a:rPr>
              <a:t>Aprovecha tus recursos y tu tiempo gestionando el IS como parte de una rutina de equipo que sea dividida para que de manera rotativa participen todos</a:t>
            </a:r>
            <a:endParaRPr b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b="1" lang="en" sz="1100">
                <a:solidFill>
                  <a:schemeClr val="dk2"/>
                </a:solidFill>
              </a:rPr>
              <a:t>Crea un calendar donde todos los miembros de tu área puedan agendar al espacio semanalmente a tus SUs y sea algo que funcione por si solo </a:t>
            </a:r>
            <a:endParaRPr b="1" sz="1100">
              <a:solidFill>
                <a:schemeClr val="dk2"/>
              </a:solidFill>
            </a:endParaRPr>
          </a:p>
        </p:txBody>
      </p:sp>
      <p:pic>
        <p:nvPicPr>
          <p:cNvPr descr="a cartoon character with a heart on its chest is dancing . (proporcionada por Tenor)"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2725" y="491575"/>
            <a:ext cx="1032925" cy="120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man 's face with a beard (proporcionada por Tenor)" id="84" name="Google Shape;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5950" y="4221950"/>
            <a:ext cx="771940" cy="7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>
            <a:hlinkClick r:id="rId6"/>
          </p:cNvPr>
          <p:cNvSpPr txBox="1"/>
          <p:nvPr/>
        </p:nvSpPr>
        <p:spPr>
          <a:xfrm>
            <a:off x="3169898" y="1103588"/>
            <a:ext cx="26709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rgbClr val="0000FF"/>
                </a:solidFill>
                <a:latin typeface="Montserrat"/>
                <a:ea typeface="Montserrat"/>
                <a:cs typeface="Montserrat"/>
                <a:sym typeface="Montserrat"/>
              </a:rPr>
              <a:t>GT Booklet IS 25.2 clik here!!!</a:t>
            </a:r>
            <a:endParaRPr b="1" sz="1300" u="sng">
              <a:solidFill>
                <a:srgbClr val="000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 u="sng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descr="a dog wearing glasses and a yellow hand is pointing upwards (proporcionada por Tenor)" id="86" name="Google Shape;86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44235" y="3857632"/>
            <a:ext cx="1252375" cy="12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/>
        </p:nvSpPr>
        <p:spPr>
          <a:xfrm>
            <a:off x="2132725" y="-91952"/>
            <a:ext cx="65019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 IS en el proceso de venta</a:t>
            </a:r>
            <a:endParaRPr sz="3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2399425" y="542325"/>
            <a:ext cx="6598500" cy="451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2399425" y="645575"/>
            <a:ext cx="6501900" cy="43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Esta herramienta se da justo tras el primer contacto para poder coordinar con el EP un contacto más allá de mensajes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Por otra parte es el momento perfecto para alinear las expectativas del EP con respecto al programa porque, es muy </a:t>
            </a:r>
            <a:r>
              <a:rPr lang="en">
                <a:solidFill>
                  <a:schemeClr val="dk2"/>
                </a:solidFill>
              </a:rPr>
              <a:t>difícil</a:t>
            </a:r>
            <a:r>
              <a:rPr lang="en">
                <a:solidFill>
                  <a:schemeClr val="dk2"/>
                </a:solidFill>
              </a:rPr>
              <a:t> que alguien que </a:t>
            </a:r>
            <a:r>
              <a:rPr lang="en">
                <a:solidFill>
                  <a:schemeClr val="dk2"/>
                </a:solidFill>
              </a:rPr>
              <a:t>está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dk2"/>
                </a:solidFill>
              </a:rPr>
              <a:t>recién</a:t>
            </a:r>
            <a:r>
              <a:rPr lang="en">
                <a:solidFill>
                  <a:schemeClr val="dk2"/>
                </a:solidFill>
              </a:rPr>
              <a:t> conociendo AIESEC entienda todo lo que la organización ofrece y lo que es realmente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Debes recordar que somos una ONG de jovenes para jovenes así que es muy importante que seas capaz de conectar con los participantes de la sesión siendo bastante natural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Es importante que una vez hayas hablado sobre </a:t>
            </a:r>
            <a:r>
              <a:rPr lang="en">
                <a:solidFill>
                  <a:schemeClr val="dk2"/>
                </a:solidFill>
              </a:rPr>
              <a:t>qué</a:t>
            </a:r>
            <a:r>
              <a:rPr lang="en">
                <a:solidFill>
                  <a:schemeClr val="dk2"/>
                </a:solidFill>
              </a:rPr>
              <a:t> es AIESEC y los beneficios del programa tienes que hacer que empiecen a aplicar y solicitar información sobre si están interesados en el programa y en caso contrario conocer sus motivos de negación para alinearte a sus necesidades.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Bajar toda la información obtenida de los leads durante la info session para analizar en sinergia con B2C o Marketing y alinear estrategias.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descr="a man in a blue jacket is writing on a piece of paper with a da zn logo in the background (proporcionada por Tenor)"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850" y="2124100"/>
            <a:ext cx="2182500" cy="2182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/>
        </p:nvSpPr>
        <p:spPr>
          <a:xfrm>
            <a:off x="332125" y="45642"/>
            <a:ext cx="5143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highlight>
                  <a:srgbClr val="405E78"/>
                </a:highlight>
                <a:latin typeface="Montserrat"/>
                <a:ea typeface="Montserrat"/>
                <a:cs typeface="Montserrat"/>
                <a:sym typeface="Montserrat"/>
              </a:rPr>
              <a:t>Preguntas en el IS</a:t>
            </a:r>
            <a:endParaRPr sz="4000">
              <a:solidFill>
                <a:schemeClr val="lt1"/>
              </a:solidFill>
              <a:highlight>
                <a:srgbClr val="405E78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405E7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134298" y="791425"/>
            <a:ext cx="6088800" cy="430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3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675" lIns="127675" spcFirstLastPara="1" rIns="127675" wrap="square" tIns="127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4"/>
          </a:p>
        </p:txBody>
      </p:sp>
      <p:sp>
        <p:nvSpPr>
          <p:cNvPr id="101" name="Google Shape;101;p18"/>
          <p:cNvSpPr txBox="1"/>
          <p:nvPr/>
        </p:nvSpPr>
        <p:spPr>
          <a:xfrm>
            <a:off x="280788" y="951799"/>
            <a:ext cx="5963400" cy="3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675" lIns="127675" spcFirstLastPara="1" rIns="127675" wrap="square" tIns="12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36">
                <a:solidFill>
                  <a:schemeClr val="dk2"/>
                </a:solidFill>
              </a:rPr>
              <a:t>Te dejaré una pequeña lista de preguntas que tus SUs pueden tener durante el espacio, como consejo puedes realizar un FAQ respondiendo a estas preguntas para que no solo tú sino los miembros de tu equipo estén preparados para ganarse la confianza y responder como campeones:</a:t>
            </a:r>
            <a:endParaRPr b="1" sz="1536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36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36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 sz="1100">
                <a:solidFill>
                  <a:schemeClr val="dk1"/>
                </a:solidFill>
              </a:rPr>
              <a:t>¿Las oportunidades pueden ser remotas?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 sz="1100">
                <a:solidFill>
                  <a:schemeClr val="dk1"/>
                </a:solidFill>
              </a:rPr>
              <a:t>¿Cómo es el proceso de los pagos?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 sz="1100">
                <a:solidFill>
                  <a:schemeClr val="dk1"/>
                </a:solidFill>
              </a:rPr>
              <a:t>¿Se debe pagar para aplicar a las oportunidades?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 sz="1100">
                <a:solidFill>
                  <a:schemeClr val="dk1"/>
                </a:solidFill>
              </a:rPr>
              <a:t>¿Puedo hacer mis pasantías o voluntariados dentro de Argentina?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 sz="1100">
                <a:solidFill>
                  <a:schemeClr val="dk1"/>
                </a:solidFill>
              </a:rPr>
              <a:t>¿Solo con licenciatura puedo optar por una de estas oportunidades?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 sz="1100">
                <a:solidFill>
                  <a:schemeClr val="dk1"/>
                </a:solidFill>
              </a:rPr>
              <a:t>¿Esto es una oportunidad de trabajo?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 sz="1100">
                <a:solidFill>
                  <a:schemeClr val="dk1"/>
                </a:solidFill>
              </a:rPr>
              <a:t>¿Esto es un taller?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 sz="1100">
                <a:solidFill>
                  <a:schemeClr val="dk1"/>
                </a:solidFill>
              </a:rPr>
              <a:t>¿Puedo irme sin pagar un seguro?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 sz="1100">
                <a:solidFill>
                  <a:schemeClr val="dk1"/>
                </a:solidFill>
              </a:rPr>
              <a:t>¿En qué procesos me ayuda AIESEC?  El pago es para mi visa o boleto de avión?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5313" y="-21515"/>
            <a:ext cx="530907" cy="5309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of a mouse wearing a top hat and mustache with the words trust me bro im a doctor below it (proporcionada por Tenor)" id="103" name="Google Shape;10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0525" y="3878213"/>
            <a:ext cx="1191675" cy="119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nguin is holding up a sign that says &quot; believe &quot; (proporcionada por Tenor)" id="104" name="Google Shape;10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7545" y="367995"/>
            <a:ext cx="1636925" cy="163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2031900" y="835489"/>
            <a:ext cx="62235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b="1" lang="en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Ahora te preguntaras…</a:t>
            </a:r>
            <a:endParaRPr b="1" sz="3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720921" y="2087696"/>
            <a:ext cx="62235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b="1" lang="en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¿Qué debería hacer para que mis IS sean de otro nivel?</a:t>
            </a:r>
            <a:endParaRPr b="1" sz="3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descr="a cartoon cat wearing glasses has a question mark above his head (proporcionada por Tenor)"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4475" y="1751314"/>
            <a:ext cx="1756009" cy="164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/>
        </p:nvSpPr>
        <p:spPr>
          <a:xfrm>
            <a:off x="108825" y="103789"/>
            <a:ext cx="62235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b="1" lang="en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Acá te dejo unos tips</a:t>
            </a:r>
            <a:endParaRPr b="1" sz="3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67725" y="724650"/>
            <a:ext cx="6305700" cy="427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6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5800" lIns="155800" spcFirstLastPara="1" rIns="155800" wrap="square" tIns="155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3"/>
          </a:p>
        </p:txBody>
      </p:sp>
      <p:sp>
        <p:nvSpPr>
          <p:cNvPr id="118" name="Google Shape;118;p20"/>
          <p:cNvSpPr txBox="1"/>
          <p:nvPr/>
        </p:nvSpPr>
        <p:spPr>
          <a:xfrm>
            <a:off x="-148500" y="885950"/>
            <a:ext cx="6574800" cy="4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5800" lIns="155800" spcFirstLastPara="1" rIns="155800" wrap="square" tIns="155800">
            <a:noAutofit/>
          </a:bodyPr>
          <a:lstStyle/>
          <a:p>
            <a:pPr indent="-367899" lvl="0" marL="55799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Habla sobre personas a quienes ya enviaste y muestralos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87499" lvl="0" marL="55799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9"/>
              <a:buChar char="-"/>
            </a:pPr>
            <a:r>
              <a:rPr lang="en">
                <a:solidFill>
                  <a:schemeClr val="dk2"/>
                </a:solidFill>
              </a:rPr>
              <a:t>Ten tu camara encendida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87499" lvl="0" marL="55799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9"/>
              <a:buChar char="-"/>
            </a:pPr>
            <a:r>
              <a:rPr lang="en">
                <a:solidFill>
                  <a:schemeClr val="dk2"/>
                </a:solidFill>
              </a:rPr>
              <a:t>Si sufres de nervios o ansiedad no te preocupes porque al igual que tú también son </a:t>
            </a:r>
            <a:r>
              <a:rPr lang="en">
                <a:solidFill>
                  <a:schemeClr val="dk2"/>
                </a:solidFill>
              </a:rPr>
              <a:t>jóvenes</a:t>
            </a:r>
            <a:r>
              <a:rPr lang="en">
                <a:solidFill>
                  <a:schemeClr val="dk2"/>
                </a:solidFill>
              </a:rPr>
              <a:t> y estás aprendiendo algo que solo da la experiencia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87499" lvl="0" marL="55799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9"/>
              <a:buChar char="-"/>
            </a:pPr>
            <a:r>
              <a:rPr lang="en">
                <a:solidFill>
                  <a:schemeClr val="dk2"/>
                </a:solidFill>
              </a:rPr>
              <a:t>Da las sesiones en grupos para que las personas vean que son muchos quienes quieren tomar </a:t>
            </a:r>
            <a:r>
              <a:rPr lang="en">
                <a:solidFill>
                  <a:schemeClr val="dk2"/>
                </a:solidFill>
              </a:rPr>
              <a:t>experiencias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87499" lvl="0" marL="55799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9"/>
              <a:buChar char="-"/>
            </a:pPr>
            <a:r>
              <a:rPr lang="en">
                <a:solidFill>
                  <a:schemeClr val="dk2"/>
                </a:solidFill>
              </a:rPr>
              <a:t>Durante el espacio utiliza ejemplos de casos exitosos en el pasado y nombra a los asistentes para que sepan que estás pendiente de ellos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87499" lvl="0" marL="55799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9"/>
              <a:buChar char="-"/>
            </a:pPr>
            <a:r>
              <a:rPr lang="en">
                <a:solidFill>
                  <a:schemeClr val="dk2"/>
                </a:solidFill>
              </a:rPr>
              <a:t>Al final del espacio </a:t>
            </a:r>
            <a:r>
              <a:rPr lang="en">
                <a:solidFill>
                  <a:schemeClr val="dk2"/>
                </a:solidFill>
              </a:rPr>
              <a:t>déjales</a:t>
            </a:r>
            <a:r>
              <a:rPr lang="en">
                <a:solidFill>
                  <a:schemeClr val="dk2"/>
                </a:solidFill>
              </a:rPr>
              <a:t> como next step que se comuniquen con su manager y les avisen si van a continuar en el proceso o en cuanto tiempo tomarían una oportunidad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descr="a man wearing a blue cape that says aiesec (proporcionada por Tenor)" id="119" name="Google Shape;1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0850" y="103803"/>
            <a:ext cx="1902700" cy="254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of a rabbit wearing a party hat holding a confetti cannon (proporcionada por Tenor)" id="120" name="Google Shape;12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2616" y="2731965"/>
            <a:ext cx="2412900" cy="2040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