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Nunito"/>
      <p:regular r:id="rId22"/>
      <p:bold r:id="rId23"/>
      <p:italic r:id="rId24"/>
      <p:boldItalic r:id="rId25"/>
    </p:embeddedFont>
    <p:embeddedFont>
      <p:font typeface="Montserrat"/>
      <p:regular r:id="rId26"/>
      <p:bold r:id="rId27"/>
      <p:italic r:id="rId28"/>
      <p:boldItalic r:id="rId29"/>
    </p:embeddedFont>
    <p:embeddedFont>
      <p:font typeface="Montserrat Medium"/>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Nunito-regular.fntdata"/><Relationship Id="rId21" Type="http://schemas.openxmlformats.org/officeDocument/2006/relationships/slide" Target="slides/slide16.xml"/><Relationship Id="rId24" Type="http://schemas.openxmlformats.org/officeDocument/2006/relationships/font" Target="fonts/Nunito-italic.fntdata"/><Relationship Id="rId23" Type="http://schemas.openxmlformats.org/officeDocument/2006/relationships/font" Target="fonts/Nuni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regular.fntdata"/><Relationship Id="rId25" Type="http://schemas.openxmlformats.org/officeDocument/2006/relationships/font" Target="fonts/Nunito-boldItalic.fntdata"/><Relationship Id="rId28" Type="http://schemas.openxmlformats.org/officeDocument/2006/relationships/font" Target="fonts/Montserrat-italic.fntdata"/><Relationship Id="rId27" Type="http://schemas.openxmlformats.org/officeDocument/2006/relationships/font" Target="fonts/Montserrat-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Medium-bold.fntdata"/><Relationship Id="rId30" Type="http://schemas.openxmlformats.org/officeDocument/2006/relationships/font" Target="fonts/MontserratMedium-regular.fntdata"/><Relationship Id="rId11" Type="http://schemas.openxmlformats.org/officeDocument/2006/relationships/slide" Target="slides/slide6.xml"/><Relationship Id="rId33" Type="http://schemas.openxmlformats.org/officeDocument/2006/relationships/font" Target="fonts/MontserratMedium-boldItalic.fntdata"/><Relationship Id="rId10" Type="http://schemas.openxmlformats.org/officeDocument/2006/relationships/slide" Target="slides/slide5.xml"/><Relationship Id="rId32" Type="http://schemas.openxmlformats.org/officeDocument/2006/relationships/font" Target="fonts/MontserratMedium-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63bbf733ac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63bbf733ac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78d541fa6f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78d541fa6f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63bbf733ac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63bbf733ac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63dbc07181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63dbc07181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64c737ed3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64c737ed3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63bbf733ac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63bbf733ac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64c737ed3b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64c737ed3b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64c737ed3b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64c737ed3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63bbf733ac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63bbf733ac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63bbf733ac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63bbf733ac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63bbf733ac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63bbf733ac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78d541fa6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78d541fa6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78d541fa6f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78d541fa6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7385e42d9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7385e42d9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7385e42d9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7385e42d9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63bc1dfc1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63bc1dfc1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20.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jpg"/><Relationship Id="rId4" Type="http://schemas.openxmlformats.org/officeDocument/2006/relationships/image" Target="../media/image2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3.jpg"/><Relationship Id="rId4" Type="http://schemas.openxmlformats.org/officeDocument/2006/relationships/image" Target="../media/image7.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g"/><Relationship Id="rId4" Type="http://schemas.openxmlformats.org/officeDocument/2006/relationships/image" Target="../media/image2.gif"/><Relationship Id="rId5" Type="http://schemas.openxmlformats.org/officeDocument/2006/relationships/image" Target="../media/image5.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3.jpg"/><Relationship Id="rId4" Type="http://schemas.openxmlformats.org/officeDocument/2006/relationships/image" Target="../media/image6.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2.jpg"/><Relationship Id="rId4" Type="http://schemas.openxmlformats.org/officeDocument/2006/relationships/image" Target="../media/image3.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7.jpg"/><Relationship Id="rId4" Type="http://schemas.openxmlformats.org/officeDocument/2006/relationships/image" Target="../media/image4.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jpg"/><Relationship Id="rId4" Type="http://schemas.openxmlformats.org/officeDocument/2006/relationships/image" Target="../media/image8.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jpg"/><Relationship Id="rId4" Type="http://schemas.openxmlformats.org/officeDocument/2006/relationships/image" Target="../media/image16.gif"/><Relationship Id="rId5" Type="http://schemas.openxmlformats.org/officeDocument/2006/relationships/image" Target="../media/image21.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jpg"/><Relationship Id="rId4" Type="http://schemas.openxmlformats.org/officeDocument/2006/relationships/image" Target="../media/image10.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jpg"/><Relationship Id="rId4" Type="http://schemas.openxmlformats.org/officeDocument/2006/relationships/image" Target="../media/image18.gif"/><Relationship Id="rId5" Type="http://schemas.openxmlformats.org/officeDocument/2006/relationships/image" Target="../media/image13.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nvSpPr>
        <p:spPr>
          <a:xfrm>
            <a:off x="219350" y="1596875"/>
            <a:ext cx="8455800" cy="3012900"/>
          </a:xfrm>
          <a:prstGeom prst="rect">
            <a:avLst/>
          </a:prstGeom>
          <a:noFill/>
          <a:ln>
            <a:noFill/>
          </a:ln>
        </p:spPr>
        <p:txBody>
          <a:bodyPr anchorCtr="0" anchor="t" bIns="86425" lIns="86425" spcFirstLastPara="1" rIns="86425" wrap="square" tIns="86425">
            <a:noAutofit/>
          </a:bodyPr>
          <a:lstStyle/>
          <a:p>
            <a:pPr indent="0" lvl="0" marL="0" rtl="0" algn="ctr">
              <a:lnSpc>
                <a:spcPct val="70000"/>
              </a:lnSpc>
              <a:spcBef>
                <a:spcPts val="6807"/>
              </a:spcBef>
              <a:spcAft>
                <a:spcPts val="0"/>
              </a:spcAft>
              <a:buClr>
                <a:schemeClr val="dk1"/>
              </a:buClr>
              <a:buSzPts val="1100"/>
              <a:buFont typeface="Arial"/>
              <a:buNone/>
            </a:pPr>
            <a:r>
              <a:rPr b="1" lang="en" sz="7800">
                <a:solidFill>
                  <a:schemeClr val="lt1"/>
                </a:solidFill>
                <a:latin typeface="Montserrat"/>
                <a:ea typeface="Montserrat"/>
                <a:cs typeface="Montserrat"/>
                <a:sym typeface="Montserrat"/>
              </a:rPr>
              <a:t>PROPUESTA DE VALOR GT</a:t>
            </a:r>
            <a:endParaRPr b="1" sz="7800">
              <a:solidFill>
                <a:schemeClr val="lt1"/>
              </a:solidFill>
              <a:latin typeface="Montserrat"/>
              <a:ea typeface="Montserrat"/>
              <a:cs typeface="Montserrat"/>
              <a:sym typeface="Montserrat"/>
            </a:endParaRPr>
          </a:p>
          <a:p>
            <a:pPr indent="0" lvl="0" marL="0" rtl="0" algn="l">
              <a:spcBef>
                <a:spcPts val="6807"/>
              </a:spcBef>
              <a:spcAft>
                <a:spcPts val="0"/>
              </a:spcAft>
              <a:buNone/>
            </a:pPr>
            <a:r>
              <a:t/>
            </a:r>
            <a:endParaRPr sz="7800">
              <a:solidFill>
                <a:schemeClr val="dk2"/>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 name="Shape 58"/>
        <p:cNvGrpSpPr/>
        <p:nvPr/>
      </p:nvGrpSpPr>
      <p:grpSpPr>
        <a:xfrm>
          <a:off x="0" y="0"/>
          <a:ext cx="0" cy="0"/>
          <a:chOff x="0" y="0"/>
          <a:chExt cx="0" cy="0"/>
        </a:xfrm>
      </p:grpSpPr>
      <p:sp>
        <p:nvSpPr>
          <p:cNvPr id="59" name="Google Shape;59;p14"/>
          <p:cNvSpPr txBox="1"/>
          <p:nvPr/>
        </p:nvSpPr>
        <p:spPr>
          <a:xfrm>
            <a:off x="-124974" y="1327846"/>
            <a:ext cx="4205400" cy="1431000"/>
          </a:xfrm>
          <a:prstGeom prst="rect">
            <a:avLst/>
          </a:prstGeom>
          <a:noFill/>
          <a:ln>
            <a:noFill/>
          </a:ln>
        </p:spPr>
        <p:txBody>
          <a:bodyPr anchorCtr="0" anchor="t" bIns="86425" lIns="86425" spcFirstLastPara="1" rIns="86425" wrap="square" tIns="86425">
            <a:noAutofit/>
          </a:bodyPr>
          <a:lstStyle/>
          <a:p>
            <a:pPr indent="0" lvl="0" marL="0" rtl="0" algn="ctr">
              <a:lnSpc>
                <a:spcPct val="6000"/>
              </a:lnSpc>
              <a:spcBef>
                <a:spcPts val="6807"/>
              </a:spcBef>
              <a:spcAft>
                <a:spcPts val="0"/>
              </a:spcAft>
              <a:buClr>
                <a:schemeClr val="dk1"/>
              </a:buClr>
              <a:buSzPts val="1100"/>
              <a:buFont typeface="Arial"/>
              <a:buNone/>
            </a:pPr>
            <a:r>
              <a:rPr b="1" lang="en" sz="7800">
                <a:solidFill>
                  <a:schemeClr val="lt1"/>
                </a:solidFill>
                <a:latin typeface="Montserrat"/>
                <a:ea typeface="Montserrat"/>
                <a:cs typeface="Montserrat"/>
                <a:sym typeface="Montserrat"/>
              </a:rPr>
              <a:t>EST </a:t>
            </a:r>
            <a:endParaRPr b="1" sz="7800">
              <a:solidFill>
                <a:schemeClr val="lt1"/>
              </a:solidFill>
              <a:latin typeface="Montserrat"/>
              <a:ea typeface="Montserrat"/>
              <a:cs typeface="Montserrat"/>
              <a:sym typeface="Montserrat"/>
            </a:endParaRPr>
          </a:p>
          <a:p>
            <a:pPr indent="0" lvl="0" marL="0" rtl="0" algn="ctr">
              <a:lnSpc>
                <a:spcPct val="6000"/>
              </a:lnSpc>
              <a:spcBef>
                <a:spcPts val="6807"/>
              </a:spcBef>
              <a:spcAft>
                <a:spcPts val="0"/>
              </a:spcAft>
              <a:buClr>
                <a:schemeClr val="dk1"/>
              </a:buClr>
              <a:buSzPts val="1100"/>
              <a:buFont typeface="Arial"/>
              <a:buNone/>
            </a:pPr>
            <a:r>
              <a:rPr b="1" lang="en" sz="7800">
                <a:solidFill>
                  <a:schemeClr val="lt1"/>
                </a:solidFill>
                <a:latin typeface="Montserrat"/>
                <a:ea typeface="Montserrat"/>
                <a:cs typeface="Montserrat"/>
                <a:sym typeface="Montserrat"/>
              </a:rPr>
              <a:t>Coach</a:t>
            </a:r>
            <a:endParaRPr b="1" sz="7800">
              <a:solidFill>
                <a:schemeClr val="lt1"/>
              </a:solidFill>
              <a:latin typeface="Montserrat"/>
              <a:ea typeface="Montserrat"/>
              <a:cs typeface="Montserrat"/>
              <a:sym typeface="Montserrat"/>
            </a:endParaRPr>
          </a:p>
          <a:p>
            <a:pPr indent="0" lvl="0" marL="0" rtl="0" algn="ctr">
              <a:lnSpc>
                <a:spcPct val="6000"/>
              </a:lnSpc>
              <a:spcBef>
                <a:spcPts val="6807"/>
              </a:spcBef>
              <a:spcAft>
                <a:spcPts val="0"/>
              </a:spcAft>
              <a:buClr>
                <a:schemeClr val="dk1"/>
              </a:buClr>
              <a:buSzPts val="1100"/>
              <a:buFont typeface="Arial"/>
              <a:buNone/>
            </a:pPr>
            <a:r>
              <a:rPr b="1" lang="en" sz="7800">
                <a:solidFill>
                  <a:schemeClr val="lt1"/>
                </a:solidFill>
                <a:latin typeface="Montserrat"/>
                <a:ea typeface="Montserrat"/>
                <a:cs typeface="Montserrat"/>
                <a:sym typeface="Montserrat"/>
              </a:rPr>
              <a:t>oGX</a:t>
            </a:r>
            <a:endParaRPr b="1" sz="7800">
              <a:solidFill>
                <a:schemeClr val="lt1"/>
              </a:solidFill>
              <a:latin typeface="Montserrat"/>
              <a:ea typeface="Montserrat"/>
              <a:cs typeface="Montserrat"/>
              <a:sym typeface="Montserrat"/>
            </a:endParaRPr>
          </a:p>
          <a:p>
            <a:pPr indent="0" lvl="0" marL="0" rtl="0" algn="ctr">
              <a:lnSpc>
                <a:spcPct val="6000"/>
              </a:lnSpc>
              <a:spcBef>
                <a:spcPts val="6807"/>
              </a:spcBef>
              <a:spcAft>
                <a:spcPts val="0"/>
              </a:spcAft>
              <a:buClr>
                <a:schemeClr val="dk1"/>
              </a:buClr>
              <a:buSzPts val="1100"/>
              <a:buFont typeface="Arial"/>
              <a:buNone/>
            </a:pPr>
            <a:r>
              <a:rPr b="1" lang="en" sz="7800">
                <a:solidFill>
                  <a:schemeClr val="lt1"/>
                </a:solidFill>
                <a:latin typeface="Montserrat"/>
                <a:ea typeface="Montserrat"/>
                <a:cs typeface="Montserrat"/>
                <a:sym typeface="Montserrat"/>
              </a:rPr>
              <a:t>25.2</a:t>
            </a:r>
            <a:endParaRPr b="1" sz="7800">
              <a:solidFill>
                <a:schemeClr val="lt1"/>
              </a:solidFill>
              <a:latin typeface="Montserrat"/>
              <a:ea typeface="Montserrat"/>
              <a:cs typeface="Montserrat"/>
              <a:sym typeface="Montserrat"/>
            </a:endParaRPr>
          </a:p>
          <a:p>
            <a:pPr indent="0" lvl="0" marL="0" rtl="0" algn="l">
              <a:lnSpc>
                <a:spcPct val="6000"/>
              </a:lnSpc>
              <a:spcBef>
                <a:spcPts val="6807"/>
              </a:spcBef>
              <a:spcAft>
                <a:spcPts val="6807"/>
              </a:spcAft>
              <a:buNone/>
            </a:pPr>
            <a:r>
              <a:t/>
            </a:r>
            <a:endParaRPr sz="7800">
              <a:solidFill>
                <a:schemeClr val="dk2"/>
              </a:solidFill>
              <a:latin typeface="Nunito"/>
              <a:ea typeface="Nunito"/>
              <a:cs typeface="Nunito"/>
              <a:sym typeface="Nunito"/>
            </a:endParaRPr>
          </a:p>
        </p:txBody>
      </p:sp>
      <p:pic>
        <p:nvPicPr>
          <p:cNvPr id="60" name="Google Shape;60;p14" title="Gero el guapo.jpg"/>
          <p:cNvPicPr preferRelativeResize="0"/>
          <p:nvPr/>
        </p:nvPicPr>
        <p:blipFill rotWithShape="1">
          <a:blip r:embed="rId4">
            <a:alphaModFix/>
          </a:blip>
          <a:srcRect b="22333" l="0" r="0" t="21847"/>
          <a:stretch/>
        </p:blipFill>
        <p:spPr>
          <a:xfrm>
            <a:off x="4469550" y="284100"/>
            <a:ext cx="2721900" cy="2700900"/>
          </a:xfrm>
          <a:prstGeom prst="ellipse">
            <a:avLst/>
          </a:prstGeom>
          <a:noFill/>
          <a:ln>
            <a:noFill/>
          </a:ln>
          <a:effectLst>
            <a:outerShdw blurRad="57150" rotWithShape="0" algn="bl" dir="3960000" dist="76200">
              <a:srgbClr val="1155CC">
                <a:alpha val="50000"/>
              </a:srgbClr>
            </a:outerShdw>
          </a:effectLst>
        </p:spPr>
      </p:pic>
      <p:sp>
        <p:nvSpPr>
          <p:cNvPr id="61" name="Google Shape;61;p14"/>
          <p:cNvSpPr txBox="1"/>
          <p:nvPr/>
        </p:nvSpPr>
        <p:spPr>
          <a:xfrm>
            <a:off x="3727801" y="3427898"/>
            <a:ext cx="4205400" cy="1431000"/>
          </a:xfrm>
          <a:prstGeom prst="rect">
            <a:avLst/>
          </a:prstGeom>
          <a:noFill/>
          <a:ln>
            <a:noFill/>
          </a:ln>
        </p:spPr>
        <p:txBody>
          <a:bodyPr anchorCtr="0" anchor="t" bIns="86425" lIns="86425" spcFirstLastPara="1" rIns="86425" wrap="square" tIns="86425">
            <a:noAutofit/>
          </a:bodyPr>
          <a:lstStyle/>
          <a:p>
            <a:pPr indent="0" lvl="0" marL="0" rtl="0" algn="ctr">
              <a:lnSpc>
                <a:spcPct val="6000"/>
              </a:lnSpc>
              <a:spcBef>
                <a:spcPts val="0"/>
              </a:spcBef>
              <a:spcAft>
                <a:spcPts val="0"/>
              </a:spcAft>
              <a:buNone/>
            </a:pPr>
            <a:r>
              <a:rPr b="1" lang="en" sz="4300">
                <a:solidFill>
                  <a:schemeClr val="lt1"/>
                </a:solidFill>
                <a:latin typeface="Montserrat"/>
                <a:ea typeface="Montserrat"/>
                <a:cs typeface="Montserrat"/>
                <a:sym typeface="Montserrat"/>
              </a:rPr>
              <a:t>Gerónimo</a:t>
            </a:r>
            <a:endParaRPr b="1" sz="4300">
              <a:solidFill>
                <a:schemeClr val="lt1"/>
              </a:solidFill>
              <a:latin typeface="Montserrat"/>
              <a:ea typeface="Montserrat"/>
              <a:cs typeface="Montserrat"/>
              <a:sym typeface="Montserrat"/>
            </a:endParaRPr>
          </a:p>
          <a:p>
            <a:pPr indent="0" lvl="0" marL="0" rtl="0" algn="ctr">
              <a:lnSpc>
                <a:spcPct val="6000"/>
              </a:lnSpc>
              <a:spcBef>
                <a:spcPts val="0"/>
              </a:spcBef>
              <a:spcAft>
                <a:spcPts val="0"/>
              </a:spcAft>
              <a:buNone/>
            </a:pPr>
            <a:r>
              <a:t/>
            </a:r>
            <a:endParaRPr b="1" sz="4300">
              <a:solidFill>
                <a:schemeClr val="lt1"/>
              </a:solidFill>
              <a:latin typeface="Montserrat"/>
              <a:ea typeface="Montserrat"/>
              <a:cs typeface="Montserrat"/>
              <a:sym typeface="Montserrat"/>
            </a:endParaRPr>
          </a:p>
          <a:p>
            <a:pPr indent="0" lvl="0" marL="0" rtl="0" algn="ctr">
              <a:lnSpc>
                <a:spcPct val="6000"/>
              </a:lnSpc>
              <a:spcBef>
                <a:spcPts val="0"/>
              </a:spcBef>
              <a:spcAft>
                <a:spcPts val="0"/>
              </a:spcAft>
              <a:buNone/>
            </a:pPr>
            <a:r>
              <a:t/>
            </a:r>
            <a:endParaRPr b="1" sz="4300">
              <a:solidFill>
                <a:schemeClr val="lt1"/>
              </a:solidFill>
              <a:latin typeface="Montserrat"/>
              <a:ea typeface="Montserrat"/>
              <a:cs typeface="Montserrat"/>
              <a:sym typeface="Montserrat"/>
            </a:endParaRPr>
          </a:p>
          <a:p>
            <a:pPr indent="0" lvl="0" marL="0" rtl="0" algn="ctr">
              <a:lnSpc>
                <a:spcPct val="6000"/>
              </a:lnSpc>
              <a:spcBef>
                <a:spcPts val="0"/>
              </a:spcBef>
              <a:spcAft>
                <a:spcPts val="0"/>
              </a:spcAft>
              <a:buNone/>
            </a:pPr>
            <a:r>
              <a:t/>
            </a:r>
            <a:endParaRPr b="1" sz="4300">
              <a:solidFill>
                <a:schemeClr val="lt1"/>
              </a:solidFill>
              <a:latin typeface="Montserrat"/>
              <a:ea typeface="Montserrat"/>
              <a:cs typeface="Montserrat"/>
              <a:sym typeface="Montserrat"/>
            </a:endParaRPr>
          </a:p>
          <a:p>
            <a:pPr indent="0" lvl="0" marL="0" rtl="0" algn="ctr">
              <a:lnSpc>
                <a:spcPct val="6000"/>
              </a:lnSpc>
              <a:spcBef>
                <a:spcPts val="0"/>
              </a:spcBef>
              <a:spcAft>
                <a:spcPts val="0"/>
              </a:spcAft>
              <a:buNone/>
            </a:pPr>
            <a:r>
              <a:t/>
            </a:r>
            <a:endParaRPr b="1" sz="4300">
              <a:solidFill>
                <a:schemeClr val="lt1"/>
              </a:solidFill>
              <a:latin typeface="Montserrat"/>
              <a:ea typeface="Montserrat"/>
              <a:cs typeface="Montserrat"/>
              <a:sym typeface="Montserrat"/>
            </a:endParaRPr>
          </a:p>
          <a:p>
            <a:pPr indent="0" lvl="0" marL="0" rtl="0" algn="ctr">
              <a:lnSpc>
                <a:spcPct val="6000"/>
              </a:lnSpc>
              <a:spcBef>
                <a:spcPts val="0"/>
              </a:spcBef>
              <a:spcAft>
                <a:spcPts val="0"/>
              </a:spcAft>
              <a:buNone/>
            </a:pPr>
            <a:r>
              <a:t/>
            </a:r>
            <a:endParaRPr b="1" sz="4300">
              <a:solidFill>
                <a:schemeClr val="lt1"/>
              </a:solidFill>
              <a:latin typeface="Montserrat"/>
              <a:ea typeface="Montserrat"/>
              <a:cs typeface="Montserrat"/>
              <a:sym typeface="Montserrat"/>
            </a:endParaRPr>
          </a:p>
          <a:p>
            <a:pPr indent="0" lvl="0" marL="0" rtl="0" algn="ctr">
              <a:lnSpc>
                <a:spcPct val="6000"/>
              </a:lnSpc>
              <a:spcBef>
                <a:spcPts val="0"/>
              </a:spcBef>
              <a:spcAft>
                <a:spcPts val="0"/>
              </a:spcAft>
              <a:buNone/>
            </a:pPr>
            <a:r>
              <a:t/>
            </a:r>
            <a:endParaRPr b="1" sz="4300">
              <a:solidFill>
                <a:schemeClr val="lt1"/>
              </a:solidFill>
              <a:latin typeface="Montserrat"/>
              <a:ea typeface="Montserrat"/>
              <a:cs typeface="Montserrat"/>
              <a:sym typeface="Montserrat"/>
            </a:endParaRPr>
          </a:p>
          <a:p>
            <a:pPr indent="0" lvl="0" marL="0" rtl="0" algn="ctr">
              <a:lnSpc>
                <a:spcPct val="6000"/>
              </a:lnSpc>
              <a:spcBef>
                <a:spcPts val="0"/>
              </a:spcBef>
              <a:spcAft>
                <a:spcPts val="0"/>
              </a:spcAft>
              <a:buNone/>
            </a:pPr>
            <a:r>
              <a:t/>
            </a:r>
            <a:endParaRPr b="1" sz="4300">
              <a:solidFill>
                <a:schemeClr val="lt1"/>
              </a:solidFill>
              <a:latin typeface="Montserrat"/>
              <a:ea typeface="Montserrat"/>
              <a:cs typeface="Montserrat"/>
              <a:sym typeface="Montserrat"/>
            </a:endParaRPr>
          </a:p>
          <a:p>
            <a:pPr indent="0" lvl="0" marL="0" rtl="0" algn="ctr">
              <a:lnSpc>
                <a:spcPct val="6000"/>
              </a:lnSpc>
              <a:spcBef>
                <a:spcPts val="0"/>
              </a:spcBef>
              <a:spcAft>
                <a:spcPts val="0"/>
              </a:spcAft>
              <a:buNone/>
            </a:pPr>
            <a:r>
              <a:t/>
            </a:r>
            <a:endParaRPr b="1" sz="4300">
              <a:solidFill>
                <a:schemeClr val="lt1"/>
              </a:solidFill>
              <a:latin typeface="Montserrat"/>
              <a:ea typeface="Montserrat"/>
              <a:cs typeface="Montserrat"/>
              <a:sym typeface="Montserrat"/>
            </a:endParaRPr>
          </a:p>
          <a:p>
            <a:pPr indent="0" lvl="0" marL="0" rtl="0" algn="ctr">
              <a:lnSpc>
                <a:spcPct val="6000"/>
              </a:lnSpc>
              <a:spcBef>
                <a:spcPts val="0"/>
              </a:spcBef>
              <a:spcAft>
                <a:spcPts val="0"/>
              </a:spcAft>
              <a:buNone/>
            </a:pPr>
            <a:r>
              <a:t/>
            </a:r>
            <a:endParaRPr b="1" sz="4300">
              <a:solidFill>
                <a:schemeClr val="lt1"/>
              </a:solidFill>
              <a:latin typeface="Montserrat"/>
              <a:ea typeface="Montserrat"/>
              <a:cs typeface="Montserrat"/>
              <a:sym typeface="Montserrat"/>
            </a:endParaRPr>
          </a:p>
          <a:p>
            <a:pPr indent="0" lvl="0" marL="0" rtl="0" algn="ctr">
              <a:lnSpc>
                <a:spcPct val="6000"/>
              </a:lnSpc>
              <a:spcBef>
                <a:spcPts val="0"/>
              </a:spcBef>
              <a:spcAft>
                <a:spcPts val="0"/>
              </a:spcAft>
              <a:buNone/>
            </a:pPr>
            <a:r>
              <a:t/>
            </a:r>
            <a:endParaRPr b="1" sz="4300">
              <a:solidFill>
                <a:schemeClr val="lt1"/>
              </a:solidFill>
              <a:latin typeface="Montserrat"/>
              <a:ea typeface="Montserrat"/>
              <a:cs typeface="Montserrat"/>
              <a:sym typeface="Montserrat"/>
            </a:endParaRPr>
          </a:p>
          <a:p>
            <a:pPr indent="0" lvl="0" marL="0" rtl="0" algn="ctr">
              <a:lnSpc>
                <a:spcPct val="6000"/>
              </a:lnSpc>
              <a:spcBef>
                <a:spcPts val="0"/>
              </a:spcBef>
              <a:spcAft>
                <a:spcPts val="0"/>
              </a:spcAft>
              <a:buNone/>
            </a:pPr>
            <a:r>
              <a:t/>
            </a:r>
            <a:endParaRPr b="1" sz="4300">
              <a:solidFill>
                <a:schemeClr val="lt1"/>
              </a:solidFill>
              <a:latin typeface="Montserrat"/>
              <a:ea typeface="Montserrat"/>
              <a:cs typeface="Montserrat"/>
              <a:sym typeface="Montserrat"/>
            </a:endParaRPr>
          </a:p>
          <a:p>
            <a:pPr indent="0" lvl="0" marL="0" rtl="0" algn="ctr">
              <a:lnSpc>
                <a:spcPct val="6000"/>
              </a:lnSpc>
              <a:spcBef>
                <a:spcPts val="0"/>
              </a:spcBef>
              <a:spcAft>
                <a:spcPts val="0"/>
              </a:spcAft>
              <a:buNone/>
            </a:pPr>
            <a:r>
              <a:rPr b="1" lang="en" sz="4300">
                <a:solidFill>
                  <a:schemeClr val="lt1"/>
                </a:solidFill>
                <a:latin typeface="Montserrat"/>
                <a:ea typeface="Montserrat"/>
                <a:cs typeface="Montserrat"/>
                <a:sym typeface="Montserrat"/>
              </a:rPr>
              <a:t>Salazar</a:t>
            </a:r>
            <a:endParaRPr b="1" sz="4300">
              <a:solidFill>
                <a:schemeClr val="lt1"/>
              </a:solidFill>
              <a:latin typeface="Montserrat"/>
              <a:ea typeface="Montserrat"/>
              <a:cs typeface="Montserrat"/>
              <a:sym typeface="Montserrat"/>
            </a:endParaRPr>
          </a:p>
          <a:p>
            <a:pPr indent="0" lvl="0" marL="0" rtl="0" algn="ctr">
              <a:lnSpc>
                <a:spcPct val="6000"/>
              </a:lnSpc>
              <a:spcBef>
                <a:spcPts val="0"/>
              </a:spcBef>
              <a:spcAft>
                <a:spcPts val="0"/>
              </a:spcAft>
              <a:buNone/>
            </a:pPr>
            <a:r>
              <a:t/>
            </a:r>
            <a:endParaRPr b="1" sz="4300">
              <a:solidFill>
                <a:schemeClr val="lt1"/>
              </a:solidFill>
              <a:latin typeface="Montserrat"/>
              <a:ea typeface="Montserrat"/>
              <a:cs typeface="Montserrat"/>
              <a:sym typeface="Montserrat"/>
            </a:endParaRPr>
          </a:p>
          <a:p>
            <a:pPr indent="0" lvl="0" marL="0" rtl="0" algn="ctr">
              <a:lnSpc>
                <a:spcPct val="6000"/>
              </a:lnSpc>
              <a:spcBef>
                <a:spcPts val="0"/>
              </a:spcBef>
              <a:spcAft>
                <a:spcPts val="0"/>
              </a:spcAft>
              <a:buNone/>
            </a:pPr>
            <a:r>
              <a:t/>
            </a:r>
            <a:endParaRPr b="1" sz="4300">
              <a:solidFill>
                <a:schemeClr val="lt1"/>
              </a:solidFill>
              <a:latin typeface="Montserrat"/>
              <a:ea typeface="Montserrat"/>
              <a:cs typeface="Montserrat"/>
              <a:sym typeface="Montserrat"/>
            </a:endParaRPr>
          </a:p>
          <a:p>
            <a:pPr indent="0" lvl="0" marL="0" rtl="0" algn="ctr">
              <a:lnSpc>
                <a:spcPct val="6000"/>
              </a:lnSpc>
              <a:spcBef>
                <a:spcPts val="0"/>
              </a:spcBef>
              <a:spcAft>
                <a:spcPts val="0"/>
              </a:spcAft>
              <a:buNone/>
            </a:pPr>
            <a:r>
              <a:t/>
            </a:r>
            <a:endParaRPr sz="4300">
              <a:solidFill>
                <a:schemeClr val="dk2"/>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 name="Shape 65"/>
        <p:cNvGrpSpPr/>
        <p:nvPr/>
      </p:nvGrpSpPr>
      <p:grpSpPr>
        <a:xfrm>
          <a:off x="0" y="0"/>
          <a:ext cx="0" cy="0"/>
          <a:chOff x="0" y="0"/>
          <a:chExt cx="0" cy="0"/>
        </a:xfrm>
      </p:grpSpPr>
      <p:sp>
        <p:nvSpPr>
          <p:cNvPr id="66" name="Google Shape;66;p15"/>
          <p:cNvSpPr txBox="1"/>
          <p:nvPr/>
        </p:nvSpPr>
        <p:spPr>
          <a:xfrm>
            <a:off x="2132725" y="-16629"/>
            <a:ext cx="6501900" cy="1301400"/>
          </a:xfrm>
          <a:prstGeom prst="rect">
            <a:avLst/>
          </a:prstGeom>
          <a:noFill/>
          <a:ln>
            <a:noFill/>
          </a:ln>
        </p:spPr>
        <p:txBody>
          <a:bodyPr anchorCtr="0" anchor="t" bIns="86425" lIns="86425" spcFirstLastPara="1" rIns="86425" wrap="square" tIns="86425">
            <a:noAutofit/>
          </a:bodyPr>
          <a:lstStyle/>
          <a:p>
            <a:pPr indent="0" lvl="0" marL="0" rtl="0" algn="ctr">
              <a:lnSpc>
                <a:spcPct val="100000"/>
              </a:lnSpc>
              <a:spcBef>
                <a:spcPts val="6807"/>
              </a:spcBef>
              <a:spcAft>
                <a:spcPts val="0"/>
              </a:spcAft>
              <a:buNone/>
            </a:pPr>
            <a:r>
              <a:rPr lang="en" sz="3200">
                <a:solidFill>
                  <a:schemeClr val="lt1"/>
                </a:solidFill>
                <a:latin typeface="Montserrat Medium"/>
                <a:ea typeface="Montserrat Medium"/>
                <a:cs typeface="Montserrat Medium"/>
                <a:sym typeface="Montserrat Medium"/>
              </a:rPr>
              <a:t>¿Qué son los programas Global talent y Global teacher? </a:t>
            </a:r>
            <a:endParaRPr sz="3200">
              <a:solidFill>
                <a:schemeClr val="lt1"/>
              </a:solidFill>
              <a:latin typeface="Montserrat Medium"/>
              <a:ea typeface="Montserrat Medium"/>
              <a:cs typeface="Montserrat Medium"/>
              <a:sym typeface="Montserrat Medium"/>
            </a:endParaRPr>
          </a:p>
          <a:p>
            <a:pPr indent="0" lvl="0" marL="0" rtl="0" algn="ctr">
              <a:lnSpc>
                <a:spcPct val="100000"/>
              </a:lnSpc>
              <a:spcBef>
                <a:spcPts val="6807"/>
              </a:spcBef>
              <a:spcAft>
                <a:spcPts val="0"/>
              </a:spcAft>
              <a:buNone/>
            </a:pPr>
            <a:r>
              <a:t/>
            </a:r>
            <a:endParaRPr sz="3200">
              <a:solidFill>
                <a:schemeClr val="dk2"/>
              </a:solidFill>
              <a:latin typeface="Nunito"/>
              <a:ea typeface="Nunito"/>
              <a:cs typeface="Nunito"/>
              <a:sym typeface="Nunito"/>
            </a:endParaRPr>
          </a:p>
        </p:txBody>
      </p:sp>
      <p:sp>
        <p:nvSpPr>
          <p:cNvPr id="67" name="Google Shape;67;p15"/>
          <p:cNvSpPr txBox="1"/>
          <p:nvPr/>
        </p:nvSpPr>
        <p:spPr>
          <a:xfrm>
            <a:off x="774375" y="1724975"/>
            <a:ext cx="7717800" cy="2883300"/>
          </a:xfrm>
          <a:prstGeom prst="rect">
            <a:avLst/>
          </a:prstGeom>
          <a:noFill/>
          <a:ln>
            <a:noFill/>
          </a:ln>
        </p:spPr>
        <p:txBody>
          <a:bodyPr anchorCtr="0" anchor="t" bIns="86425" lIns="86425" spcFirstLastPara="1" rIns="86425" wrap="square" tIns="86425">
            <a:noAutofit/>
          </a:bodyPr>
          <a:lstStyle/>
          <a:p>
            <a:pPr indent="0" lvl="0" marL="0" rtl="0" algn="ctr">
              <a:lnSpc>
                <a:spcPct val="115000"/>
              </a:lnSpc>
              <a:spcBef>
                <a:spcPts val="1200"/>
              </a:spcBef>
              <a:spcAft>
                <a:spcPts val="0"/>
              </a:spcAft>
              <a:buClr>
                <a:schemeClr val="dk1"/>
              </a:buClr>
              <a:buSzPts val="1100"/>
              <a:buFont typeface="Arial"/>
              <a:buNone/>
            </a:pPr>
            <a:r>
              <a:rPr b="1" lang="en" sz="2400">
                <a:solidFill>
                  <a:schemeClr val="lt1"/>
                </a:solidFill>
                <a:latin typeface="Calibri"/>
                <a:ea typeface="Calibri"/>
                <a:cs typeface="Calibri"/>
                <a:sym typeface="Calibri"/>
              </a:rPr>
              <a:t>GT es el programa de intercambio profesional </a:t>
            </a:r>
            <a:r>
              <a:rPr lang="en" sz="2400">
                <a:solidFill>
                  <a:schemeClr val="lt1"/>
                </a:solidFill>
                <a:latin typeface="Calibri"/>
                <a:ea typeface="Calibri"/>
                <a:cs typeface="Calibri"/>
                <a:sym typeface="Calibri"/>
              </a:rPr>
              <a:t>que conecta personas con oportunidades laborales y pasantías en el exterior para impulsar su desarrollo profesional, personal y multicultural.</a:t>
            </a:r>
            <a:endParaRPr sz="2400">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sz="2400">
              <a:solidFill>
                <a:schemeClr val="dk2"/>
              </a:solidFill>
              <a:latin typeface="Nunito"/>
              <a:ea typeface="Nunito"/>
              <a:cs typeface="Nunito"/>
              <a:sym typeface="Nunito"/>
            </a:endParaRPr>
          </a:p>
        </p:txBody>
      </p:sp>
      <p:pic>
        <p:nvPicPr>
          <p:cNvPr descr="a green and blue globe shows the middle east (proporcionada por Tenor)" id="68" name="Google Shape;68;p15"/>
          <p:cNvPicPr preferRelativeResize="0"/>
          <p:nvPr/>
        </p:nvPicPr>
        <p:blipFill>
          <a:blip r:embed="rId4">
            <a:alphaModFix/>
          </a:blip>
          <a:stretch>
            <a:fillRect/>
          </a:stretch>
        </p:blipFill>
        <p:spPr>
          <a:xfrm>
            <a:off x="5805025" y="2894423"/>
            <a:ext cx="2195275" cy="21952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2" name="Shape 72"/>
        <p:cNvGrpSpPr/>
        <p:nvPr/>
      </p:nvGrpSpPr>
      <p:grpSpPr>
        <a:xfrm>
          <a:off x="0" y="0"/>
          <a:ext cx="0" cy="0"/>
          <a:chOff x="0" y="0"/>
          <a:chExt cx="0" cy="0"/>
        </a:xfrm>
      </p:grpSpPr>
      <p:sp>
        <p:nvSpPr>
          <p:cNvPr id="73" name="Google Shape;73;p16"/>
          <p:cNvSpPr txBox="1"/>
          <p:nvPr/>
        </p:nvSpPr>
        <p:spPr>
          <a:xfrm>
            <a:off x="2132725" y="58100"/>
            <a:ext cx="6501900" cy="1441800"/>
          </a:xfrm>
          <a:prstGeom prst="rect">
            <a:avLst/>
          </a:prstGeom>
          <a:noFill/>
          <a:ln>
            <a:noFill/>
          </a:ln>
        </p:spPr>
        <p:txBody>
          <a:bodyPr anchorCtr="0" anchor="t" bIns="86425" lIns="86425" spcFirstLastPara="1" rIns="86425" wrap="square" tIns="86425">
            <a:noAutofit/>
          </a:bodyPr>
          <a:lstStyle/>
          <a:p>
            <a:pPr indent="0" lvl="0" marL="0" rtl="0" algn="ctr">
              <a:lnSpc>
                <a:spcPct val="70000"/>
              </a:lnSpc>
              <a:spcBef>
                <a:spcPts val="6807"/>
              </a:spcBef>
              <a:spcAft>
                <a:spcPts val="0"/>
              </a:spcAft>
              <a:buNone/>
            </a:pPr>
            <a:r>
              <a:rPr lang="en" sz="3200">
                <a:solidFill>
                  <a:schemeClr val="lt1"/>
                </a:solidFill>
                <a:latin typeface="Montserrat Medium"/>
                <a:ea typeface="Montserrat Medium"/>
                <a:cs typeface="Montserrat Medium"/>
                <a:sym typeface="Montserrat Medium"/>
              </a:rPr>
              <a:t>¿Por qué son importantes los programas Global talent y Global teacher? </a:t>
            </a:r>
            <a:endParaRPr sz="3200">
              <a:solidFill>
                <a:schemeClr val="lt1"/>
              </a:solidFill>
              <a:latin typeface="Montserrat Medium"/>
              <a:ea typeface="Montserrat Medium"/>
              <a:cs typeface="Montserrat Medium"/>
              <a:sym typeface="Montserrat Medium"/>
            </a:endParaRPr>
          </a:p>
          <a:p>
            <a:pPr indent="0" lvl="0" marL="0" rtl="0" algn="ctr">
              <a:spcBef>
                <a:spcPts val="6807"/>
              </a:spcBef>
              <a:spcAft>
                <a:spcPts val="0"/>
              </a:spcAft>
              <a:buNone/>
            </a:pPr>
            <a:r>
              <a:t/>
            </a:r>
            <a:endParaRPr sz="3200">
              <a:solidFill>
                <a:schemeClr val="dk2"/>
              </a:solidFill>
              <a:latin typeface="Nunito"/>
              <a:ea typeface="Nunito"/>
              <a:cs typeface="Nunito"/>
              <a:sym typeface="Nunito"/>
            </a:endParaRPr>
          </a:p>
        </p:txBody>
      </p:sp>
      <p:sp>
        <p:nvSpPr>
          <p:cNvPr id="74" name="Google Shape;74;p16"/>
          <p:cNvSpPr txBox="1"/>
          <p:nvPr/>
        </p:nvSpPr>
        <p:spPr>
          <a:xfrm>
            <a:off x="193696" y="1693675"/>
            <a:ext cx="2378100" cy="232200"/>
          </a:xfrm>
          <a:prstGeom prst="rect">
            <a:avLst/>
          </a:prstGeom>
          <a:noFill/>
          <a:ln>
            <a:noFill/>
          </a:ln>
        </p:spPr>
        <p:txBody>
          <a:bodyPr anchorCtr="0" anchor="t" bIns="86425" lIns="86425" spcFirstLastPara="1" rIns="86425" wrap="square" tIns="86425">
            <a:noAutofit/>
          </a:bodyPr>
          <a:lstStyle/>
          <a:p>
            <a:pPr indent="0" lvl="0" marL="0" rtl="0" algn="ctr">
              <a:lnSpc>
                <a:spcPct val="90000"/>
              </a:lnSpc>
              <a:spcBef>
                <a:spcPts val="0"/>
              </a:spcBef>
              <a:spcAft>
                <a:spcPts val="0"/>
              </a:spcAft>
              <a:buNone/>
            </a:pPr>
            <a:r>
              <a:rPr b="1" lang="en" sz="1300">
                <a:solidFill>
                  <a:schemeClr val="lt1"/>
                </a:solidFill>
                <a:latin typeface="Montserrat"/>
                <a:ea typeface="Montserrat"/>
                <a:cs typeface="Montserrat"/>
                <a:sym typeface="Montserrat"/>
              </a:rPr>
              <a:t>Crecimiento profesional</a:t>
            </a:r>
            <a:endParaRPr b="1" sz="1300">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sz="1300">
              <a:solidFill>
                <a:schemeClr val="dk2"/>
              </a:solidFill>
              <a:latin typeface="Nunito"/>
              <a:ea typeface="Nunito"/>
              <a:cs typeface="Nunito"/>
              <a:sym typeface="Nunito"/>
            </a:endParaRPr>
          </a:p>
        </p:txBody>
      </p:sp>
      <p:sp>
        <p:nvSpPr>
          <p:cNvPr id="75" name="Google Shape;75;p16"/>
          <p:cNvSpPr/>
          <p:nvPr/>
        </p:nvSpPr>
        <p:spPr>
          <a:xfrm>
            <a:off x="43050" y="1984225"/>
            <a:ext cx="2670900" cy="30237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 name="Google Shape;76;p16"/>
          <p:cNvSpPr txBox="1"/>
          <p:nvPr/>
        </p:nvSpPr>
        <p:spPr>
          <a:xfrm>
            <a:off x="3318387" y="1693675"/>
            <a:ext cx="2378100" cy="232200"/>
          </a:xfrm>
          <a:prstGeom prst="rect">
            <a:avLst/>
          </a:prstGeom>
          <a:noFill/>
          <a:ln>
            <a:noFill/>
          </a:ln>
        </p:spPr>
        <p:txBody>
          <a:bodyPr anchorCtr="0" anchor="t" bIns="86425" lIns="86425" spcFirstLastPara="1" rIns="86425" wrap="square" tIns="86425">
            <a:noAutofit/>
          </a:bodyPr>
          <a:lstStyle/>
          <a:p>
            <a:pPr indent="0" lvl="0" marL="0" rtl="0" algn="ctr">
              <a:lnSpc>
                <a:spcPct val="90000"/>
              </a:lnSpc>
              <a:spcBef>
                <a:spcPts val="0"/>
              </a:spcBef>
              <a:spcAft>
                <a:spcPts val="0"/>
              </a:spcAft>
              <a:buNone/>
            </a:pPr>
            <a:r>
              <a:rPr b="1" lang="en" sz="1300">
                <a:solidFill>
                  <a:schemeClr val="lt1"/>
                </a:solidFill>
                <a:latin typeface="Montserrat"/>
                <a:ea typeface="Montserrat"/>
                <a:cs typeface="Montserrat"/>
                <a:sym typeface="Montserrat"/>
              </a:rPr>
              <a:t>Experiencia multicultural</a:t>
            </a:r>
            <a:endParaRPr b="1" sz="1300">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sz="1300">
              <a:solidFill>
                <a:schemeClr val="dk2"/>
              </a:solidFill>
              <a:latin typeface="Nunito"/>
              <a:ea typeface="Nunito"/>
              <a:cs typeface="Nunito"/>
              <a:sym typeface="Nunito"/>
            </a:endParaRPr>
          </a:p>
        </p:txBody>
      </p:sp>
      <p:sp>
        <p:nvSpPr>
          <p:cNvPr id="77" name="Google Shape;77;p16"/>
          <p:cNvSpPr/>
          <p:nvPr/>
        </p:nvSpPr>
        <p:spPr>
          <a:xfrm>
            <a:off x="3090100" y="1984225"/>
            <a:ext cx="2830500" cy="30237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 name="Google Shape;78;p16"/>
          <p:cNvSpPr txBox="1"/>
          <p:nvPr/>
        </p:nvSpPr>
        <p:spPr>
          <a:xfrm>
            <a:off x="6440691" y="1693675"/>
            <a:ext cx="2378100" cy="232200"/>
          </a:xfrm>
          <a:prstGeom prst="rect">
            <a:avLst/>
          </a:prstGeom>
          <a:noFill/>
          <a:ln>
            <a:noFill/>
          </a:ln>
        </p:spPr>
        <p:txBody>
          <a:bodyPr anchorCtr="0" anchor="t" bIns="86425" lIns="86425" spcFirstLastPara="1" rIns="86425" wrap="square" tIns="86425">
            <a:noAutofit/>
          </a:bodyPr>
          <a:lstStyle/>
          <a:p>
            <a:pPr indent="0" lvl="0" marL="0" rtl="0" algn="ctr">
              <a:lnSpc>
                <a:spcPct val="90000"/>
              </a:lnSpc>
              <a:spcBef>
                <a:spcPts val="0"/>
              </a:spcBef>
              <a:spcAft>
                <a:spcPts val="0"/>
              </a:spcAft>
              <a:buNone/>
            </a:pPr>
            <a:r>
              <a:rPr b="1" lang="en" sz="1300">
                <a:solidFill>
                  <a:schemeClr val="lt1"/>
                </a:solidFill>
                <a:latin typeface="Montserrat"/>
                <a:ea typeface="Montserrat"/>
                <a:cs typeface="Montserrat"/>
                <a:sym typeface="Montserrat"/>
              </a:rPr>
              <a:t>Crecimiento personal</a:t>
            </a:r>
            <a:endParaRPr b="1" sz="1300">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b="1" sz="1300">
              <a:solidFill>
                <a:schemeClr val="dk2"/>
              </a:solidFill>
              <a:latin typeface="Nunito"/>
              <a:ea typeface="Nunito"/>
              <a:cs typeface="Nunito"/>
              <a:sym typeface="Nunito"/>
            </a:endParaRPr>
          </a:p>
        </p:txBody>
      </p:sp>
      <p:sp>
        <p:nvSpPr>
          <p:cNvPr id="79" name="Google Shape;79;p16"/>
          <p:cNvSpPr/>
          <p:nvPr/>
        </p:nvSpPr>
        <p:spPr>
          <a:xfrm>
            <a:off x="6253975" y="1984225"/>
            <a:ext cx="2780100" cy="30237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 name="Google Shape;80;p16"/>
          <p:cNvSpPr txBox="1"/>
          <p:nvPr/>
        </p:nvSpPr>
        <p:spPr>
          <a:xfrm>
            <a:off x="0" y="2102585"/>
            <a:ext cx="2631300" cy="28086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2"/>
              </a:buClr>
              <a:buSzPts val="1100"/>
              <a:buChar char="●"/>
            </a:pPr>
            <a:r>
              <a:rPr b="1" lang="en" sz="1100">
                <a:solidFill>
                  <a:schemeClr val="dk2"/>
                </a:solidFill>
              </a:rPr>
              <a:t>Experiencia en una empresa reconocida internacionalmente</a:t>
            </a:r>
            <a:endParaRPr b="1" sz="1100">
              <a:solidFill>
                <a:schemeClr val="dk2"/>
              </a:solidFill>
            </a:endParaRPr>
          </a:p>
          <a:p>
            <a:pPr indent="0" lvl="0" marL="0" rtl="0" algn="l">
              <a:spcBef>
                <a:spcPts val="0"/>
              </a:spcBef>
              <a:spcAft>
                <a:spcPts val="0"/>
              </a:spcAft>
              <a:buNone/>
            </a:pPr>
            <a:r>
              <a:t/>
            </a:r>
            <a:endParaRPr b="1" sz="1100">
              <a:solidFill>
                <a:schemeClr val="dk2"/>
              </a:solidFill>
            </a:endParaRPr>
          </a:p>
          <a:p>
            <a:pPr indent="-298450" lvl="0" marL="457200" rtl="0" algn="l">
              <a:spcBef>
                <a:spcPts val="0"/>
              </a:spcBef>
              <a:spcAft>
                <a:spcPts val="0"/>
              </a:spcAft>
              <a:buClr>
                <a:schemeClr val="dk2"/>
              </a:buClr>
              <a:buSzPts val="1100"/>
              <a:buChar char="●"/>
            </a:pPr>
            <a:r>
              <a:rPr b="1" lang="en" sz="1100">
                <a:solidFill>
                  <a:schemeClr val="dk2"/>
                </a:solidFill>
              </a:rPr>
              <a:t>Networking internacional y oportunidad global</a:t>
            </a:r>
            <a:endParaRPr b="1" sz="1100">
              <a:solidFill>
                <a:schemeClr val="dk2"/>
              </a:solidFill>
            </a:endParaRPr>
          </a:p>
          <a:p>
            <a:pPr indent="0" lvl="0" marL="0" rtl="0" algn="l">
              <a:spcBef>
                <a:spcPts val="0"/>
              </a:spcBef>
              <a:spcAft>
                <a:spcPts val="0"/>
              </a:spcAft>
              <a:buNone/>
            </a:pPr>
            <a:r>
              <a:t/>
            </a:r>
            <a:endParaRPr b="1" sz="1100">
              <a:solidFill>
                <a:schemeClr val="dk2"/>
              </a:solidFill>
            </a:endParaRPr>
          </a:p>
          <a:p>
            <a:pPr indent="-298450" lvl="0" marL="457200" rtl="0" algn="l">
              <a:spcBef>
                <a:spcPts val="0"/>
              </a:spcBef>
              <a:spcAft>
                <a:spcPts val="0"/>
              </a:spcAft>
              <a:buClr>
                <a:schemeClr val="dk2"/>
              </a:buClr>
              <a:buSzPts val="1100"/>
              <a:buChar char="●"/>
            </a:pPr>
            <a:r>
              <a:rPr b="1" lang="en" sz="1100">
                <a:solidFill>
                  <a:schemeClr val="dk2"/>
                </a:solidFill>
              </a:rPr>
              <a:t>Manejo del idioma en ambiente laboral</a:t>
            </a:r>
            <a:endParaRPr b="1" sz="1100">
              <a:solidFill>
                <a:schemeClr val="dk2"/>
              </a:solidFill>
            </a:endParaRPr>
          </a:p>
          <a:p>
            <a:pPr indent="0" lvl="0" marL="0" rtl="0" algn="l">
              <a:spcBef>
                <a:spcPts val="0"/>
              </a:spcBef>
              <a:spcAft>
                <a:spcPts val="0"/>
              </a:spcAft>
              <a:buNone/>
            </a:pPr>
            <a:r>
              <a:t/>
            </a:r>
            <a:endParaRPr b="1" sz="1100">
              <a:solidFill>
                <a:schemeClr val="dk2"/>
              </a:solidFill>
            </a:endParaRPr>
          </a:p>
          <a:p>
            <a:pPr indent="-298450" lvl="0" marL="457200" rtl="0" algn="l">
              <a:spcBef>
                <a:spcPts val="0"/>
              </a:spcBef>
              <a:spcAft>
                <a:spcPts val="0"/>
              </a:spcAft>
              <a:buClr>
                <a:schemeClr val="dk2"/>
              </a:buClr>
              <a:buSzPts val="1100"/>
              <a:buChar char="●"/>
            </a:pPr>
            <a:r>
              <a:rPr b="1" lang="en" sz="1100">
                <a:solidFill>
                  <a:schemeClr val="dk2"/>
                </a:solidFill>
              </a:rPr>
              <a:t>Diversificación de conocimientos y desarrollo de habilidades</a:t>
            </a:r>
            <a:endParaRPr b="1" sz="1100">
              <a:solidFill>
                <a:schemeClr val="dk2"/>
              </a:solidFill>
            </a:endParaRPr>
          </a:p>
        </p:txBody>
      </p:sp>
      <p:sp>
        <p:nvSpPr>
          <p:cNvPr id="81" name="Google Shape;81;p16"/>
          <p:cNvSpPr txBox="1"/>
          <p:nvPr/>
        </p:nvSpPr>
        <p:spPr>
          <a:xfrm>
            <a:off x="3030259" y="2119656"/>
            <a:ext cx="2780100" cy="28086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2"/>
              </a:buClr>
              <a:buSzPts val="1100"/>
              <a:buChar char="●"/>
            </a:pPr>
            <a:r>
              <a:rPr b="1" lang="en" sz="1100">
                <a:solidFill>
                  <a:schemeClr val="dk2"/>
                </a:solidFill>
              </a:rPr>
              <a:t>Trabajar con personas de distintas partes del mundo</a:t>
            </a:r>
            <a:endParaRPr b="1" sz="1100">
              <a:solidFill>
                <a:schemeClr val="dk2"/>
              </a:solidFill>
            </a:endParaRPr>
          </a:p>
          <a:p>
            <a:pPr indent="0" lvl="0" marL="0" rtl="0" algn="l">
              <a:spcBef>
                <a:spcPts val="0"/>
              </a:spcBef>
              <a:spcAft>
                <a:spcPts val="0"/>
              </a:spcAft>
              <a:buNone/>
            </a:pPr>
            <a:r>
              <a:t/>
            </a:r>
            <a:endParaRPr b="1" sz="1100">
              <a:solidFill>
                <a:schemeClr val="dk2"/>
              </a:solidFill>
            </a:endParaRPr>
          </a:p>
          <a:p>
            <a:pPr indent="-298450" lvl="0" marL="457200" rtl="0" algn="l">
              <a:spcBef>
                <a:spcPts val="0"/>
              </a:spcBef>
              <a:spcAft>
                <a:spcPts val="0"/>
              </a:spcAft>
              <a:buClr>
                <a:schemeClr val="dk2"/>
              </a:buClr>
              <a:buSzPts val="1100"/>
              <a:buChar char="●"/>
            </a:pPr>
            <a:r>
              <a:rPr b="1" lang="en" sz="1100">
                <a:solidFill>
                  <a:schemeClr val="dk2"/>
                </a:solidFill>
              </a:rPr>
              <a:t>Experimentar la vida con costumbres y tradiciones diferentes</a:t>
            </a:r>
            <a:endParaRPr b="1" sz="1100">
              <a:solidFill>
                <a:schemeClr val="dk2"/>
              </a:solidFill>
            </a:endParaRPr>
          </a:p>
          <a:p>
            <a:pPr indent="0" lvl="0" marL="0" rtl="0" algn="l">
              <a:spcBef>
                <a:spcPts val="0"/>
              </a:spcBef>
              <a:spcAft>
                <a:spcPts val="0"/>
              </a:spcAft>
              <a:buNone/>
            </a:pPr>
            <a:r>
              <a:t/>
            </a:r>
            <a:endParaRPr b="1" sz="1100">
              <a:solidFill>
                <a:schemeClr val="dk2"/>
              </a:solidFill>
            </a:endParaRPr>
          </a:p>
          <a:p>
            <a:pPr indent="-298450" lvl="0" marL="457200" rtl="0" algn="l">
              <a:spcBef>
                <a:spcPts val="0"/>
              </a:spcBef>
              <a:spcAft>
                <a:spcPts val="0"/>
              </a:spcAft>
              <a:buClr>
                <a:schemeClr val="dk2"/>
              </a:buClr>
              <a:buSzPts val="1100"/>
              <a:buChar char="●"/>
            </a:pPr>
            <a:r>
              <a:rPr b="1" lang="en" sz="1100">
                <a:solidFill>
                  <a:schemeClr val="dk2"/>
                </a:solidFill>
              </a:rPr>
              <a:t>Adaptación a nuevas perspectivas culturales de los locales, como sus hábitos y derribar la barrera </a:t>
            </a:r>
            <a:r>
              <a:rPr b="1" lang="en" sz="1100">
                <a:solidFill>
                  <a:schemeClr val="dk2"/>
                </a:solidFill>
              </a:rPr>
              <a:t>lingüística</a:t>
            </a:r>
            <a:r>
              <a:rPr b="1" lang="en" sz="1100">
                <a:solidFill>
                  <a:schemeClr val="dk2"/>
                </a:solidFill>
              </a:rPr>
              <a:t> </a:t>
            </a:r>
            <a:endParaRPr b="1" sz="1100">
              <a:solidFill>
                <a:schemeClr val="dk2"/>
              </a:solidFill>
            </a:endParaRPr>
          </a:p>
          <a:p>
            <a:pPr indent="0" lvl="0" marL="0" rtl="0" algn="l">
              <a:spcBef>
                <a:spcPts val="0"/>
              </a:spcBef>
              <a:spcAft>
                <a:spcPts val="0"/>
              </a:spcAft>
              <a:buNone/>
            </a:pPr>
            <a:r>
              <a:t/>
            </a:r>
            <a:endParaRPr b="1" sz="1100">
              <a:solidFill>
                <a:schemeClr val="dk2"/>
              </a:solidFill>
            </a:endParaRPr>
          </a:p>
          <a:p>
            <a:pPr indent="0" lvl="0" marL="0" rtl="0" algn="l">
              <a:spcBef>
                <a:spcPts val="0"/>
              </a:spcBef>
              <a:spcAft>
                <a:spcPts val="0"/>
              </a:spcAft>
              <a:buNone/>
            </a:pPr>
            <a:r>
              <a:t/>
            </a:r>
            <a:endParaRPr b="1" sz="1100">
              <a:solidFill>
                <a:schemeClr val="dk2"/>
              </a:solidFill>
            </a:endParaRPr>
          </a:p>
        </p:txBody>
      </p:sp>
      <p:sp>
        <p:nvSpPr>
          <p:cNvPr id="82" name="Google Shape;82;p16"/>
          <p:cNvSpPr txBox="1"/>
          <p:nvPr/>
        </p:nvSpPr>
        <p:spPr>
          <a:xfrm>
            <a:off x="6147950" y="2130410"/>
            <a:ext cx="2955000" cy="28086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2"/>
              </a:buClr>
              <a:buSzPts val="1100"/>
              <a:buChar char="●"/>
            </a:pPr>
            <a:r>
              <a:rPr b="1" lang="en" sz="1100">
                <a:solidFill>
                  <a:schemeClr val="dk2"/>
                </a:solidFill>
              </a:rPr>
              <a:t>Desarrollo de liderazgo</a:t>
            </a:r>
            <a:endParaRPr b="1" sz="1100">
              <a:solidFill>
                <a:schemeClr val="dk2"/>
              </a:solidFill>
            </a:endParaRPr>
          </a:p>
          <a:p>
            <a:pPr indent="0" lvl="0" marL="0" rtl="0" algn="l">
              <a:spcBef>
                <a:spcPts val="0"/>
              </a:spcBef>
              <a:spcAft>
                <a:spcPts val="0"/>
              </a:spcAft>
              <a:buNone/>
            </a:pPr>
            <a:r>
              <a:t/>
            </a:r>
            <a:endParaRPr b="1" sz="1100">
              <a:solidFill>
                <a:schemeClr val="dk2"/>
              </a:solidFill>
            </a:endParaRPr>
          </a:p>
          <a:p>
            <a:pPr indent="-298450" lvl="0" marL="457200" rtl="0" algn="l">
              <a:spcBef>
                <a:spcPts val="0"/>
              </a:spcBef>
              <a:spcAft>
                <a:spcPts val="0"/>
              </a:spcAft>
              <a:buClr>
                <a:schemeClr val="dk2"/>
              </a:buClr>
              <a:buSzPts val="1100"/>
              <a:buChar char="●"/>
            </a:pPr>
            <a:r>
              <a:rPr b="1" lang="en" sz="1100">
                <a:solidFill>
                  <a:schemeClr val="dk2"/>
                </a:solidFill>
              </a:rPr>
              <a:t>Adaptación a entornos desafiantes</a:t>
            </a:r>
            <a:endParaRPr b="1" sz="1100">
              <a:solidFill>
                <a:schemeClr val="dk2"/>
              </a:solidFill>
            </a:endParaRPr>
          </a:p>
          <a:p>
            <a:pPr indent="0" lvl="0" marL="0" rtl="0" algn="l">
              <a:spcBef>
                <a:spcPts val="0"/>
              </a:spcBef>
              <a:spcAft>
                <a:spcPts val="0"/>
              </a:spcAft>
              <a:buNone/>
            </a:pPr>
            <a:r>
              <a:t/>
            </a:r>
            <a:endParaRPr b="1" sz="1100">
              <a:solidFill>
                <a:schemeClr val="dk2"/>
              </a:solidFill>
            </a:endParaRPr>
          </a:p>
          <a:p>
            <a:pPr indent="-298450" lvl="0" marL="457200" rtl="0" algn="l">
              <a:spcBef>
                <a:spcPts val="0"/>
              </a:spcBef>
              <a:spcAft>
                <a:spcPts val="0"/>
              </a:spcAft>
              <a:buClr>
                <a:schemeClr val="dk2"/>
              </a:buClr>
              <a:buSzPts val="1100"/>
              <a:buChar char="●"/>
            </a:pPr>
            <a:r>
              <a:rPr b="1" lang="en" sz="1100">
                <a:solidFill>
                  <a:schemeClr val="dk2"/>
                </a:solidFill>
              </a:rPr>
              <a:t>Aprender a disfrutar de la diversidad</a:t>
            </a:r>
            <a:endParaRPr b="1" sz="1100">
              <a:solidFill>
                <a:schemeClr val="dk2"/>
              </a:solidFill>
            </a:endParaRPr>
          </a:p>
          <a:p>
            <a:pPr indent="0" lvl="0" marL="0" rtl="0" algn="l">
              <a:spcBef>
                <a:spcPts val="0"/>
              </a:spcBef>
              <a:spcAft>
                <a:spcPts val="0"/>
              </a:spcAft>
              <a:buNone/>
            </a:pPr>
            <a:r>
              <a:t/>
            </a:r>
            <a:endParaRPr b="1" sz="1100">
              <a:solidFill>
                <a:schemeClr val="dk2"/>
              </a:solidFill>
            </a:endParaRPr>
          </a:p>
          <a:p>
            <a:pPr indent="-298450" lvl="0" marL="457200" rtl="0" algn="l">
              <a:spcBef>
                <a:spcPts val="0"/>
              </a:spcBef>
              <a:spcAft>
                <a:spcPts val="0"/>
              </a:spcAft>
              <a:buClr>
                <a:schemeClr val="dk2"/>
              </a:buClr>
              <a:buSzPts val="1100"/>
              <a:buChar char="●"/>
            </a:pPr>
            <a:r>
              <a:rPr b="1" lang="en" sz="1100">
                <a:solidFill>
                  <a:schemeClr val="dk2"/>
                </a:solidFill>
              </a:rPr>
              <a:t>Networking y red de contactos internacional</a:t>
            </a:r>
            <a:endParaRPr b="1" sz="1100">
              <a:solidFill>
                <a:schemeClr val="dk2"/>
              </a:solidFill>
            </a:endParaRPr>
          </a:p>
          <a:p>
            <a:pPr indent="0" lvl="0" marL="0" rtl="0" algn="l">
              <a:spcBef>
                <a:spcPts val="0"/>
              </a:spcBef>
              <a:spcAft>
                <a:spcPts val="0"/>
              </a:spcAft>
              <a:buNone/>
            </a:pPr>
            <a:r>
              <a:t/>
            </a:r>
            <a:endParaRPr b="1" sz="1100">
              <a:solidFill>
                <a:schemeClr val="dk2"/>
              </a:solidFill>
            </a:endParaRPr>
          </a:p>
          <a:p>
            <a:pPr indent="-298450" lvl="0" marL="457200" rtl="0" algn="l">
              <a:spcBef>
                <a:spcPts val="0"/>
              </a:spcBef>
              <a:spcAft>
                <a:spcPts val="0"/>
              </a:spcAft>
              <a:buClr>
                <a:schemeClr val="dk2"/>
              </a:buClr>
              <a:buSzPts val="1100"/>
              <a:buChar char="●"/>
            </a:pPr>
            <a:r>
              <a:rPr b="1" lang="en" sz="1100">
                <a:solidFill>
                  <a:schemeClr val="dk2"/>
                </a:solidFill>
              </a:rPr>
              <a:t>Salir de la zona de confort </a:t>
            </a:r>
            <a:endParaRPr b="1" sz="1100">
              <a:solidFill>
                <a:schemeClr val="dk2"/>
              </a:solidFill>
            </a:endParaRPr>
          </a:p>
        </p:txBody>
      </p:sp>
      <p:pic>
        <p:nvPicPr>
          <p:cNvPr descr="a cartoon brain with a face and the words growth mindset below it (proporcionada por Tenor)" id="83" name="Google Shape;83;p16"/>
          <p:cNvPicPr preferRelativeResize="0"/>
          <p:nvPr/>
        </p:nvPicPr>
        <p:blipFill>
          <a:blip r:embed="rId4">
            <a:alphaModFix/>
          </a:blip>
          <a:stretch>
            <a:fillRect/>
          </a:stretch>
        </p:blipFill>
        <p:spPr>
          <a:xfrm>
            <a:off x="7878273" y="684600"/>
            <a:ext cx="1112750" cy="1009075"/>
          </a:xfrm>
          <a:prstGeom prst="rect">
            <a:avLst/>
          </a:prstGeom>
          <a:noFill/>
          <a:ln>
            <a:noFill/>
          </a:ln>
        </p:spPr>
      </p:pic>
      <p:pic>
        <p:nvPicPr>
          <p:cNvPr descr="a group of people are posing for a picture with their hands up (proporcionada por Tenor)" id="84" name="Google Shape;84;p16"/>
          <p:cNvPicPr preferRelativeResize="0"/>
          <p:nvPr/>
        </p:nvPicPr>
        <p:blipFill>
          <a:blip r:embed="rId5">
            <a:alphaModFix/>
          </a:blip>
          <a:stretch>
            <a:fillRect/>
          </a:stretch>
        </p:blipFill>
        <p:spPr>
          <a:xfrm flipH="1">
            <a:off x="3696037" y="3839975"/>
            <a:ext cx="1751925" cy="11679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 name="Shape 88"/>
        <p:cNvGrpSpPr/>
        <p:nvPr/>
      </p:nvGrpSpPr>
      <p:grpSpPr>
        <a:xfrm>
          <a:off x="0" y="0"/>
          <a:ext cx="0" cy="0"/>
          <a:chOff x="0" y="0"/>
          <a:chExt cx="0" cy="0"/>
        </a:xfrm>
      </p:grpSpPr>
      <p:sp>
        <p:nvSpPr>
          <p:cNvPr id="89" name="Google Shape;89;p17"/>
          <p:cNvSpPr txBox="1"/>
          <p:nvPr/>
        </p:nvSpPr>
        <p:spPr>
          <a:xfrm>
            <a:off x="2132725" y="-16629"/>
            <a:ext cx="6501900" cy="1301400"/>
          </a:xfrm>
          <a:prstGeom prst="rect">
            <a:avLst/>
          </a:prstGeom>
          <a:noFill/>
          <a:ln>
            <a:noFill/>
          </a:ln>
        </p:spPr>
        <p:txBody>
          <a:bodyPr anchorCtr="0" anchor="t" bIns="86425" lIns="86425" spcFirstLastPara="1" rIns="86425" wrap="square" tIns="86425">
            <a:noAutofit/>
          </a:bodyPr>
          <a:lstStyle/>
          <a:p>
            <a:pPr indent="0" lvl="0" marL="0" rtl="0" algn="ctr">
              <a:lnSpc>
                <a:spcPct val="100000"/>
              </a:lnSpc>
              <a:spcBef>
                <a:spcPts val="6807"/>
              </a:spcBef>
              <a:spcAft>
                <a:spcPts val="0"/>
              </a:spcAft>
              <a:buNone/>
            </a:pPr>
            <a:r>
              <a:rPr lang="en" sz="3200">
                <a:solidFill>
                  <a:schemeClr val="lt1"/>
                </a:solidFill>
                <a:latin typeface="Montserrat Medium"/>
                <a:ea typeface="Montserrat Medium"/>
                <a:cs typeface="Montserrat Medium"/>
                <a:sym typeface="Montserrat Medium"/>
              </a:rPr>
              <a:t>¿Por qué tomar una oportunidad de Global talent y Global teacher es especial? </a:t>
            </a:r>
            <a:endParaRPr sz="3200">
              <a:solidFill>
                <a:schemeClr val="lt1"/>
              </a:solidFill>
              <a:latin typeface="Montserrat Medium"/>
              <a:ea typeface="Montserrat Medium"/>
              <a:cs typeface="Montserrat Medium"/>
              <a:sym typeface="Montserrat Medium"/>
            </a:endParaRPr>
          </a:p>
          <a:p>
            <a:pPr indent="0" lvl="0" marL="0" rtl="0" algn="ctr">
              <a:lnSpc>
                <a:spcPct val="100000"/>
              </a:lnSpc>
              <a:spcBef>
                <a:spcPts val="6807"/>
              </a:spcBef>
              <a:spcAft>
                <a:spcPts val="0"/>
              </a:spcAft>
              <a:buNone/>
            </a:pPr>
            <a:r>
              <a:t/>
            </a:r>
            <a:endParaRPr sz="3200">
              <a:solidFill>
                <a:schemeClr val="dk2"/>
              </a:solidFill>
              <a:latin typeface="Nunito"/>
              <a:ea typeface="Nunito"/>
              <a:cs typeface="Nunito"/>
              <a:sym typeface="Nunito"/>
            </a:endParaRPr>
          </a:p>
        </p:txBody>
      </p:sp>
      <p:sp>
        <p:nvSpPr>
          <p:cNvPr id="90" name="Google Shape;90;p17"/>
          <p:cNvSpPr/>
          <p:nvPr/>
        </p:nvSpPr>
        <p:spPr>
          <a:xfrm>
            <a:off x="381173" y="1984225"/>
            <a:ext cx="8293800" cy="30237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7"/>
          <p:cNvSpPr txBox="1"/>
          <p:nvPr/>
        </p:nvSpPr>
        <p:spPr>
          <a:xfrm>
            <a:off x="376624" y="2134875"/>
            <a:ext cx="6802800" cy="28086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Char char="●"/>
            </a:pPr>
            <a:r>
              <a:rPr lang="en">
                <a:solidFill>
                  <a:schemeClr val="dk2"/>
                </a:solidFill>
              </a:rPr>
              <a:t>Porque AIESEC ofrece una serie de mínimos </a:t>
            </a:r>
            <a:r>
              <a:rPr lang="en">
                <a:solidFill>
                  <a:schemeClr val="dk2"/>
                </a:solidFill>
              </a:rPr>
              <a:t>estándares</a:t>
            </a:r>
            <a:r>
              <a:rPr lang="en">
                <a:solidFill>
                  <a:schemeClr val="dk2"/>
                </a:solidFill>
              </a:rPr>
              <a:t> que garantizan una experiencia de calidad</a:t>
            </a:r>
            <a:endParaRPr>
              <a:solidFill>
                <a:schemeClr val="dk2"/>
              </a:solidFill>
            </a:endParaRPr>
          </a:p>
          <a:p>
            <a:pPr indent="0" lvl="0" marL="0" rtl="0" algn="l">
              <a:spcBef>
                <a:spcPts val="0"/>
              </a:spcBef>
              <a:spcAft>
                <a:spcPts val="0"/>
              </a:spcAft>
              <a:buNone/>
            </a:pPr>
            <a:r>
              <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Porque recibes un acompañamiento desde el momento en que eres contactado por primera vez hasta que termina tu experiencia</a:t>
            </a:r>
            <a:endParaRPr>
              <a:solidFill>
                <a:schemeClr val="dk2"/>
              </a:solidFill>
            </a:endParaRPr>
          </a:p>
          <a:p>
            <a:pPr indent="0" lvl="0" marL="0" rtl="0" algn="l">
              <a:spcBef>
                <a:spcPts val="0"/>
              </a:spcBef>
              <a:spcAft>
                <a:spcPts val="0"/>
              </a:spcAft>
              <a:buNone/>
            </a:pPr>
            <a:r>
              <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Los partners de AIESEC son empresas reconocidas que aportan un gran reconocimiento, además de tener opción a permanecer en la empresa en algunos casos</a:t>
            </a:r>
            <a:endParaRPr>
              <a:solidFill>
                <a:schemeClr val="dk2"/>
              </a:solidFill>
            </a:endParaRPr>
          </a:p>
          <a:p>
            <a:pPr indent="0" lvl="0" marL="0" rtl="0" algn="l">
              <a:spcBef>
                <a:spcPts val="0"/>
              </a:spcBef>
              <a:spcAft>
                <a:spcPts val="0"/>
              </a:spcAft>
              <a:buNone/>
            </a:pPr>
            <a:r>
              <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La experiencia que obtienes a nivel profesional te suma mucho valor y te da bastantes oportunidades a continuar aplicando a empresas de renombre</a:t>
            </a:r>
            <a:endParaRPr>
              <a:solidFill>
                <a:schemeClr val="dk2"/>
              </a:solidFill>
            </a:endParaRPr>
          </a:p>
        </p:txBody>
      </p:sp>
      <p:pic>
        <p:nvPicPr>
          <p:cNvPr descr="a cartoon of a person petting a cat with diamonds in the background (proporcionada por Tenor)" id="92" name="Google Shape;92;p17"/>
          <p:cNvPicPr preferRelativeResize="0"/>
          <p:nvPr/>
        </p:nvPicPr>
        <p:blipFill>
          <a:blip r:embed="rId4">
            <a:alphaModFix/>
          </a:blip>
          <a:stretch>
            <a:fillRect/>
          </a:stretch>
        </p:blipFill>
        <p:spPr>
          <a:xfrm>
            <a:off x="6657250" y="2263975"/>
            <a:ext cx="2486739" cy="2016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6" name="Shape 96"/>
        <p:cNvGrpSpPr/>
        <p:nvPr/>
      </p:nvGrpSpPr>
      <p:grpSpPr>
        <a:xfrm>
          <a:off x="0" y="0"/>
          <a:ext cx="0" cy="0"/>
          <a:chOff x="0" y="0"/>
          <a:chExt cx="0" cy="0"/>
        </a:xfrm>
      </p:grpSpPr>
      <p:sp>
        <p:nvSpPr>
          <p:cNvPr id="97" name="Google Shape;97;p18"/>
          <p:cNvSpPr txBox="1"/>
          <p:nvPr/>
        </p:nvSpPr>
        <p:spPr>
          <a:xfrm>
            <a:off x="1365006" y="6927"/>
            <a:ext cx="6561300" cy="1252200"/>
          </a:xfrm>
          <a:prstGeom prst="rect">
            <a:avLst/>
          </a:prstGeom>
          <a:noFill/>
          <a:ln>
            <a:noFill/>
          </a:ln>
        </p:spPr>
        <p:txBody>
          <a:bodyPr anchorCtr="0" anchor="t" bIns="86425" lIns="86425" spcFirstLastPara="1" rIns="86425" wrap="square" tIns="86425">
            <a:noAutofit/>
          </a:bodyPr>
          <a:lstStyle/>
          <a:p>
            <a:pPr indent="0" lvl="0" marL="0" rtl="0" algn="ctr">
              <a:lnSpc>
                <a:spcPct val="70000"/>
              </a:lnSpc>
              <a:spcBef>
                <a:spcPts val="6807"/>
              </a:spcBef>
              <a:spcAft>
                <a:spcPts val="6807"/>
              </a:spcAft>
              <a:buNone/>
            </a:pPr>
            <a:r>
              <a:rPr b="1" lang="en" sz="3200">
                <a:solidFill>
                  <a:schemeClr val="lt1"/>
                </a:solidFill>
                <a:latin typeface="Montserrat"/>
                <a:ea typeface="Montserrat"/>
                <a:cs typeface="Montserrat"/>
                <a:sym typeface="Montserrat"/>
              </a:rPr>
              <a:t>Propuesta de valor: GTa Short term</a:t>
            </a:r>
            <a:endParaRPr b="1" sz="3200">
              <a:solidFill>
                <a:schemeClr val="dk2"/>
              </a:solidFill>
              <a:latin typeface="Nunito"/>
              <a:ea typeface="Nunito"/>
              <a:cs typeface="Nunito"/>
              <a:sym typeface="Nunito"/>
            </a:endParaRPr>
          </a:p>
        </p:txBody>
      </p:sp>
      <p:sp>
        <p:nvSpPr>
          <p:cNvPr id="98" name="Google Shape;98;p18"/>
          <p:cNvSpPr/>
          <p:nvPr/>
        </p:nvSpPr>
        <p:spPr>
          <a:xfrm>
            <a:off x="474650" y="710225"/>
            <a:ext cx="3747900" cy="4301400"/>
          </a:xfrm>
          <a:prstGeom prst="roundRect">
            <a:avLst>
              <a:gd fmla="val 16667" name="adj"/>
            </a:avLst>
          </a:prstGeom>
          <a:solidFill>
            <a:schemeClr val="lt1"/>
          </a:solidFill>
          <a:ln cap="flat" cmpd="sng" w="13300">
            <a:solidFill>
              <a:schemeClr val="dk2"/>
            </a:solidFill>
            <a:prstDash val="solid"/>
            <a:round/>
            <a:headEnd len="sm" w="sm" type="none"/>
            <a:tailEnd len="sm" w="sm" type="none"/>
          </a:ln>
        </p:spPr>
        <p:txBody>
          <a:bodyPr anchorCtr="0" anchor="ctr" bIns="127675" lIns="127675" spcFirstLastPara="1" rIns="127675" wrap="square" tIns="127675">
            <a:noAutofit/>
          </a:bodyPr>
          <a:lstStyle/>
          <a:p>
            <a:pPr indent="0" lvl="0" marL="0" rtl="0" algn="ctr">
              <a:spcBef>
                <a:spcPts val="0"/>
              </a:spcBef>
              <a:spcAft>
                <a:spcPts val="0"/>
              </a:spcAft>
              <a:buNone/>
            </a:pPr>
            <a:r>
              <a:t/>
            </a:r>
            <a:endParaRPr sz="1954"/>
          </a:p>
        </p:txBody>
      </p:sp>
      <p:sp>
        <p:nvSpPr>
          <p:cNvPr id="99" name="Google Shape;99;p18"/>
          <p:cNvSpPr txBox="1"/>
          <p:nvPr/>
        </p:nvSpPr>
        <p:spPr>
          <a:xfrm>
            <a:off x="595675" y="1081444"/>
            <a:ext cx="3549900" cy="4056300"/>
          </a:xfrm>
          <a:prstGeom prst="rect">
            <a:avLst/>
          </a:prstGeom>
          <a:noFill/>
          <a:ln>
            <a:noFill/>
          </a:ln>
        </p:spPr>
        <p:txBody>
          <a:bodyPr anchorCtr="0" anchor="t" bIns="127675" lIns="127675" spcFirstLastPara="1" rIns="127675" wrap="square" tIns="127675">
            <a:noAutofit/>
          </a:bodyPr>
          <a:lstStyle/>
          <a:p>
            <a:pPr indent="0" lvl="0" marL="0" rtl="0" algn="l">
              <a:spcBef>
                <a:spcPts val="0"/>
              </a:spcBef>
              <a:spcAft>
                <a:spcPts val="0"/>
              </a:spcAft>
              <a:buNone/>
            </a:pPr>
            <a:r>
              <a:rPr b="1" lang="en" sz="1536">
                <a:solidFill>
                  <a:schemeClr val="dk2"/>
                </a:solidFill>
              </a:rPr>
              <a:t>¿Qué es?</a:t>
            </a:r>
            <a:endParaRPr b="1"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Una pasantía de 3 meses</a:t>
            </a:r>
            <a:endParaRPr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Desarrollando proyectos cortos</a:t>
            </a:r>
            <a:endParaRPr sz="1536">
              <a:solidFill>
                <a:schemeClr val="dk2"/>
              </a:solidFill>
            </a:endParaRPr>
          </a:p>
          <a:p>
            <a:pPr indent="0" lvl="0" marL="0" rtl="0" algn="l">
              <a:spcBef>
                <a:spcPts val="0"/>
              </a:spcBef>
              <a:spcAft>
                <a:spcPts val="0"/>
              </a:spcAft>
              <a:buNone/>
            </a:pPr>
            <a:r>
              <a:t/>
            </a:r>
            <a:endParaRPr sz="1536">
              <a:solidFill>
                <a:schemeClr val="dk2"/>
              </a:solidFill>
            </a:endParaRPr>
          </a:p>
          <a:p>
            <a:pPr indent="0" lvl="0" marL="0" rtl="0" algn="l">
              <a:spcBef>
                <a:spcPts val="0"/>
              </a:spcBef>
              <a:spcAft>
                <a:spcPts val="0"/>
              </a:spcAft>
              <a:buNone/>
            </a:pPr>
            <a:r>
              <a:rPr b="1" lang="en" sz="1536">
                <a:solidFill>
                  <a:schemeClr val="dk2"/>
                </a:solidFill>
              </a:rPr>
              <a:t>¿A quién va dirigido?</a:t>
            </a:r>
            <a:endParaRPr b="1"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Jóvenes</a:t>
            </a:r>
            <a:r>
              <a:rPr lang="en" sz="1536">
                <a:solidFill>
                  <a:schemeClr val="dk2"/>
                </a:solidFill>
              </a:rPr>
              <a:t> que se estén por graduar</a:t>
            </a:r>
            <a:endParaRPr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Jóvenes que busquen experiencia profesionales cortas</a:t>
            </a:r>
            <a:endParaRPr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Jóvenes</a:t>
            </a:r>
            <a:r>
              <a:rPr lang="en" sz="1536">
                <a:solidFill>
                  <a:schemeClr val="dk2"/>
                </a:solidFill>
              </a:rPr>
              <a:t> entre 18 y 30 años con un inglés de B1 en adelante.</a:t>
            </a:r>
            <a:endParaRPr sz="1536">
              <a:solidFill>
                <a:schemeClr val="dk2"/>
              </a:solidFill>
            </a:endParaRPr>
          </a:p>
          <a:p>
            <a:pPr indent="0" lvl="0" marL="0" rtl="0" algn="l">
              <a:spcBef>
                <a:spcPts val="0"/>
              </a:spcBef>
              <a:spcAft>
                <a:spcPts val="0"/>
              </a:spcAft>
              <a:buNone/>
            </a:pPr>
            <a:r>
              <a:t/>
            </a:r>
            <a:endParaRPr b="1" sz="1536">
              <a:solidFill>
                <a:schemeClr val="dk2"/>
              </a:solidFill>
            </a:endParaRPr>
          </a:p>
        </p:txBody>
      </p:sp>
      <p:sp>
        <p:nvSpPr>
          <p:cNvPr id="100" name="Google Shape;100;p18"/>
          <p:cNvSpPr/>
          <p:nvPr/>
        </p:nvSpPr>
        <p:spPr>
          <a:xfrm>
            <a:off x="4870950" y="725475"/>
            <a:ext cx="3747900" cy="4301400"/>
          </a:xfrm>
          <a:prstGeom prst="roundRect">
            <a:avLst>
              <a:gd fmla="val 16667" name="adj"/>
            </a:avLst>
          </a:prstGeom>
          <a:solidFill>
            <a:schemeClr val="lt1"/>
          </a:solidFill>
          <a:ln cap="flat" cmpd="sng" w="13300">
            <a:solidFill>
              <a:schemeClr val="dk2"/>
            </a:solidFill>
            <a:prstDash val="solid"/>
            <a:round/>
            <a:headEnd len="sm" w="sm" type="none"/>
            <a:tailEnd len="sm" w="sm" type="none"/>
          </a:ln>
        </p:spPr>
        <p:txBody>
          <a:bodyPr anchorCtr="0" anchor="ctr" bIns="127675" lIns="127675" spcFirstLastPara="1" rIns="127675" wrap="square" tIns="127675">
            <a:noAutofit/>
          </a:bodyPr>
          <a:lstStyle/>
          <a:p>
            <a:pPr indent="0" lvl="0" marL="0" rtl="0" algn="ctr">
              <a:spcBef>
                <a:spcPts val="0"/>
              </a:spcBef>
              <a:spcAft>
                <a:spcPts val="0"/>
              </a:spcAft>
              <a:buNone/>
            </a:pPr>
            <a:r>
              <a:t/>
            </a:r>
            <a:endParaRPr sz="1954"/>
          </a:p>
        </p:txBody>
      </p:sp>
      <p:sp>
        <p:nvSpPr>
          <p:cNvPr id="101" name="Google Shape;101;p18"/>
          <p:cNvSpPr txBox="1"/>
          <p:nvPr/>
        </p:nvSpPr>
        <p:spPr>
          <a:xfrm>
            <a:off x="4947875" y="1025735"/>
            <a:ext cx="3670800" cy="3995400"/>
          </a:xfrm>
          <a:prstGeom prst="rect">
            <a:avLst/>
          </a:prstGeom>
          <a:noFill/>
          <a:ln>
            <a:noFill/>
          </a:ln>
        </p:spPr>
        <p:txBody>
          <a:bodyPr anchorCtr="0" anchor="t" bIns="127675" lIns="127675" spcFirstLastPara="1" rIns="127675" wrap="square" tIns="127675">
            <a:noAutofit/>
          </a:bodyPr>
          <a:lstStyle/>
          <a:p>
            <a:pPr indent="0" lvl="0" marL="0" rtl="0" algn="l">
              <a:spcBef>
                <a:spcPts val="0"/>
              </a:spcBef>
              <a:spcAft>
                <a:spcPts val="0"/>
              </a:spcAft>
              <a:buNone/>
            </a:pPr>
            <a:r>
              <a:rPr b="1" lang="en" sz="1536">
                <a:solidFill>
                  <a:schemeClr val="dk2"/>
                </a:solidFill>
              </a:rPr>
              <a:t>Beneficios</a:t>
            </a:r>
            <a:endParaRPr b="1"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Usualmente estás oportunidades no son remuneradas así que suelen ofrecer otras cosas como hospedaje, comidas o transporte</a:t>
            </a:r>
            <a:endParaRPr sz="1536">
              <a:solidFill>
                <a:schemeClr val="dk2"/>
              </a:solidFill>
            </a:endParaRPr>
          </a:p>
          <a:p>
            <a:pPr indent="0" lvl="0" marL="0" rtl="0" algn="l">
              <a:spcBef>
                <a:spcPts val="0"/>
              </a:spcBef>
              <a:spcAft>
                <a:spcPts val="0"/>
              </a:spcAft>
              <a:buNone/>
            </a:pPr>
            <a:r>
              <a:t/>
            </a:r>
            <a:endParaRPr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El horario es de 5 días a la semana por 40 horas así que tienes oportunidad de salir a conocer el país</a:t>
            </a:r>
            <a:endParaRPr sz="1536">
              <a:solidFill>
                <a:schemeClr val="dk2"/>
              </a:solidFill>
            </a:endParaRPr>
          </a:p>
          <a:p>
            <a:pPr indent="0" lvl="0" marL="0" rtl="0" algn="l">
              <a:spcBef>
                <a:spcPts val="0"/>
              </a:spcBef>
              <a:spcAft>
                <a:spcPts val="0"/>
              </a:spcAft>
              <a:buNone/>
            </a:pPr>
            <a:r>
              <a:t/>
            </a:r>
            <a:endParaRPr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El proceso de aplicación es rápido</a:t>
            </a:r>
            <a:endParaRPr sz="1536">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5" name="Shape 105"/>
        <p:cNvGrpSpPr/>
        <p:nvPr/>
      </p:nvGrpSpPr>
      <p:grpSpPr>
        <a:xfrm>
          <a:off x="0" y="0"/>
          <a:ext cx="0" cy="0"/>
          <a:chOff x="0" y="0"/>
          <a:chExt cx="0" cy="0"/>
        </a:xfrm>
      </p:grpSpPr>
      <p:sp>
        <p:nvSpPr>
          <p:cNvPr id="106" name="Google Shape;106;p19"/>
          <p:cNvSpPr txBox="1"/>
          <p:nvPr/>
        </p:nvSpPr>
        <p:spPr>
          <a:xfrm>
            <a:off x="1365006" y="6927"/>
            <a:ext cx="6561300" cy="1252200"/>
          </a:xfrm>
          <a:prstGeom prst="rect">
            <a:avLst/>
          </a:prstGeom>
          <a:noFill/>
          <a:ln>
            <a:noFill/>
          </a:ln>
        </p:spPr>
        <p:txBody>
          <a:bodyPr anchorCtr="0" anchor="t" bIns="86425" lIns="86425" spcFirstLastPara="1" rIns="86425" wrap="square" tIns="86425">
            <a:noAutofit/>
          </a:bodyPr>
          <a:lstStyle/>
          <a:p>
            <a:pPr indent="0" lvl="0" marL="0" rtl="0" algn="ctr">
              <a:lnSpc>
                <a:spcPct val="70000"/>
              </a:lnSpc>
              <a:spcBef>
                <a:spcPts val="6807"/>
              </a:spcBef>
              <a:spcAft>
                <a:spcPts val="6807"/>
              </a:spcAft>
              <a:buNone/>
            </a:pPr>
            <a:r>
              <a:rPr b="1" lang="en" sz="3200">
                <a:solidFill>
                  <a:schemeClr val="lt1"/>
                </a:solidFill>
                <a:latin typeface="Montserrat"/>
                <a:ea typeface="Montserrat"/>
                <a:cs typeface="Montserrat"/>
                <a:sym typeface="Montserrat"/>
              </a:rPr>
              <a:t>Propuesta de valor: GTa Mid term</a:t>
            </a:r>
            <a:endParaRPr b="1" sz="3200">
              <a:solidFill>
                <a:schemeClr val="dk2"/>
              </a:solidFill>
              <a:latin typeface="Nunito"/>
              <a:ea typeface="Nunito"/>
              <a:cs typeface="Nunito"/>
              <a:sym typeface="Nunito"/>
            </a:endParaRPr>
          </a:p>
        </p:txBody>
      </p:sp>
      <p:sp>
        <p:nvSpPr>
          <p:cNvPr id="107" name="Google Shape;107;p19"/>
          <p:cNvSpPr/>
          <p:nvPr/>
        </p:nvSpPr>
        <p:spPr>
          <a:xfrm>
            <a:off x="474650" y="710225"/>
            <a:ext cx="3747900" cy="4301400"/>
          </a:xfrm>
          <a:prstGeom prst="roundRect">
            <a:avLst>
              <a:gd fmla="val 16667" name="adj"/>
            </a:avLst>
          </a:prstGeom>
          <a:solidFill>
            <a:schemeClr val="lt1"/>
          </a:solidFill>
          <a:ln cap="flat" cmpd="sng" w="13300">
            <a:solidFill>
              <a:schemeClr val="dk2"/>
            </a:solidFill>
            <a:prstDash val="solid"/>
            <a:round/>
            <a:headEnd len="sm" w="sm" type="none"/>
            <a:tailEnd len="sm" w="sm" type="none"/>
          </a:ln>
        </p:spPr>
        <p:txBody>
          <a:bodyPr anchorCtr="0" anchor="ctr" bIns="127675" lIns="127675" spcFirstLastPara="1" rIns="127675" wrap="square" tIns="127675">
            <a:noAutofit/>
          </a:bodyPr>
          <a:lstStyle/>
          <a:p>
            <a:pPr indent="0" lvl="0" marL="0" rtl="0" algn="ctr">
              <a:spcBef>
                <a:spcPts val="0"/>
              </a:spcBef>
              <a:spcAft>
                <a:spcPts val="0"/>
              </a:spcAft>
              <a:buNone/>
            </a:pPr>
            <a:r>
              <a:t/>
            </a:r>
            <a:endParaRPr sz="1954"/>
          </a:p>
        </p:txBody>
      </p:sp>
      <p:sp>
        <p:nvSpPr>
          <p:cNvPr id="108" name="Google Shape;108;p19"/>
          <p:cNvSpPr txBox="1"/>
          <p:nvPr/>
        </p:nvSpPr>
        <p:spPr>
          <a:xfrm>
            <a:off x="595675" y="1081444"/>
            <a:ext cx="3549900" cy="4056300"/>
          </a:xfrm>
          <a:prstGeom prst="rect">
            <a:avLst/>
          </a:prstGeom>
          <a:noFill/>
          <a:ln>
            <a:noFill/>
          </a:ln>
        </p:spPr>
        <p:txBody>
          <a:bodyPr anchorCtr="0" anchor="t" bIns="127675" lIns="127675" spcFirstLastPara="1" rIns="127675" wrap="square" tIns="127675">
            <a:noAutofit/>
          </a:bodyPr>
          <a:lstStyle/>
          <a:p>
            <a:pPr indent="0" lvl="0" marL="0" rtl="0" algn="l">
              <a:spcBef>
                <a:spcPts val="0"/>
              </a:spcBef>
              <a:spcAft>
                <a:spcPts val="0"/>
              </a:spcAft>
              <a:buNone/>
            </a:pPr>
            <a:r>
              <a:rPr b="1" lang="en" sz="1536">
                <a:solidFill>
                  <a:schemeClr val="dk2"/>
                </a:solidFill>
              </a:rPr>
              <a:t>¿Qué es?</a:t>
            </a:r>
            <a:endParaRPr b="1"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Una pasantía de 6 meses</a:t>
            </a:r>
            <a:endParaRPr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Desarrollando proyectos donde requieres aprender rápido</a:t>
            </a:r>
            <a:endParaRPr sz="1536">
              <a:solidFill>
                <a:schemeClr val="dk2"/>
              </a:solidFill>
            </a:endParaRPr>
          </a:p>
          <a:p>
            <a:pPr indent="0" lvl="0" marL="0" rtl="0" algn="l">
              <a:spcBef>
                <a:spcPts val="0"/>
              </a:spcBef>
              <a:spcAft>
                <a:spcPts val="0"/>
              </a:spcAft>
              <a:buNone/>
            </a:pPr>
            <a:r>
              <a:t/>
            </a:r>
            <a:endParaRPr sz="1536">
              <a:solidFill>
                <a:schemeClr val="dk2"/>
              </a:solidFill>
            </a:endParaRPr>
          </a:p>
          <a:p>
            <a:pPr indent="0" lvl="0" marL="0" rtl="0" algn="l">
              <a:spcBef>
                <a:spcPts val="0"/>
              </a:spcBef>
              <a:spcAft>
                <a:spcPts val="0"/>
              </a:spcAft>
              <a:buNone/>
            </a:pPr>
            <a:r>
              <a:rPr b="1" lang="en" sz="1536">
                <a:solidFill>
                  <a:schemeClr val="dk2"/>
                </a:solidFill>
              </a:rPr>
              <a:t>¿A quién va dirigido?</a:t>
            </a:r>
            <a:endParaRPr b="1"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Recien egresados o por egresar</a:t>
            </a:r>
            <a:endParaRPr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Jóvenes que busquen experiencia profesionales a mediano plazo</a:t>
            </a:r>
            <a:endParaRPr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Jóvenes entre 18 y 30 años con un inglés de B1 en adelante.</a:t>
            </a:r>
            <a:endParaRPr sz="1536">
              <a:solidFill>
                <a:schemeClr val="dk2"/>
              </a:solidFill>
            </a:endParaRPr>
          </a:p>
          <a:p>
            <a:pPr indent="0" lvl="0" marL="0" rtl="0" algn="l">
              <a:spcBef>
                <a:spcPts val="0"/>
              </a:spcBef>
              <a:spcAft>
                <a:spcPts val="0"/>
              </a:spcAft>
              <a:buNone/>
            </a:pPr>
            <a:r>
              <a:t/>
            </a:r>
            <a:endParaRPr b="1" sz="1536">
              <a:solidFill>
                <a:schemeClr val="dk2"/>
              </a:solidFill>
            </a:endParaRPr>
          </a:p>
        </p:txBody>
      </p:sp>
      <p:sp>
        <p:nvSpPr>
          <p:cNvPr id="109" name="Google Shape;109;p19"/>
          <p:cNvSpPr/>
          <p:nvPr/>
        </p:nvSpPr>
        <p:spPr>
          <a:xfrm>
            <a:off x="4870950" y="725475"/>
            <a:ext cx="3747900" cy="4301400"/>
          </a:xfrm>
          <a:prstGeom prst="roundRect">
            <a:avLst>
              <a:gd fmla="val 16667" name="adj"/>
            </a:avLst>
          </a:prstGeom>
          <a:solidFill>
            <a:schemeClr val="lt1"/>
          </a:solidFill>
          <a:ln cap="flat" cmpd="sng" w="13300">
            <a:solidFill>
              <a:schemeClr val="dk2"/>
            </a:solidFill>
            <a:prstDash val="solid"/>
            <a:round/>
            <a:headEnd len="sm" w="sm" type="none"/>
            <a:tailEnd len="sm" w="sm" type="none"/>
          </a:ln>
        </p:spPr>
        <p:txBody>
          <a:bodyPr anchorCtr="0" anchor="ctr" bIns="127675" lIns="127675" spcFirstLastPara="1" rIns="127675" wrap="square" tIns="127675">
            <a:noAutofit/>
          </a:bodyPr>
          <a:lstStyle/>
          <a:p>
            <a:pPr indent="0" lvl="0" marL="0" rtl="0" algn="ctr">
              <a:spcBef>
                <a:spcPts val="0"/>
              </a:spcBef>
              <a:spcAft>
                <a:spcPts val="0"/>
              </a:spcAft>
              <a:buNone/>
            </a:pPr>
            <a:r>
              <a:t/>
            </a:r>
            <a:endParaRPr sz="1954"/>
          </a:p>
        </p:txBody>
      </p:sp>
      <p:sp>
        <p:nvSpPr>
          <p:cNvPr id="110" name="Google Shape;110;p19"/>
          <p:cNvSpPr txBox="1"/>
          <p:nvPr/>
        </p:nvSpPr>
        <p:spPr>
          <a:xfrm>
            <a:off x="4947875" y="1025735"/>
            <a:ext cx="3670800" cy="3995400"/>
          </a:xfrm>
          <a:prstGeom prst="rect">
            <a:avLst/>
          </a:prstGeom>
          <a:noFill/>
          <a:ln>
            <a:noFill/>
          </a:ln>
        </p:spPr>
        <p:txBody>
          <a:bodyPr anchorCtr="0" anchor="t" bIns="127675" lIns="127675" spcFirstLastPara="1" rIns="127675" wrap="square" tIns="127675">
            <a:noAutofit/>
          </a:bodyPr>
          <a:lstStyle/>
          <a:p>
            <a:pPr indent="0" lvl="0" marL="0" rtl="0" algn="l">
              <a:spcBef>
                <a:spcPts val="0"/>
              </a:spcBef>
              <a:spcAft>
                <a:spcPts val="0"/>
              </a:spcAft>
              <a:buNone/>
            </a:pPr>
            <a:r>
              <a:rPr b="1" lang="en" sz="1536">
                <a:solidFill>
                  <a:schemeClr val="dk2"/>
                </a:solidFill>
              </a:rPr>
              <a:t>Beneficios</a:t>
            </a:r>
            <a:endParaRPr b="1"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Usualmente estás oportunidades son remuneradas así que no suelen ofrecer otras cosas como hospedaje, comidas o transporte</a:t>
            </a:r>
            <a:endParaRPr sz="1536">
              <a:solidFill>
                <a:schemeClr val="dk2"/>
              </a:solidFill>
            </a:endParaRPr>
          </a:p>
          <a:p>
            <a:pPr indent="0" lvl="0" marL="0" rtl="0" algn="l">
              <a:spcBef>
                <a:spcPts val="0"/>
              </a:spcBef>
              <a:spcAft>
                <a:spcPts val="0"/>
              </a:spcAft>
              <a:buNone/>
            </a:pPr>
            <a:r>
              <a:t/>
            </a:r>
            <a:endParaRPr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El horario es de 5 días a la semana por 40 horas así que tienes oportunidad de salir a conocer el país</a:t>
            </a:r>
            <a:endParaRPr sz="1536">
              <a:solidFill>
                <a:schemeClr val="dk2"/>
              </a:solidFill>
            </a:endParaRPr>
          </a:p>
          <a:p>
            <a:pPr indent="0" lvl="0" marL="0" rtl="0" algn="l">
              <a:spcBef>
                <a:spcPts val="0"/>
              </a:spcBef>
              <a:spcAft>
                <a:spcPts val="0"/>
              </a:spcAft>
              <a:buNone/>
            </a:pPr>
            <a:r>
              <a:t/>
            </a:r>
            <a:endParaRPr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Se da acompañamiento migratorio para que sea posible la estadía durante la experiencia</a:t>
            </a:r>
            <a:endParaRPr sz="1536">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4" name="Shape 114"/>
        <p:cNvGrpSpPr/>
        <p:nvPr/>
      </p:nvGrpSpPr>
      <p:grpSpPr>
        <a:xfrm>
          <a:off x="0" y="0"/>
          <a:ext cx="0" cy="0"/>
          <a:chOff x="0" y="0"/>
          <a:chExt cx="0" cy="0"/>
        </a:xfrm>
      </p:grpSpPr>
      <p:sp>
        <p:nvSpPr>
          <p:cNvPr id="115" name="Google Shape;115;p20"/>
          <p:cNvSpPr txBox="1"/>
          <p:nvPr/>
        </p:nvSpPr>
        <p:spPr>
          <a:xfrm>
            <a:off x="1365006" y="6927"/>
            <a:ext cx="6561300" cy="1252200"/>
          </a:xfrm>
          <a:prstGeom prst="rect">
            <a:avLst/>
          </a:prstGeom>
          <a:noFill/>
          <a:ln>
            <a:noFill/>
          </a:ln>
        </p:spPr>
        <p:txBody>
          <a:bodyPr anchorCtr="0" anchor="t" bIns="86425" lIns="86425" spcFirstLastPara="1" rIns="86425" wrap="square" tIns="86425">
            <a:noAutofit/>
          </a:bodyPr>
          <a:lstStyle/>
          <a:p>
            <a:pPr indent="0" lvl="0" marL="0" rtl="0" algn="ctr">
              <a:lnSpc>
                <a:spcPct val="70000"/>
              </a:lnSpc>
              <a:spcBef>
                <a:spcPts val="6807"/>
              </a:spcBef>
              <a:spcAft>
                <a:spcPts val="6807"/>
              </a:spcAft>
              <a:buNone/>
            </a:pPr>
            <a:r>
              <a:rPr b="1" lang="en" sz="3200">
                <a:solidFill>
                  <a:schemeClr val="lt1"/>
                </a:solidFill>
                <a:latin typeface="Montserrat"/>
                <a:ea typeface="Montserrat"/>
                <a:cs typeface="Montserrat"/>
                <a:sym typeface="Montserrat"/>
              </a:rPr>
              <a:t>Propuesta de valor: GTa Long term</a:t>
            </a:r>
            <a:endParaRPr b="1" sz="3200">
              <a:solidFill>
                <a:schemeClr val="dk2"/>
              </a:solidFill>
              <a:latin typeface="Nunito"/>
              <a:ea typeface="Nunito"/>
              <a:cs typeface="Nunito"/>
              <a:sym typeface="Nunito"/>
            </a:endParaRPr>
          </a:p>
        </p:txBody>
      </p:sp>
      <p:sp>
        <p:nvSpPr>
          <p:cNvPr id="116" name="Google Shape;116;p20"/>
          <p:cNvSpPr/>
          <p:nvPr/>
        </p:nvSpPr>
        <p:spPr>
          <a:xfrm>
            <a:off x="474650" y="710225"/>
            <a:ext cx="3747900" cy="4301400"/>
          </a:xfrm>
          <a:prstGeom prst="roundRect">
            <a:avLst>
              <a:gd fmla="val 16667" name="adj"/>
            </a:avLst>
          </a:prstGeom>
          <a:solidFill>
            <a:schemeClr val="lt1"/>
          </a:solidFill>
          <a:ln cap="flat" cmpd="sng" w="13300">
            <a:solidFill>
              <a:schemeClr val="dk2"/>
            </a:solidFill>
            <a:prstDash val="solid"/>
            <a:round/>
            <a:headEnd len="sm" w="sm" type="none"/>
            <a:tailEnd len="sm" w="sm" type="none"/>
          </a:ln>
        </p:spPr>
        <p:txBody>
          <a:bodyPr anchorCtr="0" anchor="ctr" bIns="127675" lIns="127675" spcFirstLastPara="1" rIns="127675" wrap="square" tIns="127675">
            <a:noAutofit/>
          </a:bodyPr>
          <a:lstStyle/>
          <a:p>
            <a:pPr indent="0" lvl="0" marL="0" rtl="0" algn="ctr">
              <a:spcBef>
                <a:spcPts val="0"/>
              </a:spcBef>
              <a:spcAft>
                <a:spcPts val="0"/>
              </a:spcAft>
              <a:buNone/>
            </a:pPr>
            <a:r>
              <a:t/>
            </a:r>
            <a:endParaRPr sz="1954"/>
          </a:p>
        </p:txBody>
      </p:sp>
      <p:sp>
        <p:nvSpPr>
          <p:cNvPr id="117" name="Google Shape;117;p20"/>
          <p:cNvSpPr txBox="1"/>
          <p:nvPr/>
        </p:nvSpPr>
        <p:spPr>
          <a:xfrm>
            <a:off x="595675" y="1081444"/>
            <a:ext cx="3549900" cy="4056300"/>
          </a:xfrm>
          <a:prstGeom prst="rect">
            <a:avLst/>
          </a:prstGeom>
          <a:noFill/>
          <a:ln>
            <a:noFill/>
          </a:ln>
        </p:spPr>
        <p:txBody>
          <a:bodyPr anchorCtr="0" anchor="t" bIns="127675" lIns="127675" spcFirstLastPara="1" rIns="127675" wrap="square" tIns="127675">
            <a:noAutofit/>
          </a:bodyPr>
          <a:lstStyle/>
          <a:p>
            <a:pPr indent="0" lvl="0" marL="0" rtl="0" algn="l">
              <a:spcBef>
                <a:spcPts val="0"/>
              </a:spcBef>
              <a:spcAft>
                <a:spcPts val="0"/>
              </a:spcAft>
              <a:buNone/>
            </a:pPr>
            <a:r>
              <a:rPr b="1" lang="en" sz="1536">
                <a:solidFill>
                  <a:schemeClr val="dk2"/>
                </a:solidFill>
              </a:rPr>
              <a:t>¿Qué es?</a:t>
            </a:r>
            <a:endParaRPr b="1"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Una pasantía de 12 a 18 meses</a:t>
            </a:r>
            <a:endParaRPr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Desarrollando proyectos donde requieres planificar a largo plazo</a:t>
            </a:r>
            <a:endParaRPr sz="1536">
              <a:solidFill>
                <a:schemeClr val="dk2"/>
              </a:solidFill>
            </a:endParaRPr>
          </a:p>
          <a:p>
            <a:pPr indent="0" lvl="0" marL="0" rtl="0" algn="l">
              <a:spcBef>
                <a:spcPts val="0"/>
              </a:spcBef>
              <a:spcAft>
                <a:spcPts val="0"/>
              </a:spcAft>
              <a:buNone/>
            </a:pPr>
            <a:r>
              <a:t/>
            </a:r>
            <a:endParaRPr sz="1536">
              <a:solidFill>
                <a:schemeClr val="dk2"/>
              </a:solidFill>
            </a:endParaRPr>
          </a:p>
          <a:p>
            <a:pPr indent="0" lvl="0" marL="0" rtl="0" algn="l">
              <a:spcBef>
                <a:spcPts val="0"/>
              </a:spcBef>
              <a:spcAft>
                <a:spcPts val="0"/>
              </a:spcAft>
              <a:buNone/>
            </a:pPr>
            <a:r>
              <a:rPr b="1" lang="en" sz="1536">
                <a:solidFill>
                  <a:schemeClr val="dk2"/>
                </a:solidFill>
              </a:rPr>
              <a:t>¿A quién va dirigido?</a:t>
            </a:r>
            <a:endParaRPr b="1"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Recien egresados o por egresar</a:t>
            </a:r>
            <a:endParaRPr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Jóvenes que busquen experiencia profesionales a largo plazo y vivir en otro país durante años</a:t>
            </a:r>
            <a:endParaRPr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Jóvenes entre 18 y 30 años con un inglés de B1 en adelante.</a:t>
            </a:r>
            <a:endParaRPr sz="1536">
              <a:solidFill>
                <a:schemeClr val="dk2"/>
              </a:solidFill>
            </a:endParaRPr>
          </a:p>
          <a:p>
            <a:pPr indent="0" lvl="0" marL="0" rtl="0" algn="l">
              <a:spcBef>
                <a:spcPts val="0"/>
              </a:spcBef>
              <a:spcAft>
                <a:spcPts val="0"/>
              </a:spcAft>
              <a:buNone/>
            </a:pPr>
            <a:r>
              <a:t/>
            </a:r>
            <a:endParaRPr b="1" sz="1536">
              <a:solidFill>
                <a:schemeClr val="dk2"/>
              </a:solidFill>
            </a:endParaRPr>
          </a:p>
        </p:txBody>
      </p:sp>
      <p:sp>
        <p:nvSpPr>
          <p:cNvPr id="118" name="Google Shape;118;p20"/>
          <p:cNvSpPr/>
          <p:nvPr/>
        </p:nvSpPr>
        <p:spPr>
          <a:xfrm>
            <a:off x="4870950" y="725475"/>
            <a:ext cx="3747900" cy="4301400"/>
          </a:xfrm>
          <a:prstGeom prst="roundRect">
            <a:avLst>
              <a:gd fmla="val 16667" name="adj"/>
            </a:avLst>
          </a:prstGeom>
          <a:solidFill>
            <a:schemeClr val="lt1"/>
          </a:solidFill>
          <a:ln cap="flat" cmpd="sng" w="13300">
            <a:solidFill>
              <a:schemeClr val="dk2"/>
            </a:solidFill>
            <a:prstDash val="solid"/>
            <a:round/>
            <a:headEnd len="sm" w="sm" type="none"/>
            <a:tailEnd len="sm" w="sm" type="none"/>
          </a:ln>
        </p:spPr>
        <p:txBody>
          <a:bodyPr anchorCtr="0" anchor="ctr" bIns="127675" lIns="127675" spcFirstLastPara="1" rIns="127675" wrap="square" tIns="127675">
            <a:noAutofit/>
          </a:bodyPr>
          <a:lstStyle/>
          <a:p>
            <a:pPr indent="0" lvl="0" marL="0" rtl="0" algn="ctr">
              <a:spcBef>
                <a:spcPts val="0"/>
              </a:spcBef>
              <a:spcAft>
                <a:spcPts val="0"/>
              </a:spcAft>
              <a:buNone/>
            </a:pPr>
            <a:r>
              <a:t/>
            </a:r>
            <a:endParaRPr sz="1954"/>
          </a:p>
        </p:txBody>
      </p:sp>
      <p:sp>
        <p:nvSpPr>
          <p:cNvPr id="119" name="Google Shape;119;p20"/>
          <p:cNvSpPr txBox="1"/>
          <p:nvPr/>
        </p:nvSpPr>
        <p:spPr>
          <a:xfrm>
            <a:off x="4947875" y="1025735"/>
            <a:ext cx="3670800" cy="3995400"/>
          </a:xfrm>
          <a:prstGeom prst="rect">
            <a:avLst/>
          </a:prstGeom>
          <a:noFill/>
          <a:ln>
            <a:noFill/>
          </a:ln>
        </p:spPr>
        <p:txBody>
          <a:bodyPr anchorCtr="0" anchor="t" bIns="127675" lIns="127675" spcFirstLastPara="1" rIns="127675" wrap="square" tIns="127675">
            <a:noAutofit/>
          </a:bodyPr>
          <a:lstStyle/>
          <a:p>
            <a:pPr indent="0" lvl="0" marL="0" rtl="0" algn="l">
              <a:spcBef>
                <a:spcPts val="0"/>
              </a:spcBef>
              <a:spcAft>
                <a:spcPts val="0"/>
              </a:spcAft>
              <a:buNone/>
            </a:pPr>
            <a:r>
              <a:rPr b="1" lang="en" sz="1536">
                <a:solidFill>
                  <a:schemeClr val="dk2"/>
                </a:solidFill>
              </a:rPr>
              <a:t>Beneficios</a:t>
            </a:r>
            <a:endParaRPr b="1"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Usualmente estás oportunidades son remuneradas así que no suelen ofrecer otras cosas como hospedaje, comidas o transporte</a:t>
            </a:r>
            <a:endParaRPr sz="1536">
              <a:solidFill>
                <a:schemeClr val="dk2"/>
              </a:solidFill>
            </a:endParaRPr>
          </a:p>
          <a:p>
            <a:pPr indent="0" lvl="0" marL="0" rtl="0" algn="l">
              <a:spcBef>
                <a:spcPts val="0"/>
              </a:spcBef>
              <a:spcAft>
                <a:spcPts val="0"/>
              </a:spcAft>
              <a:buNone/>
            </a:pPr>
            <a:r>
              <a:t/>
            </a:r>
            <a:endParaRPr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El horario es de 5 días a la semana por 40 horas así que tienes oportunidad de salir a conocer el país</a:t>
            </a:r>
            <a:endParaRPr sz="1536">
              <a:solidFill>
                <a:schemeClr val="dk2"/>
              </a:solidFill>
            </a:endParaRPr>
          </a:p>
          <a:p>
            <a:pPr indent="0" lvl="0" marL="0" rtl="0" algn="l">
              <a:spcBef>
                <a:spcPts val="0"/>
              </a:spcBef>
              <a:spcAft>
                <a:spcPts val="0"/>
              </a:spcAft>
              <a:buNone/>
            </a:pPr>
            <a:r>
              <a:t/>
            </a:r>
            <a:endParaRPr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Se da acompañamiento migratorio para que sea posible la estadía durante la experiencia</a:t>
            </a:r>
            <a:endParaRPr sz="1536">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3" name="Shape 123"/>
        <p:cNvGrpSpPr/>
        <p:nvPr/>
      </p:nvGrpSpPr>
      <p:grpSpPr>
        <a:xfrm>
          <a:off x="0" y="0"/>
          <a:ext cx="0" cy="0"/>
          <a:chOff x="0" y="0"/>
          <a:chExt cx="0" cy="0"/>
        </a:xfrm>
      </p:grpSpPr>
      <p:sp>
        <p:nvSpPr>
          <p:cNvPr id="124" name="Google Shape;124;p21"/>
          <p:cNvSpPr txBox="1"/>
          <p:nvPr/>
        </p:nvSpPr>
        <p:spPr>
          <a:xfrm>
            <a:off x="1365006" y="6927"/>
            <a:ext cx="6561300" cy="1252200"/>
          </a:xfrm>
          <a:prstGeom prst="rect">
            <a:avLst/>
          </a:prstGeom>
          <a:noFill/>
          <a:ln>
            <a:noFill/>
          </a:ln>
        </p:spPr>
        <p:txBody>
          <a:bodyPr anchorCtr="0" anchor="t" bIns="86425" lIns="86425" spcFirstLastPara="1" rIns="86425" wrap="square" tIns="86425">
            <a:noAutofit/>
          </a:bodyPr>
          <a:lstStyle/>
          <a:p>
            <a:pPr indent="0" lvl="0" marL="0" rtl="0" algn="ctr">
              <a:lnSpc>
                <a:spcPct val="70000"/>
              </a:lnSpc>
              <a:spcBef>
                <a:spcPts val="6807"/>
              </a:spcBef>
              <a:spcAft>
                <a:spcPts val="6807"/>
              </a:spcAft>
              <a:buNone/>
            </a:pPr>
            <a:r>
              <a:rPr b="1" lang="en" sz="3200">
                <a:solidFill>
                  <a:schemeClr val="lt1"/>
                </a:solidFill>
                <a:latin typeface="Montserrat"/>
                <a:ea typeface="Montserrat"/>
                <a:cs typeface="Montserrat"/>
                <a:sym typeface="Montserrat"/>
              </a:rPr>
              <a:t>Propuesta de valor: GTe</a:t>
            </a:r>
            <a:endParaRPr b="1" sz="3200">
              <a:solidFill>
                <a:schemeClr val="dk2"/>
              </a:solidFill>
              <a:latin typeface="Nunito"/>
              <a:ea typeface="Nunito"/>
              <a:cs typeface="Nunito"/>
              <a:sym typeface="Nunito"/>
            </a:endParaRPr>
          </a:p>
        </p:txBody>
      </p:sp>
      <p:sp>
        <p:nvSpPr>
          <p:cNvPr id="125" name="Google Shape;125;p21"/>
          <p:cNvSpPr/>
          <p:nvPr/>
        </p:nvSpPr>
        <p:spPr>
          <a:xfrm>
            <a:off x="474650" y="710225"/>
            <a:ext cx="3747900" cy="4301400"/>
          </a:xfrm>
          <a:prstGeom prst="roundRect">
            <a:avLst>
              <a:gd fmla="val 16667" name="adj"/>
            </a:avLst>
          </a:prstGeom>
          <a:solidFill>
            <a:schemeClr val="lt1"/>
          </a:solidFill>
          <a:ln cap="flat" cmpd="sng" w="13300">
            <a:solidFill>
              <a:schemeClr val="dk2"/>
            </a:solidFill>
            <a:prstDash val="solid"/>
            <a:round/>
            <a:headEnd len="sm" w="sm" type="none"/>
            <a:tailEnd len="sm" w="sm" type="none"/>
          </a:ln>
        </p:spPr>
        <p:txBody>
          <a:bodyPr anchorCtr="0" anchor="ctr" bIns="127675" lIns="127675" spcFirstLastPara="1" rIns="127675" wrap="square" tIns="127675">
            <a:noAutofit/>
          </a:bodyPr>
          <a:lstStyle/>
          <a:p>
            <a:pPr indent="0" lvl="0" marL="0" rtl="0" algn="ctr">
              <a:spcBef>
                <a:spcPts val="0"/>
              </a:spcBef>
              <a:spcAft>
                <a:spcPts val="0"/>
              </a:spcAft>
              <a:buNone/>
            </a:pPr>
            <a:r>
              <a:t/>
            </a:r>
            <a:endParaRPr sz="1954"/>
          </a:p>
        </p:txBody>
      </p:sp>
      <p:sp>
        <p:nvSpPr>
          <p:cNvPr id="126" name="Google Shape;126;p21"/>
          <p:cNvSpPr txBox="1"/>
          <p:nvPr/>
        </p:nvSpPr>
        <p:spPr>
          <a:xfrm>
            <a:off x="595675" y="1081444"/>
            <a:ext cx="3549900" cy="4056300"/>
          </a:xfrm>
          <a:prstGeom prst="rect">
            <a:avLst/>
          </a:prstGeom>
          <a:noFill/>
          <a:ln>
            <a:noFill/>
          </a:ln>
        </p:spPr>
        <p:txBody>
          <a:bodyPr anchorCtr="0" anchor="t" bIns="127675" lIns="127675" spcFirstLastPara="1" rIns="127675" wrap="square" tIns="127675">
            <a:noAutofit/>
          </a:bodyPr>
          <a:lstStyle/>
          <a:p>
            <a:pPr indent="0" lvl="0" marL="0" rtl="0" algn="l">
              <a:spcBef>
                <a:spcPts val="0"/>
              </a:spcBef>
              <a:spcAft>
                <a:spcPts val="0"/>
              </a:spcAft>
              <a:buNone/>
            </a:pPr>
            <a:r>
              <a:rPr b="1" lang="en" sz="1536">
                <a:solidFill>
                  <a:schemeClr val="dk2"/>
                </a:solidFill>
              </a:rPr>
              <a:t>¿Qué es?</a:t>
            </a:r>
            <a:endParaRPr b="1"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Es un programa que posee las mismas características que GTa, con la diferencia de a quienes se dirige.</a:t>
            </a:r>
            <a:endParaRPr sz="1536">
              <a:solidFill>
                <a:schemeClr val="dk2"/>
              </a:solidFill>
            </a:endParaRPr>
          </a:p>
          <a:p>
            <a:pPr indent="0" lvl="0" marL="0" rtl="0" algn="l">
              <a:spcBef>
                <a:spcPts val="0"/>
              </a:spcBef>
              <a:spcAft>
                <a:spcPts val="0"/>
              </a:spcAft>
              <a:buNone/>
            </a:pPr>
            <a:r>
              <a:t/>
            </a:r>
            <a:endParaRPr sz="1536">
              <a:solidFill>
                <a:schemeClr val="dk2"/>
              </a:solidFill>
            </a:endParaRPr>
          </a:p>
          <a:p>
            <a:pPr indent="0" lvl="0" marL="0" rtl="0" algn="l">
              <a:spcBef>
                <a:spcPts val="0"/>
              </a:spcBef>
              <a:spcAft>
                <a:spcPts val="0"/>
              </a:spcAft>
              <a:buNone/>
            </a:pPr>
            <a:r>
              <a:rPr b="1" lang="en" sz="1536">
                <a:solidFill>
                  <a:schemeClr val="dk2"/>
                </a:solidFill>
              </a:rPr>
              <a:t>¿A quién va dirigido?</a:t>
            </a:r>
            <a:endParaRPr b="1"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Recien egresados o por egresar en carreras de educación o idiomas</a:t>
            </a:r>
            <a:endParaRPr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Jóvenes que busquen experiencia profesionales en academias dando clases</a:t>
            </a:r>
            <a:endParaRPr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Jóvenes entre 18 y 30 años con un inglés de B2 en adelante.</a:t>
            </a:r>
            <a:endParaRPr sz="1536">
              <a:solidFill>
                <a:schemeClr val="dk2"/>
              </a:solidFill>
            </a:endParaRPr>
          </a:p>
          <a:p>
            <a:pPr indent="0" lvl="0" marL="0" rtl="0" algn="l">
              <a:spcBef>
                <a:spcPts val="0"/>
              </a:spcBef>
              <a:spcAft>
                <a:spcPts val="0"/>
              </a:spcAft>
              <a:buNone/>
            </a:pPr>
            <a:r>
              <a:t/>
            </a:r>
            <a:endParaRPr b="1" sz="1536">
              <a:solidFill>
                <a:schemeClr val="dk2"/>
              </a:solidFill>
            </a:endParaRPr>
          </a:p>
        </p:txBody>
      </p:sp>
      <p:sp>
        <p:nvSpPr>
          <p:cNvPr id="127" name="Google Shape;127;p21"/>
          <p:cNvSpPr/>
          <p:nvPr/>
        </p:nvSpPr>
        <p:spPr>
          <a:xfrm>
            <a:off x="4870950" y="725475"/>
            <a:ext cx="3747900" cy="4301400"/>
          </a:xfrm>
          <a:prstGeom prst="roundRect">
            <a:avLst>
              <a:gd fmla="val 16667" name="adj"/>
            </a:avLst>
          </a:prstGeom>
          <a:solidFill>
            <a:schemeClr val="lt1"/>
          </a:solidFill>
          <a:ln cap="flat" cmpd="sng" w="13300">
            <a:solidFill>
              <a:schemeClr val="dk2"/>
            </a:solidFill>
            <a:prstDash val="solid"/>
            <a:round/>
            <a:headEnd len="sm" w="sm" type="none"/>
            <a:tailEnd len="sm" w="sm" type="none"/>
          </a:ln>
        </p:spPr>
        <p:txBody>
          <a:bodyPr anchorCtr="0" anchor="ctr" bIns="127675" lIns="127675" spcFirstLastPara="1" rIns="127675" wrap="square" tIns="127675">
            <a:noAutofit/>
          </a:bodyPr>
          <a:lstStyle/>
          <a:p>
            <a:pPr indent="0" lvl="0" marL="0" rtl="0" algn="ctr">
              <a:spcBef>
                <a:spcPts val="0"/>
              </a:spcBef>
              <a:spcAft>
                <a:spcPts val="0"/>
              </a:spcAft>
              <a:buNone/>
            </a:pPr>
            <a:r>
              <a:t/>
            </a:r>
            <a:endParaRPr sz="1954"/>
          </a:p>
        </p:txBody>
      </p:sp>
      <p:sp>
        <p:nvSpPr>
          <p:cNvPr id="128" name="Google Shape;128;p21"/>
          <p:cNvSpPr txBox="1"/>
          <p:nvPr/>
        </p:nvSpPr>
        <p:spPr>
          <a:xfrm>
            <a:off x="4947875" y="1025735"/>
            <a:ext cx="3670800" cy="3995400"/>
          </a:xfrm>
          <a:prstGeom prst="rect">
            <a:avLst/>
          </a:prstGeom>
          <a:noFill/>
          <a:ln>
            <a:noFill/>
          </a:ln>
        </p:spPr>
        <p:txBody>
          <a:bodyPr anchorCtr="0" anchor="t" bIns="127675" lIns="127675" spcFirstLastPara="1" rIns="127675" wrap="square" tIns="127675">
            <a:noAutofit/>
          </a:bodyPr>
          <a:lstStyle/>
          <a:p>
            <a:pPr indent="0" lvl="0" marL="0" rtl="0" algn="l">
              <a:spcBef>
                <a:spcPts val="0"/>
              </a:spcBef>
              <a:spcAft>
                <a:spcPts val="0"/>
              </a:spcAft>
              <a:buNone/>
            </a:pPr>
            <a:r>
              <a:rPr b="1" lang="en" sz="1536">
                <a:solidFill>
                  <a:schemeClr val="dk2"/>
                </a:solidFill>
              </a:rPr>
              <a:t>Beneficios</a:t>
            </a:r>
            <a:endParaRPr b="1"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Los beneficios al igual que en GT varían respecto a la duración de la experiencia del EP</a:t>
            </a:r>
            <a:endParaRPr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A nivel profesional no son empresas sino academias reconocidas internacionalmente</a:t>
            </a:r>
            <a:endParaRPr sz="1536">
              <a:solidFill>
                <a:schemeClr val="dk2"/>
              </a:solidFill>
            </a:endParaRPr>
          </a:p>
        </p:txBody>
      </p:sp>
      <p:pic>
        <p:nvPicPr>
          <p:cNvPr descr="a white cat is reading a book in a cartoon . (proporcionada por Tenor)" id="129" name="Google Shape;129;p21"/>
          <p:cNvPicPr preferRelativeResize="0"/>
          <p:nvPr/>
        </p:nvPicPr>
        <p:blipFill>
          <a:blip r:embed="rId4">
            <a:alphaModFix/>
          </a:blip>
          <a:stretch>
            <a:fillRect/>
          </a:stretch>
        </p:blipFill>
        <p:spPr>
          <a:xfrm>
            <a:off x="5711425" y="2571738"/>
            <a:ext cx="2066925" cy="2238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3" name="Shape 133"/>
        <p:cNvGrpSpPr/>
        <p:nvPr/>
      </p:nvGrpSpPr>
      <p:grpSpPr>
        <a:xfrm>
          <a:off x="0" y="0"/>
          <a:ext cx="0" cy="0"/>
          <a:chOff x="0" y="0"/>
          <a:chExt cx="0" cy="0"/>
        </a:xfrm>
      </p:grpSpPr>
      <p:sp>
        <p:nvSpPr>
          <p:cNvPr id="134" name="Google Shape;134;p22"/>
          <p:cNvSpPr txBox="1"/>
          <p:nvPr/>
        </p:nvSpPr>
        <p:spPr>
          <a:xfrm>
            <a:off x="332125" y="45642"/>
            <a:ext cx="5143200" cy="482400"/>
          </a:xfrm>
          <a:prstGeom prst="rect">
            <a:avLst/>
          </a:prstGeom>
          <a:noFill/>
          <a:ln>
            <a:noFill/>
          </a:ln>
        </p:spPr>
        <p:txBody>
          <a:bodyPr anchorCtr="0" anchor="t" bIns="86425" lIns="86425" spcFirstLastPara="1" rIns="86425" wrap="square" tIns="86425">
            <a:noAutofit/>
          </a:bodyPr>
          <a:lstStyle/>
          <a:p>
            <a:pPr indent="0" lvl="0" marL="0" rtl="0" algn="l">
              <a:lnSpc>
                <a:spcPct val="90000"/>
              </a:lnSpc>
              <a:spcBef>
                <a:spcPts val="0"/>
              </a:spcBef>
              <a:spcAft>
                <a:spcPts val="0"/>
              </a:spcAft>
              <a:buNone/>
            </a:pPr>
            <a:r>
              <a:rPr lang="en" sz="4000">
                <a:solidFill>
                  <a:schemeClr val="lt1"/>
                </a:solidFill>
                <a:highlight>
                  <a:srgbClr val="405E78"/>
                </a:highlight>
                <a:latin typeface="Montserrat"/>
                <a:ea typeface="Montserrat"/>
                <a:cs typeface="Montserrat"/>
                <a:sym typeface="Montserrat"/>
              </a:rPr>
              <a:t>Nota: Importante</a:t>
            </a:r>
            <a:endParaRPr sz="4000">
              <a:solidFill>
                <a:schemeClr val="lt1"/>
              </a:solidFill>
              <a:highlight>
                <a:srgbClr val="405E78"/>
              </a:highlight>
              <a:latin typeface="Montserrat"/>
              <a:ea typeface="Montserrat"/>
              <a:cs typeface="Montserrat"/>
              <a:sym typeface="Montserrat"/>
            </a:endParaRPr>
          </a:p>
          <a:p>
            <a:pPr indent="0" lvl="0" marL="0" rtl="0" algn="l">
              <a:spcBef>
                <a:spcPts val="0"/>
              </a:spcBef>
              <a:spcAft>
                <a:spcPts val="0"/>
              </a:spcAft>
              <a:buNone/>
            </a:pPr>
            <a:r>
              <a:t/>
            </a:r>
            <a:endParaRPr sz="4000">
              <a:solidFill>
                <a:srgbClr val="405E78"/>
              </a:solidFill>
              <a:latin typeface="Nunito"/>
              <a:ea typeface="Nunito"/>
              <a:cs typeface="Nunito"/>
              <a:sym typeface="Nunito"/>
            </a:endParaRPr>
          </a:p>
        </p:txBody>
      </p:sp>
      <p:sp>
        <p:nvSpPr>
          <p:cNvPr id="135" name="Google Shape;135;p22"/>
          <p:cNvSpPr/>
          <p:nvPr/>
        </p:nvSpPr>
        <p:spPr>
          <a:xfrm>
            <a:off x="134298" y="791425"/>
            <a:ext cx="6088800" cy="4301400"/>
          </a:xfrm>
          <a:prstGeom prst="roundRect">
            <a:avLst>
              <a:gd fmla="val 16667" name="adj"/>
            </a:avLst>
          </a:prstGeom>
          <a:solidFill>
            <a:schemeClr val="lt1"/>
          </a:solidFill>
          <a:ln cap="flat" cmpd="sng" w="13300">
            <a:solidFill>
              <a:schemeClr val="dk2"/>
            </a:solidFill>
            <a:prstDash val="solid"/>
            <a:round/>
            <a:headEnd len="sm" w="sm" type="none"/>
            <a:tailEnd len="sm" w="sm" type="none"/>
          </a:ln>
        </p:spPr>
        <p:txBody>
          <a:bodyPr anchorCtr="0" anchor="ctr" bIns="127675" lIns="127675" spcFirstLastPara="1" rIns="127675" wrap="square" tIns="127675">
            <a:noAutofit/>
          </a:bodyPr>
          <a:lstStyle/>
          <a:p>
            <a:pPr indent="0" lvl="0" marL="0" rtl="0" algn="ctr">
              <a:spcBef>
                <a:spcPts val="0"/>
              </a:spcBef>
              <a:spcAft>
                <a:spcPts val="0"/>
              </a:spcAft>
              <a:buNone/>
            </a:pPr>
            <a:r>
              <a:t/>
            </a:r>
            <a:endParaRPr sz="1954"/>
          </a:p>
        </p:txBody>
      </p:sp>
      <p:sp>
        <p:nvSpPr>
          <p:cNvPr id="136" name="Google Shape;136;p22"/>
          <p:cNvSpPr txBox="1"/>
          <p:nvPr/>
        </p:nvSpPr>
        <p:spPr>
          <a:xfrm>
            <a:off x="259267" y="1091685"/>
            <a:ext cx="5963400" cy="3995400"/>
          </a:xfrm>
          <a:prstGeom prst="rect">
            <a:avLst/>
          </a:prstGeom>
          <a:noFill/>
          <a:ln>
            <a:noFill/>
          </a:ln>
        </p:spPr>
        <p:txBody>
          <a:bodyPr anchorCtr="0" anchor="t" bIns="127675" lIns="127675" spcFirstLastPara="1" rIns="127675" wrap="square" tIns="127675">
            <a:noAutofit/>
          </a:bodyPr>
          <a:lstStyle/>
          <a:p>
            <a:pPr indent="0" lvl="0" marL="0" rtl="0" algn="l">
              <a:spcBef>
                <a:spcPts val="0"/>
              </a:spcBef>
              <a:spcAft>
                <a:spcPts val="0"/>
              </a:spcAft>
              <a:buNone/>
            </a:pPr>
            <a:r>
              <a:t/>
            </a:r>
            <a:endParaRPr b="1"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El target o foco de los programas son diferentes porque usualmente las oportunidades en GTa son para profesionales en las áreas de: IT, Marketing, Finanzas, Ingeniería, RRHH, entre otros. Mientras, las oportunidades de GTe son para educadores en ciencias y en especial de idiomas</a:t>
            </a:r>
            <a:endParaRPr sz="1536">
              <a:solidFill>
                <a:schemeClr val="dk2"/>
              </a:solidFill>
            </a:endParaRPr>
          </a:p>
          <a:p>
            <a:pPr indent="0" lvl="0" marL="0" rtl="0" algn="l">
              <a:spcBef>
                <a:spcPts val="0"/>
              </a:spcBef>
              <a:spcAft>
                <a:spcPts val="0"/>
              </a:spcAft>
              <a:buNone/>
            </a:pPr>
            <a:r>
              <a:t/>
            </a:r>
            <a:endParaRPr sz="1536">
              <a:solidFill>
                <a:schemeClr val="dk2"/>
              </a:solidFill>
            </a:endParaRPr>
          </a:p>
          <a:p>
            <a:pPr indent="-326140" lvl="0" marL="457200" rtl="0" algn="l">
              <a:spcBef>
                <a:spcPts val="0"/>
              </a:spcBef>
              <a:spcAft>
                <a:spcPts val="0"/>
              </a:spcAft>
              <a:buClr>
                <a:schemeClr val="dk2"/>
              </a:buClr>
              <a:buSzPts val="1536"/>
              <a:buChar char="-"/>
            </a:pPr>
            <a:r>
              <a:rPr lang="en" sz="1536">
                <a:solidFill>
                  <a:schemeClr val="dk2"/>
                </a:solidFill>
              </a:rPr>
              <a:t>Realmente lo que destaca la propuesta de valor de AIESEC es que el soporte que recibe el EP es de un joven que empatiza con él y que ofrecemos experiencias que garantizan calidad y seguridad</a:t>
            </a:r>
            <a:endParaRPr sz="1536">
              <a:solidFill>
                <a:schemeClr val="dk2"/>
              </a:solidFill>
            </a:endParaRPr>
          </a:p>
        </p:txBody>
      </p:sp>
      <p:pic>
        <p:nvPicPr>
          <p:cNvPr descr="Archivo:Gnome-emblem-important.svg - Wikipedia, la enciclopedia ..." id="137" name="Google Shape;137;p22"/>
          <p:cNvPicPr preferRelativeResize="0"/>
          <p:nvPr/>
        </p:nvPicPr>
        <p:blipFill>
          <a:blip r:embed="rId4">
            <a:alphaModFix/>
          </a:blip>
          <a:stretch>
            <a:fillRect/>
          </a:stretch>
        </p:blipFill>
        <p:spPr>
          <a:xfrm>
            <a:off x="4481675" y="3727575"/>
            <a:ext cx="1359500" cy="1359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1" name="Shape 141"/>
        <p:cNvGrpSpPr/>
        <p:nvPr/>
      </p:nvGrpSpPr>
      <p:grpSpPr>
        <a:xfrm>
          <a:off x="0" y="0"/>
          <a:ext cx="0" cy="0"/>
          <a:chOff x="0" y="0"/>
          <a:chExt cx="0" cy="0"/>
        </a:xfrm>
      </p:grpSpPr>
      <p:sp>
        <p:nvSpPr>
          <p:cNvPr id="142" name="Google Shape;142;p23"/>
          <p:cNvSpPr txBox="1"/>
          <p:nvPr/>
        </p:nvSpPr>
        <p:spPr>
          <a:xfrm>
            <a:off x="571442" y="1179827"/>
            <a:ext cx="6561300" cy="1252200"/>
          </a:xfrm>
          <a:prstGeom prst="rect">
            <a:avLst/>
          </a:prstGeom>
          <a:noFill/>
          <a:ln>
            <a:noFill/>
          </a:ln>
        </p:spPr>
        <p:txBody>
          <a:bodyPr anchorCtr="0" anchor="t" bIns="86425" lIns="86425" spcFirstLastPara="1" rIns="86425" wrap="square" tIns="86425">
            <a:noAutofit/>
          </a:bodyPr>
          <a:lstStyle/>
          <a:p>
            <a:pPr indent="0" lvl="0" marL="0" rtl="0" algn="ctr">
              <a:lnSpc>
                <a:spcPct val="70000"/>
              </a:lnSpc>
              <a:spcBef>
                <a:spcPts val="6807"/>
              </a:spcBef>
              <a:spcAft>
                <a:spcPts val="6807"/>
              </a:spcAft>
              <a:buNone/>
            </a:pPr>
            <a:r>
              <a:rPr b="1" lang="en" sz="3200">
                <a:solidFill>
                  <a:schemeClr val="dk1"/>
                </a:solidFill>
                <a:latin typeface="Montserrat"/>
                <a:ea typeface="Montserrat"/>
                <a:cs typeface="Montserrat"/>
                <a:sym typeface="Montserrat"/>
              </a:rPr>
              <a:t>¿Y si no existiera AIESEC?</a:t>
            </a:r>
            <a:endParaRPr b="1" sz="3200">
              <a:solidFill>
                <a:schemeClr val="dk1"/>
              </a:solidFill>
              <a:latin typeface="Nunito"/>
              <a:ea typeface="Nunito"/>
              <a:cs typeface="Nunito"/>
              <a:sym typeface="Nunito"/>
            </a:endParaRPr>
          </a:p>
        </p:txBody>
      </p:sp>
      <p:pic>
        <p:nvPicPr>
          <p:cNvPr descr="a yellow smiley face with a question mark on it 's head . (proporcionada por Tenor)" id="143" name="Google Shape;143;p23"/>
          <p:cNvPicPr preferRelativeResize="0"/>
          <p:nvPr/>
        </p:nvPicPr>
        <p:blipFill>
          <a:blip r:embed="rId4">
            <a:alphaModFix/>
          </a:blip>
          <a:stretch>
            <a:fillRect/>
          </a:stretch>
        </p:blipFill>
        <p:spPr>
          <a:xfrm>
            <a:off x="1443675" y="2432027"/>
            <a:ext cx="971550" cy="1238250"/>
          </a:xfrm>
          <a:prstGeom prst="rect">
            <a:avLst/>
          </a:prstGeom>
          <a:noFill/>
          <a:ln>
            <a:noFill/>
          </a:ln>
        </p:spPr>
      </p:pic>
      <p:sp>
        <p:nvSpPr>
          <p:cNvPr id="144" name="Google Shape;144;p23"/>
          <p:cNvSpPr txBox="1"/>
          <p:nvPr/>
        </p:nvSpPr>
        <p:spPr>
          <a:xfrm>
            <a:off x="2757575" y="2268375"/>
            <a:ext cx="4034400" cy="2083200"/>
          </a:xfrm>
          <a:prstGeom prst="rect">
            <a:avLst/>
          </a:prstGeom>
          <a:noFill/>
          <a:ln>
            <a:noFill/>
          </a:ln>
        </p:spPr>
        <p:txBody>
          <a:bodyPr anchorCtr="0" anchor="t" bIns="86425" lIns="86425" spcFirstLastPara="1" rIns="86425" wrap="square" tIns="86425">
            <a:noAutofit/>
          </a:bodyPr>
          <a:lstStyle/>
          <a:p>
            <a:pPr indent="0" lvl="0" marL="0" rtl="0" algn="ctr">
              <a:lnSpc>
                <a:spcPct val="70000"/>
              </a:lnSpc>
              <a:spcBef>
                <a:spcPts val="6807"/>
              </a:spcBef>
              <a:spcAft>
                <a:spcPts val="6807"/>
              </a:spcAft>
              <a:buNone/>
            </a:pPr>
            <a:r>
              <a:rPr b="1" lang="en" sz="3200">
                <a:solidFill>
                  <a:schemeClr val="dk1"/>
                </a:solidFill>
                <a:latin typeface="Montserrat"/>
                <a:ea typeface="Montserrat"/>
                <a:cs typeface="Montserrat"/>
                <a:sym typeface="Montserrat"/>
              </a:rPr>
              <a:t>¿Existe otra manera de tener los mismos beneficios?</a:t>
            </a:r>
            <a:endParaRPr b="1" sz="3200">
              <a:solidFill>
                <a:schemeClr val="dk1"/>
              </a:solidFill>
              <a:latin typeface="Nunito"/>
              <a:ea typeface="Nunito"/>
              <a:cs typeface="Nunito"/>
              <a:sym typeface="Nuni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8" name="Shape 148"/>
        <p:cNvGrpSpPr/>
        <p:nvPr/>
      </p:nvGrpSpPr>
      <p:grpSpPr>
        <a:xfrm>
          <a:off x="0" y="0"/>
          <a:ext cx="0" cy="0"/>
          <a:chOff x="0" y="0"/>
          <a:chExt cx="0" cy="0"/>
        </a:xfrm>
      </p:grpSpPr>
      <p:sp>
        <p:nvSpPr>
          <p:cNvPr id="149" name="Google Shape;149;p24"/>
          <p:cNvSpPr txBox="1"/>
          <p:nvPr/>
        </p:nvSpPr>
        <p:spPr>
          <a:xfrm>
            <a:off x="643817" y="674077"/>
            <a:ext cx="6561300" cy="1252200"/>
          </a:xfrm>
          <a:prstGeom prst="rect">
            <a:avLst/>
          </a:prstGeom>
          <a:noFill/>
          <a:ln>
            <a:noFill/>
          </a:ln>
        </p:spPr>
        <p:txBody>
          <a:bodyPr anchorCtr="0" anchor="t" bIns="86425" lIns="86425" spcFirstLastPara="1" rIns="86425" wrap="square" tIns="86425">
            <a:noAutofit/>
          </a:bodyPr>
          <a:lstStyle/>
          <a:p>
            <a:pPr indent="0" lvl="0" marL="0" rtl="0" algn="ctr">
              <a:lnSpc>
                <a:spcPct val="70000"/>
              </a:lnSpc>
              <a:spcBef>
                <a:spcPts val="6807"/>
              </a:spcBef>
              <a:spcAft>
                <a:spcPts val="6807"/>
              </a:spcAft>
              <a:buNone/>
            </a:pPr>
            <a:r>
              <a:rPr b="1" lang="en" sz="3200">
                <a:solidFill>
                  <a:schemeClr val="dk1"/>
                </a:solidFill>
                <a:latin typeface="Montserrat"/>
                <a:ea typeface="Montserrat"/>
                <a:cs typeface="Montserrat"/>
                <a:sym typeface="Montserrat"/>
              </a:rPr>
              <a:t>Una realidad es…</a:t>
            </a:r>
            <a:endParaRPr b="1" sz="3200">
              <a:solidFill>
                <a:schemeClr val="dk1"/>
              </a:solidFill>
              <a:latin typeface="Nunito"/>
              <a:ea typeface="Nunito"/>
              <a:cs typeface="Nunito"/>
              <a:sym typeface="Nunito"/>
            </a:endParaRPr>
          </a:p>
        </p:txBody>
      </p:sp>
      <p:sp>
        <p:nvSpPr>
          <p:cNvPr id="150" name="Google Shape;150;p24"/>
          <p:cNvSpPr/>
          <p:nvPr/>
        </p:nvSpPr>
        <p:spPr>
          <a:xfrm>
            <a:off x="643825" y="1791725"/>
            <a:ext cx="6105000" cy="2481000"/>
          </a:xfrm>
          <a:prstGeom prst="roundRect">
            <a:avLst>
              <a:gd fmla="val 16667" name="adj"/>
            </a:avLst>
          </a:prstGeom>
          <a:solidFill>
            <a:schemeClr val="lt1"/>
          </a:solidFill>
          <a:ln cap="flat" cmpd="sng" w="11950">
            <a:solidFill>
              <a:schemeClr val="dk2"/>
            </a:solidFill>
            <a:prstDash val="solid"/>
            <a:round/>
            <a:headEnd len="sm" w="sm" type="none"/>
            <a:tailEnd len="sm" w="sm" type="none"/>
          </a:ln>
        </p:spPr>
        <p:txBody>
          <a:bodyPr anchorCtr="0" anchor="ctr" bIns="114650" lIns="114650" spcFirstLastPara="1" rIns="114650" wrap="square" tIns="114650">
            <a:noAutofit/>
          </a:bodyPr>
          <a:lstStyle/>
          <a:p>
            <a:pPr indent="0" lvl="0" marL="0" rtl="0" algn="ctr">
              <a:spcBef>
                <a:spcPts val="0"/>
              </a:spcBef>
              <a:spcAft>
                <a:spcPts val="0"/>
              </a:spcAft>
              <a:buNone/>
            </a:pPr>
            <a:r>
              <a:t/>
            </a:r>
            <a:endParaRPr sz="2055"/>
          </a:p>
        </p:txBody>
      </p:sp>
      <p:sp>
        <p:nvSpPr>
          <p:cNvPr id="151" name="Google Shape;151;p24"/>
          <p:cNvSpPr txBox="1"/>
          <p:nvPr/>
        </p:nvSpPr>
        <p:spPr>
          <a:xfrm>
            <a:off x="769132" y="1971815"/>
            <a:ext cx="5979300" cy="2304300"/>
          </a:xfrm>
          <a:prstGeom prst="rect">
            <a:avLst/>
          </a:prstGeom>
          <a:noFill/>
          <a:ln>
            <a:noFill/>
          </a:ln>
        </p:spPr>
        <p:txBody>
          <a:bodyPr anchorCtr="0" anchor="t" bIns="114650" lIns="114650" spcFirstLastPara="1" rIns="114650" wrap="square" tIns="114650">
            <a:noAutofit/>
          </a:bodyPr>
          <a:lstStyle/>
          <a:p>
            <a:pPr indent="-335244" lvl="0" marL="457200" rtl="0" algn="l">
              <a:spcBef>
                <a:spcPts val="0"/>
              </a:spcBef>
              <a:spcAft>
                <a:spcPts val="0"/>
              </a:spcAft>
              <a:buClr>
                <a:schemeClr val="dk2"/>
              </a:buClr>
              <a:buSzPts val="1679"/>
              <a:buChar char="-"/>
            </a:pPr>
            <a:r>
              <a:rPr lang="en" sz="1679">
                <a:solidFill>
                  <a:schemeClr val="dk2"/>
                </a:solidFill>
              </a:rPr>
              <a:t>Existen otro tipo de organizaciones o voluntariados que también ofrecen oportunidades de vivir el intercambio internacional</a:t>
            </a:r>
            <a:endParaRPr sz="1679">
              <a:solidFill>
                <a:schemeClr val="dk2"/>
              </a:solidFill>
            </a:endParaRPr>
          </a:p>
          <a:p>
            <a:pPr indent="0" lvl="0" marL="0" rtl="0" algn="l">
              <a:spcBef>
                <a:spcPts val="0"/>
              </a:spcBef>
              <a:spcAft>
                <a:spcPts val="0"/>
              </a:spcAft>
              <a:buNone/>
            </a:pPr>
            <a:r>
              <a:t/>
            </a:r>
            <a:endParaRPr sz="1679">
              <a:solidFill>
                <a:schemeClr val="dk2"/>
              </a:solidFill>
            </a:endParaRPr>
          </a:p>
          <a:p>
            <a:pPr indent="-311933" lvl="0" marL="410578" rtl="0" algn="l">
              <a:spcBef>
                <a:spcPts val="0"/>
              </a:spcBef>
              <a:spcAft>
                <a:spcPts val="0"/>
              </a:spcAft>
              <a:buClr>
                <a:schemeClr val="dk2"/>
              </a:buClr>
              <a:buSzPts val="1679"/>
              <a:buChar char="-"/>
            </a:pPr>
            <a:r>
              <a:rPr lang="en" sz="1679">
                <a:solidFill>
                  <a:schemeClr val="dk2"/>
                </a:solidFill>
              </a:rPr>
              <a:t>El mercado de pasantías realmente tiene una cantidad limitada de oportunidades y los procesos pueden variar mucho dependiendo del país</a:t>
            </a:r>
            <a:endParaRPr sz="1679">
              <a:solidFill>
                <a:schemeClr val="dk2"/>
              </a:solidFill>
            </a:endParaRPr>
          </a:p>
        </p:txBody>
      </p:sp>
      <p:pic>
        <p:nvPicPr>
          <p:cNvPr descr="a close up of a cat licking its paw against a white background . (proporcionada por Tenor)" id="152" name="Google Shape;152;p24"/>
          <p:cNvPicPr preferRelativeResize="0"/>
          <p:nvPr/>
        </p:nvPicPr>
        <p:blipFill>
          <a:blip r:embed="rId4">
            <a:alphaModFix/>
          </a:blip>
          <a:stretch>
            <a:fillRect/>
          </a:stretch>
        </p:blipFill>
        <p:spPr>
          <a:xfrm>
            <a:off x="0" y="370150"/>
            <a:ext cx="1800650" cy="1196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6" name="Shape 156"/>
        <p:cNvGrpSpPr/>
        <p:nvPr/>
      </p:nvGrpSpPr>
      <p:grpSpPr>
        <a:xfrm>
          <a:off x="0" y="0"/>
          <a:ext cx="0" cy="0"/>
          <a:chOff x="0" y="0"/>
          <a:chExt cx="0" cy="0"/>
        </a:xfrm>
      </p:grpSpPr>
      <p:sp>
        <p:nvSpPr>
          <p:cNvPr id="157" name="Google Shape;157;p25"/>
          <p:cNvSpPr txBox="1"/>
          <p:nvPr/>
        </p:nvSpPr>
        <p:spPr>
          <a:xfrm>
            <a:off x="988150" y="340489"/>
            <a:ext cx="6223500" cy="1252200"/>
          </a:xfrm>
          <a:prstGeom prst="rect">
            <a:avLst/>
          </a:prstGeom>
          <a:noFill/>
          <a:ln>
            <a:noFill/>
          </a:ln>
        </p:spPr>
        <p:txBody>
          <a:bodyPr anchorCtr="0" anchor="t" bIns="86425" lIns="86425" spcFirstLastPara="1" rIns="86425" wrap="square" tIns="86425">
            <a:noAutofit/>
          </a:bodyPr>
          <a:lstStyle/>
          <a:p>
            <a:pPr indent="0" lvl="0" marL="0" rtl="0" algn="ctr">
              <a:lnSpc>
                <a:spcPct val="70000"/>
              </a:lnSpc>
              <a:spcBef>
                <a:spcPts val="6807"/>
              </a:spcBef>
              <a:spcAft>
                <a:spcPts val="6807"/>
              </a:spcAft>
              <a:buNone/>
            </a:pPr>
            <a:r>
              <a:rPr b="1" lang="en" sz="3200">
                <a:solidFill>
                  <a:schemeClr val="dk1"/>
                </a:solidFill>
                <a:latin typeface="Montserrat"/>
                <a:ea typeface="Montserrat"/>
                <a:cs typeface="Montserrat"/>
                <a:sym typeface="Montserrat"/>
              </a:rPr>
              <a:t>Pero la verdad es que como AIESEC no hay otro</a:t>
            </a:r>
            <a:endParaRPr b="1" sz="3200">
              <a:solidFill>
                <a:schemeClr val="dk1"/>
              </a:solidFill>
              <a:latin typeface="Nunito"/>
              <a:ea typeface="Nunito"/>
              <a:cs typeface="Nunito"/>
              <a:sym typeface="Nunito"/>
            </a:endParaRPr>
          </a:p>
        </p:txBody>
      </p:sp>
      <p:sp>
        <p:nvSpPr>
          <p:cNvPr id="158" name="Google Shape;158;p25"/>
          <p:cNvSpPr/>
          <p:nvPr/>
        </p:nvSpPr>
        <p:spPr>
          <a:xfrm>
            <a:off x="1315325" y="1296727"/>
            <a:ext cx="6105000" cy="2688900"/>
          </a:xfrm>
          <a:prstGeom prst="roundRect">
            <a:avLst>
              <a:gd fmla="val 16667" name="adj"/>
            </a:avLst>
          </a:prstGeom>
          <a:solidFill>
            <a:schemeClr val="lt1"/>
          </a:solidFill>
          <a:ln cap="flat" cmpd="sng" w="11950">
            <a:solidFill>
              <a:schemeClr val="dk2"/>
            </a:solidFill>
            <a:prstDash val="solid"/>
            <a:round/>
            <a:headEnd len="sm" w="sm" type="none"/>
            <a:tailEnd len="sm" w="sm" type="none"/>
          </a:ln>
        </p:spPr>
        <p:txBody>
          <a:bodyPr anchorCtr="0" anchor="ctr" bIns="114650" lIns="114650" spcFirstLastPara="1" rIns="114650" wrap="square" tIns="114650">
            <a:noAutofit/>
          </a:bodyPr>
          <a:lstStyle/>
          <a:p>
            <a:pPr indent="0" lvl="0" marL="0" rtl="0" algn="ctr">
              <a:spcBef>
                <a:spcPts val="0"/>
              </a:spcBef>
              <a:spcAft>
                <a:spcPts val="0"/>
              </a:spcAft>
              <a:buNone/>
            </a:pPr>
            <a:r>
              <a:t/>
            </a:r>
            <a:endParaRPr sz="2055"/>
          </a:p>
        </p:txBody>
      </p:sp>
      <p:sp>
        <p:nvSpPr>
          <p:cNvPr id="159" name="Google Shape;159;p25"/>
          <p:cNvSpPr txBox="1"/>
          <p:nvPr/>
        </p:nvSpPr>
        <p:spPr>
          <a:xfrm>
            <a:off x="1196450" y="1415410"/>
            <a:ext cx="6223500" cy="3033000"/>
          </a:xfrm>
          <a:prstGeom prst="rect">
            <a:avLst/>
          </a:prstGeom>
          <a:noFill/>
          <a:ln>
            <a:noFill/>
          </a:ln>
        </p:spPr>
        <p:txBody>
          <a:bodyPr anchorCtr="0" anchor="t" bIns="114650" lIns="114650" spcFirstLastPara="1" rIns="114650" wrap="square" tIns="114650">
            <a:noAutofit/>
          </a:bodyPr>
          <a:lstStyle/>
          <a:p>
            <a:pPr indent="-335244" lvl="0" marL="457200" rtl="0" algn="l">
              <a:spcBef>
                <a:spcPts val="0"/>
              </a:spcBef>
              <a:spcAft>
                <a:spcPts val="0"/>
              </a:spcAft>
              <a:buClr>
                <a:schemeClr val="dk2"/>
              </a:buClr>
              <a:buSzPts val="1679"/>
              <a:buChar char="-"/>
            </a:pPr>
            <a:r>
              <a:rPr lang="en" sz="1679">
                <a:solidFill>
                  <a:schemeClr val="dk2"/>
                </a:solidFill>
              </a:rPr>
              <a:t>Porque vivimos cada parte del proceso con nuestros participantes y damos la confianza de que somos </a:t>
            </a:r>
            <a:r>
              <a:rPr lang="en" sz="1679">
                <a:solidFill>
                  <a:schemeClr val="dk2"/>
                </a:solidFill>
              </a:rPr>
              <a:t>jóvenes</a:t>
            </a:r>
            <a:r>
              <a:rPr lang="en" sz="1679">
                <a:solidFill>
                  <a:schemeClr val="dk2"/>
                </a:solidFill>
              </a:rPr>
              <a:t> que podemos ponernos en sus zapatos para dar soporte en la experiencia</a:t>
            </a:r>
            <a:endParaRPr sz="1679">
              <a:solidFill>
                <a:schemeClr val="dk2"/>
              </a:solidFill>
            </a:endParaRPr>
          </a:p>
          <a:p>
            <a:pPr indent="0" lvl="0" marL="0" rtl="0" algn="l">
              <a:spcBef>
                <a:spcPts val="0"/>
              </a:spcBef>
              <a:spcAft>
                <a:spcPts val="0"/>
              </a:spcAft>
              <a:buNone/>
            </a:pPr>
            <a:r>
              <a:t/>
            </a:r>
            <a:endParaRPr sz="1679">
              <a:solidFill>
                <a:schemeClr val="dk2"/>
              </a:solidFill>
            </a:endParaRPr>
          </a:p>
          <a:p>
            <a:pPr indent="-311933" lvl="0" marL="410578" rtl="0" algn="l">
              <a:spcBef>
                <a:spcPts val="0"/>
              </a:spcBef>
              <a:spcAft>
                <a:spcPts val="0"/>
              </a:spcAft>
              <a:buClr>
                <a:schemeClr val="dk2"/>
              </a:buClr>
              <a:buSzPts val="1679"/>
              <a:buChar char="-"/>
            </a:pPr>
            <a:r>
              <a:rPr lang="en" sz="1679">
                <a:solidFill>
                  <a:schemeClr val="dk2"/>
                </a:solidFill>
              </a:rPr>
              <a:t>Realmente el costo del fee por todo lo que ofrece AIESEC a sus participantes lo convierte en una gran oportunidad porque en el fondo somos una ONG que tiene como objetivo el intercambio a través de los programas</a:t>
            </a:r>
            <a:endParaRPr sz="1679">
              <a:solidFill>
                <a:schemeClr val="dk2"/>
              </a:solidFill>
            </a:endParaRPr>
          </a:p>
        </p:txBody>
      </p:sp>
      <p:pic>
        <p:nvPicPr>
          <p:cNvPr descr="bugs bunny is standing in a boxing ring and says just call me champ (proporcionada por Tenor)" id="160" name="Google Shape;160;p25"/>
          <p:cNvPicPr preferRelativeResize="0"/>
          <p:nvPr/>
        </p:nvPicPr>
        <p:blipFill rotWithShape="1">
          <a:blip r:embed="rId4">
            <a:alphaModFix/>
          </a:blip>
          <a:srcRect b="0" l="27613" r="38582" t="20647"/>
          <a:stretch/>
        </p:blipFill>
        <p:spPr>
          <a:xfrm>
            <a:off x="6" y="1177500"/>
            <a:ext cx="1244251" cy="1636500"/>
          </a:xfrm>
          <a:prstGeom prst="rect">
            <a:avLst/>
          </a:prstGeom>
          <a:noFill/>
          <a:ln>
            <a:noFill/>
          </a:ln>
        </p:spPr>
      </p:pic>
      <p:pic>
        <p:nvPicPr>
          <p:cNvPr descr="a white cat with a pink ear is sitting down (proporcionada por Tenor)" id="161" name="Google Shape;161;p25"/>
          <p:cNvPicPr preferRelativeResize="0"/>
          <p:nvPr/>
        </p:nvPicPr>
        <p:blipFill>
          <a:blip r:embed="rId5">
            <a:alphaModFix/>
          </a:blip>
          <a:stretch>
            <a:fillRect/>
          </a:stretch>
        </p:blipFill>
        <p:spPr>
          <a:xfrm>
            <a:off x="53799" y="3266125"/>
            <a:ext cx="1472850" cy="1636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5" name="Shape 165"/>
        <p:cNvGrpSpPr/>
        <p:nvPr/>
      </p:nvGrpSpPr>
      <p:grpSpPr>
        <a:xfrm>
          <a:off x="0" y="0"/>
          <a:ext cx="0" cy="0"/>
          <a:chOff x="0" y="0"/>
          <a:chExt cx="0" cy="0"/>
        </a:xfrm>
      </p:grpSpPr>
      <p:sp>
        <p:nvSpPr>
          <p:cNvPr id="166" name="Google Shape;166;p26"/>
          <p:cNvSpPr txBox="1"/>
          <p:nvPr/>
        </p:nvSpPr>
        <p:spPr>
          <a:xfrm>
            <a:off x="2031900" y="835489"/>
            <a:ext cx="6223500" cy="1252200"/>
          </a:xfrm>
          <a:prstGeom prst="rect">
            <a:avLst/>
          </a:prstGeom>
          <a:noFill/>
          <a:ln>
            <a:noFill/>
          </a:ln>
        </p:spPr>
        <p:txBody>
          <a:bodyPr anchorCtr="0" anchor="t" bIns="86425" lIns="86425" spcFirstLastPara="1" rIns="86425" wrap="square" tIns="86425">
            <a:noAutofit/>
          </a:bodyPr>
          <a:lstStyle/>
          <a:p>
            <a:pPr indent="0" lvl="0" marL="0" rtl="0" algn="ctr">
              <a:lnSpc>
                <a:spcPct val="70000"/>
              </a:lnSpc>
              <a:spcBef>
                <a:spcPts val="6807"/>
              </a:spcBef>
              <a:spcAft>
                <a:spcPts val="6807"/>
              </a:spcAft>
              <a:buNone/>
            </a:pPr>
            <a:r>
              <a:rPr b="1" lang="en" sz="3200">
                <a:solidFill>
                  <a:schemeClr val="dk1"/>
                </a:solidFill>
                <a:latin typeface="Montserrat"/>
                <a:ea typeface="Montserrat"/>
                <a:cs typeface="Montserrat"/>
                <a:sym typeface="Montserrat"/>
              </a:rPr>
              <a:t>Ahora te preguntaras…</a:t>
            </a:r>
            <a:endParaRPr b="1" sz="3200">
              <a:solidFill>
                <a:schemeClr val="dk1"/>
              </a:solidFill>
              <a:latin typeface="Nunito"/>
              <a:ea typeface="Nunito"/>
              <a:cs typeface="Nunito"/>
              <a:sym typeface="Nunito"/>
            </a:endParaRPr>
          </a:p>
        </p:txBody>
      </p:sp>
      <p:sp>
        <p:nvSpPr>
          <p:cNvPr id="167" name="Google Shape;167;p26"/>
          <p:cNvSpPr txBox="1"/>
          <p:nvPr/>
        </p:nvSpPr>
        <p:spPr>
          <a:xfrm>
            <a:off x="720921" y="2087696"/>
            <a:ext cx="6223500" cy="1252200"/>
          </a:xfrm>
          <a:prstGeom prst="rect">
            <a:avLst/>
          </a:prstGeom>
          <a:noFill/>
          <a:ln>
            <a:noFill/>
          </a:ln>
        </p:spPr>
        <p:txBody>
          <a:bodyPr anchorCtr="0" anchor="t" bIns="86425" lIns="86425" spcFirstLastPara="1" rIns="86425" wrap="square" tIns="86425">
            <a:noAutofit/>
          </a:bodyPr>
          <a:lstStyle/>
          <a:p>
            <a:pPr indent="0" lvl="0" marL="0" rtl="0" algn="ctr">
              <a:lnSpc>
                <a:spcPct val="70000"/>
              </a:lnSpc>
              <a:spcBef>
                <a:spcPts val="6807"/>
              </a:spcBef>
              <a:spcAft>
                <a:spcPts val="6807"/>
              </a:spcAft>
              <a:buNone/>
            </a:pPr>
            <a:r>
              <a:rPr b="1" lang="en" sz="3200">
                <a:solidFill>
                  <a:schemeClr val="dk1"/>
                </a:solidFill>
                <a:latin typeface="Montserrat"/>
                <a:ea typeface="Montserrat"/>
                <a:cs typeface="Montserrat"/>
                <a:sym typeface="Montserrat"/>
              </a:rPr>
              <a:t>¿Cómo hago para realizar más intercambios y cambiar más vidas?</a:t>
            </a:r>
            <a:endParaRPr b="1" sz="3200">
              <a:solidFill>
                <a:schemeClr val="dk1"/>
              </a:solidFill>
              <a:latin typeface="Nunito"/>
              <a:ea typeface="Nunito"/>
              <a:cs typeface="Nunito"/>
              <a:sym typeface="Nunito"/>
            </a:endParaRPr>
          </a:p>
        </p:txBody>
      </p:sp>
      <p:pic>
        <p:nvPicPr>
          <p:cNvPr descr="a cartoon cat wearing glasses has a question mark above his head (proporcionada por Tenor)" id="168" name="Google Shape;168;p26"/>
          <p:cNvPicPr preferRelativeResize="0"/>
          <p:nvPr/>
        </p:nvPicPr>
        <p:blipFill>
          <a:blip r:embed="rId4">
            <a:alphaModFix/>
          </a:blip>
          <a:stretch>
            <a:fillRect/>
          </a:stretch>
        </p:blipFill>
        <p:spPr>
          <a:xfrm>
            <a:off x="6804475" y="1751314"/>
            <a:ext cx="1756009" cy="164086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2" name="Shape 172"/>
        <p:cNvGrpSpPr/>
        <p:nvPr/>
      </p:nvGrpSpPr>
      <p:grpSpPr>
        <a:xfrm>
          <a:off x="0" y="0"/>
          <a:ext cx="0" cy="0"/>
          <a:chOff x="0" y="0"/>
          <a:chExt cx="0" cy="0"/>
        </a:xfrm>
      </p:grpSpPr>
      <p:sp>
        <p:nvSpPr>
          <p:cNvPr id="173" name="Google Shape;173;p27"/>
          <p:cNvSpPr txBox="1"/>
          <p:nvPr/>
        </p:nvSpPr>
        <p:spPr>
          <a:xfrm>
            <a:off x="1214125" y="114539"/>
            <a:ext cx="6223500" cy="1252200"/>
          </a:xfrm>
          <a:prstGeom prst="rect">
            <a:avLst/>
          </a:prstGeom>
          <a:noFill/>
          <a:ln>
            <a:noFill/>
          </a:ln>
        </p:spPr>
        <p:txBody>
          <a:bodyPr anchorCtr="0" anchor="t" bIns="86425" lIns="86425" spcFirstLastPara="1" rIns="86425" wrap="square" tIns="86425">
            <a:noAutofit/>
          </a:bodyPr>
          <a:lstStyle/>
          <a:p>
            <a:pPr indent="0" lvl="0" marL="0" rtl="0" algn="ctr">
              <a:lnSpc>
                <a:spcPct val="70000"/>
              </a:lnSpc>
              <a:spcBef>
                <a:spcPts val="6807"/>
              </a:spcBef>
              <a:spcAft>
                <a:spcPts val="6807"/>
              </a:spcAft>
              <a:buNone/>
            </a:pPr>
            <a:r>
              <a:rPr b="1" lang="en" sz="3200">
                <a:solidFill>
                  <a:schemeClr val="dk1"/>
                </a:solidFill>
                <a:latin typeface="Montserrat"/>
                <a:ea typeface="Montserrat"/>
                <a:cs typeface="Montserrat"/>
                <a:sym typeface="Montserrat"/>
              </a:rPr>
              <a:t>Acá te dejo unos tips</a:t>
            </a:r>
            <a:endParaRPr b="1" sz="3200">
              <a:solidFill>
                <a:schemeClr val="dk1"/>
              </a:solidFill>
              <a:latin typeface="Nunito"/>
              <a:ea typeface="Nunito"/>
              <a:cs typeface="Nunito"/>
              <a:sym typeface="Nunito"/>
            </a:endParaRPr>
          </a:p>
        </p:txBody>
      </p:sp>
      <p:sp>
        <p:nvSpPr>
          <p:cNvPr id="174" name="Google Shape;174;p27"/>
          <p:cNvSpPr/>
          <p:nvPr/>
        </p:nvSpPr>
        <p:spPr>
          <a:xfrm>
            <a:off x="116545" y="724650"/>
            <a:ext cx="7730100" cy="4272600"/>
          </a:xfrm>
          <a:prstGeom prst="roundRect">
            <a:avLst>
              <a:gd fmla="val 16667" name="adj"/>
            </a:avLst>
          </a:prstGeom>
          <a:solidFill>
            <a:schemeClr val="lt1"/>
          </a:solidFill>
          <a:ln cap="flat" cmpd="sng" w="16250">
            <a:solidFill>
              <a:schemeClr val="dk2"/>
            </a:solidFill>
            <a:prstDash val="solid"/>
            <a:round/>
            <a:headEnd len="sm" w="sm" type="none"/>
            <a:tailEnd len="sm" w="sm" type="none"/>
          </a:ln>
        </p:spPr>
        <p:txBody>
          <a:bodyPr anchorCtr="0" anchor="ctr" bIns="155800" lIns="155800" spcFirstLastPara="1" rIns="155800" wrap="square" tIns="155800">
            <a:noAutofit/>
          </a:bodyPr>
          <a:lstStyle/>
          <a:p>
            <a:pPr indent="0" lvl="0" marL="0" rtl="0" algn="ctr">
              <a:spcBef>
                <a:spcPts val="0"/>
              </a:spcBef>
              <a:spcAft>
                <a:spcPts val="0"/>
              </a:spcAft>
              <a:buNone/>
            </a:pPr>
            <a:r>
              <a:t/>
            </a:r>
            <a:endParaRPr sz="2793"/>
          </a:p>
        </p:txBody>
      </p:sp>
      <p:sp>
        <p:nvSpPr>
          <p:cNvPr id="175" name="Google Shape;175;p27"/>
          <p:cNvSpPr txBox="1"/>
          <p:nvPr/>
        </p:nvSpPr>
        <p:spPr>
          <a:xfrm>
            <a:off x="-148500" y="885950"/>
            <a:ext cx="8059500" cy="4057500"/>
          </a:xfrm>
          <a:prstGeom prst="rect">
            <a:avLst/>
          </a:prstGeom>
          <a:noFill/>
          <a:ln>
            <a:noFill/>
          </a:ln>
        </p:spPr>
        <p:txBody>
          <a:bodyPr anchorCtr="0" anchor="t" bIns="155800" lIns="155800" spcFirstLastPara="1" rIns="155800" wrap="square" tIns="155800">
            <a:noAutofit/>
          </a:bodyPr>
          <a:lstStyle/>
          <a:p>
            <a:pPr indent="-367899" lvl="0" marL="557998" rtl="0" algn="l">
              <a:spcBef>
                <a:spcPts val="0"/>
              </a:spcBef>
              <a:spcAft>
                <a:spcPts val="0"/>
              </a:spcAft>
              <a:buClr>
                <a:schemeClr val="dk2"/>
              </a:buClr>
              <a:buSzPts val="1400"/>
              <a:buChar char="-"/>
            </a:pPr>
            <a:r>
              <a:rPr lang="en">
                <a:solidFill>
                  <a:schemeClr val="dk2"/>
                </a:solidFill>
              </a:rPr>
              <a:t>Hacer tus primero intercambios es la parte más </a:t>
            </a:r>
            <a:r>
              <a:rPr lang="en">
                <a:solidFill>
                  <a:schemeClr val="dk2"/>
                </a:solidFill>
              </a:rPr>
              <a:t>difícil</a:t>
            </a:r>
            <a:r>
              <a:rPr lang="en">
                <a:solidFill>
                  <a:schemeClr val="dk2"/>
                </a:solidFill>
              </a:rPr>
              <a:t>, pero una vez que consigas ese partner que haga macht con tu mercado de aplicantes y conozcas bien su proceso entonces tendrás la </a:t>
            </a:r>
            <a:r>
              <a:rPr lang="en">
                <a:solidFill>
                  <a:schemeClr val="dk2"/>
                </a:solidFill>
              </a:rPr>
              <a:t>fórmula</a:t>
            </a:r>
            <a:r>
              <a:rPr lang="en">
                <a:solidFill>
                  <a:schemeClr val="dk2"/>
                </a:solidFill>
              </a:rPr>
              <a:t> que deberás repetir y hacer muchos APDs con tu IR</a:t>
            </a:r>
            <a:endParaRPr>
              <a:solidFill>
                <a:schemeClr val="dk2"/>
              </a:solidFill>
            </a:endParaRPr>
          </a:p>
          <a:p>
            <a:pPr indent="0" lvl="0" marL="0" rtl="0" algn="l">
              <a:spcBef>
                <a:spcPts val="0"/>
              </a:spcBef>
              <a:spcAft>
                <a:spcPts val="0"/>
              </a:spcAft>
              <a:buNone/>
            </a:pPr>
            <a:r>
              <a:t/>
            </a:r>
            <a:endParaRPr>
              <a:solidFill>
                <a:schemeClr val="dk2"/>
              </a:solidFill>
            </a:endParaRPr>
          </a:p>
          <a:p>
            <a:pPr indent="-387499" lvl="0" marL="557998" rtl="0" algn="l">
              <a:spcBef>
                <a:spcPts val="0"/>
              </a:spcBef>
              <a:spcAft>
                <a:spcPts val="0"/>
              </a:spcAft>
              <a:buClr>
                <a:schemeClr val="dk2"/>
              </a:buClr>
              <a:buSzPts val="1709"/>
              <a:buChar char="-"/>
            </a:pPr>
            <a:r>
              <a:rPr lang="en">
                <a:solidFill>
                  <a:schemeClr val="dk2"/>
                </a:solidFill>
              </a:rPr>
              <a:t>Orientar tu sinergia con tu B2C o Marketing dando feedbacks reales de los leads que se generan por campaña para saber cuales son aquellos canales efectivos que traen los perfiles más alineados porque “tener mayor cantidad de leads y menor cantidad de %SU2APL es reflejo de que cantidad no es calidad en procesos”, así que sean sinceros en su sinergia y obtengan resultados juntos</a:t>
            </a:r>
            <a:endParaRPr>
              <a:solidFill>
                <a:schemeClr val="dk2"/>
              </a:solidFill>
            </a:endParaRPr>
          </a:p>
          <a:p>
            <a:pPr indent="0" lvl="0" marL="0" rtl="0" algn="l">
              <a:spcBef>
                <a:spcPts val="0"/>
              </a:spcBef>
              <a:spcAft>
                <a:spcPts val="0"/>
              </a:spcAft>
              <a:buNone/>
            </a:pPr>
            <a:r>
              <a:t/>
            </a:r>
            <a:endParaRPr>
              <a:solidFill>
                <a:schemeClr val="dk2"/>
              </a:solidFill>
            </a:endParaRPr>
          </a:p>
          <a:p>
            <a:pPr indent="-387499" lvl="0" marL="557998" rtl="0" algn="l">
              <a:spcBef>
                <a:spcPts val="0"/>
              </a:spcBef>
              <a:spcAft>
                <a:spcPts val="0"/>
              </a:spcAft>
              <a:buClr>
                <a:schemeClr val="dk2"/>
              </a:buClr>
              <a:buSzPts val="1709"/>
              <a:buChar char="-"/>
            </a:pPr>
            <a:r>
              <a:rPr lang="en">
                <a:solidFill>
                  <a:schemeClr val="dk2"/>
                </a:solidFill>
              </a:rPr>
              <a:t>Su querido MC realiza materiales que pueden utilizar, tal vez cada LC tiene una realidad diferente así que probablemente tengan que personalizar un poco o ajustar cosas que les brindan para que se adapten mejor a su buyer persona y tener herramientas que estén particularmente dirigidas a su público específico</a:t>
            </a:r>
            <a:endParaRPr>
              <a:solidFill>
                <a:schemeClr val="dk2"/>
              </a:solidFill>
            </a:endParaRPr>
          </a:p>
        </p:txBody>
      </p:sp>
      <p:pic>
        <p:nvPicPr>
          <p:cNvPr descr="a close up of a person 's head with a blue brain surrounded by glowing balls . (proporcionada por Tenor)" id="176" name="Google Shape;176;p27"/>
          <p:cNvPicPr preferRelativeResize="0"/>
          <p:nvPr/>
        </p:nvPicPr>
        <p:blipFill>
          <a:blip r:embed="rId4">
            <a:alphaModFix/>
          </a:blip>
          <a:stretch>
            <a:fillRect/>
          </a:stretch>
        </p:blipFill>
        <p:spPr>
          <a:xfrm>
            <a:off x="7998837" y="32281"/>
            <a:ext cx="1080600" cy="1080600"/>
          </a:xfrm>
          <a:prstGeom prst="rect">
            <a:avLst/>
          </a:prstGeom>
          <a:noFill/>
          <a:ln>
            <a:noFill/>
          </a:ln>
        </p:spPr>
      </p:pic>
      <p:pic>
        <p:nvPicPr>
          <p:cNvPr descr="a cartoon character wearing a blue sweater with a triangle logo (proporcionada por Tenor)" id="177" name="Google Shape;177;p27"/>
          <p:cNvPicPr preferRelativeResize="0"/>
          <p:nvPr/>
        </p:nvPicPr>
        <p:blipFill>
          <a:blip r:embed="rId5">
            <a:alphaModFix/>
          </a:blip>
          <a:stretch>
            <a:fillRect/>
          </a:stretch>
        </p:blipFill>
        <p:spPr>
          <a:xfrm>
            <a:off x="4621375" y="3862850"/>
            <a:ext cx="1080600" cy="1080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1" name="Shape 18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