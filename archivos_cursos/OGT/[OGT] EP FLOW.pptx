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Staatliches"/>
      <p:regular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Lato Light"/>
      <p:regular r:id="rId39"/>
      <p:bold r:id="rId40"/>
      <p:italic r:id="rId41"/>
      <p:boldItalic r:id="rId42"/>
    </p:embeddedFont>
    <p:embeddedFont>
      <p:font typeface="Lato Black"/>
      <p:bold r:id="rId43"/>
      <p:boldItalic r:id="rId44"/>
    </p:embeddedFont>
    <p:embeddedFont>
      <p:font typeface="Raleway Medium"/>
      <p:regular r:id="rId45"/>
      <p:bold r:id="rId46"/>
      <p:italic r:id="rId47"/>
      <p:boldItalic r:id="rId48"/>
    </p:embeddedFont>
    <p:embeddedFont>
      <p:font typeface="Helvetica Neue"/>
      <p:regular r:id="rId49"/>
      <p:bold r:id="rId50"/>
      <p:italic r:id="rId51"/>
      <p:boldItalic r:id="rId52"/>
    </p:embeddedFont>
    <p:embeddedFont>
      <p:font typeface="Shadows Into Light"/>
      <p:regular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Light-bold.fntdata"/><Relationship Id="rId42" Type="http://schemas.openxmlformats.org/officeDocument/2006/relationships/font" Target="fonts/LatoLight-boldItalic.fntdata"/><Relationship Id="rId41" Type="http://schemas.openxmlformats.org/officeDocument/2006/relationships/font" Target="fonts/LatoLight-italic.fntdata"/><Relationship Id="rId44" Type="http://schemas.openxmlformats.org/officeDocument/2006/relationships/font" Target="fonts/LatoBlack-boldItalic.fntdata"/><Relationship Id="rId43" Type="http://schemas.openxmlformats.org/officeDocument/2006/relationships/font" Target="fonts/LatoBlack-bold.fntdata"/><Relationship Id="rId46" Type="http://schemas.openxmlformats.org/officeDocument/2006/relationships/font" Target="fonts/RalewayMedium-bold.fntdata"/><Relationship Id="rId45" Type="http://schemas.openxmlformats.org/officeDocument/2006/relationships/font" Target="fonts/Raleway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Medium-boldItalic.fntdata"/><Relationship Id="rId47" Type="http://schemas.openxmlformats.org/officeDocument/2006/relationships/font" Target="fonts/RalewayMedium-italic.fntdata"/><Relationship Id="rId49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Nunito-boldItalic.fntdata"/><Relationship Id="rId33" Type="http://schemas.openxmlformats.org/officeDocument/2006/relationships/font" Target="fonts/Montserrat-italic.fntdata"/><Relationship Id="rId32" Type="http://schemas.openxmlformats.org/officeDocument/2006/relationships/font" Target="fonts/Montserrat-bold.fntdata"/><Relationship Id="rId35" Type="http://schemas.openxmlformats.org/officeDocument/2006/relationships/font" Target="fonts/Lato-regular.fntdata"/><Relationship Id="rId34" Type="http://schemas.openxmlformats.org/officeDocument/2006/relationships/font" Target="fonts/Montserrat-boldItalic.fntdata"/><Relationship Id="rId37" Type="http://schemas.openxmlformats.org/officeDocument/2006/relationships/font" Target="fonts/Lato-italic.fntdata"/><Relationship Id="rId36" Type="http://schemas.openxmlformats.org/officeDocument/2006/relationships/font" Target="fonts/Lato-bold.fntdata"/><Relationship Id="rId39" Type="http://schemas.openxmlformats.org/officeDocument/2006/relationships/font" Target="fonts/LatoLight-regular.fntdata"/><Relationship Id="rId38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26" Type="http://schemas.openxmlformats.org/officeDocument/2006/relationships/font" Target="fonts/Staatliches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29" Type="http://schemas.openxmlformats.org/officeDocument/2006/relationships/font" Target="fonts/Nunito-italic.fntdata"/><Relationship Id="rId51" Type="http://schemas.openxmlformats.org/officeDocument/2006/relationships/font" Target="fonts/HelveticaNeue-italic.fntdata"/><Relationship Id="rId50" Type="http://schemas.openxmlformats.org/officeDocument/2006/relationships/font" Target="fonts/HelveticaNeue-bold.fntdata"/><Relationship Id="rId53" Type="http://schemas.openxmlformats.org/officeDocument/2006/relationships/font" Target="fonts/ShadowsIntoLight-regular.fntdata"/><Relationship Id="rId52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bbf733a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bbf733a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8e49d37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8e49d37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3bbf733a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3bbf733a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3bbf733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3bbf733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3bbf733a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3bbf733a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3bbf733ac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3bbf733ac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3bbf733a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3bbf733a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385e42d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385e42d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385e42d9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385e42d9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385e42d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385e42d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385e42d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385e42d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8d30bacbe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8d30bacbe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8d30bacbe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8d30bacbe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8e49d377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78e49d377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8e49d37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8e49d37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45f88cf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45f88cf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3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hyperlink" Target="http://aiesec.org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2.png"/><Relationship Id="rId5" Type="http://schemas.openxmlformats.org/officeDocument/2006/relationships/image" Target="../media/image29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Relationship Id="rId4" Type="http://schemas.openxmlformats.org/officeDocument/2006/relationships/image" Target="../media/image23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jpg"/><Relationship Id="rId4" Type="http://schemas.openxmlformats.org/officeDocument/2006/relationships/image" Target="../media/image2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30.gif"/><Relationship Id="rId5" Type="http://schemas.openxmlformats.org/officeDocument/2006/relationships/image" Target="../media/image14.gif"/><Relationship Id="rId6" Type="http://schemas.openxmlformats.org/officeDocument/2006/relationships/image" Target="../media/image17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64700" y="2052021"/>
            <a:ext cx="6414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EP FLOW</a:t>
            </a:r>
            <a:endParaRPr b="1" sz="10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-124974" y="1327846"/>
            <a:ext cx="42054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 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Coach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oGT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25.2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6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7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" name="Google Shape;60;p14" title="Gero el guapo.jpg"/>
          <p:cNvPicPr preferRelativeResize="0"/>
          <p:nvPr/>
        </p:nvPicPr>
        <p:blipFill rotWithShape="1">
          <a:blip r:embed="rId4">
            <a:alphaModFix/>
          </a:blip>
          <a:srcRect b="22333" l="0" r="0" t="21847"/>
          <a:stretch/>
        </p:blipFill>
        <p:spPr>
          <a:xfrm>
            <a:off x="4469550" y="284100"/>
            <a:ext cx="2721900" cy="2700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3960000" dist="76200">
              <a:srgbClr val="1155CC">
                <a:alpha val="50000"/>
              </a:srgbClr>
            </a:outerShdw>
          </a:effectLst>
        </p:spPr>
      </p:pic>
      <p:sp>
        <p:nvSpPr>
          <p:cNvPr id="61" name="Google Shape;61;p14"/>
          <p:cNvSpPr txBox="1"/>
          <p:nvPr/>
        </p:nvSpPr>
        <p:spPr>
          <a:xfrm>
            <a:off x="3727801" y="3427898"/>
            <a:ext cx="42054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Gerónimo</a:t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Salazar</a:t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818400" y="1591150"/>
            <a:ext cx="750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El principal objetivo de este flow de venta es:</a:t>
            </a:r>
            <a:endParaRPr sz="24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85400" y="1816225"/>
            <a:ext cx="817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ENCONTRAR AL EP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1420800" y="2678950"/>
            <a:ext cx="630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Que haga </a:t>
            </a:r>
            <a:r>
              <a:rPr lang="en" sz="2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match</a:t>
            </a:r>
            <a:r>
              <a:rPr lang="en" sz="2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 con nuestras oportunidades</a:t>
            </a:r>
            <a:endParaRPr sz="24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descr="Cute Heart GIF (proporcionada por Tenor)"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7100" y="3041850"/>
            <a:ext cx="1951500" cy="19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869300" y="135250"/>
            <a:ext cx="1919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chemeClr val="accent5"/>
                </a:highlight>
                <a:latin typeface="Staatliches"/>
                <a:ea typeface="Staatliches"/>
                <a:cs typeface="Staatliches"/>
                <a:sym typeface="Staatliches"/>
              </a:rPr>
              <a:t>Mi buyer </a:t>
            </a:r>
            <a:endParaRPr sz="4000">
              <a:solidFill>
                <a:srgbClr val="405E78"/>
              </a:solidFill>
              <a:highlight>
                <a:schemeClr val="accent5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63897" y="1125898"/>
            <a:ext cx="1116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75">
            <a:spAutoFit/>
          </a:bodyPr>
          <a:lstStyle/>
          <a:p>
            <a:pPr indent="0" lvl="0" marL="150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75">
                <a:solidFill>
                  <a:srgbClr val="0CB9C1"/>
                </a:solidFill>
                <a:latin typeface="Lato"/>
                <a:ea typeface="Lato"/>
                <a:cs typeface="Lato"/>
                <a:sym typeface="Lato"/>
              </a:rPr>
              <a:t>Requisitos</a:t>
            </a:r>
            <a:endParaRPr sz="1775">
              <a:solidFill>
                <a:srgbClr val="0CB9C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394586" y="1171223"/>
            <a:ext cx="607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75">
            <a:spAutoFit/>
          </a:bodyPr>
          <a:lstStyle/>
          <a:p>
            <a:pPr indent="0" lvl="0" marL="150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75">
                <a:solidFill>
                  <a:srgbClr val="F48923"/>
                </a:solidFill>
                <a:latin typeface="Lato"/>
                <a:ea typeface="Lato"/>
                <a:cs typeface="Lato"/>
                <a:sym typeface="Lato"/>
              </a:rPr>
              <a:t>Goals</a:t>
            </a:r>
            <a:endParaRPr sz="1775">
              <a:solidFill>
                <a:srgbClr val="F4892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932350" y="1695800"/>
            <a:ext cx="28803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75">
            <a:spAutoFit/>
          </a:bodyPr>
          <a:lstStyle/>
          <a:p>
            <a:pPr indent="0" lvl="0" marL="15034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2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Recien egresado</a:t>
            </a:r>
            <a:endParaRPr b="1" sz="1262">
              <a:latin typeface="Lato"/>
              <a:ea typeface="Lato"/>
              <a:cs typeface="Lato"/>
              <a:sym typeface="Lato"/>
            </a:endParaRPr>
          </a:p>
          <a:p>
            <a:pPr indent="0" lvl="0" marL="15034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-Obtener experiencia profesional real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-Trabajar en una empresa internacional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939100" y="2607710"/>
            <a:ext cx="27123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75">
            <a:spAutoFit/>
          </a:bodyPr>
          <a:lstStyle/>
          <a:p>
            <a:pPr indent="0" lvl="0" marL="15034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2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Profesor de idiomas</a:t>
            </a:r>
            <a:endParaRPr b="1" sz="1262">
              <a:latin typeface="Lato"/>
              <a:ea typeface="Lato"/>
              <a:cs typeface="Lato"/>
              <a:sym typeface="Lato"/>
            </a:endParaRPr>
          </a:p>
          <a:p>
            <a:pPr indent="0" lvl="0" marL="15034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-Trabajar en una academía </a:t>
            </a: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internacional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-Vivir el intercambio cultural y ser reconocido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932350" y="3719225"/>
            <a:ext cx="22026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75">
            <a:spAutoFit/>
          </a:bodyPr>
          <a:lstStyle/>
          <a:p>
            <a:pPr indent="0" lvl="0" marL="15034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2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Profesional con experiencia</a:t>
            </a:r>
            <a:endParaRPr b="1" sz="1262">
              <a:latin typeface="Lato"/>
              <a:ea typeface="Lato"/>
              <a:cs typeface="Lato"/>
              <a:sym typeface="Lato"/>
            </a:endParaRPr>
          </a:p>
          <a:p>
            <a:pPr indent="0" lvl="0" marL="15034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-Trabajar en una empresa reconocida internacionalmente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260598" rtl="0" algn="l">
              <a:lnSpc>
                <a:spcPct val="119166"/>
              </a:lnSpc>
              <a:spcBef>
                <a:spcPts val="39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-Empezar una carrera como profesional internacional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4198" y="1144816"/>
            <a:ext cx="277021" cy="3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050" y="1047475"/>
            <a:ext cx="472745" cy="47273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01650" y="1683125"/>
            <a:ext cx="2329200" cy="3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75">
            <a:spAutoFit/>
          </a:bodyPr>
          <a:lstStyle/>
          <a:p>
            <a:pPr indent="0" lvl="0" marL="15034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3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Edad</a:t>
            </a:r>
            <a:endParaRPr b="1" sz="1183">
              <a:latin typeface="Lato"/>
              <a:ea typeface="Lato"/>
              <a:cs typeface="Lato"/>
              <a:sym typeface="Lato"/>
            </a:endParaRPr>
          </a:p>
          <a:p>
            <a:pPr indent="0" lvl="0" marL="15034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-18 a 30 años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0" rtl="0" algn="l">
              <a:lnSpc>
                <a:spcPct val="119166"/>
              </a:lnSpc>
              <a:spcBef>
                <a:spcPts val="474"/>
              </a:spcBef>
              <a:spcAft>
                <a:spcPts val="0"/>
              </a:spcAft>
              <a:buNone/>
            </a:pPr>
            <a:r>
              <a:rPr b="1" lang="en" sz="1183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Disponibilidad</a:t>
            </a:r>
            <a:endParaRPr b="1" sz="1183">
              <a:latin typeface="Lato"/>
              <a:ea typeface="Lato"/>
              <a:cs typeface="Lato"/>
              <a:sym typeface="Lato"/>
            </a:endParaRPr>
          </a:p>
          <a:p>
            <a:pPr indent="0" lvl="0" marL="15034" marR="65149" rtl="0" algn="l">
              <a:lnSpc>
                <a:spcPct val="119166"/>
              </a:lnSpc>
              <a:spcBef>
                <a:spcPts val="39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-Para aceptar la oportunidad de manera inmediata de ser aceptado y viajar al destino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0" rtl="0" algn="l">
              <a:lnSpc>
                <a:spcPct val="119583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b="1" lang="en" sz="1183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Idiomas</a:t>
            </a:r>
            <a:endParaRPr b="1" sz="1183">
              <a:latin typeface="Lato"/>
              <a:ea typeface="Lato"/>
              <a:cs typeface="Lato"/>
              <a:sym typeface="Lato"/>
            </a:endParaRPr>
          </a:p>
          <a:p>
            <a:pPr indent="0" lvl="0" marL="15034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-Hablar y entender inglés intermedio B1</a:t>
            </a:r>
            <a:endParaRPr sz="1183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15034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3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183">
              <a:latin typeface="Lato"/>
              <a:ea typeface="Lato"/>
              <a:cs typeface="Lato"/>
              <a:sym typeface="Lato"/>
            </a:endParaRPr>
          </a:p>
          <a:p>
            <a:pPr indent="0" lvl="0" marL="15034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-Perfil con un mínimo de 1 año de experiencia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indent="-75173" lvl="0" marL="95219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84"/>
              <a:buFont typeface="Lato Light"/>
              <a:buChar char="-"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Estar graduado o por graduarse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indent="-75173" lvl="0" marL="95219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84"/>
              <a:buFont typeface="Lato Light"/>
              <a:buChar char="-"/>
            </a:pPr>
            <a:r>
              <a:rPr lang="en" sz="1183">
                <a:latin typeface="Lato Light"/>
                <a:ea typeface="Lato Light"/>
                <a:cs typeface="Lato Light"/>
                <a:sym typeface="Lato Light"/>
              </a:rPr>
              <a:t>Profesional en educación, IT, MKT, BA, BD, ENG, HHRR, F&amp;L y Ventas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drawing of a polar bear holding a blue notepad and a pencil (proporcionada por Tenor)" id="84" name="Google Shape;8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0218" y="2708645"/>
            <a:ext cx="2073300" cy="23900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2455527" y="136733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48923"/>
                </a:highlight>
                <a:latin typeface="Staatliches"/>
                <a:ea typeface="Staatliches"/>
                <a:cs typeface="Staatliches"/>
                <a:sym typeface="Staatliches"/>
              </a:rPr>
              <a:t> Persona</a:t>
            </a:r>
            <a:endParaRPr sz="4000">
              <a:solidFill>
                <a:srgbClr val="405E78"/>
              </a:solidFill>
              <a:highlight>
                <a:srgbClr val="F48923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48923"/>
                </a:highlight>
                <a:latin typeface="Staatliches"/>
                <a:ea typeface="Staatliches"/>
                <a:cs typeface="Staatliches"/>
                <a:sym typeface="Staatliches"/>
              </a:rPr>
              <a:t>Customer flow</a:t>
            </a:r>
            <a:endParaRPr sz="4000">
              <a:solidFill>
                <a:srgbClr val="FFFFFF"/>
              </a:solidFill>
              <a:highlight>
                <a:srgbClr val="F48923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F48923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1" name="Google Shape;91;p17"/>
          <p:cNvGrpSpPr/>
          <p:nvPr/>
        </p:nvGrpSpPr>
        <p:grpSpPr>
          <a:xfrm>
            <a:off x="577449" y="951052"/>
            <a:ext cx="4250421" cy="4003072"/>
            <a:chOff x="0" y="0"/>
            <a:chExt cx="3478819" cy="3586339"/>
          </a:xfrm>
        </p:grpSpPr>
        <p:grpSp>
          <p:nvGrpSpPr>
            <p:cNvPr id="92" name="Google Shape;92;p17"/>
            <p:cNvGrpSpPr/>
            <p:nvPr/>
          </p:nvGrpSpPr>
          <p:grpSpPr>
            <a:xfrm>
              <a:off x="495347" y="288637"/>
              <a:ext cx="2453339" cy="3112044"/>
              <a:chOff x="-95198" y="10671"/>
              <a:chExt cx="2453339" cy="3112044"/>
            </a:xfrm>
          </p:grpSpPr>
          <p:sp>
            <p:nvSpPr>
              <p:cNvPr id="93" name="Google Shape;93;p17"/>
              <p:cNvSpPr/>
              <p:nvPr/>
            </p:nvSpPr>
            <p:spPr>
              <a:xfrm>
                <a:off x="-75520" y="757215"/>
                <a:ext cx="2394900" cy="2365500"/>
              </a:xfrm>
              <a:prstGeom prst="ellipse">
                <a:avLst/>
              </a:prstGeom>
              <a:noFill/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4" name="Google Shape;94;p17"/>
              <p:cNvSpPr/>
              <p:nvPr/>
            </p:nvSpPr>
            <p:spPr>
              <a:xfrm rot="10276046">
                <a:off x="2246947" y="1624292"/>
                <a:ext cx="103858" cy="104461"/>
              </a:xfrm>
              <a:custGeom>
                <a:rect b="b" l="l" r="r" t="t"/>
                <a:pathLst>
                  <a:path extrusionOk="0" h="21600" w="21600">
                    <a:moveTo>
                      <a:pt x="10759" y="0"/>
                    </a:moveTo>
                    <a:lnTo>
                      <a:pt x="21600" y="21600"/>
                    </a:lnTo>
                    <a:lnTo>
                      <a:pt x="0" y="21560"/>
                    </a:lnTo>
                    <a:close/>
                  </a:path>
                </a:pathLst>
              </a:custGeom>
              <a:solidFill>
                <a:srgbClr val="52565E"/>
              </a:solidFill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5" name="Google Shape;95;p17"/>
              <p:cNvSpPr/>
              <p:nvPr/>
            </p:nvSpPr>
            <p:spPr>
              <a:xfrm rot="-7652907">
                <a:off x="1870551" y="2758884"/>
                <a:ext cx="103050" cy="105437"/>
              </a:xfrm>
              <a:custGeom>
                <a:rect b="b" l="l" r="r" t="t"/>
                <a:pathLst>
                  <a:path extrusionOk="0" h="21600" w="21600">
                    <a:moveTo>
                      <a:pt x="10932" y="0"/>
                    </a:moveTo>
                    <a:lnTo>
                      <a:pt x="21600" y="2147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52565E"/>
              </a:solidFill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 rot="-1014981">
                <a:off x="-82214" y="2210306"/>
                <a:ext cx="103741" cy="104594"/>
              </a:xfrm>
              <a:custGeom>
                <a:rect b="b" l="l" r="r" t="t"/>
                <a:pathLst>
                  <a:path extrusionOk="0" h="21600" w="21600">
                    <a:moveTo>
                      <a:pt x="10725" y="0"/>
                    </a:moveTo>
                    <a:lnTo>
                      <a:pt x="21600" y="21600"/>
                    </a:lnTo>
                    <a:lnTo>
                      <a:pt x="0" y="21527"/>
                    </a:lnTo>
                    <a:close/>
                  </a:path>
                </a:pathLst>
              </a:custGeom>
              <a:solidFill>
                <a:srgbClr val="52565E"/>
              </a:solidFill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7" name="Google Shape;97;p17"/>
              <p:cNvSpPr/>
              <p:nvPr/>
            </p:nvSpPr>
            <p:spPr>
              <a:xfrm rot="2919025">
                <a:off x="389936" y="913465"/>
                <a:ext cx="103153" cy="105373"/>
              </a:xfrm>
              <a:custGeom>
                <a:rect b="b" l="l" r="r" t="t"/>
                <a:pathLst>
                  <a:path extrusionOk="0" h="21600" w="21600">
                    <a:moveTo>
                      <a:pt x="10935" y="0"/>
                    </a:moveTo>
                    <a:lnTo>
                      <a:pt x="21600" y="2147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52565E"/>
              </a:solidFill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8" name="Google Shape;98;p17"/>
              <p:cNvSpPr/>
              <p:nvPr/>
            </p:nvSpPr>
            <p:spPr>
              <a:xfrm rot="10276046">
                <a:off x="1023375" y="384122"/>
                <a:ext cx="103858" cy="104461"/>
              </a:xfrm>
              <a:custGeom>
                <a:rect b="b" l="l" r="r" t="t"/>
                <a:pathLst>
                  <a:path extrusionOk="0" h="21600" w="21600">
                    <a:moveTo>
                      <a:pt x="10759" y="0"/>
                    </a:moveTo>
                    <a:lnTo>
                      <a:pt x="21600" y="21600"/>
                    </a:lnTo>
                    <a:lnTo>
                      <a:pt x="0" y="21560"/>
                    </a:lnTo>
                    <a:close/>
                  </a:path>
                </a:pathLst>
              </a:custGeom>
              <a:solidFill>
                <a:srgbClr val="52565E"/>
              </a:solidFill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9" name="Google Shape;99;p17"/>
              <p:cNvSpPr/>
              <p:nvPr/>
            </p:nvSpPr>
            <p:spPr>
              <a:xfrm>
                <a:off x="615008" y="10671"/>
                <a:ext cx="433836" cy="37054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9323" y="2866"/>
                      <a:pt x="16523" y="10066"/>
                      <a:pt x="21600" y="21600"/>
                    </a:cubicBezTo>
                  </a:path>
                </a:pathLst>
              </a:custGeom>
              <a:noFill/>
              <a:ln cap="flat" cmpd="sng" w="12700">
                <a:solidFill>
                  <a:srgbClr val="52565E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17"/>
            <p:cNvSpPr/>
            <p:nvPr/>
          </p:nvSpPr>
          <p:spPr>
            <a:xfrm>
              <a:off x="77687" y="0"/>
              <a:ext cx="1121400" cy="476100"/>
            </a:xfrm>
            <a:prstGeom prst="roundRect">
              <a:avLst>
                <a:gd fmla="val 15000" name="adj"/>
              </a:avLst>
            </a:prstGeom>
            <a:solidFill>
              <a:srgbClr val="0A8EA0"/>
            </a:solidFill>
            <a:ln cap="flat" cmpd="sng" w="12700">
              <a:solidFill>
                <a:srgbClr val="FFFFFF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25400" rotWithShape="0" dir="2700000" dist="50800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ATTRACTION</a:t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1033446" y="794186"/>
              <a:ext cx="1307700" cy="394500"/>
            </a:xfrm>
            <a:prstGeom prst="roundRect">
              <a:avLst>
                <a:gd fmla="val 15000" name="adj"/>
              </a:avLst>
            </a:prstGeom>
            <a:solidFill>
              <a:srgbClr val="F85B40"/>
            </a:solidFill>
            <a:ln cap="flat" cmpd="sng" w="12700">
              <a:solidFill>
                <a:srgbClr val="FFFFFF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25400" rotWithShape="0" dir="2700000" dist="50800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CONSIDERATION</a:t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2171119" y="2032224"/>
              <a:ext cx="1307700" cy="371400"/>
            </a:xfrm>
            <a:prstGeom prst="roundRect">
              <a:avLst>
                <a:gd fmla="val 15480" name="adj"/>
              </a:avLst>
            </a:prstGeom>
            <a:solidFill>
              <a:srgbClr val="FFC845"/>
            </a:solidFill>
            <a:ln cap="flat" cmpd="sng" w="12700">
              <a:solidFill>
                <a:srgbClr val="FFFFFF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25400" rotWithShape="0" dir="2700000" dist="50800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PREPARATION</a:t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1158802" y="3110239"/>
              <a:ext cx="1307700" cy="476100"/>
            </a:xfrm>
            <a:prstGeom prst="roundRect">
              <a:avLst>
                <a:gd fmla="val 15000" name="adj"/>
              </a:avLst>
            </a:prstGeom>
            <a:solidFill>
              <a:srgbClr val="F48923"/>
            </a:solidFill>
            <a:ln cap="flat" cmpd="sng" w="12700">
              <a:solidFill>
                <a:srgbClr val="FFFFFF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25400" rotWithShape="0" dir="2700000" dist="50800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EXPERIENCE</a:t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0" y="1979914"/>
              <a:ext cx="1069200" cy="476100"/>
            </a:xfrm>
            <a:prstGeom prst="roundRect">
              <a:avLst>
                <a:gd fmla="val 15000" name="adj"/>
              </a:avLst>
            </a:prstGeom>
            <a:solidFill>
              <a:srgbClr val="30C39D"/>
            </a:solidFill>
            <a:ln cap="flat" cmpd="sng" w="12700">
              <a:solidFill>
                <a:srgbClr val="FFFFFF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25400" rotWithShape="0" dir="2700000" dist="50800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POST EXPERIENCE</a:t>
              </a:r>
              <a:endParaRPr/>
            </a:p>
          </p:txBody>
        </p:sp>
      </p:grpSp>
      <p:sp>
        <p:nvSpPr>
          <p:cNvPr id="105" name="Google Shape;105;p17"/>
          <p:cNvSpPr txBox="1"/>
          <p:nvPr/>
        </p:nvSpPr>
        <p:spPr>
          <a:xfrm>
            <a:off x="968466" y="1503713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Visitor -</a:t>
            </a:r>
            <a:r>
              <a:rPr i="1" lang="en" sz="1100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Sign up</a:t>
            </a: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2170778" y="2303406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i="1" lang="en" sz="1100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Sign up</a:t>
            </a: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- APL 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2170778" y="2506763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APL - ACC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2170778" y="2722636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ACC - APD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011350" y="3661789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APD-RE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3954580" y="3041989"/>
            <a:ext cx="14283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APD-OPEN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85250" y="3742057"/>
            <a:ext cx="14283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FI - CO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161406" y="3933236"/>
            <a:ext cx="14283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b="0" i="1" lang="en" sz="1100" u="none" cap="none" strike="noStrik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CO - Open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494328" y="2040244"/>
            <a:ext cx="783756" cy="11025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11442" y="4741"/>
                  <a:pt x="18642" y="11941"/>
                  <a:pt x="21600" y="21600"/>
                </a:cubicBezTo>
              </a:path>
            </a:pathLst>
          </a:custGeom>
          <a:noFill/>
          <a:ln cap="flat" cmpd="sng" w="12700">
            <a:solidFill>
              <a:srgbClr val="525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 rot="275270">
            <a:off x="3647858" y="2015772"/>
            <a:ext cx="627445" cy="605549"/>
            <a:chOff x="593491" y="-46896"/>
            <a:chExt cx="670061" cy="542020"/>
          </a:xfrm>
        </p:grpSpPr>
        <p:sp>
          <p:nvSpPr>
            <p:cNvPr id="115" name="Google Shape;115;p17"/>
            <p:cNvSpPr txBox="1"/>
            <p:nvPr/>
          </p:nvSpPr>
          <p:spPr>
            <a:xfrm rot="2518738">
              <a:off x="941787" y="261231"/>
              <a:ext cx="309931" cy="1506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25" lIns="17125" spcFirstLastPara="1" rIns="1712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E"/>
                </a:buClr>
                <a:buSzPts val="800"/>
                <a:buFont typeface="Lato"/>
                <a:buNone/>
              </a:pPr>
              <a:r>
                <a:rPr b="0" i="0" lang="en" sz="800" u="none" cap="none" strike="noStrike">
                  <a:solidFill>
                    <a:srgbClr val="52565E"/>
                  </a:solidFill>
                  <a:latin typeface="Lato"/>
                  <a:ea typeface="Lato"/>
                  <a:cs typeface="Lato"/>
                  <a:sym typeface="Lato"/>
                </a:rPr>
                <a:t>APD</a:t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 rot="1867599">
              <a:off x="601432" y="46553"/>
              <a:ext cx="398118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25" lIns="17125" spcFirstLastPara="1" rIns="1712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E"/>
                </a:buClr>
                <a:buSzPts val="800"/>
                <a:buFont typeface="Lato"/>
                <a:buNone/>
              </a:pPr>
              <a:r>
                <a:rPr b="0" i="0" lang="en" sz="800" u="none" cap="none" strike="noStrike">
                  <a:solidFill>
                    <a:srgbClr val="52565E"/>
                  </a:solidFill>
                  <a:latin typeface="Lato"/>
                  <a:ea typeface="Lato"/>
                  <a:cs typeface="Lato"/>
                  <a:sym typeface="Lato"/>
                </a:rPr>
                <a:t>BREAK</a:t>
              </a:r>
              <a:endParaRPr/>
            </a:p>
          </p:txBody>
        </p:sp>
      </p:grpSp>
      <p:sp>
        <p:nvSpPr>
          <p:cNvPr id="117" name="Google Shape;117;p17"/>
          <p:cNvSpPr/>
          <p:nvPr/>
        </p:nvSpPr>
        <p:spPr>
          <a:xfrm>
            <a:off x="274625" y="854850"/>
            <a:ext cx="4868400" cy="2090700"/>
          </a:xfrm>
          <a:prstGeom prst="rect">
            <a:avLst/>
          </a:prstGeom>
          <a:noFill/>
          <a:ln cap="flat" cmpd="sng" w="19050">
            <a:solidFill>
              <a:srgbClr val="0CB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5860094" y="3884700"/>
            <a:ext cx="1542401" cy="1154638"/>
            <a:chOff x="5939759" y="-955499"/>
            <a:chExt cx="1387800" cy="1034436"/>
          </a:xfrm>
        </p:grpSpPr>
        <p:sp>
          <p:nvSpPr>
            <p:cNvPr id="119" name="Google Shape;119;p17"/>
            <p:cNvSpPr txBox="1"/>
            <p:nvPr/>
          </p:nvSpPr>
          <p:spPr>
            <a:xfrm>
              <a:off x="5939759" y="-428963"/>
              <a:ext cx="1387800" cy="507900"/>
            </a:xfrm>
            <a:prstGeom prst="rect">
              <a:avLst/>
            </a:prstGeom>
            <a:solidFill>
              <a:srgbClr val="037AF5"/>
            </a:solidFill>
            <a:ln cap="flat" cmpd="sng" w="12700">
              <a:solidFill>
                <a:srgbClr val="FFFFFF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25400" rotWithShape="0" dir="2700000" dist="50800">
                <a:srgbClr val="000000">
                  <a:alpha val="40000"/>
                </a:srgbClr>
              </a:outerShdw>
            </a:effectLst>
          </p:spPr>
          <p:txBody>
            <a:bodyPr anchorCtr="0" anchor="ctr" bIns="19025" lIns="19025" spcFirstLastPara="1" rIns="19025" wrap="square" tIns="190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Lato Black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Lato Black"/>
                  <a:ea typeface="Lato Black"/>
                  <a:cs typeface="Lato Black"/>
                  <a:sym typeface="Lato Black"/>
                </a:rPr>
                <a:t>Youth</a:t>
              </a:r>
              <a:endParaRPr/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5991065" y="-955499"/>
              <a:ext cx="1285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25" lIns="17125" spcFirstLastPara="1" rIns="17125" wrap="square" tIns="171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37AF5"/>
                </a:buClr>
                <a:buSzPts val="2600"/>
                <a:buFont typeface="Lato"/>
                <a:buNone/>
              </a:pPr>
              <a:r>
                <a:rPr b="0" i="0" lang="en" sz="2600" u="none" cap="none" strike="noStrike">
                  <a:solidFill>
                    <a:srgbClr val="037AF5"/>
                  </a:solidFill>
                  <a:latin typeface="Lato"/>
                  <a:ea typeface="Lato"/>
                  <a:cs typeface="Lato"/>
                  <a:sym typeface="Lato"/>
                </a:rPr>
                <a:t>Status</a:t>
              </a:r>
              <a:endParaRPr/>
            </a:p>
          </p:txBody>
        </p:sp>
      </p:grpSp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0CB9C1"/>
                </a:highlight>
                <a:latin typeface="Staatliches"/>
                <a:ea typeface="Staatliches"/>
                <a:cs typeface="Staatliches"/>
                <a:sym typeface="Staatliches"/>
              </a:rPr>
              <a:t>STATUS DEL CF</a:t>
            </a:r>
            <a:endParaRPr sz="4000">
              <a:solidFill>
                <a:srgbClr val="FFFFFF"/>
              </a:solidFill>
              <a:highlight>
                <a:srgbClr val="0CB9C1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0CB9C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1800441" y="1052117"/>
            <a:ext cx="4950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00"/>
              <a:buFont typeface="Lato"/>
              <a:buNone/>
            </a:pPr>
            <a:r>
              <a:rPr b="0" i="0" lang="en" sz="1200" u="none" cap="none" strike="noStrike">
                <a:solidFill>
                  <a:srgbClr val="424242"/>
                </a:solidFill>
                <a:latin typeface="Lato Light"/>
                <a:ea typeface="Lato Light"/>
                <a:cs typeface="Lato Light"/>
                <a:sym typeface="Lato Light"/>
              </a:rPr>
              <a:t>Una persona entre 18 y 30 años visita la plataforma de AIESEC  </a:t>
            </a:r>
            <a:r>
              <a:rPr b="0" i="0" lang="en" sz="1200" u="sng" cap="none" strike="noStrike">
                <a:solidFill>
                  <a:srgbClr val="0000FF"/>
                </a:solidFill>
                <a:latin typeface="Lato Light"/>
                <a:ea typeface="Lato Light"/>
                <a:cs typeface="Lato Light"/>
                <a:sym typeface="La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aiesec.org</a:t>
            </a:r>
            <a:endParaRPr b="0" i="0" sz="1500" u="none" cap="none" strike="noStrike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800441" y="1552935"/>
            <a:ext cx="4942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00"/>
              <a:buFont typeface="Lato"/>
              <a:buNone/>
            </a:pPr>
            <a:r>
              <a:rPr b="0" i="0" lang="en" sz="1200" u="none" cap="none" strike="noStrike">
                <a:solidFill>
                  <a:srgbClr val="424242"/>
                </a:solidFill>
                <a:latin typeface="Lato Light"/>
                <a:ea typeface="Lato Light"/>
                <a:cs typeface="Lato Light"/>
                <a:sym typeface="Lato Light"/>
              </a:rPr>
              <a:t>El/la joven crea un perfil en la plataforma de AIESEC.</a:t>
            </a:r>
            <a:endParaRPr b="0" i="0" sz="1500" u="none" cap="none" strike="noStrike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1800441" y="2040121"/>
            <a:ext cx="49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00"/>
              <a:buFont typeface="Lato"/>
              <a:buNone/>
            </a:pPr>
            <a:r>
              <a:rPr b="0" i="0" lang="en" sz="1200" u="none" cap="none" strike="noStrike">
                <a:solidFill>
                  <a:srgbClr val="424242"/>
                </a:solidFill>
                <a:latin typeface="Lato Light"/>
                <a:ea typeface="Lato Light"/>
                <a:cs typeface="Lato Light"/>
                <a:sym typeface="Lato Light"/>
              </a:rPr>
              <a:t>El/la joven aplica a una oportunidad de AIESEC y se convierte en un potencial participante de intercambio. </a:t>
            </a:r>
            <a:endParaRPr b="0" i="0" sz="1500" u="none" cap="none" strike="noStrike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23552" y="1050238"/>
            <a:ext cx="912900" cy="292200"/>
          </a:xfrm>
          <a:prstGeom prst="roundRect">
            <a:avLst>
              <a:gd fmla="val 16667" name="adj"/>
            </a:avLst>
          </a:prstGeom>
          <a:solidFill>
            <a:srgbClr val="FFB34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VISITOR</a:t>
            </a:r>
            <a:endParaRPr b="0" i="0" sz="12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723552" y="1552935"/>
            <a:ext cx="912900" cy="292200"/>
          </a:xfrm>
          <a:prstGeom prst="roundRect">
            <a:avLst>
              <a:gd fmla="val 16667" name="adj"/>
            </a:avLst>
          </a:prstGeom>
          <a:solidFill>
            <a:srgbClr val="FFB34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OPEN/SU</a:t>
            </a:r>
            <a:endParaRPr sz="1100"/>
          </a:p>
        </p:txBody>
      </p:sp>
      <p:sp>
        <p:nvSpPr>
          <p:cNvPr id="132" name="Google Shape;132;p18"/>
          <p:cNvSpPr/>
          <p:nvPr/>
        </p:nvSpPr>
        <p:spPr>
          <a:xfrm>
            <a:off x="723552" y="2040121"/>
            <a:ext cx="912900" cy="292200"/>
          </a:xfrm>
          <a:prstGeom prst="roundRect">
            <a:avLst>
              <a:gd fmla="val 16667" name="adj"/>
            </a:avLst>
          </a:prstGeom>
          <a:solidFill>
            <a:srgbClr val="FFB34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APL</a:t>
            </a:r>
            <a:endParaRPr sz="1100"/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5">
            <a:alphaModFix/>
          </a:blip>
          <a:srcRect b="46038" l="3073" r="28922" t="28968"/>
          <a:stretch/>
        </p:blipFill>
        <p:spPr>
          <a:xfrm>
            <a:off x="454700" y="2539925"/>
            <a:ext cx="5776500" cy="148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73350" y="4085325"/>
            <a:ext cx="66771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Es preguntarnos constantemente </a:t>
            </a: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¿Cuántas de las personas que contactamos pasan a la siguiente etapa? ¿Cuántas de las personas interesadas aplicaron? ¿Cuántas de las personas que aplicaron son approvals?</a:t>
            </a:r>
            <a:endParaRPr b="1"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t wearing glasses and a bow tie is sitting in front of a laptop computer . (proporcionada por Tenor)" id="136" name="Google Shape;13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1200" y="2415875"/>
            <a:ext cx="1189534" cy="14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239400" y="1355211"/>
            <a:ext cx="1305600" cy="354900"/>
          </a:xfrm>
          <a:prstGeom prst="roundRect">
            <a:avLst>
              <a:gd fmla="val 16529" name="adj"/>
            </a:avLst>
          </a:prstGeom>
          <a:solidFill>
            <a:srgbClr val="0CB9C1"/>
          </a:solidFill>
          <a:ln cap="flat" cmpd="sng" w="575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11496" rotWithShape="0" dir="2700000" dist="22992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95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QUÉ HACER</a:t>
            </a:r>
            <a:endParaRPr sz="995"/>
          </a:p>
        </p:txBody>
      </p:sp>
      <p:sp>
        <p:nvSpPr>
          <p:cNvPr id="142" name="Google Shape;142;p19"/>
          <p:cNvSpPr/>
          <p:nvPr/>
        </p:nvSpPr>
        <p:spPr>
          <a:xfrm>
            <a:off x="1544800" y="1503619"/>
            <a:ext cx="366000" cy="57900"/>
          </a:xfrm>
          <a:prstGeom prst="rightArrow">
            <a:avLst>
              <a:gd fmla="val 50000" name="adj1"/>
              <a:gd fmla="val 116706" name="adj2"/>
            </a:avLst>
          </a:prstGeom>
          <a:solidFill>
            <a:srgbClr val="0CB9C1"/>
          </a:solidFill>
          <a:ln cap="flat" cmpd="sng" w="4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75" lIns="82775" spcFirstLastPara="1" rIns="82775" wrap="square" tIns="82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1995299" y="1262813"/>
            <a:ext cx="50283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775" lIns="82775" spcFirstLastPara="1" rIns="82775" wrap="square" tIns="8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86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 trabajo con el equipo, idear estrategias y acciones que generen que personas se interesen por nuestro programa. </a:t>
            </a:r>
            <a:endParaRPr sz="1086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239400" y="2125354"/>
            <a:ext cx="1305600" cy="354900"/>
          </a:xfrm>
          <a:prstGeom prst="roundRect">
            <a:avLst>
              <a:gd fmla="val 16529" name="adj"/>
            </a:avLst>
          </a:prstGeom>
          <a:solidFill>
            <a:srgbClr val="0CB9C1"/>
          </a:solidFill>
          <a:ln cap="flat" cmpd="sng" w="575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11496" rotWithShape="0" dir="2700000" dist="22992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95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 QUIÉN</a:t>
            </a:r>
            <a:endParaRPr sz="995"/>
          </a:p>
        </p:txBody>
      </p:sp>
      <p:sp>
        <p:nvSpPr>
          <p:cNvPr id="145" name="Google Shape;145;p19"/>
          <p:cNvSpPr txBox="1"/>
          <p:nvPr/>
        </p:nvSpPr>
        <p:spPr>
          <a:xfrm>
            <a:off x="1995299" y="2135605"/>
            <a:ext cx="50283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775" lIns="82775" spcFirstLastPara="1" rIns="82775" wrap="square" tIns="827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86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OGX Consideration Team</a:t>
            </a:r>
            <a:endParaRPr sz="1086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86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Personas de tu LC que quieran participar</a:t>
            </a:r>
            <a:endParaRPr sz="1086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1544800" y="2273761"/>
            <a:ext cx="366000" cy="57900"/>
          </a:xfrm>
          <a:prstGeom prst="rightArrow">
            <a:avLst>
              <a:gd fmla="val 50000" name="adj1"/>
              <a:gd fmla="val 116706" name="adj2"/>
            </a:avLst>
          </a:prstGeom>
          <a:solidFill>
            <a:srgbClr val="0CB9C1"/>
          </a:solidFill>
          <a:ln cap="flat" cmpd="sng" w="4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75" lIns="82775" spcFirstLastPara="1" rIns="82775" wrap="square" tIns="82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0CB9C1"/>
                </a:highlight>
                <a:latin typeface="Staatliches"/>
                <a:ea typeface="Staatliches"/>
                <a:cs typeface="Staatliches"/>
                <a:sym typeface="Staatliches"/>
              </a:rPr>
              <a:t>ATTRACTION </a:t>
            </a:r>
            <a:endParaRPr sz="4000">
              <a:solidFill>
                <a:srgbClr val="FFFFFF"/>
              </a:solidFill>
              <a:highlight>
                <a:srgbClr val="0CB9C1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0CB9C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936450" y="538050"/>
            <a:ext cx="2085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CB9C1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Visitor - SU</a:t>
            </a:r>
            <a:endParaRPr sz="2500">
              <a:solidFill>
                <a:srgbClr val="0CB9C1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21250" y="3532575"/>
            <a:ext cx="637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rgbClr val="FFAB40"/>
                </a:solidFill>
                <a:latin typeface="Lato"/>
                <a:ea typeface="Lato"/>
                <a:cs typeface="Lato"/>
                <a:sym typeface="Lato"/>
              </a:rPr>
              <a:t>¿POR DÓNDE DIFUNDIR MIS OPPS?</a:t>
            </a:r>
            <a:endParaRPr b="1" i="1" sz="2200">
              <a:solidFill>
                <a:srgbClr val="FFAB4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4">
            <a:alphaModFix/>
          </a:blip>
          <a:srcRect b="21135" l="0" r="0" t="0"/>
          <a:stretch/>
        </p:blipFill>
        <p:spPr>
          <a:xfrm>
            <a:off x="255088" y="3480538"/>
            <a:ext cx="795415" cy="6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-7" y="4360113"/>
            <a:ext cx="7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highlight>
                  <a:srgbClr val="0CB9C1"/>
                </a:highlight>
                <a:latin typeface="Lato Black"/>
                <a:ea typeface="Lato Black"/>
                <a:cs typeface="Lato Black"/>
                <a:sym typeface="Lato Black"/>
              </a:rPr>
              <a:t>GT</a:t>
            </a:r>
            <a:r>
              <a:rPr lang="en" sz="2000">
                <a:solidFill>
                  <a:srgbClr val="FFFFFF"/>
                </a:solidFill>
                <a:highlight>
                  <a:srgbClr val="0CB9C1"/>
                </a:highlight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>
              <a:highlight>
                <a:srgbClr val="0CB9C1"/>
              </a:highlight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75500" y="4309113"/>
            <a:ext cx="6216900" cy="594600"/>
          </a:xfrm>
          <a:prstGeom prst="roundRect">
            <a:avLst>
              <a:gd fmla="val 16667" name="adj"/>
            </a:avLst>
          </a:prstGeom>
          <a:solidFill>
            <a:srgbClr val="0CB9C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LINKEDIN, POST DE OPORTUNIDADES EN IG, CANALES DE </a:t>
            </a:r>
            <a:r>
              <a:rPr lang="en" sz="12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DIFUSIÓN</a:t>
            </a:r>
            <a:r>
              <a:rPr lang="en" sz="12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 DE RED DE EGRESADOS UNIVERSITARIOS Y FERIAS DE EMPLEOS</a:t>
            </a:r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at with a red nose is on the cartoon network (proporcionada por Tenor)" id="154" name="Google Shape;15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4750" y="1598355"/>
            <a:ext cx="1946800" cy="19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48923"/>
                </a:highlight>
                <a:latin typeface="Staatliches"/>
                <a:ea typeface="Staatliches"/>
                <a:cs typeface="Staatliches"/>
                <a:sym typeface="Staatliches"/>
              </a:rPr>
              <a:t>CONSIDERATION</a:t>
            </a:r>
            <a:endParaRPr sz="4000">
              <a:solidFill>
                <a:srgbClr val="FFFFFF"/>
              </a:solidFill>
              <a:highlight>
                <a:srgbClr val="F48923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F48923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828300" y="443625"/>
            <a:ext cx="74874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La fase de </a:t>
            </a:r>
            <a:r>
              <a:rPr i="1" lang="en" sz="14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consideration</a:t>
            </a:r>
            <a:r>
              <a:rPr lang="en" sz="14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 comienza cuando el cliente empieza a evaluar las diferentes propuestas que tiene a su disposición. En esta etapa debemos proporcionar información crítica y pertinente para ayudar a nuestro cliente a toma la mejor decisión posible.</a:t>
            </a:r>
            <a:endParaRPr sz="16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896307" y="2309429"/>
            <a:ext cx="1214100" cy="392100"/>
          </a:xfrm>
          <a:prstGeom prst="roundRect">
            <a:avLst>
              <a:gd fmla="val 16529" name="adj"/>
            </a:avLst>
          </a:prstGeom>
          <a:solidFill>
            <a:srgbClr val="F48923"/>
          </a:solidFill>
          <a:ln cap="flat" cmpd="sng" w="635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12700" rotWithShape="0" dir="27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CONSIDERATION</a:t>
            </a:r>
            <a:endParaRPr sz="1100"/>
          </a:p>
        </p:txBody>
      </p:sp>
      <p:sp>
        <p:nvSpPr>
          <p:cNvPr id="162" name="Google Shape;162;p20"/>
          <p:cNvSpPr/>
          <p:nvPr/>
        </p:nvSpPr>
        <p:spPr>
          <a:xfrm>
            <a:off x="2894826" y="2902152"/>
            <a:ext cx="1214100" cy="625500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6350">
            <a:solidFill>
              <a:srgbClr val="F85A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Lato"/>
                <a:ea typeface="Lato"/>
                <a:cs typeface="Lato"/>
                <a:sym typeface="Lato"/>
              </a:rPr>
              <a:t>Esta es la etapa del </a:t>
            </a:r>
            <a:r>
              <a:rPr i="1" lang="en" sz="900">
                <a:solidFill>
                  <a:srgbClr val="262626"/>
                </a:solidFill>
                <a:latin typeface="Lato"/>
                <a:ea typeface="Lato"/>
                <a:cs typeface="Lato"/>
                <a:sym typeface="Lato"/>
              </a:rPr>
              <a:t>customer flow </a:t>
            </a:r>
            <a:r>
              <a:rPr lang="en" sz="900">
                <a:solidFill>
                  <a:srgbClr val="262626"/>
                </a:solidFill>
                <a:latin typeface="Lato"/>
                <a:ea typeface="Lato"/>
                <a:cs typeface="Lato"/>
                <a:sym typeface="Lato"/>
              </a:rPr>
              <a:t>donde “vendemos”. </a:t>
            </a:r>
            <a:endParaRPr sz="1100"/>
          </a:p>
        </p:txBody>
      </p:sp>
      <p:sp>
        <p:nvSpPr>
          <p:cNvPr id="163" name="Google Shape;163;p20"/>
          <p:cNvSpPr txBox="1"/>
          <p:nvPr/>
        </p:nvSpPr>
        <p:spPr>
          <a:xfrm>
            <a:off x="2147700" y="1809175"/>
            <a:ext cx="69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PROCESO DE VENTA</a:t>
            </a:r>
            <a:endParaRPr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316851" y="2340875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Conoce tu programa.</a:t>
            </a:r>
            <a:endParaRPr sz="1100"/>
          </a:p>
        </p:txBody>
      </p:sp>
      <p:sp>
        <p:nvSpPr>
          <p:cNvPr id="165" name="Google Shape;165;p20"/>
          <p:cNvSpPr/>
          <p:nvPr/>
        </p:nvSpPr>
        <p:spPr>
          <a:xfrm>
            <a:off x="5828474" y="2340875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Conoce tu mercado (</a:t>
            </a:r>
            <a:r>
              <a:rPr i="1"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buyer persona</a:t>
            </a: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100"/>
          </a:p>
        </p:txBody>
      </p:sp>
      <p:sp>
        <p:nvSpPr>
          <p:cNvPr id="166" name="Google Shape;166;p20"/>
          <p:cNvSpPr/>
          <p:nvPr/>
        </p:nvSpPr>
        <p:spPr>
          <a:xfrm>
            <a:off x="7340096" y="2340873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Primer contacto (first contact).</a:t>
            </a:r>
            <a:endParaRPr sz="1100"/>
          </a:p>
        </p:txBody>
      </p:sp>
      <p:sp>
        <p:nvSpPr>
          <p:cNvPr id="167" name="Google Shape;167;p20"/>
          <p:cNvSpPr/>
          <p:nvPr/>
        </p:nvSpPr>
        <p:spPr>
          <a:xfrm>
            <a:off x="7340096" y="3012946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Cita de ventas (meeting de consideration).</a:t>
            </a:r>
            <a:endParaRPr sz="1000"/>
          </a:p>
        </p:txBody>
      </p:sp>
      <p:sp>
        <p:nvSpPr>
          <p:cNvPr id="168" name="Google Shape;168;p20"/>
          <p:cNvSpPr/>
          <p:nvPr/>
        </p:nvSpPr>
        <p:spPr>
          <a:xfrm>
            <a:off x="5848358" y="3012946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Follow up</a:t>
            </a:r>
            <a:endParaRPr sz="1100"/>
          </a:p>
        </p:txBody>
      </p:sp>
      <p:sp>
        <p:nvSpPr>
          <p:cNvPr id="169" name="Google Shape;169;p20"/>
          <p:cNvSpPr/>
          <p:nvPr/>
        </p:nvSpPr>
        <p:spPr>
          <a:xfrm>
            <a:off x="4316851" y="3012946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Cierre de venta.</a:t>
            </a:r>
            <a:endParaRPr sz="1100"/>
          </a:p>
        </p:txBody>
      </p:sp>
      <p:sp>
        <p:nvSpPr>
          <p:cNvPr id="170" name="Google Shape;170;p20"/>
          <p:cNvSpPr/>
          <p:nvPr/>
        </p:nvSpPr>
        <p:spPr>
          <a:xfrm>
            <a:off x="4316850" y="3682117"/>
            <a:ext cx="1214100" cy="360300"/>
          </a:xfrm>
          <a:prstGeom prst="roundRect">
            <a:avLst>
              <a:gd fmla="val 10345" name="adj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Post venta.</a:t>
            </a:r>
            <a:endParaRPr sz="1100"/>
          </a:p>
        </p:txBody>
      </p:sp>
      <p:sp>
        <p:nvSpPr>
          <p:cNvPr id="171" name="Google Shape;171;p20"/>
          <p:cNvSpPr/>
          <p:nvPr/>
        </p:nvSpPr>
        <p:spPr>
          <a:xfrm>
            <a:off x="5588242" y="2430685"/>
            <a:ext cx="183600" cy="18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6350">
            <a:solidFill>
              <a:srgbClr val="F477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099865" y="2414963"/>
            <a:ext cx="183600" cy="18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6350">
            <a:solidFill>
              <a:srgbClr val="F477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 rot="10800000">
            <a:off x="7091265" y="3094365"/>
            <a:ext cx="192000" cy="18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6350">
            <a:solidFill>
              <a:srgbClr val="F477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 flipH="1" rot="-5400000">
            <a:off x="7860543" y="2777654"/>
            <a:ext cx="181500" cy="19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6350">
            <a:solidFill>
              <a:srgbClr val="F477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 rot="10800000">
            <a:off x="5588173" y="3098571"/>
            <a:ext cx="192000" cy="18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6350">
            <a:solidFill>
              <a:srgbClr val="F477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 flipH="1" rot="-5400000">
            <a:off x="4833223" y="3429689"/>
            <a:ext cx="181500" cy="19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6350">
            <a:solidFill>
              <a:srgbClr val="F477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ongebob squarepants is writing on a piece of paper with a pen . (proporcionada por Tenor)"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00275"/>
            <a:ext cx="2590026" cy="1893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824711" y="1996350"/>
            <a:ext cx="1442100" cy="392100"/>
          </a:xfrm>
          <a:prstGeom prst="roundRect">
            <a:avLst>
              <a:gd fmla="val 16529" name="adj"/>
            </a:avLst>
          </a:prstGeom>
          <a:solidFill>
            <a:srgbClr val="F48923"/>
          </a:solidFill>
          <a:ln cap="flat" cmpd="sng" w="635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12700" rotWithShape="0" dir="27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QUÉ HACER</a:t>
            </a:r>
            <a:endParaRPr sz="1100"/>
          </a:p>
        </p:txBody>
      </p:sp>
      <p:sp>
        <p:nvSpPr>
          <p:cNvPr id="184" name="Google Shape;184;p21"/>
          <p:cNvSpPr/>
          <p:nvPr/>
        </p:nvSpPr>
        <p:spPr>
          <a:xfrm>
            <a:off x="2266813" y="2160300"/>
            <a:ext cx="404100" cy="64200"/>
          </a:xfrm>
          <a:prstGeom prst="rightArrow">
            <a:avLst>
              <a:gd fmla="val 50000" name="adj1"/>
              <a:gd fmla="val 116706" name="adj2"/>
            </a:avLst>
          </a:prstGeom>
          <a:solidFill>
            <a:srgbClr val="F48923"/>
          </a:solidFill>
          <a:ln cap="flat" cmpd="sng" w="47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2764488" y="1222250"/>
            <a:ext cx="5554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Revisa </a:t>
            </a:r>
            <a:r>
              <a:rPr i="1"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podio y expa c</a:t>
            </a: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onstantemente para ver tus nuevos SUs. Contáctalos y cambia su estatus en la plataforma a contactado.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Recuerda utilizar tu Speech de ventas adaptado a la campaña de atracción para que la venta sea lo mejor posible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No olvides incluir en tu speech de venta una </a:t>
            </a:r>
            <a:r>
              <a:rPr b="1" lang="en"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explicación de qué es la organización, qué es el programa, oportunidades y beneficios. </a:t>
            </a:r>
            <a:endParaRPr b="1" sz="12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Acompaña al EP en el proceso de decidir qué oportunidad tomar, al decidir, mandale el link de la oportunidad y acompañalo en el proceso de aplicar. </a:t>
            </a:r>
            <a:endParaRPr sz="14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824711" y="3839100"/>
            <a:ext cx="1442100" cy="392100"/>
          </a:xfrm>
          <a:prstGeom prst="roundRect">
            <a:avLst>
              <a:gd fmla="val 16529" name="adj"/>
            </a:avLst>
          </a:prstGeom>
          <a:solidFill>
            <a:srgbClr val="F48923"/>
          </a:solidFill>
          <a:ln cap="flat" cmpd="sng" w="635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12700" rotWithShape="0" dir="27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 QUIÉN</a:t>
            </a:r>
            <a:endParaRPr sz="1100"/>
          </a:p>
        </p:txBody>
      </p:sp>
      <p:sp>
        <p:nvSpPr>
          <p:cNvPr id="187" name="Google Shape;187;p21"/>
          <p:cNvSpPr txBox="1"/>
          <p:nvPr/>
        </p:nvSpPr>
        <p:spPr>
          <a:xfrm>
            <a:off x="2764488" y="3645150"/>
            <a:ext cx="555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OGX Consideration Team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IR Partner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266813" y="4003050"/>
            <a:ext cx="404100" cy="64200"/>
          </a:xfrm>
          <a:prstGeom prst="rightArrow">
            <a:avLst>
              <a:gd fmla="val 50000" name="adj1"/>
              <a:gd fmla="val 116706" name="adj2"/>
            </a:avLst>
          </a:prstGeom>
          <a:solidFill>
            <a:srgbClr val="F48923"/>
          </a:solidFill>
          <a:ln cap="flat" cmpd="sng" w="47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48923"/>
                </a:highlight>
                <a:latin typeface="Staatliches"/>
                <a:ea typeface="Staatliches"/>
                <a:cs typeface="Staatliches"/>
                <a:sym typeface="Staatliches"/>
              </a:rPr>
              <a:t>CONSIDERATION</a:t>
            </a:r>
            <a:endParaRPr sz="4000">
              <a:solidFill>
                <a:srgbClr val="FFFFFF"/>
              </a:solidFill>
              <a:highlight>
                <a:srgbClr val="F48923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F48923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510250" y="617650"/>
            <a:ext cx="169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48923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SU - APL</a:t>
            </a:r>
            <a:endParaRPr sz="2400">
              <a:solidFill>
                <a:srgbClr val="F48923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2642000" y="186225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0CB9C1"/>
                </a:highlight>
                <a:latin typeface="Staatliches"/>
                <a:ea typeface="Staatliches"/>
                <a:cs typeface="Staatliches"/>
                <a:sym typeface="Staatliches"/>
              </a:rPr>
              <a:t>EXPA</a:t>
            </a:r>
            <a:endParaRPr sz="4000">
              <a:solidFill>
                <a:srgbClr val="FFFFFF"/>
              </a:solidFill>
              <a:highlight>
                <a:srgbClr val="0CB9C1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0CB9C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732400" y="854850"/>
            <a:ext cx="741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EXPA es nuestra herramienta de base. </a:t>
            </a:r>
            <a:endParaRPr sz="24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1154575" y="1593750"/>
            <a:ext cx="2874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Sign Ups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Aplicantes.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Accepted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Approved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Realized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Finished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NPS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LPS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Oportunidades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8200" y="1456050"/>
            <a:ext cx="4430400" cy="3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3"/>
          <p:cNvPicPr preferRelativeResize="0"/>
          <p:nvPr/>
        </p:nvPicPr>
        <p:blipFill rotWithShape="1">
          <a:blip r:embed="rId4">
            <a:alphaModFix/>
          </a:blip>
          <a:srcRect b="0" l="5687" r="0" t="8399"/>
          <a:stretch/>
        </p:blipFill>
        <p:spPr>
          <a:xfrm>
            <a:off x="1454825" y="1144925"/>
            <a:ext cx="7134176" cy="39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1261126" y="930574"/>
            <a:ext cx="1647000" cy="833700"/>
          </a:xfrm>
          <a:prstGeom prst="ellipse">
            <a:avLst/>
          </a:prstGeom>
          <a:noFill/>
          <a:ln cap="flat" cmpd="sng" w="8850">
            <a:solidFill>
              <a:srgbClr val="650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75" lIns="84975" spcFirstLastPara="1" rIns="84975" wrap="square" tIns="8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/>
          </a:p>
        </p:txBody>
      </p:sp>
      <p:cxnSp>
        <p:nvCxnSpPr>
          <p:cNvPr id="207" name="Google Shape;207;p23"/>
          <p:cNvCxnSpPr>
            <a:endCxn id="206" idx="6"/>
          </p:cNvCxnSpPr>
          <p:nvPr/>
        </p:nvCxnSpPr>
        <p:spPr>
          <a:xfrm flipH="1">
            <a:off x="2908126" y="1232524"/>
            <a:ext cx="870000" cy="114900"/>
          </a:xfrm>
          <a:prstGeom prst="straightConnector1">
            <a:avLst/>
          </a:prstGeom>
          <a:noFill/>
          <a:ln cap="flat" cmpd="sng" w="13300">
            <a:solidFill>
              <a:srgbClr val="650BE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" name="Google Shape;208;p23"/>
          <p:cNvSpPr/>
          <p:nvPr/>
        </p:nvSpPr>
        <p:spPr>
          <a:xfrm rot="5400372">
            <a:off x="6696801" y="2937275"/>
            <a:ext cx="2771700" cy="1243500"/>
          </a:xfrm>
          <a:prstGeom prst="ellipse">
            <a:avLst/>
          </a:prstGeom>
          <a:noFill/>
          <a:ln cap="flat" cmpd="sng" w="8850">
            <a:solidFill>
              <a:srgbClr val="650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75" lIns="84975" spcFirstLastPara="1" rIns="84975" wrap="square" tIns="8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/>
          </a:p>
        </p:txBody>
      </p:sp>
      <p:sp>
        <p:nvSpPr>
          <p:cNvPr id="209" name="Google Shape;209;p23"/>
          <p:cNvSpPr txBox="1"/>
          <p:nvPr/>
        </p:nvSpPr>
        <p:spPr>
          <a:xfrm>
            <a:off x="3828204" y="1037978"/>
            <a:ext cx="40974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75" lIns="84975" spcFirstLastPara="1" rIns="84975" wrap="square" tIns="8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7">
                <a:solidFill>
                  <a:srgbClr val="FFFFFF"/>
                </a:solidFill>
                <a:highlight>
                  <a:srgbClr val="450B6D"/>
                </a:highlight>
                <a:latin typeface="Raleway"/>
                <a:ea typeface="Raleway"/>
                <a:cs typeface="Raleway"/>
                <a:sym typeface="Raleway"/>
              </a:rPr>
              <a:t>1) Ingresa a “people” y puedo ver todos los SUs</a:t>
            </a:r>
            <a:endParaRPr sz="1487">
              <a:solidFill>
                <a:srgbClr val="FFFFFF"/>
              </a:solidFill>
              <a:highlight>
                <a:srgbClr val="450B6D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2493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7">
              <a:solidFill>
                <a:srgbClr val="01010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963400" y="1764282"/>
            <a:ext cx="40974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75" lIns="84975" spcFirstLastPara="1" rIns="84975" wrap="square" tIns="8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94">
                <a:solidFill>
                  <a:srgbClr val="FFFFFF"/>
                </a:solidFill>
                <a:highlight>
                  <a:srgbClr val="450B6D"/>
                </a:highlight>
                <a:latin typeface="Raleway"/>
                <a:ea typeface="Raleway"/>
                <a:cs typeface="Raleway"/>
                <a:sym typeface="Raleway"/>
              </a:rPr>
              <a:t>2) Aquí puedo ver el estatus “open” “aplicante” “aceptado” “approval”</a:t>
            </a:r>
            <a:endParaRPr sz="1394">
              <a:solidFill>
                <a:srgbClr val="FFFFFF"/>
              </a:solidFill>
              <a:highlight>
                <a:srgbClr val="450B6D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2493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7">
              <a:solidFill>
                <a:srgbClr val="01010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211" name="Google Shape;211;p23"/>
          <p:cNvCxnSpPr>
            <a:endCxn id="210" idx="2"/>
          </p:cNvCxnSpPr>
          <p:nvPr/>
        </p:nvCxnSpPr>
        <p:spPr>
          <a:xfrm rot="10800000">
            <a:off x="6012100" y="2173182"/>
            <a:ext cx="1533000" cy="650400"/>
          </a:xfrm>
          <a:prstGeom prst="straightConnector1">
            <a:avLst/>
          </a:prstGeom>
          <a:noFill/>
          <a:ln cap="flat" cmpd="sng" w="13300">
            <a:solidFill>
              <a:srgbClr val="650BEC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12" name="Google Shape;21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0CB9C1"/>
                </a:highlight>
                <a:latin typeface="Staatliches"/>
                <a:ea typeface="Staatliches"/>
                <a:cs typeface="Staatliches"/>
                <a:sym typeface="Staatliches"/>
              </a:rPr>
              <a:t>CONTACTO</a:t>
            </a:r>
            <a:endParaRPr sz="4000">
              <a:solidFill>
                <a:srgbClr val="FFFFFF"/>
              </a:solidFill>
              <a:highlight>
                <a:srgbClr val="0CB9C1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0CB9C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161050" y="1795725"/>
            <a:ext cx="4232100" cy="1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Saludo, nombre, decir que somos de AIESEC y una referencia “la organización que gestiona intercambios”..</a:t>
            </a:r>
            <a:endParaRPr sz="1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Transmitimos confianza y emoción, debemos lograr el </a:t>
            </a:r>
            <a:r>
              <a:rPr b="1" lang="en" sz="1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primer objetivo: </a:t>
            </a:r>
            <a:r>
              <a:rPr b="1" lang="en" sz="17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agendar una reunión informativa (IS)</a:t>
            </a:r>
            <a:endParaRPr b="1" sz="17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SIEMPRE finaliza la charla con una pregunta </a:t>
            </a:r>
            <a:endParaRPr b="1"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208159" y="854850"/>
            <a:ext cx="4684200" cy="765300"/>
          </a:xfrm>
          <a:prstGeom prst="rect">
            <a:avLst/>
          </a:prstGeom>
          <a:noFill/>
          <a:ln>
            <a:noFill/>
          </a:ln>
          <a:effectLst>
            <a:outerShdw blurRad="28013" rotWithShape="0" algn="bl" dir="5400000" dist="9338">
              <a:srgbClr val="000000">
                <a:alpha val="50000"/>
              </a:srgbClr>
            </a:outerShdw>
          </a:effectLst>
        </p:spPr>
        <p:txBody>
          <a:bodyPr anchorCtr="0" anchor="t" bIns="89625" lIns="89625" spcFirstLastPara="1" rIns="89625" wrap="square" tIns="89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9"/>
              <a:buFont typeface="Arial"/>
              <a:buNone/>
            </a:pPr>
            <a:r>
              <a:rPr b="1" i="0" lang="en" sz="3529" u="none" cap="none" strike="noStrike">
                <a:solidFill>
                  <a:srgbClr val="FFFFFF"/>
                </a:solidFill>
                <a:highlight>
                  <a:srgbClr val="F48923"/>
                </a:highlight>
                <a:latin typeface="Lato"/>
                <a:ea typeface="Lato"/>
                <a:cs typeface="Lato"/>
                <a:sym typeface="Lato"/>
              </a:rPr>
              <a:t>EN MENOS DE </a:t>
            </a:r>
            <a:r>
              <a:rPr b="1" lang="en" sz="3529">
                <a:solidFill>
                  <a:srgbClr val="FFFFFF"/>
                </a:solidFill>
                <a:highlight>
                  <a:srgbClr val="F48923"/>
                </a:highlight>
                <a:latin typeface="Lato"/>
                <a:ea typeface="Lato"/>
                <a:cs typeface="Lato"/>
                <a:sym typeface="Lato"/>
              </a:rPr>
              <a:t>12</a:t>
            </a:r>
            <a:r>
              <a:rPr b="1" i="0" lang="en" sz="3529" u="none" cap="none" strike="noStrike">
                <a:solidFill>
                  <a:srgbClr val="FFFFFF"/>
                </a:solidFill>
                <a:highlight>
                  <a:srgbClr val="F48923"/>
                </a:highlight>
                <a:latin typeface="Lato"/>
                <a:ea typeface="Lato"/>
                <a:cs typeface="Lato"/>
                <a:sym typeface="Lato"/>
              </a:rPr>
              <a:t> HS</a:t>
            </a:r>
            <a:endParaRPr b="1" i="0" sz="3529" u="none" cap="none" strike="noStrike">
              <a:solidFill>
                <a:srgbClr val="FFFFFF"/>
              </a:solidFill>
              <a:highlight>
                <a:srgbClr val="F48923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48923"/>
                </a:highlight>
                <a:latin typeface="Staatliches"/>
                <a:ea typeface="Staatliches"/>
                <a:cs typeface="Staatliches"/>
                <a:sym typeface="Staatliches"/>
              </a:rPr>
              <a:t>REUNIÓN INFORMATIVA</a:t>
            </a:r>
            <a:endParaRPr sz="4000">
              <a:solidFill>
                <a:srgbClr val="FFFFFF"/>
              </a:solidFill>
              <a:highlight>
                <a:srgbClr val="F48923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rgbClr val="F48923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1208159" y="854850"/>
            <a:ext cx="4684200" cy="765300"/>
          </a:xfrm>
          <a:prstGeom prst="rect">
            <a:avLst/>
          </a:prstGeom>
          <a:noFill/>
          <a:ln>
            <a:noFill/>
          </a:ln>
          <a:effectLst>
            <a:outerShdw blurRad="28013" rotWithShape="0" algn="bl" dir="5400000" dist="9338">
              <a:srgbClr val="000000">
                <a:alpha val="50000"/>
              </a:srgbClr>
            </a:outerShdw>
          </a:effectLst>
        </p:spPr>
        <p:txBody>
          <a:bodyPr anchorCtr="0" anchor="t" bIns="89625" lIns="89625" spcFirstLastPara="1" rIns="89625" wrap="square" tIns="89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9"/>
              <a:buFont typeface="Arial"/>
              <a:buNone/>
            </a:pPr>
            <a:r>
              <a:rPr b="1" i="0" lang="en" sz="3529" u="none" cap="none" strike="noStrike">
                <a:solidFill>
                  <a:srgbClr val="FFFFFF"/>
                </a:solidFill>
                <a:highlight>
                  <a:srgbClr val="0CB9C1"/>
                </a:highlight>
                <a:latin typeface="Lato"/>
                <a:ea typeface="Lato"/>
                <a:cs typeface="Lato"/>
                <a:sym typeface="Lato"/>
              </a:rPr>
              <a:t>EN MENOS DE </a:t>
            </a:r>
            <a:r>
              <a:rPr b="1" lang="en" sz="3529">
                <a:solidFill>
                  <a:srgbClr val="FFFFFF"/>
                </a:solidFill>
                <a:highlight>
                  <a:srgbClr val="0CB9C1"/>
                </a:highlight>
                <a:latin typeface="Lato"/>
                <a:ea typeface="Lato"/>
                <a:cs typeface="Lato"/>
                <a:sym typeface="Lato"/>
              </a:rPr>
              <a:t>24</a:t>
            </a:r>
            <a:r>
              <a:rPr b="1" i="0" lang="en" sz="3529" u="none" cap="none" strike="noStrike">
                <a:solidFill>
                  <a:srgbClr val="FFFFFF"/>
                </a:solidFill>
                <a:highlight>
                  <a:srgbClr val="0CB9C1"/>
                </a:highlight>
                <a:latin typeface="Lato"/>
                <a:ea typeface="Lato"/>
                <a:cs typeface="Lato"/>
                <a:sym typeface="Lato"/>
              </a:rPr>
              <a:t> HS</a:t>
            </a:r>
            <a:endParaRPr b="1" i="0" sz="3529" u="none" cap="none" strike="noStrike">
              <a:solidFill>
                <a:srgbClr val="FFFFFF"/>
              </a:solidFill>
              <a:highlight>
                <a:srgbClr val="0CB9C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1638400" y="1704425"/>
            <a:ext cx="46842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La misma la debemos agendar </a:t>
            </a:r>
            <a:r>
              <a:rPr b="1"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entre las 48 horas</a:t>
            </a: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 Para eso, mi equipo debe tener como rutina dos (2) espacios de consultoría a la semana 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2538175" y="3038775"/>
            <a:ext cx="45807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Analizo sus intereses</a:t>
            </a:r>
            <a:endParaRPr b="1"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A la consultoría debo ir con 2/3 oportunidades para ofrecer, alienadas a sus intereses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Durante o luego de la reunión el EP debe aplicar. Si lo realiza luego de la reunión, procuremos que sea entre las 24hs 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9" name="Google Shape;2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24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/>
        </p:nvSpPr>
        <p:spPr>
          <a:xfrm>
            <a:off x="2031900" y="835489"/>
            <a:ext cx="6223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720921" y="2087696"/>
            <a:ext cx="6223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 acá te dejo unos tips</a:t>
            </a:r>
            <a:endParaRPr b="1" sz="3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cartoon cat wearing glasses has a question mark above his head (proporcionada por Tenor)" id="236" name="Google Shape;2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4475" y="1751314"/>
            <a:ext cx="1756009" cy="164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/>
        </p:nvSpPr>
        <p:spPr>
          <a:xfrm>
            <a:off x="108825" y="103789"/>
            <a:ext cx="6223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Acá te dejo unos tips</a:t>
            </a:r>
            <a:endParaRPr b="1" sz="3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62650" y="574600"/>
            <a:ext cx="6137400" cy="442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800" lIns="155800" spcFirstLastPara="1" rIns="155800" wrap="square" tIns="155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3"/>
          </a:p>
        </p:txBody>
      </p:sp>
      <p:sp>
        <p:nvSpPr>
          <p:cNvPr id="243" name="Google Shape;243;p27"/>
          <p:cNvSpPr txBox="1"/>
          <p:nvPr/>
        </p:nvSpPr>
        <p:spPr>
          <a:xfrm>
            <a:off x="-148494" y="681508"/>
            <a:ext cx="62949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800" lIns="155800" spcFirstLastPara="1" rIns="155800" wrap="square" tIns="155800">
            <a:noAutofit/>
          </a:bodyPr>
          <a:lstStyle/>
          <a:p>
            <a:pPr indent="-3678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Se breve con el mensaje y </a:t>
            </a:r>
            <a:r>
              <a:rPr lang="en">
                <a:solidFill>
                  <a:schemeClr val="dk2"/>
                </a:solidFill>
              </a:rPr>
              <a:t>enfócate</a:t>
            </a:r>
            <a:r>
              <a:rPr lang="en">
                <a:solidFill>
                  <a:schemeClr val="dk2"/>
                </a:solidFill>
              </a:rPr>
              <a:t> en concretar agendar el espacio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En el contacto recuerdales de donde obtuviste su información de contacto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Hay perfiles que prefieren el contacto solo por mensaje lo cual puede ser un </a:t>
            </a:r>
            <a:r>
              <a:rPr lang="en">
                <a:solidFill>
                  <a:schemeClr val="dk2"/>
                </a:solidFill>
              </a:rPr>
              <a:t>red flag porque el tomar un intercambio es algo muy importante y hay que tomarse el tiempo para conocer todo lo que implica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Si el contacto es vía Whatsapp utiliza las etiquetas para tus EPs porque si tienes que contactar una gran cantidad de leads puede ser </a:t>
            </a:r>
            <a:r>
              <a:rPr lang="en">
                <a:solidFill>
                  <a:schemeClr val="dk2"/>
                </a:solidFill>
              </a:rPr>
              <a:t>difícil</a:t>
            </a:r>
            <a:r>
              <a:rPr lang="en">
                <a:solidFill>
                  <a:schemeClr val="dk2"/>
                </a:solidFill>
              </a:rPr>
              <a:t> encontrar los contactos para recontactar o recordar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Debes ser bastante crítico y ser observador porque estos retos que enfrentas durante todo el proceso pueden ser repetitivos así que registrarlos, evaluarlos y atacarlos para que los miembros de tu equipo </a:t>
            </a:r>
            <a:r>
              <a:rPr lang="en">
                <a:solidFill>
                  <a:schemeClr val="dk2"/>
                </a:solidFill>
              </a:rPr>
              <a:t>estén</a:t>
            </a:r>
            <a:r>
              <a:rPr lang="en">
                <a:solidFill>
                  <a:schemeClr val="dk2"/>
                </a:solidFill>
              </a:rPr>
              <a:t> mejor preparados puedan enfrentarlos es clave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a man wearing a blue shirt that says aiesec benak (proporcionada por Tenor)" id="244" name="Google Shape;2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2400" y="362050"/>
            <a:ext cx="2165625" cy="216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flag on a white background with the letter c (proporcionada por Tenor)" id="245" name="Google Shape;24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766" y="2625560"/>
            <a:ext cx="566373" cy="42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at wearing sunglasses and the word success (proporcionada por Tenor)" id="246" name="Google Shape;24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425" y="2885975"/>
            <a:ext cx="1562907" cy="12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