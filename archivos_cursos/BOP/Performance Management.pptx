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Montserrat Black"/>
      <p:bold r:id="rId25"/>
      <p:boldItalic r:id="rId26"/>
    </p:embeddedFont>
    <p:embeddedFont>
      <p:font typeface="Montserrat Medium"/>
      <p:regular r:id="rId27"/>
      <p:bold r:id="rId28"/>
      <p:italic r:id="rId29"/>
      <p:boldItalic r:id="rId30"/>
    </p:embeddedFont>
    <p:embeddedFont>
      <p:font typeface="Quicksand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Black-boldItalic.fntdata"/><Relationship Id="rId25" Type="http://schemas.openxmlformats.org/officeDocument/2006/relationships/font" Target="fonts/MontserratBlack-bold.fntdata"/><Relationship Id="rId28" Type="http://schemas.openxmlformats.org/officeDocument/2006/relationships/font" Target="fonts/MontserratMedium-bold.fntdata"/><Relationship Id="rId27" Type="http://schemas.openxmlformats.org/officeDocument/2006/relationships/font" Target="fonts/Montserrat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Quicksand-regular.fntdata"/><Relationship Id="rId30" Type="http://schemas.openxmlformats.org/officeDocument/2006/relationships/font" Target="fonts/Montserrat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Quicksan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19" Type="http://schemas.openxmlformats.org/officeDocument/2006/relationships/font" Target="fonts/Nunito-italic.fntdata"/><Relationship Id="rId1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63bbf733ac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63bbf733ac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3bbf733ac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3bbf733ac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3bbf733ac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3bbf733ac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50fed5746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50fed5746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50fed5746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50fed5746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50fed5746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50fed5746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50fed5746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50fed5746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50fed5746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50fed5746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50fed5746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50fed5746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50fed5746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50fed5746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50fed5746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50fed5746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9.jpg"/><Relationship Id="rId2" Type="http://schemas.openxmlformats.org/officeDocument/2006/relationships/image" Target="../media/image3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975"/>
            <a:ext cx="9144038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1477800" y="1880850"/>
            <a:ext cx="61884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6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Performance </a:t>
            </a:r>
            <a:r>
              <a:rPr b="1" lang="en" sz="5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Management</a:t>
            </a:r>
            <a:endParaRPr b="1" sz="5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5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88500" y="1259850"/>
            <a:ext cx="83670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rPr lang="en" sz="5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Motivos de</a:t>
            </a:r>
            <a:br>
              <a:rPr lang="en" sz="5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b="1" lang="en" sz="5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Falta de Performance</a:t>
            </a:r>
            <a:endParaRPr b="1" sz="5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88500" y="2861900"/>
            <a:ext cx="83670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rPr lang="en" sz="69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</a:t>
            </a:r>
            <a:r>
              <a:rPr lang="en" sz="69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</a:t>
            </a:r>
            <a:r>
              <a:rPr lang="en" sz="69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</a:t>
            </a:r>
            <a:r>
              <a:rPr lang="en" sz="69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</a:t>
            </a:r>
            <a:endParaRPr sz="69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388500" y="681400"/>
            <a:ext cx="83670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rPr lang="en" sz="69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</a:t>
            </a:r>
            <a:r>
              <a:rPr lang="en" sz="69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</a:t>
            </a:r>
            <a:r>
              <a:rPr lang="en" sz="69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</a:t>
            </a:r>
            <a:r>
              <a:rPr lang="en" sz="69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</a:t>
            </a:r>
            <a:endParaRPr sz="69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102725" y="1933800"/>
            <a:ext cx="1730700" cy="591000"/>
          </a:xfrm>
          <a:prstGeom prst="rect">
            <a:avLst/>
          </a:prstGeom>
          <a:noFill/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Manejo de perfil</a:t>
            </a:r>
            <a:endParaRPr sz="2042"/>
          </a:p>
        </p:txBody>
      </p:sp>
      <p:sp>
        <p:nvSpPr>
          <p:cNvPr id="68" name="Google Shape;68;p15"/>
          <p:cNvSpPr txBox="1"/>
          <p:nvPr/>
        </p:nvSpPr>
        <p:spPr>
          <a:xfrm>
            <a:off x="1935803" y="2043760"/>
            <a:ext cx="2270700" cy="371100"/>
          </a:xfrm>
          <a:prstGeom prst="rect">
            <a:avLst/>
          </a:prstGeom>
          <a:noFill/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Educación</a:t>
            </a:r>
            <a:endParaRPr sz="2042"/>
          </a:p>
        </p:txBody>
      </p:sp>
      <p:sp>
        <p:nvSpPr>
          <p:cNvPr id="69" name="Google Shape;69;p15"/>
          <p:cNvSpPr txBox="1"/>
          <p:nvPr/>
        </p:nvSpPr>
        <p:spPr>
          <a:xfrm>
            <a:off x="4331354" y="2043760"/>
            <a:ext cx="2270700" cy="371100"/>
          </a:xfrm>
          <a:prstGeom prst="rect">
            <a:avLst/>
          </a:prstGeom>
          <a:noFill/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Rutina</a:t>
            </a:r>
            <a:endParaRPr sz="2042"/>
          </a:p>
        </p:txBody>
      </p:sp>
      <p:sp>
        <p:nvSpPr>
          <p:cNvPr id="70" name="Google Shape;70;p15"/>
          <p:cNvSpPr txBox="1"/>
          <p:nvPr/>
        </p:nvSpPr>
        <p:spPr>
          <a:xfrm>
            <a:off x="6726914" y="2043760"/>
            <a:ext cx="2270700" cy="371100"/>
          </a:xfrm>
          <a:prstGeom prst="rect">
            <a:avLst/>
          </a:prstGeom>
          <a:noFill/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Proceso</a:t>
            </a:r>
            <a:endParaRPr sz="2042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388500" y="681400"/>
            <a:ext cx="83670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rPr lang="en" sz="69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</a:t>
            </a:r>
            <a:r>
              <a:rPr lang="en" sz="69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</a:t>
            </a:r>
            <a:r>
              <a:rPr lang="en" sz="69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</a:t>
            </a:r>
            <a:r>
              <a:rPr lang="en" sz="69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</a:t>
            </a:r>
            <a:endParaRPr sz="69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102725" y="1933800"/>
            <a:ext cx="1730700" cy="591000"/>
          </a:xfrm>
          <a:prstGeom prst="rect">
            <a:avLst/>
          </a:prstGeom>
          <a:solidFill>
            <a:schemeClr val="lt1"/>
          </a:solidFill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rgbClr val="F3C108"/>
                </a:solidFill>
                <a:latin typeface="Montserrat"/>
                <a:ea typeface="Montserrat"/>
                <a:cs typeface="Montserrat"/>
                <a:sym typeface="Montserrat"/>
              </a:rPr>
              <a:t>Manejo de perfil</a:t>
            </a:r>
            <a:endParaRPr sz="2042">
              <a:solidFill>
                <a:srgbClr val="F3C108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1935803" y="2043760"/>
            <a:ext cx="2270700" cy="371100"/>
          </a:xfrm>
          <a:prstGeom prst="rect">
            <a:avLst/>
          </a:prstGeom>
          <a:noFill/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Educación</a:t>
            </a:r>
            <a:endParaRPr sz="2042"/>
          </a:p>
        </p:txBody>
      </p:sp>
      <p:sp>
        <p:nvSpPr>
          <p:cNvPr id="78" name="Google Shape;78;p16"/>
          <p:cNvSpPr txBox="1"/>
          <p:nvPr/>
        </p:nvSpPr>
        <p:spPr>
          <a:xfrm>
            <a:off x="4331354" y="2043760"/>
            <a:ext cx="2270700" cy="371100"/>
          </a:xfrm>
          <a:prstGeom prst="rect">
            <a:avLst/>
          </a:prstGeom>
          <a:noFill/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Rutina</a:t>
            </a:r>
            <a:endParaRPr sz="2042"/>
          </a:p>
        </p:txBody>
      </p:sp>
      <p:sp>
        <p:nvSpPr>
          <p:cNvPr id="79" name="Google Shape;79;p16"/>
          <p:cNvSpPr txBox="1"/>
          <p:nvPr/>
        </p:nvSpPr>
        <p:spPr>
          <a:xfrm>
            <a:off x="6726914" y="2043760"/>
            <a:ext cx="2270700" cy="371100"/>
          </a:xfrm>
          <a:prstGeom prst="rect">
            <a:avLst/>
          </a:prstGeom>
          <a:noFill/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Proceso</a:t>
            </a:r>
            <a:endParaRPr sz="2042"/>
          </a:p>
        </p:txBody>
      </p:sp>
      <p:sp>
        <p:nvSpPr>
          <p:cNvPr id="80" name="Google Shape;80;p16"/>
          <p:cNvSpPr/>
          <p:nvPr/>
        </p:nvSpPr>
        <p:spPr>
          <a:xfrm>
            <a:off x="208775" y="2746850"/>
            <a:ext cx="8546700" cy="1948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icksand"/>
              <a:buChar char="●"/>
            </a:pPr>
            <a:r>
              <a:rPr lang="en" sz="2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Mi vp se siente conectado con su JD? </a:t>
            </a:r>
            <a:endParaRPr sz="2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icksand"/>
              <a:buChar char="●"/>
            </a:pPr>
            <a:r>
              <a:rPr lang="en" sz="2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Mi vp siente que hay un espacio donde dar feedbacks?</a:t>
            </a:r>
            <a:endParaRPr sz="2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icksand"/>
              <a:buChar char="●"/>
            </a:pPr>
            <a:r>
              <a:rPr lang="en" sz="2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Mi vp busca soluciones ante el bottleneck?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/>
        </p:nvSpPr>
        <p:spPr>
          <a:xfrm>
            <a:off x="308800" y="296225"/>
            <a:ext cx="40305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Manejo de Perfíl</a:t>
            </a:r>
            <a:endParaRPr b="1" sz="4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238" y="1661027"/>
            <a:ext cx="3183625" cy="19841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8273" y="1792898"/>
            <a:ext cx="4307726" cy="1620701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/>
        </p:nvSpPr>
        <p:spPr>
          <a:xfrm>
            <a:off x="388500" y="681400"/>
            <a:ext cx="83670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rPr lang="en" sz="69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</a:t>
            </a:r>
            <a:r>
              <a:rPr lang="en" sz="69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</a:t>
            </a:r>
            <a:r>
              <a:rPr lang="en" sz="69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</a:t>
            </a:r>
            <a:r>
              <a:rPr lang="en" sz="69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</a:t>
            </a:r>
            <a:endParaRPr sz="69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102725" y="1933800"/>
            <a:ext cx="1730700" cy="591000"/>
          </a:xfrm>
          <a:prstGeom prst="rect">
            <a:avLst/>
          </a:prstGeom>
          <a:solidFill>
            <a:schemeClr val="lt1"/>
          </a:solidFill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rgbClr val="F3C108"/>
                </a:solidFill>
                <a:latin typeface="Montserrat"/>
                <a:ea typeface="Montserrat"/>
                <a:cs typeface="Montserrat"/>
                <a:sym typeface="Montserrat"/>
              </a:rPr>
              <a:t>Manejo de perfil</a:t>
            </a:r>
            <a:endParaRPr sz="2042">
              <a:solidFill>
                <a:srgbClr val="F3C108"/>
              </a:solidFill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1935803" y="2043760"/>
            <a:ext cx="2270700" cy="371100"/>
          </a:xfrm>
          <a:prstGeom prst="rect">
            <a:avLst/>
          </a:prstGeom>
          <a:solidFill>
            <a:schemeClr val="lt1"/>
          </a:solidFill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rgbClr val="F3C108"/>
                </a:solidFill>
                <a:latin typeface="Montserrat"/>
                <a:ea typeface="Montserrat"/>
                <a:cs typeface="Montserrat"/>
                <a:sym typeface="Montserrat"/>
              </a:rPr>
              <a:t>Educación</a:t>
            </a:r>
            <a:endParaRPr sz="2042">
              <a:solidFill>
                <a:srgbClr val="F3C108"/>
              </a:solidFill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4331354" y="2043760"/>
            <a:ext cx="2270700" cy="371100"/>
          </a:xfrm>
          <a:prstGeom prst="rect">
            <a:avLst/>
          </a:prstGeom>
          <a:noFill/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Rutina</a:t>
            </a:r>
            <a:endParaRPr sz="2042"/>
          </a:p>
        </p:txBody>
      </p:sp>
      <p:sp>
        <p:nvSpPr>
          <p:cNvPr id="96" name="Google Shape;96;p18"/>
          <p:cNvSpPr txBox="1"/>
          <p:nvPr/>
        </p:nvSpPr>
        <p:spPr>
          <a:xfrm>
            <a:off x="6726914" y="2043760"/>
            <a:ext cx="2270700" cy="371100"/>
          </a:xfrm>
          <a:prstGeom prst="rect">
            <a:avLst/>
          </a:prstGeom>
          <a:noFill/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Proceso</a:t>
            </a:r>
            <a:endParaRPr sz="2042"/>
          </a:p>
        </p:txBody>
      </p:sp>
      <p:sp>
        <p:nvSpPr>
          <p:cNvPr id="97" name="Google Shape;97;p18"/>
          <p:cNvSpPr/>
          <p:nvPr/>
        </p:nvSpPr>
        <p:spPr>
          <a:xfrm>
            <a:off x="208775" y="2746850"/>
            <a:ext cx="8546700" cy="1948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icksand"/>
              <a:buChar char="●"/>
            </a:pPr>
            <a:r>
              <a:rPr lang="en" sz="2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Entiende que es lo que hay que hacer para que los resultados lleguen?</a:t>
            </a:r>
            <a:endParaRPr sz="2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icksand"/>
              <a:buChar char="●"/>
            </a:pPr>
            <a:r>
              <a:rPr lang="en" sz="2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Tiene claridad sobre cómo tienen que pasar los procesos?</a:t>
            </a:r>
            <a:endParaRPr sz="2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icksand"/>
              <a:buChar char="●"/>
            </a:pPr>
            <a:r>
              <a:rPr lang="en" sz="2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Entiende cuando tienen que pasar?</a:t>
            </a:r>
            <a:endParaRPr sz="2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/>
        </p:nvSpPr>
        <p:spPr>
          <a:xfrm>
            <a:off x="308813" y="651250"/>
            <a:ext cx="40305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Educación</a:t>
            </a:r>
            <a:endParaRPr b="1" sz="4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025" y="1617575"/>
            <a:ext cx="6801227" cy="256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/>
        </p:nvSpPr>
        <p:spPr>
          <a:xfrm>
            <a:off x="388500" y="681400"/>
            <a:ext cx="83670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rPr lang="en" sz="69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</a:t>
            </a:r>
            <a:r>
              <a:rPr lang="en" sz="69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</a:t>
            </a:r>
            <a:r>
              <a:rPr lang="en" sz="69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</a:t>
            </a:r>
            <a:r>
              <a:rPr lang="en" sz="69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</a:t>
            </a:r>
            <a:endParaRPr sz="69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102725" y="1933800"/>
            <a:ext cx="1730700" cy="591000"/>
          </a:xfrm>
          <a:prstGeom prst="rect">
            <a:avLst/>
          </a:prstGeom>
          <a:solidFill>
            <a:schemeClr val="lt1"/>
          </a:solidFill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rgbClr val="F3C108"/>
                </a:solidFill>
                <a:latin typeface="Montserrat"/>
                <a:ea typeface="Montserrat"/>
                <a:cs typeface="Montserrat"/>
                <a:sym typeface="Montserrat"/>
              </a:rPr>
              <a:t>Manejo de perfil</a:t>
            </a:r>
            <a:endParaRPr sz="2042">
              <a:solidFill>
                <a:srgbClr val="F3C108"/>
              </a:solidFill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1935803" y="2043760"/>
            <a:ext cx="2270700" cy="371100"/>
          </a:xfrm>
          <a:prstGeom prst="rect">
            <a:avLst/>
          </a:prstGeom>
          <a:solidFill>
            <a:schemeClr val="lt1"/>
          </a:solidFill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rgbClr val="F3C108"/>
                </a:solidFill>
                <a:latin typeface="Montserrat"/>
                <a:ea typeface="Montserrat"/>
                <a:cs typeface="Montserrat"/>
                <a:sym typeface="Montserrat"/>
              </a:rPr>
              <a:t>Educación</a:t>
            </a:r>
            <a:endParaRPr sz="2042">
              <a:solidFill>
                <a:srgbClr val="F3C108"/>
              </a:solidFill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4331354" y="2043760"/>
            <a:ext cx="2270700" cy="371100"/>
          </a:xfrm>
          <a:prstGeom prst="rect">
            <a:avLst/>
          </a:prstGeom>
          <a:solidFill>
            <a:schemeClr val="lt1"/>
          </a:solidFill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rgbClr val="F3C108"/>
                </a:solidFill>
                <a:latin typeface="Montserrat"/>
                <a:ea typeface="Montserrat"/>
                <a:cs typeface="Montserrat"/>
                <a:sym typeface="Montserrat"/>
              </a:rPr>
              <a:t>Rutina</a:t>
            </a:r>
            <a:endParaRPr sz="2042">
              <a:solidFill>
                <a:srgbClr val="F3C108"/>
              </a:solidFill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6726914" y="2043760"/>
            <a:ext cx="2270700" cy="371100"/>
          </a:xfrm>
          <a:prstGeom prst="rect">
            <a:avLst/>
          </a:prstGeom>
          <a:noFill/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Proceso</a:t>
            </a:r>
            <a:endParaRPr sz="2042"/>
          </a:p>
        </p:txBody>
      </p:sp>
      <p:sp>
        <p:nvSpPr>
          <p:cNvPr id="113" name="Google Shape;113;p20"/>
          <p:cNvSpPr/>
          <p:nvPr/>
        </p:nvSpPr>
        <p:spPr>
          <a:xfrm>
            <a:off x="208775" y="2746850"/>
            <a:ext cx="8546700" cy="1948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icksand"/>
              <a:buChar char="●"/>
            </a:pPr>
            <a:r>
              <a:rPr lang="en" sz="2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¿La rutina responde a lo que necesito para generar performance?</a:t>
            </a:r>
            <a:endParaRPr sz="2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icksand"/>
              <a:buChar char="●"/>
            </a:pPr>
            <a:r>
              <a:rPr lang="en" sz="2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¿Las instancias están pasando cuando tienen que pasar? Con la frecuencia que tienen que pasar?</a:t>
            </a:r>
            <a:endParaRPr sz="2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icksand"/>
              <a:buChar char="●"/>
            </a:pPr>
            <a:r>
              <a:rPr lang="en" sz="2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¿Cual es la calidad de las instancias?</a:t>
            </a:r>
            <a:endParaRPr sz="2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/>
        </p:nvSpPr>
        <p:spPr>
          <a:xfrm>
            <a:off x="308813" y="651250"/>
            <a:ext cx="40305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Rutina</a:t>
            </a:r>
            <a:endParaRPr b="1" sz="4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 rotWithShape="1">
          <a:blip r:embed="rId4">
            <a:alphaModFix/>
          </a:blip>
          <a:srcRect b="0" l="0" r="1438" t="0"/>
          <a:stretch/>
        </p:blipFill>
        <p:spPr>
          <a:xfrm>
            <a:off x="484225" y="1510075"/>
            <a:ext cx="5762401" cy="199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 title="default-name (3)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800" y="3583325"/>
            <a:ext cx="7917245" cy="132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/>
        </p:nvSpPr>
        <p:spPr>
          <a:xfrm>
            <a:off x="388500" y="681400"/>
            <a:ext cx="83670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rPr lang="en" sz="69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</a:t>
            </a:r>
            <a:r>
              <a:rPr lang="en" sz="69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</a:t>
            </a:r>
            <a:r>
              <a:rPr lang="en" sz="69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</a:t>
            </a:r>
            <a:r>
              <a:rPr lang="en" sz="69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</a:t>
            </a:r>
            <a:endParaRPr sz="69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102725" y="1933800"/>
            <a:ext cx="1730700" cy="591000"/>
          </a:xfrm>
          <a:prstGeom prst="rect">
            <a:avLst/>
          </a:prstGeom>
          <a:solidFill>
            <a:schemeClr val="lt1"/>
          </a:solidFill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rgbClr val="F3C108"/>
                </a:solidFill>
                <a:latin typeface="Montserrat"/>
                <a:ea typeface="Montserrat"/>
                <a:cs typeface="Montserrat"/>
                <a:sym typeface="Montserrat"/>
              </a:rPr>
              <a:t>Manejo de perfil</a:t>
            </a:r>
            <a:endParaRPr sz="2042">
              <a:solidFill>
                <a:srgbClr val="F3C108"/>
              </a:solidFill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1935803" y="2043760"/>
            <a:ext cx="2270700" cy="371100"/>
          </a:xfrm>
          <a:prstGeom prst="rect">
            <a:avLst/>
          </a:prstGeom>
          <a:solidFill>
            <a:schemeClr val="lt1"/>
          </a:solidFill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rgbClr val="F3C108"/>
                </a:solidFill>
                <a:latin typeface="Montserrat"/>
                <a:ea typeface="Montserrat"/>
                <a:cs typeface="Montserrat"/>
                <a:sym typeface="Montserrat"/>
              </a:rPr>
              <a:t>Educación</a:t>
            </a:r>
            <a:endParaRPr sz="2042">
              <a:solidFill>
                <a:srgbClr val="F3C108"/>
              </a:solidFill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4331354" y="2043760"/>
            <a:ext cx="2270700" cy="371100"/>
          </a:xfrm>
          <a:prstGeom prst="rect">
            <a:avLst/>
          </a:prstGeom>
          <a:solidFill>
            <a:schemeClr val="lt1"/>
          </a:solidFill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rgbClr val="F3C108"/>
                </a:solidFill>
                <a:latin typeface="Montserrat"/>
                <a:ea typeface="Montserrat"/>
                <a:cs typeface="Montserrat"/>
                <a:sym typeface="Montserrat"/>
              </a:rPr>
              <a:t>Rutina</a:t>
            </a:r>
            <a:endParaRPr sz="2042">
              <a:solidFill>
                <a:srgbClr val="F3C108"/>
              </a:solidFill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6726914" y="2043760"/>
            <a:ext cx="2270700" cy="371100"/>
          </a:xfrm>
          <a:prstGeom prst="rect">
            <a:avLst/>
          </a:prstGeom>
          <a:solidFill>
            <a:schemeClr val="lt1"/>
          </a:solidFill>
          <a:ln cap="flat" cmpd="sng" w="23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5562"/>
              </a:spcBef>
              <a:spcAft>
                <a:spcPts val="5562"/>
              </a:spcAft>
              <a:buNone/>
            </a:pPr>
            <a:r>
              <a:rPr b="1" lang="en" sz="2042">
                <a:solidFill>
                  <a:srgbClr val="F3C108"/>
                </a:solidFill>
                <a:latin typeface="Montserrat"/>
                <a:ea typeface="Montserrat"/>
                <a:cs typeface="Montserrat"/>
                <a:sym typeface="Montserrat"/>
              </a:rPr>
              <a:t>Proceso</a:t>
            </a:r>
            <a:endParaRPr sz="2042">
              <a:solidFill>
                <a:srgbClr val="F3C108"/>
              </a:solidFill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208775" y="2746850"/>
            <a:ext cx="8546700" cy="1948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icksand"/>
              <a:buChar char="●"/>
            </a:pPr>
            <a:r>
              <a:rPr lang="en" sz="2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¿Mis corners destraban bottlenecks?</a:t>
            </a:r>
            <a:endParaRPr sz="2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icksand"/>
              <a:buChar char="●"/>
            </a:pPr>
            <a:r>
              <a:rPr lang="en" sz="2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¿Mi EB sabe definir en que parte deja de fluír el proceso?</a:t>
            </a:r>
            <a:endParaRPr sz="2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icksand"/>
              <a:buChar char="●"/>
            </a:pPr>
            <a:r>
              <a:rPr lang="en" sz="2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¿Se cumplen los next steps?</a:t>
            </a:r>
            <a:endParaRPr sz="20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/>
        </p:nvSpPr>
        <p:spPr>
          <a:xfrm>
            <a:off x="308813" y="651250"/>
            <a:ext cx="40305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Proceso</a:t>
            </a:r>
            <a:endParaRPr b="1" sz="4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 rotWithShape="1">
          <a:blip r:embed="rId4">
            <a:alphaModFix/>
          </a:blip>
          <a:srcRect b="0" l="2179" r="2227" t="4397"/>
          <a:stretch/>
        </p:blipFill>
        <p:spPr>
          <a:xfrm>
            <a:off x="419563" y="1621200"/>
            <a:ext cx="4363226" cy="2453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3"/>
          <p:cNvPicPr preferRelativeResize="0"/>
          <p:nvPr/>
        </p:nvPicPr>
        <p:blipFill rotWithShape="1">
          <a:blip r:embed="rId5">
            <a:alphaModFix/>
          </a:blip>
          <a:srcRect b="-7" l="31824" r="0" t="21199"/>
          <a:stretch/>
        </p:blipFill>
        <p:spPr>
          <a:xfrm>
            <a:off x="5184185" y="1575775"/>
            <a:ext cx="3774965" cy="2453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