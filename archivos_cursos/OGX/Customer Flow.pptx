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
      <p:font typeface="Montserrat"/>
      <p:regular r:id="rId34"/>
      <p:bold r:id="rId35"/>
      <p:italic r:id="rId36"/>
      <p:boldItalic r:id="rId37"/>
    </p:embeddedFont>
    <p:embeddedFont>
      <p:font typeface="Lato"/>
      <p:bold r:id="rId38"/>
      <p:boldItalic r:id="rId39"/>
    </p:embeddedFont>
    <p:embeddedFont>
      <p:font typeface="Montserrat Black"/>
      <p:bold r:id="rId40"/>
      <p:boldItalic r:id="rId41"/>
    </p:embeddedFont>
    <p:embeddedFont>
      <p:font typeface="Montserrat Medium"/>
      <p:regular r:id="rId42"/>
      <p:bold r:id="rId43"/>
      <p:italic r:id="rId44"/>
      <p:boldItalic r:id="rId45"/>
    </p:embeddedFont>
    <p:embeddedFont>
      <p:font typeface="Lato Light"/>
      <p:regular r:id="rId46"/>
      <p:bold r:id="rId47"/>
      <p:italic r:id="rId48"/>
      <p:boldItalic r:id="rId49"/>
    </p:embeddedFont>
    <p:embeddedFont>
      <p:font typeface="Montserrat Light"/>
      <p:regular r:id="rId50"/>
      <p:bold r:id="rId51"/>
      <p:italic r:id="rId52"/>
      <p:boldItalic r:id="rId53"/>
    </p:embeddedFont>
    <p:embeddedFont>
      <p:font typeface="Shadows Into Light"/>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lack-bold.fntdata"/><Relationship Id="rId42" Type="http://schemas.openxmlformats.org/officeDocument/2006/relationships/font" Target="fonts/MontserratMedium-regular.fntdata"/><Relationship Id="rId41" Type="http://schemas.openxmlformats.org/officeDocument/2006/relationships/font" Target="fonts/MontserratBlack-boldItalic.fntdata"/><Relationship Id="rId44" Type="http://schemas.openxmlformats.org/officeDocument/2006/relationships/font" Target="fonts/MontserratMedium-italic.fntdata"/><Relationship Id="rId43" Type="http://schemas.openxmlformats.org/officeDocument/2006/relationships/font" Target="fonts/MontserratMedium-bold.fntdata"/><Relationship Id="rId46" Type="http://schemas.openxmlformats.org/officeDocument/2006/relationships/font" Target="fonts/LatoLight-regular.fntdata"/><Relationship Id="rId45" Type="http://schemas.openxmlformats.org/officeDocument/2006/relationships/font" Target="fonts/Montserrat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Light-italic.fntdata"/><Relationship Id="rId47" Type="http://schemas.openxmlformats.org/officeDocument/2006/relationships/font" Target="fonts/LatoLight-bold.fntdata"/><Relationship Id="rId49" Type="http://schemas.openxmlformats.org/officeDocument/2006/relationships/font" Target="fonts/Lato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33" Type="http://schemas.openxmlformats.org/officeDocument/2006/relationships/font" Target="fonts/Nunito-boldItalic.fntdata"/><Relationship Id="rId32" Type="http://schemas.openxmlformats.org/officeDocument/2006/relationships/font" Target="fonts/Nunito-italic.fntdata"/><Relationship Id="rId35" Type="http://schemas.openxmlformats.org/officeDocument/2006/relationships/font" Target="fonts/Montserrat-bold.fntdata"/><Relationship Id="rId34" Type="http://schemas.openxmlformats.org/officeDocument/2006/relationships/font" Target="fonts/Montserrat-regular.fntdata"/><Relationship Id="rId37" Type="http://schemas.openxmlformats.org/officeDocument/2006/relationships/font" Target="fonts/Montserrat-boldItalic.fntdata"/><Relationship Id="rId36" Type="http://schemas.openxmlformats.org/officeDocument/2006/relationships/font" Target="fonts/Montserrat-italic.fntdata"/><Relationship Id="rId39" Type="http://schemas.openxmlformats.org/officeDocument/2006/relationships/font" Target="fonts/Lato-boldItalic.fntdata"/><Relationship Id="rId38" Type="http://schemas.openxmlformats.org/officeDocument/2006/relationships/font" Target="fonts/Lato-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Light-bold.fntdata"/><Relationship Id="rId50" Type="http://schemas.openxmlformats.org/officeDocument/2006/relationships/font" Target="fonts/MontserratLight-regular.fntdata"/><Relationship Id="rId53" Type="http://schemas.openxmlformats.org/officeDocument/2006/relationships/font" Target="fonts/MontserratLight-boldItalic.fntdata"/><Relationship Id="rId52" Type="http://schemas.openxmlformats.org/officeDocument/2006/relationships/font" Target="fonts/MontserratLight-italic.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ShadowsIntoLight-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3bbf733a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3bbf733a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78bfe7ea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78bfe7ea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3bbf733ac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3bbf733ac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8bfe7ead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78bfe7ead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3bbf733a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3bbf733a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8bfe7ead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8bfe7ead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3bbf733a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3bbf733a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8bfe7eadb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8bfe7eadb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8bfe7eadb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78bfe7eadb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8bfe7eadb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8bfe7eadb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8bfe7eadb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8bfe7eadb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8bfe7eadb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78bfe7eadb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8bfe7eadb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8bfe7eadb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8bfe7eadb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8bfe7eadb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8bfe7eadb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78bfe7eadb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78bfe7eadb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78bfe7eadb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8bfe7eadb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78bfe7eadb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78bfe7eadb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78bfe7eadb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8bfe7eadb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78bfe7eadb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8bfe7eadb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78bfe7eadb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8bfe7eadb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78bfe7eadb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8bfe7eadb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8bfe7eadb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78bfe7eadb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78bfe7eadb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63bc1dfc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63bc1dfc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hyperlink" Target="http://aiesec.org" TargetMode="External"/><Relationship Id="rId5" Type="http://schemas.openxmlformats.org/officeDocument/2006/relationships/hyperlink" Target="http://aiesec.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hyperlink" Target="https://docs.google.com/presentation/d/1s3RF0SbvBmJrX7mhNtx5fI9bwYM8xpa3Q99H3OKbqWY/edit#slide=id.g9b6a5af055_0_3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hyperlink" Target="https://docs.google.com/presentation/d/1HPhO1fzneWQhej_xstBsmkubXUDbO4NXfiwj-ogijPI/edit#slide=id.g9e3dbbc1a2_1_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hyperlink" Target="https://docs.google.com/presentation/d/1XHoiFNRdOlWSAK9AzWcXaBZYOLnRx6VGUi-7LCSqa60/edi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374875" y="1421925"/>
            <a:ext cx="7766700" cy="9000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Clr>
                <a:schemeClr val="dk1"/>
              </a:buClr>
              <a:buSzPts val="1100"/>
              <a:buFont typeface="Arial"/>
              <a:buNone/>
            </a:pPr>
            <a:r>
              <a:rPr b="1" lang="en" sz="8000">
                <a:solidFill>
                  <a:schemeClr val="lt1"/>
                </a:solidFill>
                <a:latin typeface="Montserrat"/>
                <a:ea typeface="Montserrat"/>
                <a:cs typeface="Montserrat"/>
                <a:sym typeface="Montserrat"/>
              </a:rPr>
              <a:t>Customer Flow</a:t>
            </a:r>
            <a:endParaRPr b="1" sz="8000">
              <a:solidFill>
                <a:schemeClr val="lt1"/>
              </a:solidFill>
              <a:latin typeface="Montserrat"/>
              <a:ea typeface="Montserrat"/>
              <a:cs typeface="Montserrat"/>
              <a:sym typeface="Montserrat"/>
            </a:endParaRPr>
          </a:p>
          <a:p>
            <a:pPr indent="0" lvl="0" marL="0" rtl="0" algn="l">
              <a:spcBef>
                <a:spcPts val="6807"/>
              </a:spcBef>
              <a:spcAft>
                <a:spcPts val="0"/>
              </a:spcAft>
              <a:buNone/>
            </a:pPr>
            <a:r>
              <a:t/>
            </a:r>
            <a:endParaRPr sz="8000">
              <a:solidFill>
                <a:schemeClr val="dk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pic>
        <p:nvPicPr>
          <p:cNvPr id="59" name="Google Shape;59;p14"/>
          <p:cNvPicPr preferRelativeResize="0"/>
          <p:nvPr/>
        </p:nvPicPr>
        <p:blipFill>
          <a:blip r:embed="rId4">
            <a:alphaModFix/>
          </a:blip>
          <a:stretch>
            <a:fillRect/>
          </a:stretch>
        </p:blipFill>
        <p:spPr>
          <a:xfrm>
            <a:off x="0" y="0"/>
            <a:ext cx="9144000" cy="51435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5"/>
          <p:cNvSpPr txBox="1"/>
          <p:nvPr/>
        </p:nvSpPr>
        <p:spPr>
          <a:xfrm>
            <a:off x="1477788" y="1844918"/>
            <a:ext cx="61884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None/>
            </a:pPr>
            <a:r>
              <a:t/>
            </a:r>
            <a:endParaRPr sz="7000">
              <a:solidFill>
                <a:schemeClr val="lt1"/>
              </a:solidFill>
              <a:latin typeface="Montserrat Medium"/>
              <a:ea typeface="Montserrat Medium"/>
              <a:cs typeface="Montserrat Medium"/>
              <a:sym typeface="Montserrat Medium"/>
            </a:endParaRPr>
          </a:p>
          <a:p>
            <a:pPr indent="0" lvl="0" marL="0" rtl="0" algn="l">
              <a:spcBef>
                <a:spcPts val="6807"/>
              </a:spcBef>
              <a:spcAft>
                <a:spcPts val="0"/>
              </a:spcAft>
              <a:buNone/>
            </a:pPr>
            <a:r>
              <a:t/>
            </a:r>
            <a:endParaRPr sz="1701">
              <a:solidFill>
                <a:schemeClr val="dk2"/>
              </a:solidFill>
              <a:latin typeface="Nunito"/>
              <a:ea typeface="Nunito"/>
              <a:cs typeface="Nunito"/>
              <a:sym typeface="Nunito"/>
            </a:endParaRPr>
          </a:p>
        </p:txBody>
      </p:sp>
      <p:sp>
        <p:nvSpPr>
          <p:cNvPr id="65" name="Google Shape;65;p15"/>
          <p:cNvSpPr/>
          <p:nvPr/>
        </p:nvSpPr>
        <p:spPr>
          <a:xfrm>
            <a:off x="861198" y="1782133"/>
            <a:ext cx="3906900" cy="693300"/>
          </a:xfrm>
          <a:prstGeom prst="rect">
            <a:avLst/>
          </a:prstGeom>
          <a:noFill/>
          <a:ln>
            <a:noFill/>
          </a:ln>
        </p:spPr>
        <p:txBody>
          <a:bodyPr anchorCtr="0" anchor="t" bIns="21350" lIns="21350" spcFirstLastPara="1" rIns="21350" wrap="square" tIns="21350">
            <a:noAutofit/>
          </a:bodyPr>
          <a:lstStyle/>
          <a:p>
            <a:pPr indent="0" lvl="0" marL="0" rtl="0" algn="just">
              <a:spcBef>
                <a:spcPts val="0"/>
              </a:spcBef>
              <a:spcAft>
                <a:spcPts val="0"/>
              </a:spcAft>
              <a:buNone/>
            </a:pPr>
            <a:r>
              <a:rPr lang="en" sz="1542">
                <a:solidFill>
                  <a:srgbClr val="FFFFFF"/>
                </a:solidFill>
                <a:latin typeface="Montserrat Light"/>
                <a:ea typeface="Montserrat Light"/>
                <a:cs typeface="Montserrat Light"/>
                <a:sym typeface="Montserrat Light"/>
              </a:rPr>
              <a:t>El Customer Flow representa el movimiento de un cliente a través de la experiencia proporcionada por la organización o empresa. Directamente vinculado al cliente, el Customer Flow </a:t>
            </a:r>
            <a:r>
              <a:rPr b="1" lang="en" sz="1542">
                <a:solidFill>
                  <a:srgbClr val="FFFFFF"/>
                </a:solidFill>
                <a:latin typeface="Montserrat"/>
                <a:ea typeface="Montserrat"/>
                <a:cs typeface="Montserrat"/>
                <a:sym typeface="Montserrat"/>
              </a:rPr>
              <a:t>describe las etapas, los estados y las actividades</a:t>
            </a:r>
            <a:r>
              <a:rPr lang="en" sz="1542">
                <a:solidFill>
                  <a:srgbClr val="FFFFFF"/>
                </a:solidFill>
                <a:latin typeface="Montserrat Light"/>
                <a:ea typeface="Montserrat Light"/>
                <a:cs typeface="Montserrat Light"/>
                <a:sym typeface="Montserrat Light"/>
              </a:rPr>
              <a:t> que una persona u organización atraviesan cuando se involucran como cliente.</a:t>
            </a:r>
            <a:endParaRPr sz="1448">
              <a:solidFill>
                <a:srgbClr val="FFFFFF"/>
              </a:solidFill>
              <a:latin typeface="Montserrat"/>
              <a:ea typeface="Montserrat"/>
              <a:cs typeface="Montserrat"/>
              <a:sym typeface="Montserrat"/>
            </a:endParaRPr>
          </a:p>
        </p:txBody>
      </p:sp>
      <p:pic>
        <p:nvPicPr>
          <p:cNvPr id="66" name="Google Shape;66;p15"/>
          <p:cNvPicPr preferRelativeResize="0"/>
          <p:nvPr/>
        </p:nvPicPr>
        <p:blipFill rotWithShape="1">
          <a:blip r:embed="rId4">
            <a:alphaModFix/>
          </a:blip>
          <a:srcRect b="16819" l="0" r="0" t="0"/>
          <a:stretch/>
        </p:blipFill>
        <p:spPr>
          <a:xfrm>
            <a:off x="5226085" y="1273152"/>
            <a:ext cx="3540000" cy="31791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6"/>
          <p:cNvSpPr txBox="1"/>
          <p:nvPr/>
        </p:nvSpPr>
        <p:spPr>
          <a:xfrm>
            <a:off x="1477788" y="1844918"/>
            <a:ext cx="61884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None/>
            </a:pPr>
            <a:r>
              <a:t/>
            </a:r>
            <a:endParaRPr sz="7000">
              <a:solidFill>
                <a:schemeClr val="lt1"/>
              </a:solidFill>
              <a:latin typeface="Montserrat Medium"/>
              <a:ea typeface="Montserrat Medium"/>
              <a:cs typeface="Montserrat Medium"/>
              <a:sym typeface="Montserrat Medium"/>
            </a:endParaRPr>
          </a:p>
          <a:p>
            <a:pPr indent="0" lvl="0" marL="0" rtl="0" algn="l">
              <a:spcBef>
                <a:spcPts val="6807"/>
              </a:spcBef>
              <a:spcAft>
                <a:spcPts val="0"/>
              </a:spcAft>
              <a:buNone/>
            </a:pPr>
            <a:r>
              <a:t/>
            </a:r>
            <a:endParaRPr sz="1701">
              <a:solidFill>
                <a:schemeClr val="dk2"/>
              </a:solidFill>
              <a:latin typeface="Nunito"/>
              <a:ea typeface="Nunito"/>
              <a:cs typeface="Nunito"/>
              <a:sym typeface="Nunito"/>
            </a:endParaRPr>
          </a:p>
        </p:txBody>
      </p:sp>
      <p:sp>
        <p:nvSpPr>
          <p:cNvPr id="72" name="Google Shape;72;p16"/>
          <p:cNvSpPr/>
          <p:nvPr/>
        </p:nvSpPr>
        <p:spPr>
          <a:xfrm>
            <a:off x="949373" y="1708683"/>
            <a:ext cx="3906900" cy="693300"/>
          </a:xfrm>
          <a:prstGeom prst="rect">
            <a:avLst/>
          </a:prstGeom>
          <a:noFill/>
          <a:ln>
            <a:noFill/>
          </a:ln>
        </p:spPr>
        <p:txBody>
          <a:bodyPr anchorCtr="0" anchor="t" bIns="21350" lIns="21350" spcFirstLastPara="1" rIns="21350" wrap="square" tIns="21350">
            <a:noAutofit/>
          </a:bodyPr>
          <a:lstStyle/>
          <a:p>
            <a:pPr indent="0" lvl="0" marL="0" rtl="0" algn="just">
              <a:spcBef>
                <a:spcPts val="0"/>
              </a:spcBef>
              <a:spcAft>
                <a:spcPts val="0"/>
              </a:spcAft>
              <a:buNone/>
            </a:pPr>
            <a:r>
              <a:rPr lang="en" sz="1542">
                <a:solidFill>
                  <a:srgbClr val="FFFFFF"/>
                </a:solidFill>
                <a:latin typeface="Montserrat Light"/>
                <a:ea typeface="Montserrat Light"/>
                <a:cs typeface="Montserrat Light"/>
                <a:sym typeface="Montserrat Light"/>
              </a:rPr>
              <a:t>Asegurar que nuestros voluntarios y aliados se sientan satisfechos con sus experiencias y animarlos a continuar colaborando con AIESEC o que repitan su experiencia. </a:t>
            </a:r>
            <a:endParaRPr sz="1542">
              <a:solidFill>
                <a:srgbClr val="FFFFFF"/>
              </a:solidFill>
              <a:latin typeface="Montserrat Light"/>
              <a:ea typeface="Montserrat Light"/>
              <a:cs typeface="Montserrat Light"/>
              <a:sym typeface="Montserrat Light"/>
            </a:endParaRPr>
          </a:p>
          <a:p>
            <a:pPr indent="0" lvl="0" marL="0" rtl="0" algn="just">
              <a:spcBef>
                <a:spcPts val="0"/>
              </a:spcBef>
              <a:spcAft>
                <a:spcPts val="0"/>
              </a:spcAft>
              <a:buNone/>
            </a:pPr>
            <a:r>
              <a:t/>
            </a:r>
            <a:endParaRPr sz="1542">
              <a:solidFill>
                <a:srgbClr val="FFFFFF"/>
              </a:solidFill>
              <a:latin typeface="Montserrat Light"/>
              <a:ea typeface="Montserrat Light"/>
              <a:cs typeface="Montserrat Light"/>
              <a:sym typeface="Montserrat Light"/>
            </a:endParaRPr>
          </a:p>
          <a:p>
            <a:pPr indent="0" lvl="0" marL="0" rtl="0" algn="just">
              <a:spcBef>
                <a:spcPts val="0"/>
              </a:spcBef>
              <a:spcAft>
                <a:spcPts val="0"/>
              </a:spcAft>
              <a:buNone/>
            </a:pPr>
            <a:r>
              <a:rPr lang="en" sz="1542">
                <a:solidFill>
                  <a:srgbClr val="FFFFFF"/>
                </a:solidFill>
                <a:latin typeface="Montserrat Light"/>
                <a:ea typeface="Montserrat Light"/>
                <a:cs typeface="Montserrat Light"/>
                <a:sym typeface="Montserrat Light"/>
              </a:rPr>
              <a:t>Por eso queremos que ellos regresen a la fase de consideration después de acabar su experiencia (post-expirience), para que sigan interactuando con los programas y servicios de AIESEC</a:t>
            </a:r>
            <a:r>
              <a:rPr lang="en" sz="1542">
                <a:solidFill>
                  <a:srgbClr val="FFFFFF"/>
                </a:solidFill>
                <a:latin typeface="Montserrat Light"/>
                <a:ea typeface="Montserrat Light"/>
                <a:cs typeface="Montserrat Light"/>
                <a:sym typeface="Montserrat Light"/>
              </a:rPr>
              <a:t>.</a:t>
            </a:r>
            <a:endParaRPr sz="1448">
              <a:solidFill>
                <a:srgbClr val="FFFFFF"/>
              </a:solidFill>
              <a:latin typeface="Montserrat"/>
              <a:ea typeface="Montserrat"/>
              <a:cs typeface="Montserrat"/>
              <a:sym typeface="Montserrat"/>
            </a:endParaRPr>
          </a:p>
        </p:txBody>
      </p:sp>
      <p:pic>
        <p:nvPicPr>
          <p:cNvPr id="73" name="Google Shape;73;p16"/>
          <p:cNvPicPr preferRelativeResize="0"/>
          <p:nvPr/>
        </p:nvPicPr>
        <p:blipFill rotWithShape="1">
          <a:blip r:embed="rId4">
            <a:alphaModFix/>
          </a:blip>
          <a:srcRect b="16819" l="0" r="0" t="0"/>
          <a:stretch/>
        </p:blipFill>
        <p:spPr>
          <a:xfrm>
            <a:off x="5226085" y="1273152"/>
            <a:ext cx="3540000" cy="31791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grpSp>
        <p:nvGrpSpPr>
          <p:cNvPr id="78" name="Google Shape;78;p17"/>
          <p:cNvGrpSpPr/>
          <p:nvPr/>
        </p:nvGrpSpPr>
        <p:grpSpPr>
          <a:xfrm>
            <a:off x="132313" y="1558705"/>
            <a:ext cx="7069066" cy="2295625"/>
            <a:chOff x="1482019" y="2769839"/>
            <a:chExt cx="9730304" cy="2326333"/>
          </a:xfrm>
        </p:grpSpPr>
        <p:grpSp>
          <p:nvGrpSpPr>
            <p:cNvPr id="79" name="Google Shape;79;p17"/>
            <p:cNvGrpSpPr/>
            <p:nvPr/>
          </p:nvGrpSpPr>
          <p:grpSpPr>
            <a:xfrm>
              <a:off x="1482019" y="2769839"/>
              <a:ext cx="9730304" cy="659415"/>
              <a:chOff x="0" y="0"/>
              <a:chExt cx="8229979" cy="361839"/>
            </a:xfrm>
          </p:grpSpPr>
          <p:sp>
            <p:nvSpPr>
              <p:cNvPr id="80" name="Google Shape;80;p17"/>
              <p:cNvSpPr/>
              <p:nvPr/>
            </p:nvSpPr>
            <p:spPr>
              <a:xfrm>
                <a:off x="0" y="3639"/>
                <a:ext cx="1428600" cy="358200"/>
              </a:xfrm>
              <a:prstGeom prst="roundRect">
                <a:avLst>
                  <a:gd fmla="val 19941" name="adj"/>
                </a:avLst>
              </a:prstGeom>
              <a:solidFill>
                <a:srgbClr val="0A8EA0"/>
              </a:solidFill>
              <a:ln cap="flat" cmpd="sng" w="5725">
                <a:solidFill>
                  <a:srgbClr val="FFFFFF"/>
                </a:solidFill>
                <a:prstDash val="solid"/>
                <a:miter lim="400000"/>
                <a:headEnd len="sm" w="sm" type="none"/>
                <a:tailEnd len="sm" w="sm" type="none"/>
              </a:ln>
              <a:effectLst>
                <a:outerShdw blurRad="11427" rotWithShape="0" dir="2700000" dist="22853">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89" u="none" cap="none" strike="noStrike">
                    <a:solidFill>
                      <a:srgbClr val="FFFFFF"/>
                    </a:solidFill>
                    <a:latin typeface="Lato"/>
                    <a:ea typeface="Lato"/>
                    <a:cs typeface="Lato"/>
                    <a:sym typeface="Lato"/>
                  </a:rPr>
                  <a:t>ATTRACTION</a:t>
                </a:r>
                <a:endParaRPr sz="989"/>
              </a:p>
            </p:txBody>
          </p:sp>
          <p:sp>
            <p:nvSpPr>
              <p:cNvPr id="81" name="Google Shape;81;p17"/>
              <p:cNvSpPr/>
              <p:nvPr/>
            </p:nvSpPr>
            <p:spPr>
              <a:xfrm>
                <a:off x="1702524" y="1466"/>
                <a:ext cx="1428900" cy="358200"/>
              </a:xfrm>
              <a:prstGeom prst="roundRect">
                <a:avLst>
                  <a:gd fmla="val 16529" name="adj"/>
                </a:avLst>
              </a:prstGeom>
              <a:solidFill>
                <a:srgbClr val="F85B40"/>
              </a:solidFill>
              <a:ln cap="flat" cmpd="sng" w="5725">
                <a:solidFill>
                  <a:srgbClr val="FFFFFF"/>
                </a:solidFill>
                <a:prstDash val="solid"/>
                <a:miter lim="400000"/>
                <a:headEnd len="sm" w="sm" type="none"/>
                <a:tailEnd len="sm" w="sm" type="none"/>
              </a:ln>
              <a:effectLst>
                <a:outerShdw blurRad="11427" rotWithShape="0" dir="2700000" dist="22853">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89" u="none" cap="none" strike="noStrike">
                    <a:solidFill>
                      <a:srgbClr val="FFFFFF"/>
                    </a:solidFill>
                    <a:latin typeface="Lato"/>
                    <a:ea typeface="Lato"/>
                    <a:cs typeface="Lato"/>
                    <a:sym typeface="Lato"/>
                  </a:rPr>
                  <a:t>CONSIDERATION</a:t>
                </a:r>
                <a:endParaRPr sz="989"/>
              </a:p>
            </p:txBody>
          </p:sp>
          <p:sp>
            <p:nvSpPr>
              <p:cNvPr id="82" name="Google Shape;82;p17"/>
              <p:cNvSpPr/>
              <p:nvPr/>
            </p:nvSpPr>
            <p:spPr>
              <a:xfrm>
                <a:off x="3400539" y="3639"/>
                <a:ext cx="1428900" cy="358200"/>
              </a:xfrm>
              <a:prstGeom prst="roundRect">
                <a:avLst>
                  <a:gd fmla="val 16056" name="adj"/>
                </a:avLst>
              </a:prstGeom>
              <a:solidFill>
                <a:srgbClr val="FFC845"/>
              </a:solidFill>
              <a:ln cap="flat" cmpd="sng" w="5725">
                <a:solidFill>
                  <a:srgbClr val="FFFFFF"/>
                </a:solidFill>
                <a:prstDash val="solid"/>
                <a:miter lim="400000"/>
                <a:headEnd len="sm" w="sm" type="none"/>
                <a:tailEnd len="sm" w="sm" type="none"/>
              </a:ln>
              <a:effectLst>
                <a:outerShdw blurRad="11427" rotWithShape="0" dir="2700000" dist="22853">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89" u="none" cap="none" strike="noStrike">
                    <a:solidFill>
                      <a:srgbClr val="FFFFFF"/>
                    </a:solidFill>
                    <a:latin typeface="Lato"/>
                    <a:ea typeface="Lato"/>
                    <a:cs typeface="Lato"/>
                    <a:sym typeface="Lato"/>
                  </a:rPr>
                  <a:t>PREPARATION</a:t>
                </a:r>
                <a:endParaRPr sz="989"/>
              </a:p>
            </p:txBody>
          </p:sp>
          <p:sp>
            <p:nvSpPr>
              <p:cNvPr id="83" name="Google Shape;83;p17"/>
              <p:cNvSpPr/>
              <p:nvPr/>
            </p:nvSpPr>
            <p:spPr>
              <a:xfrm>
                <a:off x="5100809" y="0"/>
                <a:ext cx="1428900" cy="358200"/>
              </a:xfrm>
              <a:prstGeom prst="roundRect">
                <a:avLst>
                  <a:gd fmla="val 19941" name="adj"/>
                </a:avLst>
              </a:prstGeom>
              <a:solidFill>
                <a:srgbClr val="F48923"/>
              </a:solidFill>
              <a:ln cap="flat" cmpd="sng" w="5725">
                <a:solidFill>
                  <a:srgbClr val="FFFFFF"/>
                </a:solidFill>
                <a:prstDash val="solid"/>
                <a:miter lim="400000"/>
                <a:headEnd len="sm" w="sm" type="none"/>
                <a:tailEnd len="sm" w="sm" type="none"/>
              </a:ln>
              <a:effectLst>
                <a:outerShdw blurRad="11427" rotWithShape="0" dir="2700000" dist="22853">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89" u="none" cap="none" strike="noStrike">
                    <a:solidFill>
                      <a:srgbClr val="FFFFFF"/>
                    </a:solidFill>
                    <a:latin typeface="Lato"/>
                    <a:ea typeface="Lato"/>
                    <a:cs typeface="Lato"/>
                    <a:sym typeface="Lato"/>
                  </a:rPr>
                  <a:t>EXPERIENCE</a:t>
                </a:r>
                <a:endParaRPr sz="989"/>
              </a:p>
            </p:txBody>
          </p:sp>
          <p:sp>
            <p:nvSpPr>
              <p:cNvPr id="84" name="Google Shape;84;p17"/>
              <p:cNvSpPr/>
              <p:nvPr/>
            </p:nvSpPr>
            <p:spPr>
              <a:xfrm>
                <a:off x="6801079" y="0"/>
                <a:ext cx="1428900" cy="358200"/>
              </a:xfrm>
              <a:prstGeom prst="roundRect">
                <a:avLst>
                  <a:gd fmla="val 19941" name="adj"/>
                </a:avLst>
              </a:prstGeom>
              <a:solidFill>
                <a:srgbClr val="30C39D"/>
              </a:solidFill>
              <a:ln cap="flat" cmpd="sng" w="5725">
                <a:solidFill>
                  <a:srgbClr val="FFFFFF"/>
                </a:solidFill>
                <a:prstDash val="solid"/>
                <a:miter lim="400000"/>
                <a:headEnd len="sm" w="sm" type="none"/>
                <a:tailEnd len="sm" w="sm" type="none"/>
              </a:ln>
              <a:effectLst>
                <a:outerShdw blurRad="11427" rotWithShape="0" dir="2700000" dist="22853">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89" u="none" cap="none" strike="noStrike">
                    <a:solidFill>
                      <a:srgbClr val="FFFFFF"/>
                    </a:solidFill>
                    <a:latin typeface="Lato"/>
                    <a:ea typeface="Lato"/>
                    <a:cs typeface="Lato"/>
                    <a:sym typeface="Lato"/>
                  </a:rPr>
                  <a:t>POST EXPERIENCE</a:t>
                </a:r>
                <a:endParaRPr sz="989"/>
              </a:p>
            </p:txBody>
          </p:sp>
          <p:cxnSp>
            <p:nvCxnSpPr>
              <p:cNvPr id="85" name="Google Shape;85;p17"/>
              <p:cNvCxnSpPr/>
              <p:nvPr/>
            </p:nvCxnSpPr>
            <p:spPr>
              <a:xfrm>
                <a:off x="1502284" y="182666"/>
                <a:ext cx="198600" cy="0"/>
              </a:xfrm>
              <a:prstGeom prst="straightConnector1">
                <a:avLst/>
              </a:prstGeom>
              <a:noFill/>
              <a:ln cap="flat" cmpd="sng" w="5725">
                <a:solidFill>
                  <a:srgbClr val="52565E"/>
                </a:solidFill>
                <a:prstDash val="solid"/>
                <a:miter lim="800000"/>
                <a:headEnd len="sm" w="sm" type="none"/>
                <a:tailEnd len="med" w="med" type="triangle"/>
              </a:ln>
            </p:spPr>
          </p:cxnSp>
          <p:cxnSp>
            <p:nvCxnSpPr>
              <p:cNvPr id="86" name="Google Shape;86;p17"/>
              <p:cNvCxnSpPr/>
              <p:nvPr/>
            </p:nvCxnSpPr>
            <p:spPr>
              <a:xfrm>
                <a:off x="3185709" y="180493"/>
                <a:ext cx="198600" cy="0"/>
              </a:xfrm>
              <a:prstGeom prst="straightConnector1">
                <a:avLst/>
              </a:prstGeom>
              <a:noFill/>
              <a:ln cap="flat" cmpd="sng" w="5725">
                <a:solidFill>
                  <a:srgbClr val="52565E"/>
                </a:solidFill>
                <a:prstDash val="solid"/>
                <a:miter lim="800000"/>
                <a:headEnd len="sm" w="sm" type="none"/>
                <a:tailEnd len="med" w="med" type="triangle"/>
              </a:ln>
            </p:spPr>
          </p:cxnSp>
          <p:cxnSp>
            <p:nvCxnSpPr>
              <p:cNvPr id="87" name="Google Shape;87;p17"/>
              <p:cNvCxnSpPr/>
              <p:nvPr/>
            </p:nvCxnSpPr>
            <p:spPr>
              <a:xfrm>
                <a:off x="4885979" y="180493"/>
                <a:ext cx="198600" cy="0"/>
              </a:xfrm>
              <a:prstGeom prst="straightConnector1">
                <a:avLst/>
              </a:prstGeom>
              <a:noFill/>
              <a:ln cap="flat" cmpd="sng" w="5725">
                <a:solidFill>
                  <a:srgbClr val="52565E"/>
                </a:solidFill>
                <a:prstDash val="solid"/>
                <a:miter lim="800000"/>
                <a:headEnd len="sm" w="sm" type="none"/>
                <a:tailEnd len="med" w="med" type="triangle"/>
              </a:ln>
            </p:spPr>
          </p:cxnSp>
          <p:cxnSp>
            <p:nvCxnSpPr>
              <p:cNvPr id="88" name="Google Shape;88;p17"/>
              <p:cNvCxnSpPr/>
              <p:nvPr/>
            </p:nvCxnSpPr>
            <p:spPr>
              <a:xfrm>
                <a:off x="6586248" y="180493"/>
                <a:ext cx="198600" cy="0"/>
              </a:xfrm>
              <a:prstGeom prst="straightConnector1">
                <a:avLst/>
              </a:prstGeom>
              <a:noFill/>
              <a:ln cap="flat" cmpd="sng" w="5725">
                <a:solidFill>
                  <a:srgbClr val="52565E"/>
                </a:solidFill>
                <a:prstDash val="solid"/>
                <a:miter lim="800000"/>
                <a:headEnd len="sm" w="sm" type="none"/>
                <a:tailEnd len="med" w="med" type="triangle"/>
              </a:ln>
            </p:spPr>
          </p:cxnSp>
        </p:grpSp>
        <p:sp>
          <p:nvSpPr>
            <p:cNvPr id="89" name="Google Shape;89;p17"/>
            <p:cNvSpPr txBox="1"/>
            <p:nvPr/>
          </p:nvSpPr>
          <p:spPr>
            <a:xfrm>
              <a:off x="1618248" y="3582961"/>
              <a:ext cx="1342200" cy="2040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Visitor -Open </a:t>
              </a:r>
              <a:endParaRPr sz="989"/>
            </a:p>
          </p:txBody>
        </p:sp>
        <p:grpSp>
          <p:nvGrpSpPr>
            <p:cNvPr id="90" name="Google Shape;90;p17"/>
            <p:cNvGrpSpPr/>
            <p:nvPr/>
          </p:nvGrpSpPr>
          <p:grpSpPr>
            <a:xfrm>
              <a:off x="2819164" y="3575592"/>
              <a:ext cx="2192776" cy="363569"/>
              <a:chOff x="0" y="89477"/>
              <a:chExt cx="1854670" cy="199500"/>
            </a:xfrm>
          </p:grpSpPr>
          <p:sp>
            <p:nvSpPr>
              <p:cNvPr id="91" name="Google Shape;91;p17"/>
              <p:cNvSpPr txBox="1"/>
              <p:nvPr/>
            </p:nvSpPr>
            <p:spPr>
              <a:xfrm>
                <a:off x="719470" y="89477"/>
                <a:ext cx="11352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Open - APL </a:t>
                </a:r>
                <a:endParaRPr sz="989"/>
              </a:p>
            </p:txBody>
          </p:sp>
          <p:cxnSp>
            <p:nvCxnSpPr>
              <p:cNvPr id="92" name="Google Shape;92;p17"/>
              <p:cNvCxnSpPr/>
              <p:nvPr/>
            </p:nvCxnSpPr>
            <p:spPr>
              <a:xfrm>
                <a:off x="0" y="149283"/>
                <a:ext cx="863400" cy="48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93" name="Google Shape;93;p17"/>
            <p:cNvGrpSpPr/>
            <p:nvPr/>
          </p:nvGrpSpPr>
          <p:grpSpPr>
            <a:xfrm>
              <a:off x="3646322" y="3772474"/>
              <a:ext cx="1342147" cy="661675"/>
              <a:chOff x="0" y="0"/>
              <a:chExt cx="1135200" cy="363079"/>
            </a:xfrm>
          </p:grpSpPr>
          <p:sp>
            <p:nvSpPr>
              <p:cNvPr id="94" name="Google Shape;94;p17"/>
              <p:cNvSpPr txBox="1"/>
              <p:nvPr/>
            </p:nvSpPr>
            <p:spPr>
              <a:xfrm>
                <a:off x="0" y="163579"/>
                <a:ext cx="11352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APL - ACC</a:t>
                </a:r>
                <a:endParaRPr sz="989"/>
              </a:p>
            </p:txBody>
          </p:sp>
          <p:cxnSp>
            <p:nvCxnSpPr>
              <p:cNvPr id="95" name="Google Shape;95;p17"/>
              <p:cNvCxnSpPr/>
              <p:nvPr/>
            </p:nvCxnSpPr>
            <p:spPr>
              <a:xfrm>
                <a:off x="567648" y="0"/>
                <a:ext cx="0" cy="1635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96" name="Google Shape;96;p17"/>
            <p:cNvGrpSpPr/>
            <p:nvPr/>
          </p:nvGrpSpPr>
          <p:grpSpPr>
            <a:xfrm>
              <a:off x="3646322" y="4267462"/>
              <a:ext cx="1342147" cy="587152"/>
              <a:chOff x="0" y="58430"/>
              <a:chExt cx="1135200" cy="322186"/>
            </a:xfrm>
          </p:grpSpPr>
          <p:sp>
            <p:nvSpPr>
              <p:cNvPr id="97" name="Google Shape;97;p17"/>
              <p:cNvSpPr txBox="1"/>
              <p:nvPr/>
            </p:nvSpPr>
            <p:spPr>
              <a:xfrm>
                <a:off x="0" y="181116"/>
                <a:ext cx="11352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ACC - APD</a:t>
                </a:r>
                <a:endParaRPr sz="989"/>
              </a:p>
            </p:txBody>
          </p:sp>
          <p:cxnSp>
            <p:nvCxnSpPr>
              <p:cNvPr id="98" name="Google Shape;98;p17"/>
              <p:cNvCxnSpPr/>
              <p:nvPr/>
            </p:nvCxnSpPr>
            <p:spPr>
              <a:xfrm>
                <a:off x="567648" y="58430"/>
                <a:ext cx="0" cy="1584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99" name="Google Shape;99;p17"/>
            <p:cNvGrpSpPr/>
            <p:nvPr/>
          </p:nvGrpSpPr>
          <p:grpSpPr>
            <a:xfrm>
              <a:off x="6958825" y="3584369"/>
              <a:ext cx="1777771" cy="191420"/>
              <a:chOff x="1051" y="-17700"/>
              <a:chExt cx="1503655" cy="199500"/>
            </a:xfrm>
          </p:grpSpPr>
          <p:sp>
            <p:nvSpPr>
              <p:cNvPr id="100" name="Google Shape;100;p17"/>
              <p:cNvSpPr txBox="1"/>
              <p:nvPr/>
            </p:nvSpPr>
            <p:spPr>
              <a:xfrm>
                <a:off x="945806" y="-17700"/>
                <a:ext cx="5589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RE - FI</a:t>
                </a:r>
                <a:endParaRPr sz="989"/>
              </a:p>
            </p:txBody>
          </p:sp>
          <p:cxnSp>
            <p:nvCxnSpPr>
              <p:cNvPr id="101" name="Google Shape;101;p17"/>
              <p:cNvCxnSpPr/>
              <p:nvPr/>
            </p:nvCxnSpPr>
            <p:spPr>
              <a:xfrm>
                <a:off x="1051" y="86746"/>
                <a:ext cx="832800" cy="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102" name="Google Shape;102;p17"/>
            <p:cNvGrpSpPr/>
            <p:nvPr/>
          </p:nvGrpSpPr>
          <p:grpSpPr>
            <a:xfrm>
              <a:off x="4694955" y="3659082"/>
              <a:ext cx="2125553" cy="501889"/>
              <a:chOff x="352510" y="-200757"/>
              <a:chExt cx="1797812" cy="275400"/>
            </a:xfrm>
          </p:grpSpPr>
          <p:sp>
            <p:nvSpPr>
              <p:cNvPr id="103" name="Google Shape;103;p17"/>
              <p:cNvSpPr txBox="1"/>
              <p:nvPr/>
            </p:nvSpPr>
            <p:spPr>
              <a:xfrm>
                <a:off x="1304922" y="-141755"/>
                <a:ext cx="8454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 APD - OPEN</a:t>
                </a:r>
                <a:endParaRPr sz="989"/>
              </a:p>
            </p:txBody>
          </p:sp>
          <p:cxnSp>
            <p:nvCxnSpPr>
              <p:cNvPr id="104" name="Google Shape;104;p17"/>
              <p:cNvCxnSpPr/>
              <p:nvPr/>
            </p:nvCxnSpPr>
            <p:spPr>
              <a:xfrm flipH="1" rot="10800000">
                <a:off x="352510" y="-200757"/>
                <a:ext cx="1074600" cy="2754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105" name="Google Shape;105;p17"/>
            <p:cNvGrpSpPr/>
            <p:nvPr/>
          </p:nvGrpSpPr>
          <p:grpSpPr>
            <a:xfrm>
              <a:off x="4732512" y="3566635"/>
              <a:ext cx="2059659" cy="988867"/>
              <a:chOff x="-71205" y="-10710"/>
              <a:chExt cx="1742078" cy="542618"/>
            </a:xfrm>
          </p:grpSpPr>
          <p:sp>
            <p:nvSpPr>
              <p:cNvPr id="106" name="Google Shape;106;p17"/>
              <p:cNvSpPr txBox="1"/>
              <p:nvPr/>
            </p:nvSpPr>
            <p:spPr>
              <a:xfrm>
                <a:off x="1008173" y="-10710"/>
                <a:ext cx="662700" cy="199500"/>
              </a:xfrm>
              <a:prstGeom prst="rect">
                <a:avLst/>
              </a:prstGeom>
              <a:noFill/>
              <a:ln>
                <a:noFill/>
              </a:ln>
            </p:spPr>
            <p:txBody>
              <a:bodyPr anchorCtr="0" anchor="t" bIns="11575" lIns="11575" spcFirstLastPara="1" rIns="11575" wrap="square" tIns="11575">
                <a:noAutofit/>
              </a:bodyPr>
              <a:lstStyle/>
              <a:p>
                <a:pPr indent="0" lvl="0" marL="0" marR="0" rtl="0" algn="l">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 APD - RE</a:t>
                </a:r>
                <a:endParaRPr sz="989"/>
              </a:p>
            </p:txBody>
          </p:sp>
          <p:cxnSp>
            <p:nvCxnSpPr>
              <p:cNvPr id="107" name="Google Shape;107;p17"/>
              <p:cNvCxnSpPr/>
              <p:nvPr/>
            </p:nvCxnSpPr>
            <p:spPr>
              <a:xfrm flipH="1" rot="10800000">
                <a:off x="-71205" y="158108"/>
                <a:ext cx="984000" cy="3738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108" name="Google Shape;108;p17"/>
            <p:cNvGrpSpPr/>
            <p:nvPr/>
          </p:nvGrpSpPr>
          <p:grpSpPr>
            <a:xfrm>
              <a:off x="8803587" y="3582661"/>
              <a:ext cx="1886348" cy="247619"/>
              <a:chOff x="-121527" y="84591"/>
              <a:chExt cx="1595490" cy="199500"/>
            </a:xfrm>
          </p:grpSpPr>
          <p:sp>
            <p:nvSpPr>
              <p:cNvPr id="109" name="Google Shape;109;p17"/>
              <p:cNvSpPr txBox="1"/>
              <p:nvPr/>
            </p:nvSpPr>
            <p:spPr>
              <a:xfrm>
                <a:off x="928563" y="84591"/>
                <a:ext cx="545400" cy="1995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FI - CO</a:t>
                </a:r>
                <a:endParaRPr sz="989"/>
              </a:p>
            </p:txBody>
          </p:sp>
          <p:cxnSp>
            <p:nvCxnSpPr>
              <p:cNvPr id="110" name="Google Shape;110;p17"/>
              <p:cNvCxnSpPr/>
              <p:nvPr/>
            </p:nvCxnSpPr>
            <p:spPr>
              <a:xfrm>
                <a:off x="-121527" y="167425"/>
                <a:ext cx="993300" cy="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111" name="Google Shape;111;p17"/>
            <p:cNvGrpSpPr/>
            <p:nvPr/>
          </p:nvGrpSpPr>
          <p:grpSpPr>
            <a:xfrm>
              <a:off x="9040782" y="3718852"/>
              <a:ext cx="875020" cy="475244"/>
              <a:chOff x="439801" y="-8980"/>
              <a:chExt cx="740100" cy="260779"/>
            </a:xfrm>
          </p:grpSpPr>
          <p:sp>
            <p:nvSpPr>
              <p:cNvPr id="112" name="Google Shape;112;p17"/>
              <p:cNvSpPr txBox="1"/>
              <p:nvPr/>
            </p:nvSpPr>
            <p:spPr>
              <a:xfrm>
                <a:off x="439801" y="139899"/>
                <a:ext cx="740100" cy="111900"/>
              </a:xfrm>
              <a:prstGeom prst="rect">
                <a:avLst/>
              </a:prstGeom>
              <a:noFill/>
              <a:ln>
                <a:noFill/>
              </a:ln>
            </p:spPr>
            <p:txBody>
              <a:bodyPr anchorCtr="0" anchor="t" bIns="11575" lIns="11575" spcFirstLastPara="1" rIns="11575" wrap="square" tIns="11575">
                <a:noAutofit/>
              </a:bodyPr>
              <a:lstStyle/>
              <a:p>
                <a:pPr indent="0" lvl="0" marL="0" marR="0" rtl="0" algn="ctr">
                  <a:lnSpc>
                    <a:spcPct val="100000"/>
                  </a:lnSpc>
                  <a:spcBef>
                    <a:spcPts val="0"/>
                  </a:spcBef>
                  <a:spcAft>
                    <a:spcPts val="0"/>
                  </a:spcAft>
                  <a:buNone/>
                </a:pPr>
                <a:r>
                  <a:rPr b="0" i="1" lang="en" sz="719" u="none" cap="none" strike="noStrike">
                    <a:solidFill>
                      <a:srgbClr val="52565E"/>
                    </a:solidFill>
                    <a:latin typeface="Lato"/>
                    <a:ea typeface="Lato"/>
                    <a:cs typeface="Lato"/>
                    <a:sym typeface="Lato"/>
                  </a:rPr>
                  <a:t>CO - Open</a:t>
                </a:r>
                <a:endParaRPr sz="989"/>
              </a:p>
            </p:txBody>
          </p:sp>
          <p:cxnSp>
            <p:nvCxnSpPr>
              <p:cNvPr id="113" name="Google Shape;113;p17"/>
              <p:cNvCxnSpPr/>
              <p:nvPr/>
            </p:nvCxnSpPr>
            <p:spPr>
              <a:xfrm>
                <a:off x="756884" y="-8980"/>
                <a:ext cx="0" cy="163500"/>
              </a:xfrm>
              <a:prstGeom prst="straightConnector1">
                <a:avLst/>
              </a:prstGeom>
              <a:noFill/>
              <a:ln cap="flat" cmpd="sng" w="5725">
                <a:solidFill>
                  <a:srgbClr val="52565E">
                    <a:alpha val="47450"/>
                  </a:srgbClr>
                </a:solidFill>
                <a:prstDash val="dot"/>
                <a:miter lim="400000"/>
                <a:headEnd len="sm" w="sm" type="none"/>
                <a:tailEnd len="med" w="med" type="triangle"/>
              </a:ln>
            </p:spPr>
          </p:cxnSp>
        </p:grpSp>
        <p:grpSp>
          <p:nvGrpSpPr>
            <p:cNvPr id="114" name="Google Shape;114;p17"/>
            <p:cNvGrpSpPr/>
            <p:nvPr/>
          </p:nvGrpSpPr>
          <p:grpSpPr>
            <a:xfrm>
              <a:off x="6335578" y="4192446"/>
              <a:ext cx="3085970" cy="903726"/>
              <a:chOff x="32" y="-149"/>
              <a:chExt cx="3335462" cy="498058"/>
            </a:xfrm>
          </p:grpSpPr>
          <p:cxnSp>
            <p:nvCxnSpPr>
              <p:cNvPr id="115" name="Google Shape;115;p17"/>
              <p:cNvCxnSpPr/>
              <p:nvPr/>
            </p:nvCxnSpPr>
            <p:spPr>
              <a:xfrm rot="10800000">
                <a:off x="3335494" y="-149"/>
                <a:ext cx="0" cy="496200"/>
              </a:xfrm>
              <a:prstGeom prst="straightConnector1">
                <a:avLst/>
              </a:prstGeom>
              <a:noFill/>
              <a:ln cap="flat" cmpd="sng" w="5725">
                <a:solidFill>
                  <a:srgbClr val="52565E">
                    <a:alpha val="49800"/>
                  </a:srgbClr>
                </a:solidFill>
                <a:prstDash val="dot"/>
                <a:miter lim="400000"/>
                <a:headEnd len="sm" w="sm" type="none"/>
                <a:tailEnd len="sm" w="sm" type="none"/>
              </a:ln>
            </p:spPr>
          </p:cxnSp>
          <p:cxnSp>
            <p:nvCxnSpPr>
              <p:cNvPr id="116" name="Google Shape;116;p17"/>
              <p:cNvCxnSpPr/>
              <p:nvPr/>
            </p:nvCxnSpPr>
            <p:spPr>
              <a:xfrm rot="10800000">
                <a:off x="32" y="497909"/>
                <a:ext cx="3317700" cy="0"/>
              </a:xfrm>
              <a:prstGeom prst="straightConnector1">
                <a:avLst/>
              </a:prstGeom>
              <a:noFill/>
              <a:ln cap="flat" cmpd="sng" w="5725">
                <a:solidFill>
                  <a:srgbClr val="52565E">
                    <a:alpha val="49800"/>
                  </a:srgbClr>
                </a:solidFill>
                <a:prstDash val="dot"/>
                <a:miter lim="400000"/>
                <a:headEnd len="sm" w="sm" type="none"/>
                <a:tailEnd len="sm" w="sm" type="none"/>
              </a:ln>
            </p:spPr>
          </p:cxnSp>
        </p:grpSp>
        <p:grpSp>
          <p:nvGrpSpPr>
            <p:cNvPr id="117" name="Google Shape;117;p17"/>
            <p:cNvGrpSpPr/>
            <p:nvPr/>
          </p:nvGrpSpPr>
          <p:grpSpPr>
            <a:xfrm>
              <a:off x="3258171" y="3750806"/>
              <a:ext cx="3031205" cy="1345321"/>
              <a:chOff x="-1" y="-3"/>
              <a:chExt cx="2515523" cy="943886"/>
            </a:xfrm>
          </p:grpSpPr>
          <p:grpSp>
            <p:nvGrpSpPr>
              <p:cNvPr id="118" name="Google Shape;118;p17"/>
              <p:cNvGrpSpPr/>
              <p:nvPr/>
            </p:nvGrpSpPr>
            <p:grpSpPr>
              <a:xfrm>
                <a:off x="-1" y="-3"/>
                <a:ext cx="2515523" cy="943886"/>
                <a:chOff x="-1" y="-2"/>
                <a:chExt cx="2515523" cy="943886"/>
              </a:xfrm>
            </p:grpSpPr>
            <p:cxnSp>
              <p:nvCxnSpPr>
                <p:cNvPr id="119" name="Google Shape;119;p17"/>
                <p:cNvCxnSpPr/>
                <p:nvPr/>
              </p:nvCxnSpPr>
              <p:spPr>
                <a:xfrm rot="10800000">
                  <a:off x="2511922" y="222305"/>
                  <a:ext cx="3600" cy="720000"/>
                </a:xfrm>
                <a:prstGeom prst="straightConnector1">
                  <a:avLst/>
                </a:prstGeom>
                <a:noFill/>
                <a:ln cap="flat" cmpd="sng" w="5725">
                  <a:solidFill>
                    <a:srgbClr val="52565E">
                      <a:alpha val="49800"/>
                    </a:srgbClr>
                  </a:solidFill>
                  <a:prstDash val="dot"/>
                  <a:miter lim="400000"/>
                  <a:headEnd len="med" w="med" type="triangle"/>
                  <a:tailEnd len="sm" w="sm" type="none"/>
                </a:ln>
              </p:spPr>
            </p:cxnSp>
            <p:cxnSp>
              <p:nvCxnSpPr>
                <p:cNvPr id="120" name="Google Shape;120;p17"/>
                <p:cNvCxnSpPr/>
                <p:nvPr/>
              </p:nvCxnSpPr>
              <p:spPr>
                <a:xfrm rot="10800000">
                  <a:off x="3557" y="943884"/>
                  <a:ext cx="2464800" cy="0"/>
                </a:xfrm>
                <a:prstGeom prst="straightConnector1">
                  <a:avLst/>
                </a:prstGeom>
                <a:noFill/>
                <a:ln cap="flat" cmpd="sng" w="5725">
                  <a:solidFill>
                    <a:srgbClr val="52565E">
                      <a:alpha val="49800"/>
                    </a:srgbClr>
                  </a:solidFill>
                  <a:prstDash val="dot"/>
                  <a:miter lim="400000"/>
                  <a:headEnd len="sm" w="sm" type="none"/>
                  <a:tailEnd len="sm" w="sm" type="none"/>
                </a:ln>
              </p:spPr>
            </p:cxnSp>
            <p:cxnSp>
              <p:nvCxnSpPr>
                <p:cNvPr id="121" name="Google Shape;121;p17"/>
                <p:cNvCxnSpPr/>
                <p:nvPr/>
              </p:nvCxnSpPr>
              <p:spPr>
                <a:xfrm rot="10800000">
                  <a:off x="-1" y="-2"/>
                  <a:ext cx="0" cy="938700"/>
                </a:xfrm>
                <a:prstGeom prst="straightConnector1">
                  <a:avLst/>
                </a:prstGeom>
                <a:noFill/>
                <a:ln cap="flat" cmpd="sng" w="5725">
                  <a:solidFill>
                    <a:srgbClr val="52565E">
                      <a:alpha val="49800"/>
                    </a:srgbClr>
                  </a:solidFill>
                  <a:prstDash val="dot"/>
                  <a:miter lim="400000"/>
                  <a:headEnd len="sm" w="sm" type="none"/>
                  <a:tailEnd len="sm" w="sm" type="none"/>
                </a:ln>
              </p:spPr>
            </p:cxnSp>
          </p:grpSp>
          <p:sp>
            <p:nvSpPr>
              <p:cNvPr id="122" name="Google Shape;122;p17"/>
              <p:cNvSpPr txBox="1"/>
              <p:nvPr/>
            </p:nvSpPr>
            <p:spPr>
              <a:xfrm rot="-5400000">
                <a:off x="2155271" y="542519"/>
                <a:ext cx="500700" cy="135900"/>
              </a:xfrm>
              <a:prstGeom prst="rect">
                <a:avLst/>
              </a:prstGeom>
              <a:noFill/>
              <a:ln>
                <a:noFill/>
              </a:ln>
            </p:spPr>
            <p:txBody>
              <a:bodyPr anchorCtr="0" anchor="t" bIns="11575" lIns="11575" spcFirstLastPara="1" rIns="11575" wrap="square" tIns="11575">
                <a:noAutofit/>
              </a:bodyPr>
              <a:lstStyle/>
              <a:p>
                <a:pPr indent="0" lvl="0" marL="0" marR="0" rtl="0" algn="l">
                  <a:lnSpc>
                    <a:spcPct val="100000"/>
                  </a:lnSpc>
                  <a:spcBef>
                    <a:spcPts val="0"/>
                  </a:spcBef>
                  <a:spcAft>
                    <a:spcPts val="0"/>
                  </a:spcAft>
                  <a:buNone/>
                </a:pPr>
                <a:r>
                  <a:rPr b="0" i="1" lang="en" sz="449" u="none" cap="none" strike="noStrike">
                    <a:solidFill>
                      <a:srgbClr val="52565E"/>
                    </a:solidFill>
                    <a:latin typeface="Lato"/>
                    <a:ea typeface="Lato"/>
                    <a:cs typeface="Lato"/>
                    <a:sym typeface="Lato"/>
                  </a:rPr>
                  <a:t>BREAK APD</a:t>
                </a:r>
                <a:endParaRPr sz="989"/>
              </a:p>
            </p:txBody>
          </p:sp>
        </p:grpSp>
      </p:grpSp>
      <p:sp>
        <p:nvSpPr>
          <p:cNvPr id="123" name="Google Shape;123;p17"/>
          <p:cNvSpPr txBox="1"/>
          <p:nvPr/>
        </p:nvSpPr>
        <p:spPr>
          <a:xfrm>
            <a:off x="144926" y="843348"/>
            <a:ext cx="6649800" cy="394500"/>
          </a:xfrm>
          <a:prstGeom prst="rect">
            <a:avLst/>
          </a:prstGeom>
          <a:noFill/>
          <a:ln>
            <a:noFill/>
          </a:ln>
        </p:spPr>
        <p:txBody>
          <a:bodyPr anchorCtr="0" anchor="t" bIns="30825" lIns="61700" spcFirstLastPara="1" rIns="61700" wrap="square" tIns="30825">
            <a:noAutofit/>
          </a:bodyPr>
          <a:lstStyle/>
          <a:p>
            <a:pPr indent="0" lvl="0" marL="0" marR="0" rtl="0" algn="l">
              <a:lnSpc>
                <a:spcPct val="100000"/>
              </a:lnSpc>
              <a:spcBef>
                <a:spcPts val="0"/>
              </a:spcBef>
              <a:spcAft>
                <a:spcPts val="0"/>
              </a:spcAft>
              <a:buNone/>
            </a:pPr>
            <a:r>
              <a:rPr i="0" lang="en" sz="2069" u="none" cap="none" strike="noStrike">
                <a:solidFill>
                  <a:srgbClr val="3F3F3F"/>
                </a:solidFill>
                <a:latin typeface="Montserrat Light"/>
                <a:ea typeface="Montserrat Light"/>
                <a:cs typeface="Montserrat Light"/>
                <a:sym typeface="Montserrat Light"/>
              </a:rPr>
              <a:t>Desglosemos el </a:t>
            </a:r>
            <a:r>
              <a:rPr lang="en" sz="2069">
                <a:solidFill>
                  <a:schemeClr val="dk1"/>
                </a:solidFill>
                <a:latin typeface="Montserrat Black"/>
                <a:ea typeface="Montserrat Black"/>
                <a:cs typeface="Montserrat Black"/>
                <a:sym typeface="Montserrat Black"/>
              </a:rPr>
              <a:t>Customer</a:t>
            </a:r>
            <a:r>
              <a:rPr i="0" lang="en" sz="2069" u="none" cap="none" strike="noStrike">
                <a:solidFill>
                  <a:schemeClr val="dk1"/>
                </a:solidFill>
                <a:latin typeface="Montserrat Black"/>
                <a:ea typeface="Montserrat Black"/>
                <a:cs typeface="Montserrat Black"/>
                <a:sym typeface="Montserrat Black"/>
              </a:rPr>
              <a:t> Flow</a:t>
            </a:r>
            <a:r>
              <a:rPr i="0" lang="en" sz="2069" u="none" cap="none" strike="noStrike">
                <a:solidFill>
                  <a:srgbClr val="3F3F3F"/>
                </a:solidFill>
                <a:latin typeface="Montserrat Black"/>
                <a:ea typeface="Montserrat Black"/>
                <a:cs typeface="Montserrat Black"/>
                <a:sym typeface="Montserrat Black"/>
              </a:rPr>
              <a:t>.</a:t>
            </a:r>
            <a:endParaRPr sz="899">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18"/>
          <p:cNvSpPr txBox="1"/>
          <p:nvPr/>
        </p:nvSpPr>
        <p:spPr>
          <a:xfrm>
            <a:off x="1938767" y="904048"/>
            <a:ext cx="5134500" cy="30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Una persona entre 18 y 30 años visita la plataforma de AIESEC  </a:t>
            </a:r>
            <a:r>
              <a:rPr i="0" lang="en" sz="1244" u="sng" cap="none" strike="noStrike">
                <a:solidFill>
                  <a:srgbClr val="0000FF"/>
                </a:solidFill>
                <a:latin typeface="Montserrat Light"/>
                <a:ea typeface="Montserrat Light"/>
                <a:cs typeface="Montserrat Light"/>
                <a:sym typeface="Montserrat Light"/>
                <a:hlinkClick r:id="rId4">
                  <a:extLst>
                    <a:ext uri="{A12FA001-AC4F-418D-AE19-62706E023703}">
                      <ahyp:hlinkClr val="tx"/>
                    </a:ext>
                  </a:extLst>
                </a:hlinkClick>
              </a:rPr>
              <a:t>aiesec.org</a:t>
            </a:r>
            <a:endParaRPr i="0" sz="1555" u="none" cap="none" strike="noStrike">
              <a:solidFill>
                <a:srgbClr val="000000"/>
              </a:solidFill>
              <a:latin typeface="Montserrat Light"/>
              <a:ea typeface="Montserrat Light"/>
              <a:cs typeface="Montserrat Light"/>
              <a:sym typeface="Montserrat Light"/>
            </a:endParaRPr>
          </a:p>
        </p:txBody>
      </p:sp>
      <p:sp>
        <p:nvSpPr>
          <p:cNvPr id="129" name="Google Shape;129;p18"/>
          <p:cNvSpPr txBox="1"/>
          <p:nvPr/>
        </p:nvSpPr>
        <p:spPr>
          <a:xfrm>
            <a:off x="1938767" y="1423528"/>
            <a:ext cx="5127000" cy="30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El/la joven crea un perfil en la plataforma de AIESEC.</a:t>
            </a:r>
            <a:endParaRPr i="0" sz="1555" u="none" cap="none" strike="noStrike">
              <a:solidFill>
                <a:srgbClr val="000000"/>
              </a:solidFill>
              <a:latin typeface="Montserrat Light"/>
              <a:ea typeface="Montserrat Light"/>
              <a:cs typeface="Montserrat Light"/>
              <a:sym typeface="Montserrat Light"/>
            </a:endParaRPr>
          </a:p>
        </p:txBody>
      </p:sp>
      <p:sp>
        <p:nvSpPr>
          <p:cNvPr id="130" name="Google Shape;130;p18"/>
          <p:cNvSpPr txBox="1"/>
          <p:nvPr/>
        </p:nvSpPr>
        <p:spPr>
          <a:xfrm>
            <a:off x="1938767" y="1928869"/>
            <a:ext cx="5127000" cy="3162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El/la joven aplica a una oportunidad de AIESEC y se convierte en un potencial participante de intercambio. </a:t>
            </a:r>
            <a:endParaRPr i="0" sz="1555" u="none" cap="none" strike="noStrike">
              <a:solidFill>
                <a:srgbClr val="000000"/>
              </a:solidFill>
              <a:latin typeface="Montserrat Light"/>
              <a:ea typeface="Montserrat Light"/>
              <a:cs typeface="Montserrat Light"/>
              <a:sym typeface="Montserrat Light"/>
            </a:endParaRPr>
          </a:p>
        </p:txBody>
      </p:sp>
      <p:sp>
        <p:nvSpPr>
          <p:cNvPr id="131" name="Google Shape;131;p18"/>
          <p:cNvSpPr txBox="1"/>
          <p:nvPr/>
        </p:nvSpPr>
        <p:spPr>
          <a:xfrm>
            <a:off x="1946273" y="2451011"/>
            <a:ext cx="5127000" cy="3162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 participante de intercambio (EP)  es escogido para una oportunidad convirtiéndose en “ACCEPTED”.</a:t>
            </a:r>
            <a:endParaRPr i="0" sz="1555" u="none" cap="none" strike="noStrike">
              <a:solidFill>
                <a:srgbClr val="000000"/>
              </a:solidFill>
              <a:latin typeface="Montserrat Light"/>
              <a:ea typeface="Montserrat Light"/>
              <a:cs typeface="Montserrat Light"/>
              <a:sym typeface="Montserrat Light"/>
            </a:endParaRPr>
          </a:p>
        </p:txBody>
      </p:sp>
      <p:sp>
        <p:nvSpPr>
          <p:cNvPr id="132" name="Google Shape;132;p18"/>
          <p:cNvSpPr txBox="1"/>
          <p:nvPr/>
        </p:nvSpPr>
        <p:spPr>
          <a:xfrm>
            <a:off x="1946273" y="2874388"/>
            <a:ext cx="5127000" cy="4743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 participante de intercambio (EP) confirmó que formará parte del intercambio a través de la firma de un contrato y el pago de la experiencia.</a:t>
            </a:r>
            <a:endParaRPr i="0" sz="1555" u="none" cap="none" strike="noStrike">
              <a:solidFill>
                <a:srgbClr val="000000"/>
              </a:solidFill>
              <a:latin typeface="Montserrat Light"/>
              <a:ea typeface="Montserrat Light"/>
              <a:cs typeface="Montserrat Light"/>
              <a:sym typeface="Montserrat Light"/>
            </a:endParaRPr>
          </a:p>
        </p:txBody>
      </p:sp>
      <p:sp>
        <p:nvSpPr>
          <p:cNvPr id="133" name="Google Shape;133;p18"/>
          <p:cNvSpPr txBox="1"/>
          <p:nvPr/>
        </p:nvSpPr>
        <p:spPr>
          <a:xfrm>
            <a:off x="1938767" y="3396952"/>
            <a:ext cx="5127000" cy="4743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 participante de intercambio llega al país o territorio host y empieza su experiencia en el proyecto.</a:t>
            </a:r>
            <a:endParaRPr i="0" sz="1555" u="none" cap="none" strike="noStrike">
              <a:solidFill>
                <a:srgbClr val="000000"/>
              </a:solidFill>
              <a:latin typeface="Montserrat Light"/>
              <a:ea typeface="Montserrat Light"/>
              <a:cs typeface="Montserrat Light"/>
              <a:sym typeface="Montserrat Light"/>
            </a:endParaRPr>
          </a:p>
        </p:txBody>
      </p:sp>
      <p:sp>
        <p:nvSpPr>
          <p:cNvPr id="134" name="Google Shape;134;p18"/>
          <p:cNvSpPr txBox="1"/>
          <p:nvPr/>
        </p:nvSpPr>
        <p:spPr>
          <a:xfrm>
            <a:off x="1938767" y="3993826"/>
            <a:ext cx="5134500" cy="3162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 participante de intercambio tuvo su último día de trabajo en el proyecto y deja el país.</a:t>
            </a:r>
            <a:endParaRPr i="0" sz="1555" u="none" cap="none" strike="noStrike">
              <a:solidFill>
                <a:srgbClr val="000000"/>
              </a:solidFill>
              <a:latin typeface="Montserrat Light"/>
              <a:ea typeface="Montserrat Light"/>
              <a:cs typeface="Montserrat Light"/>
              <a:sym typeface="Montserrat Light"/>
            </a:endParaRPr>
          </a:p>
        </p:txBody>
      </p:sp>
      <p:sp>
        <p:nvSpPr>
          <p:cNvPr id="135" name="Google Shape;135;p18"/>
          <p:cNvSpPr txBox="1"/>
          <p:nvPr/>
        </p:nvSpPr>
        <p:spPr>
          <a:xfrm>
            <a:off x="1938767" y="4511698"/>
            <a:ext cx="5134500" cy="3162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424242"/>
              </a:buClr>
              <a:buSzPts val="830"/>
              <a:buFont typeface="Lato"/>
              <a:buNone/>
            </a:pPr>
            <a:r>
              <a:rPr i="0" lang="en" sz="1244" u="none" cap="none" strike="noStrike">
                <a:solidFill>
                  <a:srgbClr val="424242"/>
                </a:solidFill>
                <a:latin typeface="Montserrat Light"/>
                <a:ea typeface="Montserrat Light"/>
                <a:cs typeface="Montserrat Light"/>
                <a:sym typeface="Montserrat Light"/>
              </a:rPr>
              <a:t>El participante de intercambio llena la encuesta de los estándares en </a:t>
            </a:r>
            <a:r>
              <a:rPr i="0" lang="en" sz="1244" u="sng" cap="none" strike="noStrike">
                <a:solidFill>
                  <a:srgbClr val="0000FF"/>
                </a:solidFill>
                <a:latin typeface="Montserrat Light"/>
                <a:ea typeface="Montserrat Light"/>
                <a:cs typeface="Montserrat Light"/>
                <a:sym typeface="Montserrat Light"/>
                <a:hlinkClick r:id="rId5">
                  <a:extLst>
                    <a:ext uri="{A12FA001-AC4F-418D-AE19-62706E023703}">
                      <ahyp:hlinkClr val="tx"/>
                    </a:ext>
                  </a:extLst>
                </a:hlinkClick>
              </a:rPr>
              <a:t>aiesec.org</a:t>
            </a:r>
            <a:r>
              <a:rPr i="0" lang="en" sz="1244" u="none" cap="none" strike="noStrike">
                <a:solidFill>
                  <a:srgbClr val="424242"/>
                </a:solidFill>
                <a:latin typeface="Montserrat Light"/>
                <a:ea typeface="Montserrat Light"/>
                <a:cs typeface="Montserrat Light"/>
                <a:sym typeface="Montserrat Light"/>
              </a:rPr>
              <a:t>  basado en los estándares de intercambio. </a:t>
            </a:r>
            <a:endParaRPr i="0" sz="1555" u="none" cap="none" strike="noStrike">
              <a:solidFill>
                <a:srgbClr val="000000"/>
              </a:solidFill>
              <a:latin typeface="Montserrat Light"/>
              <a:ea typeface="Montserrat Light"/>
              <a:cs typeface="Montserrat Light"/>
              <a:sym typeface="Montserrat Light"/>
            </a:endParaRPr>
          </a:p>
        </p:txBody>
      </p:sp>
      <p:sp>
        <p:nvSpPr>
          <p:cNvPr id="136" name="Google Shape;136;p18"/>
          <p:cNvSpPr/>
          <p:nvPr/>
        </p:nvSpPr>
        <p:spPr>
          <a:xfrm>
            <a:off x="561305" y="902100"/>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VISITOR</a:t>
            </a:r>
            <a:endParaRPr i="0" sz="1244" u="none" cap="none" strike="noStrike">
              <a:solidFill>
                <a:srgbClr val="FFFFFF"/>
              </a:solidFill>
              <a:latin typeface="Montserrat Black"/>
              <a:ea typeface="Montserrat Black"/>
              <a:cs typeface="Montserrat Black"/>
              <a:sym typeface="Montserrat Black"/>
            </a:endParaRPr>
          </a:p>
        </p:txBody>
      </p:sp>
      <p:sp>
        <p:nvSpPr>
          <p:cNvPr id="137" name="Google Shape;137;p18"/>
          <p:cNvSpPr/>
          <p:nvPr/>
        </p:nvSpPr>
        <p:spPr>
          <a:xfrm>
            <a:off x="561305" y="1423528"/>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OPEN/SU</a:t>
            </a:r>
            <a:endParaRPr sz="1140">
              <a:latin typeface="Montserrat"/>
              <a:ea typeface="Montserrat"/>
              <a:cs typeface="Montserrat"/>
              <a:sym typeface="Montserrat"/>
            </a:endParaRPr>
          </a:p>
        </p:txBody>
      </p:sp>
      <p:sp>
        <p:nvSpPr>
          <p:cNvPr id="138" name="Google Shape;138;p18"/>
          <p:cNvSpPr/>
          <p:nvPr/>
        </p:nvSpPr>
        <p:spPr>
          <a:xfrm>
            <a:off x="561305" y="1928868"/>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APL</a:t>
            </a:r>
            <a:endParaRPr sz="1140">
              <a:latin typeface="Montserrat"/>
              <a:ea typeface="Montserrat"/>
              <a:cs typeface="Montserrat"/>
              <a:sym typeface="Montserrat"/>
            </a:endParaRPr>
          </a:p>
        </p:txBody>
      </p:sp>
      <p:sp>
        <p:nvSpPr>
          <p:cNvPr id="139" name="Google Shape;139;p18"/>
          <p:cNvSpPr/>
          <p:nvPr/>
        </p:nvSpPr>
        <p:spPr>
          <a:xfrm>
            <a:off x="561305" y="2446739"/>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ACC</a:t>
            </a:r>
            <a:endParaRPr sz="1140">
              <a:latin typeface="Montserrat"/>
              <a:ea typeface="Montserrat"/>
              <a:cs typeface="Montserrat"/>
              <a:sym typeface="Montserrat"/>
            </a:endParaRPr>
          </a:p>
        </p:txBody>
      </p:sp>
      <p:sp>
        <p:nvSpPr>
          <p:cNvPr id="140" name="Google Shape;140;p18"/>
          <p:cNvSpPr/>
          <p:nvPr/>
        </p:nvSpPr>
        <p:spPr>
          <a:xfrm>
            <a:off x="561305" y="2964611"/>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APD</a:t>
            </a:r>
            <a:endParaRPr i="0" sz="1244" u="none" cap="none" strike="noStrike">
              <a:solidFill>
                <a:srgbClr val="FFFFFF"/>
              </a:solidFill>
              <a:latin typeface="Montserrat Black"/>
              <a:ea typeface="Montserrat Black"/>
              <a:cs typeface="Montserrat Black"/>
              <a:sym typeface="Montserrat Black"/>
            </a:endParaRPr>
          </a:p>
        </p:txBody>
      </p:sp>
      <p:sp>
        <p:nvSpPr>
          <p:cNvPr id="141" name="Google Shape;141;p18"/>
          <p:cNvSpPr/>
          <p:nvPr/>
        </p:nvSpPr>
        <p:spPr>
          <a:xfrm>
            <a:off x="561305" y="3482483"/>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RE</a:t>
            </a:r>
            <a:endParaRPr sz="1140">
              <a:latin typeface="Montserrat"/>
              <a:ea typeface="Montserrat"/>
              <a:cs typeface="Montserrat"/>
              <a:sym typeface="Montserrat"/>
            </a:endParaRPr>
          </a:p>
        </p:txBody>
      </p:sp>
      <p:sp>
        <p:nvSpPr>
          <p:cNvPr id="142" name="Google Shape;142;p18"/>
          <p:cNvSpPr/>
          <p:nvPr/>
        </p:nvSpPr>
        <p:spPr>
          <a:xfrm>
            <a:off x="561305" y="4000354"/>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FI</a:t>
            </a:r>
            <a:endParaRPr i="0" sz="1244" u="none" cap="none" strike="noStrike">
              <a:solidFill>
                <a:srgbClr val="FFFFFF"/>
              </a:solidFill>
              <a:latin typeface="Montserrat Black"/>
              <a:ea typeface="Montserrat Black"/>
              <a:cs typeface="Montserrat Black"/>
              <a:sym typeface="Montserrat Black"/>
            </a:endParaRPr>
          </a:p>
        </p:txBody>
      </p:sp>
      <p:sp>
        <p:nvSpPr>
          <p:cNvPr id="143" name="Google Shape;143;p18"/>
          <p:cNvSpPr/>
          <p:nvPr/>
        </p:nvSpPr>
        <p:spPr>
          <a:xfrm>
            <a:off x="561305" y="4518226"/>
            <a:ext cx="989100" cy="303000"/>
          </a:xfrm>
          <a:prstGeom prst="roundRect">
            <a:avLst>
              <a:gd fmla="val 16667" name="adj"/>
            </a:avLst>
          </a:prstGeom>
          <a:solidFill>
            <a:srgbClr val="FFC845"/>
          </a:solidFill>
          <a:ln>
            <a:noFill/>
          </a:ln>
        </p:spPr>
        <p:txBody>
          <a:bodyPr anchorCtr="0" anchor="ctr" bIns="35550" lIns="71125" spcFirstLastPara="1" rIns="71125" wrap="square" tIns="35550">
            <a:noAutofit/>
          </a:bodyPr>
          <a:lstStyle/>
          <a:p>
            <a:pPr indent="0" lvl="0" marL="0" marR="0" rtl="0" algn="ctr">
              <a:lnSpc>
                <a:spcPct val="100000"/>
              </a:lnSpc>
              <a:spcBef>
                <a:spcPts val="0"/>
              </a:spcBef>
              <a:spcAft>
                <a:spcPts val="0"/>
              </a:spcAft>
              <a:buClr>
                <a:srgbClr val="000000"/>
              </a:buClr>
              <a:buSzPts val="2178"/>
              <a:buFont typeface="Arial"/>
              <a:buNone/>
            </a:pPr>
            <a:r>
              <a:rPr i="0" lang="en" sz="1244" u="none" cap="none" strike="noStrike">
                <a:solidFill>
                  <a:srgbClr val="FFFFFF"/>
                </a:solidFill>
                <a:latin typeface="Montserrat Black"/>
                <a:ea typeface="Montserrat Black"/>
                <a:cs typeface="Montserrat Black"/>
                <a:sym typeface="Montserrat Black"/>
              </a:rPr>
              <a:t>CO</a:t>
            </a:r>
            <a:endParaRPr sz="1140">
              <a:latin typeface="Montserrat"/>
              <a:ea typeface="Montserrat"/>
              <a:cs typeface="Montserrat"/>
              <a:sym typeface="Montserrat"/>
            </a:endParaRPr>
          </a:p>
        </p:txBody>
      </p:sp>
      <p:sp>
        <p:nvSpPr>
          <p:cNvPr id="144" name="Google Shape;144;p18"/>
          <p:cNvSpPr txBox="1"/>
          <p:nvPr/>
        </p:nvSpPr>
        <p:spPr>
          <a:xfrm>
            <a:off x="0" y="168662"/>
            <a:ext cx="8065500" cy="654300"/>
          </a:xfrm>
          <a:prstGeom prst="rect">
            <a:avLst/>
          </a:prstGeom>
          <a:noFill/>
          <a:ln>
            <a:noFill/>
          </a:ln>
        </p:spPr>
        <p:txBody>
          <a:bodyPr anchorCtr="0" anchor="ctr" bIns="94800" lIns="94800" spcFirstLastPara="1" rIns="94800" wrap="square" tIns="94800">
            <a:noAutofit/>
          </a:bodyPr>
          <a:lstStyle/>
          <a:p>
            <a:pPr indent="0" lvl="0" marL="0" marR="0" rtl="0" algn="l">
              <a:lnSpc>
                <a:spcPct val="115000"/>
              </a:lnSpc>
              <a:spcBef>
                <a:spcPts val="0"/>
              </a:spcBef>
              <a:spcAft>
                <a:spcPts val="0"/>
              </a:spcAft>
              <a:buClr>
                <a:srgbClr val="343434"/>
              </a:buClr>
              <a:buSzPts val="4149"/>
              <a:buFont typeface="Lato Black"/>
              <a:buNone/>
            </a:pPr>
            <a:r>
              <a:rPr lang="en" sz="2800">
                <a:solidFill>
                  <a:srgbClr val="434343"/>
                </a:solidFill>
                <a:latin typeface="Montserrat Black"/>
                <a:ea typeface="Montserrat Black"/>
                <a:cs typeface="Montserrat Black"/>
                <a:sym typeface="Montserrat Black"/>
              </a:rPr>
              <a:t>Status dentro del Customer Flow.</a:t>
            </a:r>
            <a:endParaRPr sz="1452">
              <a:solidFill>
                <a:srgbClr val="434343"/>
              </a:solidFill>
              <a:latin typeface="Montserrat Light"/>
              <a:ea typeface="Montserrat Light"/>
              <a:cs typeface="Montserrat Light"/>
              <a:sym typeface="Montserrat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19"/>
          <p:cNvSpPr txBox="1"/>
          <p:nvPr/>
        </p:nvSpPr>
        <p:spPr>
          <a:xfrm>
            <a:off x="176350" y="761651"/>
            <a:ext cx="3372300" cy="640500"/>
          </a:xfrm>
          <a:prstGeom prst="rect">
            <a:avLst/>
          </a:prstGeom>
          <a:noFill/>
          <a:ln>
            <a:noFill/>
          </a:ln>
        </p:spPr>
        <p:txBody>
          <a:bodyPr anchorCtr="0" anchor="ctr" bIns="92775" lIns="92775" spcFirstLastPara="1" rIns="92775" wrap="square" tIns="92775">
            <a:noAutofit/>
          </a:bodyPr>
          <a:lstStyle/>
          <a:p>
            <a:pPr indent="0" lvl="0" marL="0" marR="0" rtl="0" algn="l">
              <a:lnSpc>
                <a:spcPct val="115000"/>
              </a:lnSpc>
              <a:spcBef>
                <a:spcPts val="0"/>
              </a:spcBef>
              <a:spcAft>
                <a:spcPts val="0"/>
              </a:spcAft>
              <a:buClr>
                <a:srgbClr val="343434"/>
              </a:buClr>
              <a:buSzPts val="4060"/>
              <a:buFont typeface="Lato Black"/>
              <a:buNone/>
            </a:pPr>
            <a:r>
              <a:rPr lang="en" sz="3146">
                <a:solidFill>
                  <a:srgbClr val="434343"/>
                </a:solidFill>
                <a:latin typeface="Montserrat Black"/>
                <a:ea typeface="Montserrat Black"/>
                <a:cs typeface="Montserrat Black"/>
                <a:sym typeface="Montserrat Black"/>
              </a:rPr>
              <a:t>Attraction.</a:t>
            </a:r>
            <a:endParaRPr sz="1827">
              <a:solidFill>
                <a:srgbClr val="434343"/>
              </a:solidFill>
              <a:latin typeface="Montserrat Light"/>
              <a:ea typeface="Montserrat Light"/>
              <a:cs typeface="Montserrat Light"/>
              <a:sym typeface="Montserrat Light"/>
            </a:endParaRPr>
          </a:p>
        </p:txBody>
      </p:sp>
      <p:sp>
        <p:nvSpPr>
          <p:cNvPr id="150" name="Google Shape;150;p19"/>
          <p:cNvSpPr/>
          <p:nvPr/>
        </p:nvSpPr>
        <p:spPr>
          <a:xfrm>
            <a:off x="249850" y="2103629"/>
            <a:ext cx="1176300" cy="581400"/>
          </a:xfrm>
          <a:prstGeom prst="roundRect">
            <a:avLst>
              <a:gd fmla="val 16529" name="adj"/>
            </a:avLst>
          </a:prstGeom>
          <a:solidFill>
            <a:srgbClr val="F85B40"/>
          </a:solidFill>
          <a:ln cap="flat" cmpd="sng" w="9425">
            <a:solidFill>
              <a:srgbClr val="FFFFFF"/>
            </a:solidFill>
            <a:prstDash val="solid"/>
            <a:miter lim="400000"/>
            <a:headEnd len="sm" w="sm" type="none"/>
            <a:tailEnd len="sm" w="sm" type="none"/>
          </a:ln>
          <a:effectLst>
            <a:outerShdw blurRad="18825" rotWithShape="0" dir="2700000" dist="37650">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230">
                <a:solidFill>
                  <a:srgbClr val="FFFFFF"/>
                </a:solidFill>
                <a:latin typeface="Montserrat Black"/>
                <a:ea typeface="Montserrat Black"/>
                <a:cs typeface="Montserrat Black"/>
                <a:sym typeface="Montserrat Black"/>
              </a:rPr>
              <a:t>QUÉ HACER</a:t>
            </a:r>
            <a:endParaRPr sz="1230">
              <a:latin typeface="Montserrat"/>
              <a:ea typeface="Montserrat"/>
              <a:cs typeface="Montserrat"/>
              <a:sym typeface="Montserrat"/>
            </a:endParaRPr>
          </a:p>
        </p:txBody>
      </p:sp>
      <p:sp>
        <p:nvSpPr>
          <p:cNvPr id="151" name="Google Shape;151;p19"/>
          <p:cNvSpPr/>
          <p:nvPr/>
        </p:nvSpPr>
        <p:spPr>
          <a:xfrm>
            <a:off x="1426170" y="2346650"/>
            <a:ext cx="329400" cy="95100"/>
          </a:xfrm>
          <a:prstGeom prst="rightArrow">
            <a:avLst>
              <a:gd fmla="val 50000" name="adj1"/>
              <a:gd fmla="val 116706" name="adj2"/>
            </a:avLst>
          </a:prstGeom>
          <a:solidFill>
            <a:srgbClr val="F47721"/>
          </a:solidFill>
          <a:ln cap="flat" cmpd="sng" w="7050">
            <a:solidFill>
              <a:srgbClr val="FFFFFF"/>
            </a:solidFill>
            <a:prstDash val="solid"/>
            <a:round/>
            <a:headEnd len="sm" w="sm" type="none"/>
            <a:tailEnd len="sm" w="sm" type="none"/>
          </a:ln>
        </p:spPr>
        <p:txBody>
          <a:bodyPr anchorCtr="0" anchor="ctr" bIns="135525" lIns="135525" spcFirstLastPara="1" rIns="135525" wrap="square" tIns="1355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
        <p:nvSpPr>
          <p:cNvPr id="152" name="Google Shape;152;p19"/>
          <p:cNvSpPr txBox="1"/>
          <p:nvPr/>
        </p:nvSpPr>
        <p:spPr>
          <a:xfrm>
            <a:off x="1832123" y="1846600"/>
            <a:ext cx="4531200" cy="1547100"/>
          </a:xfrm>
          <a:prstGeom prst="rect">
            <a:avLst/>
          </a:prstGeom>
          <a:noFill/>
          <a:ln>
            <a:noFill/>
          </a:ln>
        </p:spPr>
        <p:txBody>
          <a:bodyPr anchorCtr="0" anchor="ctr" bIns="135525" lIns="135525" spcFirstLastPara="1" rIns="135525" wrap="square" tIns="135525">
            <a:spAutoFit/>
          </a:bodyPr>
          <a:lstStyle/>
          <a:p>
            <a:pPr indent="0" lvl="0" marL="0" rtl="0" algn="l">
              <a:spcBef>
                <a:spcPts val="0"/>
              </a:spcBef>
              <a:spcAft>
                <a:spcPts val="0"/>
              </a:spcAft>
              <a:buNone/>
            </a:pPr>
            <a:r>
              <a:rPr b="1" lang="en" sz="1378">
                <a:solidFill>
                  <a:schemeClr val="dk1"/>
                </a:solidFill>
                <a:latin typeface="Montserrat"/>
                <a:ea typeface="Montserrat"/>
                <a:cs typeface="Montserrat"/>
                <a:sym typeface="Montserrat"/>
              </a:rPr>
              <a:t>En trabajo con el equipo, idear estrategias y acciones que generen que personas se interesen por nuestro programa. Como por ejemplo, intervenciones físicas en universidades, saloneos en institutos de idiomas, etc. </a:t>
            </a:r>
            <a:endParaRPr sz="1378">
              <a:solidFill>
                <a:schemeClr val="dk1"/>
              </a:solidFill>
              <a:latin typeface="Montserrat Light"/>
              <a:ea typeface="Montserrat Light"/>
              <a:cs typeface="Montserrat Light"/>
              <a:sym typeface="Montserrat Light"/>
            </a:endParaRPr>
          </a:p>
        </p:txBody>
      </p:sp>
      <p:sp>
        <p:nvSpPr>
          <p:cNvPr id="153" name="Google Shape;153;p19"/>
          <p:cNvSpPr/>
          <p:nvPr/>
        </p:nvSpPr>
        <p:spPr>
          <a:xfrm>
            <a:off x="249850" y="3364761"/>
            <a:ext cx="1176300" cy="581400"/>
          </a:xfrm>
          <a:prstGeom prst="roundRect">
            <a:avLst>
              <a:gd fmla="val 16529" name="adj"/>
            </a:avLst>
          </a:prstGeom>
          <a:solidFill>
            <a:srgbClr val="F85B40"/>
          </a:solidFill>
          <a:ln cap="flat" cmpd="sng" w="9425">
            <a:solidFill>
              <a:srgbClr val="FFFFFF"/>
            </a:solidFill>
            <a:prstDash val="solid"/>
            <a:miter lim="400000"/>
            <a:headEnd len="sm" w="sm" type="none"/>
            <a:tailEnd len="sm" w="sm" type="none"/>
          </a:ln>
          <a:effectLst>
            <a:outerShdw blurRad="18825" rotWithShape="0" dir="2700000" dist="37650">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230">
                <a:solidFill>
                  <a:srgbClr val="FFFFFF"/>
                </a:solidFill>
                <a:latin typeface="Montserrat Black"/>
                <a:ea typeface="Montserrat Black"/>
                <a:cs typeface="Montserrat Black"/>
                <a:sym typeface="Montserrat Black"/>
              </a:rPr>
              <a:t>CON QUIÉN</a:t>
            </a:r>
            <a:endParaRPr sz="1230">
              <a:latin typeface="Montserrat"/>
              <a:ea typeface="Montserrat"/>
              <a:cs typeface="Montserrat"/>
              <a:sym typeface="Montserrat"/>
            </a:endParaRPr>
          </a:p>
        </p:txBody>
      </p:sp>
      <p:sp>
        <p:nvSpPr>
          <p:cNvPr id="154" name="Google Shape;154;p19"/>
          <p:cNvSpPr txBox="1"/>
          <p:nvPr/>
        </p:nvSpPr>
        <p:spPr>
          <a:xfrm>
            <a:off x="1832123" y="3381548"/>
            <a:ext cx="4531200" cy="698100"/>
          </a:xfrm>
          <a:prstGeom prst="rect">
            <a:avLst/>
          </a:prstGeom>
          <a:noFill/>
          <a:ln>
            <a:noFill/>
          </a:ln>
        </p:spPr>
        <p:txBody>
          <a:bodyPr anchorCtr="0" anchor="ctr" bIns="135525" lIns="135525" spcFirstLastPara="1" rIns="135525" wrap="square" tIns="135525">
            <a:spAutoFit/>
          </a:bodyPr>
          <a:lstStyle/>
          <a:p>
            <a:pPr indent="0" lvl="0" marL="0" marR="0" rtl="0" algn="just">
              <a:lnSpc>
                <a:spcPct val="100000"/>
              </a:lnSpc>
              <a:spcBef>
                <a:spcPts val="0"/>
              </a:spcBef>
              <a:spcAft>
                <a:spcPts val="0"/>
              </a:spcAft>
              <a:buNone/>
            </a:pPr>
            <a:r>
              <a:rPr lang="en" sz="1378">
                <a:solidFill>
                  <a:schemeClr val="dk1"/>
                </a:solidFill>
                <a:latin typeface="Montserrat Light"/>
                <a:ea typeface="Montserrat Light"/>
                <a:cs typeface="Montserrat Light"/>
                <a:sym typeface="Montserrat Light"/>
              </a:rPr>
              <a:t>OGX Consideration Team</a:t>
            </a:r>
            <a:endParaRPr sz="1378">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378">
                <a:solidFill>
                  <a:schemeClr val="dk1"/>
                </a:solidFill>
                <a:latin typeface="Montserrat Light"/>
                <a:ea typeface="Montserrat Light"/>
                <a:cs typeface="Montserrat Light"/>
                <a:sym typeface="Montserrat Light"/>
              </a:rPr>
              <a:t>Personas de tu LC que quieran participar</a:t>
            </a:r>
            <a:endParaRPr sz="1378">
              <a:solidFill>
                <a:schemeClr val="dk1"/>
              </a:solidFill>
              <a:latin typeface="Montserrat Light"/>
              <a:ea typeface="Montserrat Light"/>
              <a:cs typeface="Montserrat Light"/>
              <a:sym typeface="Montserrat Light"/>
            </a:endParaRPr>
          </a:p>
        </p:txBody>
      </p:sp>
      <p:sp>
        <p:nvSpPr>
          <p:cNvPr id="155" name="Google Shape;155;p19"/>
          <p:cNvSpPr/>
          <p:nvPr/>
        </p:nvSpPr>
        <p:spPr>
          <a:xfrm>
            <a:off x="1426170" y="3607782"/>
            <a:ext cx="329400" cy="95100"/>
          </a:xfrm>
          <a:prstGeom prst="rightArrow">
            <a:avLst>
              <a:gd fmla="val 50000" name="adj1"/>
              <a:gd fmla="val 116706" name="adj2"/>
            </a:avLst>
          </a:prstGeom>
          <a:solidFill>
            <a:srgbClr val="F47721"/>
          </a:solidFill>
          <a:ln cap="flat" cmpd="sng" w="7050">
            <a:solidFill>
              <a:srgbClr val="FFFFFF"/>
            </a:solidFill>
            <a:prstDash val="solid"/>
            <a:round/>
            <a:headEnd len="sm" w="sm" type="none"/>
            <a:tailEnd len="sm" w="sm" type="none"/>
          </a:ln>
        </p:spPr>
        <p:txBody>
          <a:bodyPr anchorCtr="0" anchor="ctr" bIns="135525" lIns="135525" spcFirstLastPara="1" rIns="135525" wrap="square" tIns="1355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
        <p:nvSpPr>
          <p:cNvPr id="156" name="Google Shape;156;p19"/>
          <p:cNvSpPr txBox="1"/>
          <p:nvPr/>
        </p:nvSpPr>
        <p:spPr>
          <a:xfrm>
            <a:off x="176350" y="1002976"/>
            <a:ext cx="2190900" cy="593700"/>
          </a:xfrm>
          <a:prstGeom prst="rect">
            <a:avLst/>
          </a:prstGeom>
          <a:noFill/>
          <a:ln>
            <a:noFill/>
          </a:ln>
        </p:spPr>
        <p:txBody>
          <a:bodyPr anchorCtr="0" anchor="t" bIns="92800" lIns="92800" spcFirstLastPara="1" rIns="92800" wrap="square" tIns="92800">
            <a:spAutoFit/>
          </a:bodyPr>
          <a:lstStyle/>
          <a:p>
            <a:pPr indent="0" lvl="0" marL="0" rtl="0" algn="l">
              <a:spcBef>
                <a:spcPts val="0"/>
              </a:spcBef>
              <a:spcAft>
                <a:spcPts val="0"/>
              </a:spcAft>
              <a:buNone/>
            </a:pPr>
            <a:r>
              <a:rPr lang="en" sz="2639">
                <a:solidFill>
                  <a:srgbClr val="F54132"/>
                </a:solidFill>
                <a:latin typeface="Shadows Into Light"/>
                <a:ea typeface="Shadows Into Light"/>
                <a:cs typeface="Shadows Into Light"/>
                <a:sym typeface="Shadows Into Light"/>
              </a:rPr>
              <a:t>Visitor - SU</a:t>
            </a:r>
            <a:endParaRPr sz="2639">
              <a:solidFill>
                <a:srgbClr val="F54132"/>
              </a:solidFill>
              <a:latin typeface="Shadows Into Light"/>
              <a:ea typeface="Shadows Into Light"/>
              <a:cs typeface="Shadows Into Light"/>
              <a:sym typeface="Shadows In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20"/>
          <p:cNvSpPr txBox="1"/>
          <p:nvPr/>
        </p:nvSpPr>
        <p:spPr>
          <a:xfrm>
            <a:off x="177125" y="512250"/>
            <a:ext cx="3612600" cy="578400"/>
          </a:xfrm>
          <a:prstGeom prst="rect">
            <a:avLst/>
          </a:prstGeom>
          <a:noFill/>
          <a:ln>
            <a:noFill/>
          </a:ln>
        </p:spPr>
        <p:txBody>
          <a:bodyPr anchorCtr="0" anchor="ctr" bIns="83825" lIns="83825" spcFirstLastPara="1" rIns="83825" wrap="square" tIns="83825">
            <a:noAutofit/>
          </a:bodyPr>
          <a:lstStyle/>
          <a:p>
            <a:pPr indent="0" lvl="0" marL="0" marR="0" rtl="0" algn="l">
              <a:lnSpc>
                <a:spcPct val="115000"/>
              </a:lnSpc>
              <a:spcBef>
                <a:spcPts val="0"/>
              </a:spcBef>
              <a:spcAft>
                <a:spcPts val="0"/>
              </a:spcAft>
              <a:buClr>
                <a:srgbClr val="343434"/>
              </a:buClr>
              <a:buSzPts val="3668"/>
              <a:buFont typeface="Lato Black"/>
              <a:buNone/>
            </a:pPr>
            <a:r>
              <a:rPr lang="en" sz="3100">
                <a:solidFill>
                  <a:srgbClr val="434343"/>
                </a:solidFill>
                <a:latin typeface="Montserrat Black"/>
                <a:ea typeface="Montserrat Black"/>
                <a:cs typeface="Montserrat Black"/>
                <a:sym typeface="Montserrat Black"/>
              </a:rPr>
              <a:t>Consideration.</a:t>
            </a:r>
            <a:endParaRPr sz="3100">
              <a:solidFill>
                <a:srgbClr val="434343"/>
              </a:solidFill>
              <a:latin typeface="Montserrat Light"/>
              <a:ea typeface="Montserrat Light"/>
              <a:cs typeface="Montserrat Light"/>
              <a:sym typeface="Montserrat Light"/>
            </a:endParaRPr>
          </a:p>
        </p:txBody>
      </p:sp>
      <p:sp>
        <p:nvSpPr>
          <p:cNvPr id="162" name="Google Shape;162;p20"/>
          <p:cNvSpPr txBox="1"/>
          <p:nvPr/>
        </p:nvSpPr>
        <p:spPr>
          <a:xfrm>
            <a:off x="153925" y="795200"/>
            <a:ext cx="5716500" cy="1259400"/>
          </a:xfrm>
          <a:prstGeom prst="rect">
            <a:avLst/>
          </a:prstGeom>
          <a:noFill/>
          <a:ln>
            <a:noFill/>
          </a:ln>
        </p:spPr>
        <p:txBody>
          <a:bodyPr anchorCtr="0" anchor="ctr" bIns="83825" lIns="83825" spcFirstLastPara="1" rIns="83825" wrap="square" tIns="83825">
            <a:noAutofit/>
          </a:bodyPr>
          <a:lstStyle/>
          <a:p>
            <a:pPr indent="0" lvl="0" marL="0" rtl="0" algn="just">
              <a:spcBef>
                <a:spcPts val="0"/>
              </a:spcBef>
              <a:spcAft>
                <a:spcPts val="0"/>
              </a:spcAft>
              <a:buClr>
                <a:srgbClr val="000000"/>
              </a:buClr>
              <a:buFont typeface="Arial"/>
              <a:buNone/>
            </a:pPr>
            <a:r>
              <a:rPr lang="en" sz="1283">
                <a:solidFill>
                  <a:srgbClr val="3F3F3F"/>
                </a:solidFill>
                <a:latin typeface="Lato Light"/>
                <a:ea typeface="Lato Light"/>
                <a:cs typeface="Lato Light"/>
                <a:sym typeface="Lato Light"/>
              </a:rPr>
              <a:t>La fase de </a:t>
            </a:r>
            <a:r>
              <a:rPr i="1" lang="en" sz="1283">
                <a:solidFill>
                  <a:srgbClr val="3F3F3F"/>
                </a:solidFill>
                <a:latin typeface="Lato Light"/>
                <a:ea typeface="Lato Light"/>
                <a:cs typeface="Lato Light"/>
                <a:sym typeface="Lato Light"/>
              </a:rPr>
              <a:t>consideration</a:t>
            </a:r>
            <a:r>
              <a:rPr lang="en" sz="1283">
                <a:solidFill>
                  <a:srgbClr val="3F3F3F"/>
                </a:solidFill>
                <a:latin typeface="Lato Light"/>
                <a:ea typeface="Lato Light"/>
                <a:cs typeface="Lato Light"/>
                <a:sym typeface="Lato Light"/>
              </a:rPr>
              <a:t> comienza cuando el cliente empieza a evaluar las diferentes propuestas que tiene a su disposición. En esta etapa debemos proporcionar información crítica y pertinente para ayudar a nuestro cliente a toma la mejor decisión posible.</a:t>
            </a:r>
            <a:endParaRPr sz="1467">
              <a:solidFill>
                <a:srgbClr val="3F3F3F"/>
              </a:solidFill>
              <a:latin typeface="Lato Light"/>
              <a:ea typeface="Lato Light"/>
              <a:cs typeface="Lato Light"/>
              <a:sym typeface="Lato Light"/>
            </a:endParaRPr>
          </a:p>
        </p:txBody>
      </p:sp>
      <p:sp>
        <p:nvSpPr>
          <p:cNvPr id="163" name="Google Shape;163;p20"/>
          <p:cNvSpPr/>
          <p:nvPr/>
        </p:nvSpPr>
        <p:spPr>
          <a:xfrm>
            <a:off x="289375" y="2800550"/>
            <a:ext cx="1436700" cy="414000"/>
          </a:xfrm>
          <a:prstGeom prst="roundRect">
            <a:avLst>
              <a:gd fmla="val 16529" name="adj"/>
            </a:avLst>
          </a:prstGeom>
          <a:solidFill>
            <a:srgbClr val="F85B40"/>
          </a:solidFill>
          <a:ln cap="flat" cmpd="sng" w="5825">
            <a:solidFill>
              <a:srgbClr val="FFFFFF"/>
            </a:solidFill>
            <a:prstDash val="solid"/>
            <a:miter lim="400000"/>
            <a:headEnd len="sm" w="sm" type="none"/>
            <a:tailEnd len="sm" w="sm" type="none"/>
          </a:ln>
          <a:effectLst>
            <a:outerShdw blurRad="11646" rotWithShape="0" dir="2700000" dist="23292">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08">
                <a:solidFill>
                  <a:srgbClr val="FFFFFF"/>
                </a:solidFill>
                <a:latin typeface="Montserrat Black"/>
                <a:ea typeface="Montserrat Black"/>
                <a:cs typeface="Montserrat Black"/>
                <a:sym typeface="Montserrat Black"/>
              </a:rPr>
              <a:t>CONSIDERATION</a:t>
            </a:r>
            <a:endParaRPr sz="1108">
              <a:latin typeface="Montserrat"/>
              <a:ea typeface="Montserrat"/>
              <a:cs typeface="Montserrat"/>
              <a:sym typeface="Montserrat"/>
            </a:endParaRPr>
          </a:p>
        </p:txBody>
      </p:sp>
      <p:sp>
        <p:nvSpPr>
          <p:cNvPr id="164" name="Google Shape;164;p20"/>
          <p:cNvSpPr/>
          <p:nvPr/>
        </p:nvSpPr>
        <p:spPr>
          <a:xfrm>
            <a:off x="287799" y="3426000"/>
            <a:ext cx="1436700" cy="660000"/>
          </a:xfrm>
          <a:prstGeom prst="roundRect">
            <a:avLst>
              <a:gd fmla="val 10345" name="adj"/>
            </a:avLst>
          </a:prstGeom>
          <a:solidFill>
            <a:srgbClr val="FFFFFF"/>
          </a:solidFill>
          <a:ln cap="flat" cmpd="sng" w="5825">
            <a:solidFill>
              <a:srgbClr val="F85A40"/>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262626"/>
                </a:solidFill>
                <a:latin typeface="Montserrat"/>
                <a:ea typeface="Montserrat"/>
                <a:cs typeface="Montserrat"/>
                <a:sym typeface="Montserrat"/>
              </a:rPr>
              <a:t>Esta es la etapa del </a:t>
            </a:r>
            <a:r>
              <a:rPr i="1" lang="en" sz="925">
                <a:solidFill>
                  <a:srgbClr val="262626"/>
                </a:solidFill>
                <a:latin typeface="Montserrat"/>
                <a:ea typeface="Montserrat"/>
                <a:cs typeface="Montserrat"/>
                <a:sym typeface="Montserrat"/>
              </a:rPr>
              <a:t>customer flow </a:t>
            </a:r>
            <a:r>
              <a:rPr lang="en" sz="925">
                <a:solidFill>
                  <a:srgbClr val="262626"/>
                </a:solidFill>
                <a:latin typeface="Montserrat"/>
                <a:ea typeface="Montserrat"/>
                <a:cs typeface="Montserrat"/>
                <a:sym typeface="Montserrat"/>
              </a:rPr>
              <a:t>donde “vendemos”. </a:t>
            </a:r>
            <a:endParaRPr sz="1108">
              <a:latin typeface="Montserrat"/>
              <a:ea typeface="Montserrat"/>
              <a:cs typeface="Montserrat"/>
              <a:sym typeface="Montserrat"/>
            </a:endParaRPr>
          </a:p>
        </p:txBody>
      </p:sp>
      <p:sp>
        <p:nvSpPr>
          <p:cNvPr id="165" name="Google Shape;165;p20"/>
          <p:cNvSpPr txBox="1"/>
          <p:nvPr/>
        </p:nvSpPr>
        <p:spPr>
          <a:xfrm>
            <a:off x="-499650" y="2272650"/>
            <a:ext cx="7374300" cy="357600"/>
          </a:xfrm>
          <a:prstGeom prst="rect">
            <a:avLst/>
          </a:prstGeom>
          <a:noFill/>
          <a:ln>
            <a:noFill/>
          </a:ln>
        </p:spPr>
        <p:txBody>
          <a:bodyPr anchorCtr="0" anchor="t" bIns="31450" lIns="62875" spcFirstLastPara="1" rIns="62875" wrap="square" tIns="31450">
            <a:noAutofit/>
          </a:bodyPr>
          <a:lstStyle/>
          <a:p>
            <a:pPr indent="0" lvl="0" marL="0" marR="0" rtl="0" algn="ctr">
              <a:spcBef>
                <a:spcPts val="0"/>
              </a:spcBef>
              <a:spcAft>
                <a:spcPts val="0"/>
              </a:spcAft>
              <a:buNone/>
            </a:pPr>
            <a:r>
              <a:rPr lang="en" sz="2025">
                <a:solidFill>
                  <a:srgbClr val="3F3F3F"/>
                </a:solidFill>
                <a:latin typeface="Montserrat"/>
                <a:ea typeface="Montserrat"/>
                <a:cs typeface="Montserrat"/>
                <a:sym typeface="Montserrat"/>
              </a:rPr>
              <a:t>PROCESO DE VENTA</a:t>
            </a:r>
            <a:endParaRPr sz="2025">
              <a:solidFill>
                <a:srgbClr val="3F3F3F"/>
              </a:solidFill>
              <a:latin typeface="Montserrat"/>
              <a:ea typeface="Montserrat"/>
              <a:cs typeface="Montserrat"/>
              <a:sym typeface="Montserrat"/>
            </a:endParaRPr>
          </a:p>
        </p:txBody>
      </p:sp>
      <p:sp>
        <p:nvSpPr>
          <p:cNvPr id="166" name="Google Shape;166;p20"/>
          <p:cNvSpPr/>
          <p:nvPr/>
        </p:nvSpPr>
        <p:spPr>
          <a:xfrm>
            <a:off x="1786605" y="2833726"/>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Conoce tu programa.</a:t>
            </a:r>
            <a:endParaRPr sz="1108">
              <a:latin typeface="Montserrat"/>
              <a:ea typeface="Montserrat"/>
              <a:cs typeface="Montserrat"/>
              <a:sym typeface="Montserrat"/>
            </a:endParaRPr>
          </a:p>
        </p:txBody>
      </p:sp>
      <p:sp>
        <p:nvSpPr>
          <p:cNvPr id="167" name="Google Shape;167;p20"/>
          <p:cNvSpPr/>
          <p:nvPr/>
        </p:nvSpPr>
        <p:spPr>
          <a:xfrm>
            <a:off x="3379834" y="2833725"/>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Conoce tu mercado (</a:t>
            </a:r>
            <a:r>
              <a:rPr i="1" lang="en" sz="925">
                <a:solidFill>
                  <a:srgbClr val="0C0C0C"/>
                </a:solidFill>
                <a:latin typeface="Montserrat"/>
                <a:ea typeface="Montserrat"/>
                <a:cs typeface="Montserrat"/>
                <a:sym typeface="Montserrat"/>
              </a:rPr>
              <a:t>buyer persona</a:t>
            </a:r>
            <a:r>
              <a:rPr lang="en" sz="925">
                <a:solidFill>
                  <a:srgbClr val="0C0C0C"/>
                </a:solidFill>
                <a:latin typeface="Montserrat"/>
                <a:ea typeface="Montserrat"/>
                <a:cs typeface="Montserrat"/>
                <a:sym typeface="Montserrat"/>
              </a:rPr>
              <a:t>).</a:t>
            </a:r>
            <a:endParaRPr sz="1108">
              <a:latin typeface="Montserrat"/>
              <a:ea typeface="Montserrat"/>
              <a:cs typeface="Montserrat"/>
              <a:sym typeface="Montserrat"/>
            </a:endParaRPr>
          </a:p>
        </p:txBody>
      </p:sp>
      <p:sp>
        <p:nvSpPr>
          <p:cNvPr id="168" name="Google Shape;168;p20"/>
          <p:cNvSpPr/>
          <p:nvPr/>
        </p:nvSpPr>
        <p:spPr>
          <a:xfrm>
            <a:off x="4973063" y="2833724"/>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Primer contacto (first contact).</a:t>
            </a:r>
            <a:endParaRPr sz="1108">
              <a:latin typeface="Montserrat"/>
              <a:ea typeface="Montserrat"/>
              <a:cs typeface="Montserrat"/>
              <a:sym typeface="Montserrat"/>
            </a:endParaRPr>
          </a:p>
        </p:txBody>
      </p:sp>
      <p:sp>
        <p:nvSpPr>
          <p:cNvPr id="169" name="Google Shape;169;p20"/>
          <p:cNvSpPr/>
          <p:nvPr/>
        </p:nvSpPr>
        <p:spPr>
          <a:xfrm>
            <a:off x="4973063" y="3542927"/>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833">
                <a:solidFill>
                  <a:srgbClr val="0C0C0C"/>
                </a:solidFill>
                <a:latin typeface="Montserrat"/>
                <a:ea typeface="Montserrat"/>
                <a:cs typeface="Montserrat"/>
                <a:sym typeface="Montserrat"/>
              </a:rPr>
              <a:t>Cita de ventas (meeting de consideration).</a:t>
            </a:r>
            <a:endParaRPr sz="1017">
              <a:latin typeface="Montserrat"/>
              <a:ea typeface="Montserrat"/>
              <a:cs typeface="Montserrat"/>
              <a:sym typeface="Montserrat"/>
            </a:endParaRPr>
          </a:p>
        </p:txBody>
      </p:sp>
      <p:sp>
        <p:nvSpPr>
          <p:cNvPr id="170" name="Google Shape;170;p20"/>
          <p:cNvSpPr/>
          <p:nvPr/>
        </p:nvSpPr>
        <p:spPr>
          <a:xfrm>
            <a:off x="3400793" y="3542927"/>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Follow up</a:t>
            </a:r>
            <a:endParaRPr sz="1108">
              <a:latin typeface="Montserrat"/>
              <a:ea typeface="Montserrat"/>
              <a:cs typeface="Montserrat"/>
              <a:sym typeface="Montserrat"/>
            </a:endParaRPr>
          </a:p>
        </p:txBody>
      </p:sp>
      <p:sp>
        <p:nvSpPr>
          <p:cNvPr id="171" name="Google Shape;171;p20"/>
          <p:cNvSpPr/>
          <p:nvPr/>
        </p:nvSpPr>
        <p:spPr>
          <a:xfrm>
            <a:off x="1786605" y="3542927"/>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Cierre de venta.</a:t>
            </a:r>
            <a:endParaRPr sz="1108">
              <a:latin typeface="Montserrat"/>
              <a:ea typeface="Montserrat"/>
              <a:cs typeface="Montserrat"/>
              <a:sym typeface="Montserrat"/>
            </a:endParaRPr>
          </a:p>
        </p:txBody>
      </p:sp>
      <p:sp>
        <p:nvSpPr>
          <p:cNvPr id="172" name="Google Shape;172;p20"/>
          <p:cNvSpPr/>
          <p:nvPr/>
        </p:nvSpPr>
        <p:spPr>
          <a:xfrm>
            <a:off x="1786604" y="4249067"/>
            <a:ext cx="1279500" cy="380100"/>
          </a:xfrm>
          <a:prstGeom prst="roundRect">
            <a:avLst>
              <a:gd fmla="val 10345" name="adj"/>
            </a:avLst>
          </a:prstGeom>
          <a:solidFill>
            <a:srgbClr val="FFC845"/>
          </a:solidFill>
          <a:ln>
            <a:noFill/>
          </a:ln>
        </p:spPr>
        <p:txBody>
          <a:bodyPr anchorCtr="0" anchor="ctr" bIns="31450" lIns="62875" spcFirstLastPara="1" rIns="62875" wrap="square" tIns="31450">
            <a:noAutofit/>
          </a:bodyPr>
          <a:lstStyle/>
          <a:p>
            <a:pPr indent="0" lvl="0" marL="0" marR="0" rtl="0" algn="ctr">
              <a:spcBef>
                <a:spcPts val="0"/>
              </a:spcBef>
              <a:spcAft>
                <a:spcPts val="0"/>
              </a:spcAft>
              <a:buNone/>
            </a:pPr>
            <a:r>
              <a:rPr lang="en" sz="925">
                <a:solidFill>
                  <a:srgbClr val="0C0C0C"/>
                </a:solidFill>
                <a:latin typeface="Montserrat"/>
                <a:ea typeface="Montserrat"/>
                <a:cs typeface="Montserrat"/>
                <a:sym typeface="Montserrat"/>
              </a:rPr>
              <a:t>Post venta.</a:t>
            </a:r>
            <a:endParaRPr sz="1108">
              <a:latin typeface="Montserrat"/>
              <a:ea typeface="Montserrat"/>
              <a:cs typeface="Montserrat"/>
              <a:sym typeface="Montserrat"/>
            </a:endParaRPr>
          </a:p>
        </p:txBody>
      </p:sp>
      <p:sp>
        <p:nvSpPr>
          <p:cNvPr id="173" name="Google Shape;173;p20"/>
          <p:cNvSpPr/>
          <p:nvPr/>
        </p:nvSpPr>
        <p:spPr>
          <a:xfrm>
            <a:off x="3126634" y="2928497"/>
            <a:ext cx="193500" cy="1905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
        <p:nvSpPr>
          <p:cNvPr id="174" name="Google Shape;174;p20"/>
          <p:cNvSpPr/>
          <p:nvPr/>
        </p:nvSpPr>
        <p:spPr>
          <a:xfrm>
            <a:off x="4719863" y="2911906"/>
            <a:ext cx="193500" cy="1905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
        <p:nvSpPr>
          <p:cNvPr id="175" name="Google Shape;175;p20"/>
          <p:cNvSpPr/>
          <p:nvPr/>
        </p:nvSpPr>
        <p:spPr>
          <a:xfrm rot="10800000">
            <a:off x="4710665" y="3628802"/>
            <a:ext cx="202500" cy="1998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
        <p:nvSpPr>
          <p:cNvPr id="176" name="Google Shape;176;p20"/>
          <p:cNvSpPr/>
          <p:nvPr/>
        </p:nvSpPr>
        <p:spPr>
          <a:xfrm flipH="1" rot="-5400000">
            <a:off x="5684672" y="3308390"/>
            <a:ext cx="191700" cy="1797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
        <p:nvSpPr>
          <p:cNvPr id="177" name="Google Shape;177;p20"/>
          <p:cNvSpPr/>
          <p:nvPr/>
        </p:nvSpPr>
        <p:spPr>
          <a:xfrm rot="10800000">
            <a:off x="3126426" y="3633241"/>
            <a:ext cx="202500" cy="1998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
        <p:nvSpPr>
          <p:cNvPr id="178" name="Google Shape;178;p20"/>
          <p:cNvSpPr/>
          <p:nvPr/>
        </p:nvSpPr>
        <p:spPr>
          <a:xfrm flipH="1" rot="-5400000">
            <a:off x="2330457" y="3983099"/>
            <a:ext cx="191700" cy="206400"/>
          </a:xfrm>
          <a:prstGeom prst="rightArrow">
            <a:avLst>
              <a:gd fmla="val 50000" name="adj1"/>
              <a:gd fmla="val 50000" name="adj2"/>
            </a:avLst>
          </a:prstGeom>
          <a:solidFill>
            <a:srgbClr val="FFFFFF"/>
          </a:solidFill>
          <a:ln cap="flat" cmpd="sng" w="5825">
            <a:solidFill>
              <a:srgbClr val="F47721"/>
            </a:solidFill>
            <a:prstDash val="solid"/>
            <a:miter lim="800000"/>
            <a:headEnd len="sm" w="sm" type="none"/>
            <a:tailEnd len="sm" w="sm" type="none"/>
          </a:ln>
        </p:spPr>
        <p:txBody>
          <a:bodyPr anchorCtr="0" anchor="ctr" bIns="31450" lIns="62875" spcFirstLastPara="1" rIns="62875" wrap="square" tIns="31450">
            <a:noAutofit/>
          </a:bodyPr>
          <a:lstStyle/>
          <a:p>
            <a:pPr indent="0" lvl="0" marL="0" marR="0" rtl="0" algn="ctr">
              <a:spcBef>
                <a:spcPts val="0"/>
              </a:spcBef>
              <a:spcAft>
                <a:spcPts val="0"/>
              </a:spcAft>
              <a:buNone/>
            </a:pPr>
            <a:r>
              <a:t/>
            </a:r>
            <a:endParaRPr sz="1383">
              <a:solidFill>
                <a:srgbClr val="FFFFFF"/>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21"/>
          <p:cNvSpPr txBox="1"/>
          <p:nvPr/>
        </p:nvSpPr>
        <p:spPr>
          <a:xfrm>
            <a:off x="117547" y="417252"/>
            <a:ext cx="3256500" cy="618300"/>
          </a:xfrm>
          <a:prstGeom prst="rect">
            <a:avLst/>
          </a:prstGeom>
          <a:noFill/>
          <a:ln>
            <a:noFill/>
          </a:ln>
        </p:spPr>
        <p:txBody>
          <a:bodyPr anchorCtr="0" anchor="ctr" bIns="89600" lIns="89600" spcFirstLastPara="1" rIns="89600" wrap="square" tIns="89600">
            <a:noAutofit/>
          </a:bodyPr>
          <a:lstStyle/>
          <a:p>
            <a:pPr indent="0" lvl="0" marL="0" marR="0" rtl="0" algn="l">
              <a:lnSpc>
                <a:spcPct val="115000"/>
              </a:lnSpc>
              <a:spcBef>
                <a:spcPts val="0"/>
              </a:spcBef>
              <a:spcAft>
                <a:spcPts val="0"/>
              </a:spcAft>
              <a:buClr>
                <a:srgbClr val="343434"/>
              </a:buClr>
              <a:buSzPts val="3921"/>
              <a:buFont typeface="Lato Black"/>
              <a:buNone/>
            </a:pPr>
            <a:r>
              <a:rPr lang="en" sz="3038">
                <a:solidFill>
                  <a:srgbClr val="434343"/>
                </a:solidFill>
                <a:latin typeface="Montserrat Black"/>
                <a:ea typeface="Montserrat Black"/>
                <a:cs typeface="Montserrat Black"/>
                <a:sym typeface="Montserrat Black"/>
              </a:rPr>
              <a:t>Consideration.</a:t>
            </a:r>
            <a:endParaRPr sz="1764">
              <a:solidFill>
                <a:srgbClr val="434343"/>
              </a:solidFill>
              <a:latin typeface="Montserrat Light"/>
              <a:ea typeface="Montserrat Light"/>
              <a:cs typeface="Montserrat Light"/>
              <a:sym typeface="Montserrat Light"/>
            </a:endParaRPr>
          </a:p>
        </p:txBody>
      </p:sp>
      <p:sp>
        <p:nvSpPr>
          <p:cNvPr id="184" name="Google Shape;184;p21"/>
          <p:cNvSpPr txBox="1"/>
          <p:nvPr/>
        </p:nvSpPr>
        <p:spPr>
          <a:xfrm>
            <a:off x="117547" y="650311"/>
            <a:ext cx="2115900" cy="573300"/>
          </a:xfrm>
          <a:prstGeom prst="rect">
            <a:avLst/>
          </a:prstGeom>
          <a:noFill/>
          <a:ln>
            <a:noFill/>
          </a:ln>
        </p:spPr>
        <p:txBody>
          <a:bodyPr anchorCtr="0" anchor="t" bIns="89625" lIns="89625" spcFirstLastPara="1" rIns="89625" wrap="square" tIns="89625">
            <a:spAutoFit/>
          </a:bodyPr>
          <a:lstStyle/>
          <a:p>
            <a:pPr indent="0" lvl="0" marL="0" rtl="0" algn="l">
              <a:spcBef>
                <a:spcPts val="0"/>
              </a:spcBef>
              <a:spcAft>
                <a:spcPts val="0"/>
              </a:spcAft>
              <a:buNone/>
            </a:pPr>
            <a:r>
              <a:rPr lang="en" sz="2548">
                <a:solidFill>
                  <a:srgbClr val="F54132"/>
                </a:solidFill>
                <a:latin typeface="Shadows Into Light"/>
                <a:ea typeface="Shadows Into Light"/>
                <a:cs typeface="Shadows Into Light"/>
                <a:sym typeface="Shadows Into Light"/>
              </a:rPr>
              <a:t>SU - APL</a:t>
            </a:r>
            <a:endParaRPr sz="2548">
              <a:solidFill>
                <a:srgbClr val="F54132"/>
              </a:solidFill>
              <a:latin typeface="Shadows Into Light"/>
              <a:ea typeface="Shadows Into Light"/>
              <a:cs typeface="Shadows Into Light"/>
              <a:sym typeface="Shadows Into Light"/>
            </a:endParaRPr>
          </a:p>
        </p:txBody>
      </p:sp>
      <p:sp>
        <p:nvSpPr>
          <p:cNvPr id="185" name="Google Shape;185;p21"/>
          <p:cNvSpPr/>
          <p:nvPr/>
        </p:nvSpPr>
        <p:spPr>
          <a:xfrm>
            <a:off x="230742" y="2206681"/>
            <a:ext cx="1413600" cy="384300"/>
          </a:xfrm>
          <a:prstGeom prst="roundRect">
            <a:avLst>
              <a:gd fmla="val 16529" name="adj"/>
            </a:avLst>
          </a:prstGeom>
          <a:solidFill>
            <a:srgbClr val="F85B40"/>
          </a:solidFill>
          <a:ln cap="flat" cmpd="sng" w="6225">
            <a:solidFill>
              <a:srgbClr val="FFFFFF"/>
            </a:solidFill>
            <a:prstDash val="solid"/>
            <a:miter lim="400000"/>
            <a:headEnd len="sm" w="sm" type="none"/>
            <a:tailEnd len="sm" w="sm" type="none"/>
          </a:ln>
          <a:effectLst>
            <a:outerShdw blurRad="12449" rotWithShape="0" dir="2700000" dist="2489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78">
                <a:solidFill>
                  <a:srgbClr val="FFFFFF"/>
                </a:solidFill>
                <a:latin typeface="Montserrat Black"/>
                <a:ea typeface="Montserrat Black"/>
                <a:cs typeface="Montserrat Black"/>
                <a:sym typeface="Montserrat Black"/>
              </a:rPr>
              <a:t>QUÉ HACER</a:t>
            </a:r>
            <a:endParaRPr sz="1078">
              <a:latin typeface="Montserrat"/>
              <a:ea typeface="Montserrat"/>
              <a:cs typeface="Montserrat"/>
              <a:sym typeface="Montserrat"/>
            </a:endParaRPr>
          </a:p>
        </p:txBody>
      </p:sp>
      <p:sp>
        <p:nvSpPr>
          <p:cNvPr id="186" name="Google Shape;186;p21"/>
          <p:cNvSpPr/>
          <p:nvPr/>
        </p:nvSpPr>
        <p:spPr>
          <a:xfrm>
            <a:off x="1644393" y="2367396"/>
            <a:ext cx="396000" cy="63000"/>
          </a:xfrm>
          <a:prstGeom prst="rightArrow">
            <a:avLst>
              <a:gd fmla="val 50000" name="adj1"/>
              <a:gd fmla="val 116706" name="adj2"/>
            </a:avLst>
          </a:prstGeom>
          <a:solidFill>
            <a:srgbClr val="F47721"/>
          </a:solidFill>
          <a:ln cap="flat" cmpd="sng" w="4675">
            <a:solidFill>
              <a:srgbClr val="FFFFFF"/>
            </a:solidFill>
            <a:prstDash val="solid"/>
            <a:round/>
            <a:headEnd len="sm" w="sm" type="none"/>
            <a:tailEnd len="sm" w="sm" type="none"/>
          </a:ln>
        </p:spPr>
        <p:txBody>
          <a:bodyPr anchorCtr="0" anchor="ctr" bIns="89625" lIns="89625" spcFirstLastPara="1" rIns="89625" wrap="square" tIns="89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87" name="Google Shape;187;p21"/>
          <p:cNvSpPr txBox="1"/>
          <p:nvPr/>
        </p:nvSpPr>
        <p:spPr>
          <a:xfrm>
            <a:off x="2132250" y="1447850"/>
            <a:ext cx="4304400" cy="2715900"/>
          </a:xfrm>
          <a:prstGeom prst="rect">
            <a:avLst/>
          </a:prstGeom>
          <a:noFill/>
          <a:ln>
            <a:noFill/>
          </a:ln>
        </p:spPr>
        <p:txBody>
          <a:bodyPr anchorCtr="0" anchor="ctr" bIns="89625" lIns="89625" spcFirstLastPara="1" rIns="89625" wrap="square" tIns="89625">
            <a:spAutoFit/>
          </a:bodyPr>
          <a:lstStyle/>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Revisa </a:t>
            </a:r>
            <a:r>
              <a:rPr i="1" lang="en" sz="1176">
                <a:solidFill>
                  <a:schemeClr val="dk1"/>
                </a:solidFill>
                <a:latin typeface="Montserrat Light"/>
                <a:ea typeface="Montserrat Light"/>
                <a:cs typeface="Montserrat Light"/>
                <a:sym typeface="Montserrat Light"/>
              </a:rPr>
              <a:t>podio y expa c</a:t>
            </a:r>
            <a:r>
              <a:rPr lang="en" sz="1176">
                <a:solidFill>
                  <a:schemeClr val="dk1"/>
                </a:solidFill>
                <a:latin typeface="Montserrat Light"/>
                <a:ea typeface="Montserrat Light"/>
                <a:cs typeface="Montserrat Light"/>
                <a:sym typeface="Montserrat Light"/>
              </a:rPr>
              <a:t>onstantemente para ver tus nuevos SUs. Contáctalos y cambia su estatus en la plataforma a contactado.</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Recuerda utilizar tu Speech de ventas adaptado a la campaña de atracción para que la venta sea lo mejor posible</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No olvides incluir en tu speech de venta una </a:t>
            </a:r>
            <a:r>
              <a:rPr b="1" lang="en" sz="1176">
                <a:solidFill>
                  <a:schemeClr val="dk1"/>
                </a:solidFill>
                <a:latin typeface="Montserrat"/>
                <a:ea typeface="Montserrat"/>
                <a:cs typeface="Montserrat"/>
                <a:sym typeface="Montserrat"/>
              </a:rPr>
              <a:t>explicación de qué es la organización, qué es el programa, oportunidades y beneficios. </a:t>
            </a:r>
            <a:endParaRPr b="1" sz="1176">
              <a:solidFill>
                <a:schemeClr val="dk1"/>
              </a:solidFill>
              <a:latin typeface="Montserrat"/>
              <a:ea typeface="Montserrat"/>
              <a:cs typeface="Montserrat"/>
              <a:sym typeface="Montserrat"/>
            </a:endParaRPr>
          </a:p>
          <a:p>
            <a:pPr indent="0" lvl="0" marL="0" marR="0" rtl="0" algn="just">
              <a:lnSpc>
                <a:spcPct val="100000"/>
              </a:lnSpc>
              <a:spcBef>
                <a:spcPts val="0"/>
              </a:spcBef>
              <a:spcAft>
                <a:spcPts val="0"/>
              </a:spcAft>
              <a:buNone/>
            </a:pPr>
            <a:r>
              <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Clr>
                <a:srgbClr val="000000"/>
              </a:buClr>
              <a:buFont typeface="Arial"/>
              <a:buNone/>
            </a:pPr>
            <a:r>
              <a:rPr lang="en" sz="1176">
                <a:solidFill>
                  <a:schemeClr val="dk1"/>
                </a:solidFill>
                <a:latin typeface="Montserrat Light"/>
                <a:ea typeface="Montserrat Light"/>
                <a:cs typeface="Montserrat Light"/>
                <a:sym typeface="Montserrat Light"/>
              </a:rPr>
              <a:t>Acompaña al EP en el proceso de decidir qué oportunidad tomar, al decidir, mandale el link de la oportunidad y acompañalo en el proceso de aplicar. </a:t>
            </a:r>
            <a:endParaRPr sz="1372">
              <a:solidFill>
                <a:schemeClr val="dk1"/>
              </a:solidFill>
              <a:latin typeface="Montserrat Light"/>
              <a:ea typeface="Montserrat Light"/>
              <a:cs typeface="Montserrat Light"/>
              <a:sym typeface="Montserrat Light"/>
            </a:endParaRPr>
          </a:p>
        </p:txBody>
      </p:sp>
      <p:sp>
        <p:nvSpPr>
          <p:cNvPr id="188" name="Google Shape;188;p21"/>
          <p:cNvSpPr/>
          <p:nvPr/>
        </p:nvSpPr>
        <p:spPr>
          <a:xfrm>
            <a:off x="230742" y="4321669"/>
            <a:ext cx="1413600" cy="384300"/>
          </a:xfrm>
          <a:prstGeom prst="roundRect">
            <a:avLst>
              <a:gd fmla="val 16529" name="adj"/>
            </a:avLst>
          </a:prstGeom>
          <a:solidFill>
            <a:srgbClr val="F85B40"/>
          </a:solidFill>
          <a:ln cap="flat" cmpd="sng" w="6225">
            <a:solidFill>
              <a:srgbClr val="FFFFFF"/>
            </a:solidFill>
            <a:prstDash val="solid"/>
            <a:miter lim="400000"/>
            <a:headEnd len="sm" w="sm" type="none"/>
            <a:tailEnd len="sm" w="sm" type="none"/>
          </a:ln>
          <a:effectLst>
            <a:outerShdw blurRad="12449" rotWithShape="0" dir="2700000" dist="2489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78">
                <a:solidFill>
                  <a:srgbClr val="FFFFFF"/>
                </a:solidFill>
                <a:latin typeface="Montserrat Black"/>
                <a:ea typeface="Montserrat Black"/>
                <a:cs typeface="Montserrat Black"/>
                <a:sym typeface="Montserrat Black"/>
              </a:rPr>
              <a:t>CON QUIÉN</a:t>
            </a:r>
            <a:endParaRPr sz="1078">
              <a:latin typeface="Montserrat"/>
              <a:ea typeface="Montserrat"/>
              <a:cs typeface="Montserrat"/>
              <a:sym typeface="Montserrat"/>
            </a:endParaRPr>
          </a:p>
        </p:txBody>
      </p:sp>
      <p:sp>
        <p:nvSpPr>
          <p:cNvPr id="189" name="Google Shape;189;p21"/>
          <p:cNvSpPr txBox="1"/>
          <p:nvPr/>
        </p:nvSpPr>
        <p:spPr>
          <a:xfrm>
            <a:off x="2132250" y="4242221"/>
            <a:ext cx="5445000" cy="543300"/>
          </a:xfrm>
          <a:prstGeom prst="rect">
            <a:avLst/>
          </a:prstGeom>
          <a:noFill/>
          <a:ln>
            <a:noFill/>
          </a:ln>
        </p:spPr>
        <p:txBody>
          <a:bodyPr anchorCtr="0" anchor="ctr" bIns="89625" lIns="89625" spcFirstLastPara="1" rIns="89625" wrap="square" tIns="89625">
            <a:spAutoFit/>
          </a:bodyPr>
          <a:lstStyle/>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OGX Consideration Team</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IR Partner</a:t>
            </a:r>
            <a:endParaRPr sz="1176">
              <a:solidFill>
                <a:schemeClr val="dk1"/>
              </a:solidFill>
              <a:latin typeface="Montserrat Light"/>
              <a:ea typeface="Montserrat Light"/>
              <a:cs typeface="Montserrat Light"/>
              <a:sym typeface="Montserrat Light"/>
            </a:endParaRPr>
          </a:p>
        </p:txBody>
      </p:sp>
      <p:sp>
        <p:nvSpPr>
          <p:cNvPr id="190" name="Google Shape;190;p21"/>
          <p:cNvSpPr/>
          <p:nvPr/>
        </p:nvSpPr>
        <p:spPr>
          <a:xfrm>
            <a:off x="1644393" y="4482384"/>
            <a:ext cx="396000" cy="63000"/>
          </a:xfrm>
          <a:prstGeom prst="rightArrow">
            <a:avLst>
              <a:gd fmla="val 50000" name="adj1"/>
              <a:gd fmla="val 116706" name="adj2"/>
            </a:avLst>
          </a:prstGeom>
          <a:solidFill>
            <a:srgbClr val="F47721"/>
          </a:solidFill>
          <a:ln cap="flat" cmpd="sng" w="4675">
            <a:solidFill>
              <a:srgbClr val="FFFFFF"/>
            </a:solidFill>
            <a:prstDash val="solid"/>
            <a:round/>
            <a:headEnd len="sm" w="sm" type="none"/>
            <a:tailEnd len="sm" w="sm" type="none"/>
          </a:ln>
        </p:spPr>
        <p:txBody>
          <a:bodyPr anchorCtr="0" anchor="ctr" bIns="89625" lIns="89625" spcFirstLastPara="1" rIns="89625" wrap="square" tIns="89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22"/>
          <p:cNvSpPr txBox="1"/>
          <p:nvPr/>
        </p:nvSpPr>
        <p:spPr>
          <a:xfrm>
            <a:off x="117547" y="417252"/>
            <a:ext cx="3256500" cy="618300"/>
          </a:xfrm>
          <a:prstGeom prst="rect">
            <a:avLst/>
          </a:prstGeom>
          <a:noFill/>
          <a:ln>
            <a:noFill/>
          </a:ln>
        </p:spPr>
        <p:txBody>
          <a:bodyPr anchorCtr="0" anchor="ctr" bIns="89600" lIns="89600" spcFirstLastPara="1" rIns="89600" wrap="square" tIns="89600">
            <a:noAutofit/>
          </a:bodyPr>
          <a:lstStyle/>
          <a:p>
            <a:pPr indent="0" lvl="0" marL="0" marR="0" rtl="0" algn="l">
              <a:lnSpc>
                <a:spcPct val="115000"/>
              </a:lnSpc>
              <a:spcBef>
                <a:spcPts val="0"/>
              </a:spcBef>
              <a:spcAft>
                <a:spcPts val="0"/>
              </a:spcAft>
              <a:buClr>
                <a:srgbClr val="343434"/>
              </a:buClr>
              <a:buSzPts val="3921"/>
              <a:buFont typeface="Lato Black"/>
              <a:buNone/>
            </a:pPr>
            <a:r>
              <a:rPr lang="en" sz="3038">
                <a:solidFill>
                  <a:srgbClr val="434343"/>
                </a:solidFill>
                <a:latin typeface="Montserrat Black"/>
                <a:ea typeface="Montserrat Black"/>
                <a:cs typeface="Montserrat Black"/>
                <a:sym typeface="Montserrat Black"/>
              </a:rPr>
              <a:t>Consideration.</a:t>
            </a:r>
            <a:endParaRPr sz="1764">
              <a:solidFill>
                <a:srgbClr val="434343"/>
              </a:solidFill>
              <a:latin typeface="Montserrat Light"/>
              <a:ea typeface="Montserrat Light"/>
              <a:cs typeface="Montserrat Light"/>
              <a:sym typeface="Montserrat Light"/>
            </a:endParaRPr>
          </a:p>
        </p:txBody>
      </p:sp>
      <p:sp>
        <p:nvSpPr>
          <p:cNvPr id="196" name="Google Shape;196;p22"/>
          <p:cNvSpPr txBox="1"/>
          <p:nvPr/>
        </p:nvSpPr>
        <p:spPr>
          <a:xfrm>
            <a:off x="117547" y="650311"/>
            <a:ext cx="2115900" cy="573300"/>
          </a:xfrm>
          <a:prstGeom prst="rect">
            <a:avLst/>
          </a:prstGeom>
          <a:noFill/>
          <a:ln>
            <a:noFill/>
          </a:ln>
        </p:spPr>
        <p:txBody>
          <a:bodyPr anchorCtr="0" anchor="t" bIns="89625" lIns="89625" spcFirstLastPara="1" rIns="89625" wrap="square" tIns="89625">
            <a:spAutoFit/>
          </a:bodyPr>
          <a:lstStyle/>
          <a:p>
            <a:pPr indent="0" lvl="0" marL="0" rtl="0" algn="l">
              <a:spcBef>
                <a:spcPts val="0"/>
              </a:spcBef>
              <a:spcAft>
                <a:spcPts val="0"/>
              </a:spcAft>
              <a:buNone/>
            </a:pPr>
            <a:r>
              <a:rPr lang="en" sz="2548">
                <a:solidFill>
                  <a:srgbClr val="F54132"/>
                </a:solidFill>
                <a:latin typeface="Shadows Into Light"/>
                <a:ea typeface="Shadows Into Light"/>
                <a:cs typeface="Shadows Into Light"/>
                <a:sym typeface="Shadows Into Light"/>
              </a:rPr>
              <a:t>SU - APL</a:t>
            </a:r>
            <a:endParaRPr sz="2548">
              <a:solidFill>
                <a:srgbClr val="F54132"/>
              </a:solidFill>
              <a:latin typeface="Shadows Into Light"/>
              <a:ea typeface="Shadows Into Light"/>
              <a:cs typeface="Shadows Into Light"/>
              <a:sym typeface="Shadows Into Light"/>
            </a:endParaRPr>
          </a:p>
        </p:txBody>
      </p:sp>
      <p:sp>
        <p:nvSpPr>
          <p:cNvPr id="197" name="Google Shape;197;p22"/>
          <p:cNvSpPr/>
          <p:nvPr/>
        </p:nvSpPr>
        <p:spPr>
          <a:xfrm>
            <a:off x="230742" y="2206681"/>
            <a:ext cx="1413600" cy="384300"/>
          </a:xfrm>
          <a:prstGeom prst="roundRect">
            <a:avLst>
              <a:gd fmla="val 16529" name="adj"/>
            </a:avLst>
          </a:prstGeom>
          <a:solidFill>
            <a:srgbClr val="F85B40"/>
          </a:solidFill>
          <a:ln cap="flat" cmpd="sng" w="6225">
            <a:solidFill>
              <a:srgbClr val="FFFFFF"/>
            </a:solidFill>
            <a:prstDash val="solid"/>
            <a:miter lim="400000"/>
            <a:headEnd len="sm" w="sm" type="none"/>
            <a:tailEnd len="sm" w="sm" type="none"/>
          </a:ln>
          <a:effectLst>
            <a:outerShdw blurRad="12449" rotWithShape="0" dir="2700000" dist="2489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78">
                <a:solidFill>
                  <a:srgbClr val="FFFFFF"/>
                </a:solidFill>
                <a:latin typeface="Montserrat Black"/>
                <a:ea typeface="Montserrat Black"/>
                <a:cs typeface="Montserrat Black"/>
                <a:sym typeface="Montserrat Black"/>
              </a:rPr>
              <a:t>QUÉ HACER</a:t>
            </a:r>
            <a:endParaRPr sz="1078">
              <a:latin typeface="Montserrat"/>
              <a:ea typeface="Montserrat"/>
              <a:cs typeface="Montserrat"/>
              <a:sym typeface="Montserrat"/>
            </a:endParaRPr>
          </a:p>
        </p:txBody>
      </p:sp>
      <p:sp>
        <p:nvSpPr>
          <p:cNvPr id="198" name="Google Shape;198;p22"/>
          <p:cNvSpPr/>
          <p:nvPr/>
        </p:nvSpPr>
        <p:spPr>
          <a:xfrm>
            <a:off x="1644393" y="2367396"/>
            <a:ext cx="396000" cy="63000"/>
          </a:xfrm>
          <a:prstGeom prst="rightArrow">
            <a:avLst>
              <a:gd fmla="val 50000" name="adj1"/>
              <a:gd fmla="val 116706" name="adj2"/>
            </a:avLst>
          </a:prstGeom>
          <a:solidFill>
            <a:srgbClr val="F47721"/>
          </a:solidFill>
          <a:ln cap="flat" cmpd="sng" w="4675">
            <a:solidFill>
              <a:srgbClr val="FFFFFF"/>
            </a:solidFill>
            <a:prstDash val="solid"/>
            <a:round/>
            <a:headEnd len="sm" w="sm" type="none"/>
            <a:tailEnd len="sm" w="sm" type="none"/>
          </a:ln>
        </p:spPr>
        <p:txBody>
          <a:bodyPr anchorCtr="0" anchor="ctr" bIns="89625" lIns="89625" spcFirstLastPara="1" rIns="89625" wrap="square" tIns="89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99" name="Google Shape;199;p22"/>
          <p:cNvSpPr txBox="1"/>
          <p:nvPr/>
        </p:nvSpPr>
        <p:spPr>
          <a:xfrm>
            <a:off x="2132250" y="1447850"/>
            <a:ext cx="4304400" cy="2715900"/>
          </a:xfrm>
          <a:prstGeom prst="rect">
            <a:avLst/>
          </a:prstGeom>
          <a:noFill/>
          <a:ln>
            <a:noFill/>
          </a:ln>
        </p:spPr>
        <p:txBody>
          <a:bodyPr anchorCtr="0" anchor="ctr" bIns="89625" lIns="89625" spcFirstLastPara="1" rIns="89625" wrap="square" tIns="89625">
            <a:spAutoFit/>
          </a:bodyPr>
          <a:lstStyle/>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Revisa </a:t>
            </a:r>
            <a:r>
              <a:rPr i="1" lang="en" sz="1176">
                <a:solidFill>
                  <a:schemeClr val="dk1"/>
                </a:solidFill>
                <a:latin typeface="Montserrat Light"/>
                <a:ea typeface="Montserrat Light"/>
                <a:cs typeface="Montserrat Light"/>
                <a:sym typeface="Montserrat Light"/>
              </a:rPr>
              <a:t>podio y expa c</a:t>
            </a:r>
            <a:r>
              <a:rPr lang="en" sz="1176">
                <a:solidFill>
                  <a:schemeClr val="dk1"/>
                </a:solidFill>
                <a:latin typeface="Montserrat Light"/>
                <a:ea typeface="Montserrat Light"/>
                <a:cs typeface="Montserrat Light"/>
                <a:sym typeface="Montserrat Light"/>
              </a:rPr>
              <a:t>onstantemente para ver tus nuevos SUs. Contáctalos y cambia su estatus en la plataforma a contactado.</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Recuerda utilizar tu Speech de ventas adaptado a la campaña de atracción para que la venta sea lo mejor posible</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No olvides incluir en tu speech de venta una </a:t>
            </a:r>
            <a:r>
              <a:rPr b="1" lang="en" sz="1176">
                <a:solidFill>
                  <a:schemeClr val="dk1"/>
                </a:solidFill>
                <a:latin typeface="Montserrat"/>
                <a:ea typeface="Montserrat"/>
                <a:cs typeface="Montserrat"/>
                <a:sym typeface="Montserrat"/>
              </a:rPr>
              <a:t>explicación de qué es la organización, qué es el programa, oportunidades y beneficios. </a:t>
            </a:r>
            <a:endParaRPr b="1" sz="1176">
              <a:solidFill>
                <a:schemeClr val="dk1"/>
              </a:solidFill>
              <a:latin typeface="Montserrat"/>
              <a:ea typeface="Montserrat"/>
              <a:cs typeface="Montserrat"/>
              <a:sym typeface="Montserrat"/>
            </a:endParaRPr>
          </a:p>
          <a:p>
            <a:pPr indent="0" lvl="0" marL="0" marR="0" rtl="0" algn="just">
              <a:lnSpc>
                <a:spcPct val="100000"/>
              </a:lnSpc>
              <a:spcBef>
                <a:spcPts val="0"/>
              </a:spcBef>
              <a:spcAft>
                <a:spcPts val="0"/>
              </a:spcAft>
              <a:buNone/>
            </a:pPr>
            <a:r>
              <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Clr>
                <a:srgbClr val="000000"/>
              </a:buClr>
              <a:buFont typeface="Arial"/>
              <a:buNone/>
            </a:pPr>
            <a:r>
              <a:rPr lang="en" sz="1176">
                <a:solidFill>
                  <a:schemeClr val="dk1"/>
                </a:solidFill>
                <a:latin typeface="Montserrat Light"/>
                <a:ea typeface="Montserrat Light"/>
                <a:cs typeface="Montserrat Light"/>
                <a:sym typeface="Montserrat Light"/>
              </a:rPr>
              <a:t>Acompaña al EP en el proceso de decidir qué oportunidad tomar, al decidir, mandale el link de la oportunidad y acompañalo en el proceso de aplicar. </a:t>
            </a:r>
            <a:endParaRPr sz="1372">
              <a:solidFill>
                <a:schemeClr val="dk1"/>
              </a:solidFill>
              <a:latin typeface="Montserrat Light"/>
              <a:ea typeface="Montserrat Light"/>
              <a:cs typeface="Montserrat Light"/>
              <a:sym typeface="Montserrat Light"/>
            </a:endParaRPr>
          </a:p>
        </p:txBody>
      </p:sp>
      <p:sp>
        <p:nvSpPr>
          <p:cNvPr id="200" name="Google Shape;200;p22"/>
          <p:cNvSpPr/>
          <p:nvPr/>
        </p:nvSpPr>
        <p:spPr>
          <a:xfrm>
            <a:off x="230742" y="4321669"/>
            <a:ext cx="1413600" cy="384300"/>
          </a:xfrm>
          <a:prstGeom prst="roundRect">
            <a:avLst>
              <a:gd fmla="val 16529" name="adj"/>
            </a:avLst>
          </a:prstGeom>
          <a:solidFill>
            <a:srgbClr val="F85B40"/>
          </a:solidFill>
          <a:ln cap="flat" cmpd="sng" w="6225">
            <a:solidFill>
              <a:srgbClr val="FFFFFF"/>
            </a:solidFill>
            <a:prstDash val="solid"/>
            <a:miter lim="400000"/>
            <a:headEnd len="sm" w="sm" type="none"/>
            <a:tailEnd len="sm" w="sm" type="none"/>
          </a:ln>
          <a:effectLst>
            <a:outerShdw blurRad="12449" rotWithShape="0" dir="2700000" dist="2489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78">
                <a:solidFill>
                  <a:srgbClr val="FFFFFF"/>
                </a:solidFill>
                <a:latin typeface="Montserrat Black"/>
                <a:ea typeface="Montserrat Black"/>
                <a:cs typeface="Montserrat Black"/>
                <a:sym typeface="Montserrat Black"/>
              </a:rPr>
              <a:t>CON QUIÉN</a:t>
            </a:r>
            <a:endParaRPr sz="1078">
              <a:latin typeface="Montserrat"/>
              <a:ea typeface="Montserrat"/>
              <a:cs typeface="Montserrat"/>
              <a:sym typeface="Montserrat"/>
            </a:endParaRPr>
          </a:p>
        </p:txBody>
      </p:sp>
      <p:sp>
        <p:nvSpPr>
          <p:cNvPr id="201" name="Google Shape;201;p22"/>
          <p:cNvSpPr txBox="1"/>
          <p:nvPr/>
        </p:nvSpPr>
        <p:spPr>
          <a:xfrm>
            <a:off x="2132250" y="4242221"/>
            <a:ext cx="5445000" cy="543300"/>
          </a:xfrm>
          <a:prstGeom prst="rect">
            <a:avLst/>
          </a:prstGeom>
          <a:noFill/>
          <a:ln>
            <a:noFill/>
          </a:ln>
        </p:spPr>
        <p:txBody>
          <a:bodyPr anchorCtr="0" anchor="ctr" bIns="89625" lIns="89625" spcFirstLastPara="1" rIns="89625" wrap="square" tIns="89625">
            <a:spAutoFit/>
          </a:bodyPr>
          <a:lstStyle/>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OGX Consideration Team</a:t>
            </a:r>
            <a:endParaRPr sz="1176">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76">
                <a:solidFill>
                  <a:schemeClr val="dk1"/>
                </a:solidFill>
                <a:latin typeface="Montserrat Light"/>
                <a:ea typeface="Montserrat Light"/>
                <a:cs typeface="Montserrat Light"/>
                <a:sym typeface="Montserrat Light"/>
              </a:rPr>
              <a:t>IR Partner</a:t>
            </a:r>
            <a:endParaRPr sz="1176">
              <a:solidFill>
                <a:schemeClr val="dk1"/>
              </a:solidFill>
              <a:latin typeface="Montserrat Light"/>
              <a:ea typeface="Montserrat Light"/>
              <a:cs typeface="Montserrat Light"/>
              <a:sym typeface="Montserrat Light"/>
            </a:endParaRPr>
          </a:p>
        </p:txBody>
      </p:sp>
      <p:sp>
        <p:nvSpPr>
          <p:cNvPr id="202" name="Google Shape;202;p22"/>
          <p:cNvSpPr/>
          <p:nvPr/>
        </p:nvSpPr>
        <p:spPr>
          <a:xfrm>
            <a:off x="1644393" y="4482384"/>
            <a:ext cx="396000" cy="63000"/>
          </a:xfrm>
          <a:prstGeom prst="rightArrow">
            <a:avLst>
              <a:gd fmla="val 50000" name="adj1"/>
              <a:gd fmla="val 116706" name="adj2"/>
            </a:avLst>
          </a:prstGeom>
          <a:solidFill>
            <a:srgbClr val="F47721"/>
          </a:solidFill>
          <a:ln cap="flat" cmpd="sng" w="4675">
            <a:solidFill>
              <a:srgbClr val="FFFFFF"/>
            </a:solidFill>
            <a:prstDash val="solid"/>
            <a:round/>
            <a:headEnd len="sm" w="sm" type="none"/>
            <a:tailEnd len="sm" w="sm" type="none"/>
          </a:ln>
        </p:spPr>
        <p:txBody>
          <a:bodyPr anchorCtr="0" anchor="ctr" bIns="89625" lIns="89625" spcFirstLastPara="1" rIns="89625" wrap="square" tIns="89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sp>
        <p:nvSpPr>
          <p:cNvPr id="207" name="Google Shape;207;p23"/>
          <p:cNvSpPr txBox="1"/>
          <p:nvPr/>
        </p:nvSpPr>
        <p:spPr>
          <a:xfrm>
            <a:off x="978073" y="667125"/>
            <a:ext cx="1799400" cy="1252200"/>
          </a:xfrm>
          <a:prstGeom prst="rect">
            <a:avLst/>
          </a:prstGeom>
          <a:noFill/>
          <a:ln>
            <a:noFill/>
          </a:ln>
        </p:spPr>
        <p:txBody>
          <a:bodyPr anchorCtr="0" anchor="t" bIns="86425" lIns="86425" spcFirstLastPara="1" rIns="86425" wrap="square" tIns="86425">
            <a:noAutofit/>
          </a:bodyPr>
          <a:lstStyle/>
          <a:p>
            <a:pPr indent="0" lvl="0" marL="0" rtl="0" algn="l">
              <a:lnSpc>
                <a:spcPct val="70000"/>
              </a:lnSpc>
              <a:spcBef>
                <a:spcPts val="6807"/>
              </a:spcBef>
              <a:spcAft>
                <a:spcPts val="6807"/>
              </a:spcAft>
              <a:buNone/>
            </a:pPr>
            <a:r>
              <a:rPr b="1" lang="en" sz="4500">
                <a:solidFill>
                  <a:schemeClr val="lt1"/>
                </a:solidFill>
                <a:latin typeface="Montserrat"/>
                <a:ea typeface="Montserrat"/>
                <a:cs typeface="Montserrat"/>
                <a:sym typeface="Montserrat"/>
              </a:rPr>
              <a:t>TIPS!</a:t>
            </a:r>
            <a:endParaRPr b="1" sz="4500">
              <a:solidFill>
                <a:schemeClr val="dk2"/>
              </a:solidFill>
              <a:latin typeface="Nunito"/>
              <a:ea typeface="Nunito"/>
              <a:cs typeface="Nunito"/>
              <a:sym typeface="Nunito"/>
            </a:endParaRPr>
          </a:p>
        </p:txBody>
      </p:sp>
      <p:sp>
        <p:nvSpPr>
          <p:cNvPr id="208" name="Google Shape;208;p23"/>
          <p:cNvSpPr txBox="1"/>
          <p:nvPr/>
        </p:nvSpPr>
        <p:spPr>
          <a:xfrm>
            <a:off x="0" y="1110900"/>
            <a:ext cx="7333200" cy="3601800"/>
          </a:xfrm>
          <a:prstGeom prst="rect">
            <a:avLst/>
          </a:prstGeom>
          <a:noFill/>
          <a:ln>
            <a:noFill/>
          </a:ln>
        </p:spPr>
        <p:txBody>
          <a:bodyPr anchorCtr="0" anchor="t" bIns="182850" lIns="182850" spcFirstLastPara="1" rIns="182850" wrap="square" tIns="182850">
            <a:spAutoFit/>
          </a:bodyPr>
          <a:lstStyle/>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Establece una rutina con tu equipo para revisar EXPA mínimo 2 veces al día  (ej. 9 am y 8 pm). De esta manera garantizarán que </a:t>
            </a:r>
            <a:r>
              <a:rPr lang="en" sz="1500">
                <a:solidFill>
                  <a:schemeClr val="lt1"/>
                </a:solidFill>
                <a:latin typeface="Montserrat"/>
                <a:ea typeface="Montserrat"/>
                <a:cs typeface="Montserrat"/>
                <a:sym typeface="Montserrat"/>
              </a:rPr>
              <a:t>contactaran</a:t>
            </a:r>
            <a:r>
              <a:rPr lang="en" sz="1500">
                <a:solidFill>
                  <a:schemeClr val="lt1"/>
                </a:solidFill>
                <a:latin typeface="Montserrat"/>
                <a:ea typeface="Montserrat"/>
                <a:cs typeface="Montserrat"/>
                <a:sym typeface="Montserrat"/>
              </a:rPr>
              <a:t> a todos los SUs en menos de 24 horas y no perderemos su atención. </a:t>
            </a:r>
            <a:br>
              <a:rPr lang="en" sz="1500">
                <a:solidFill>
                  <a:schemeClr val="lt1"/>
                </a:solidFill>
                <a:latin typeface="Montserrat"/>
                <a:ea typeface="Montserrat"/>
                <a:cs typeface="Montserrat"/>
                <a:sym typeface="Montserrat"/>
              </a:rPr>
            </a:br>
            <a:endParaRPr sz="1500">
              <a:solidFill>
                <a:schemeClr val="lt1"/>
              </a:solidFill>
              <a:latin typeface="Montserrat"/>
              <a:ea typeface="Montserrat"/>
              <a:cs typeface="Montserrat"/>
              <a:sym typeface="Montserrat"/>
            </a:endParaRPr>
          </a:p>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Divide esta rutina entre los miembros de tu equipo para que se acomode a sus horarios. </a:t>
            </a:r>
            <a:br>
              <a:rPr lang="en" sz="1500">
                <a:solidFill>
                  <a:schemeClr val="lt1"/>
                </a:solidFill>
                <a:latin typeface="Montserrat"/>
                <a:ea typeface="Montserrat"/>
                <a:cs typeface="Montserrat"/>
                <a:sym typeface="Montserrat"/>
              </a:rPr>
            </a:br>
            <a:endParaRPr sz="1500">
              <a:solidFill>
                <a:schemeClr val="lt1"/>
              </a:solidFill>
              <a:latin typeface="Montserrat"/>
              <a:ea typeface="Montserrat"/>
              <a:cs typeface="Montserrat"/>
              <a:sym typeface="Montserrat"/>
            </a:endParaRPr>
          </a:p>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Utiliza inteligencia artificial (ZAPIA) para agregar los números de manera más rápida. </a:t>
            </a:r>
            <a:br>
              <a:rPr lang="en" sz="1500">
                <a:solidFill>
                  <a:schemeClr val="lt1"/>
                </a:solidFill>
                <a:latin typeface="Montserrat"/>
                <a:ea typeface="Montserrat"/>
                <a:cs typeface="Montserrat"/>
                <a:sym typeface="Montserrat"/>
              </a:rPr>
            </a:br>
            <a:endParaRPr sz="1500">
              <a:solidFill>
                <a:schemeClr val="lt1"/>
              </a:solidFill>
              <a:latin typeface="Montserrat"/>
              <a:ea typeface="Montserrat"/>
              <a:cs typeface="Montserrat"/>
              <a:sym typeface="Montserrat"/>
            </a:endParaRPr>
          </a:p>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Agenda en Calendar las sesiones informativas que tendrás con los EPs para garantizar su asistencia</a:t>
            </a:r>
            <a:endParaRPr sz="15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500">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24"/>
          <p:cNvSpPr txBox="1"/>
          <p:nvPr/>
        </p:nvSpPr>
        <p:spPr>
          <a:xfrm>
            <a:off x="191050" y="353075"/>
            <a:ext cx="4070700" cy="729600"/>
          </a:xfrm>
          <a:prstGeom prst="rect">
            <a:avLst/>
          </a:prstGeom>
          <a:noFill/>
          <a:ln>
            <a:noFill/>
          </a:ln>
        </p:spPr>
        <p:txBody>
          <a:bodyPr anchorCtr="0" anchor="ctr" bIns="91525" lIns="91525" spcFirstLastPara="1" rIns="91525" wrap="square" tIns="91525">
            <a:noAutofit/>
          </a:bodyPr>
          <a:lstStyle/>
          <a:p>
            <a:pPr indent="0" lvl="0" marL="0" marR="0" rtl="0" algn="l">
              <a:lnSpc>
                <a:spcPct val="115000"/>
              </a:lnSpc>
              <a:spcBef>
                <a:spcPts val="0"/>
              </a:spcBef>
              <a:spcAft>
                <a:spcPts val="0"/>
              </a:spcAft>
              <a:buClr>
                <a:srgbClr val="343434"/>
              </a:buClr>
              <a:buSzPts val="4006"/>
              <a:buFont typeface="Lato Black"/>
              <a:buNone/>
            </a:pPr>
            <a:r>
              <a:rPr lang="en" sz="3104">
                <a:solidFill>
                  <a:srgbClr val="434343"/>
                </a:solidFill>
                <a:latin typeface="Montserrat Black"/>
                <a:ea typeface="Montserrat Black"/>
                <a:cs typeface="Montserrat Black"/>
                <a:sym typeface="Montserrat Black"/>
              </a:rPr>
              <a:t>Consideration.</a:t>
            </a:r>
            <a:endParaRPr sz="1802">
              <a:solidFill>
                <a:srgbClr val="434343"/>
              </a:solidFill>
              <a:latin typeface="Montserrat Light"/>
              <a:ea typeface="Montserrat Light"/>
              <a:cs typeface="Montserrat Light"/>
              <a:sym typeface="Montserrat Light"/>
            </a:endParaRPr>
          </a:p>
        </p:txBody>
      </p:sp>
      <p:sp>
        <p:nvSpPr>
          <p:cNvPr id="214" name="Google Shape;214;p24"/>
          <p:cNvSpPr txBox="1"/>
          <p:nvPr/>
        </p:nvSpPr>
        <p:spPr>
          <a:xfrm>
            <a:off x="191050" y="628086"/>
            <a:ext cx="1713300" cy="585600"/>
          </a:xfrm>
          <a:prstGeom prst="rect">
            <a:avLst/>
          </a:prstGeom>
          <a:noFill/>
          <a:ln>
            <a:noFill/>
          </a:ln>
        </p:spPr>
        <p:txBody>
          <a:bodyPr anchorCtr="0" anchor="t" bIns="91550" lIns="91550" spcFirstLastPara="1" rIns="91550" wrap="square" tIns="91550">
            <a:spAutoFit/>
          </a:bodyPr>
          <a:lstStyle/>
          <a:p>
            <a:pPr indent="0" lvl="0" marL="0" rtl="0" algn="l">
              <a:spcBef>
                <a:spcPts val="0"/>
              </a:spcBef>
              <a:spcAft>
                <a:spcPts val="0"/>
              </a:spcAft>
              <a:buNone/>
            </a:pPr>
            <a:r>
              <a:rPr lang="en" sz="2603">
                <a:solidFill>
                  <a:srgbClr val="F54132"/>
                </a:solidFill>
                <a:latin typeface="Shadows Into Light"/>
                <a:ea typeface="Shadows Into Light"/>
                <a:cs typeface="Shadows Into Light"/>
                <a:sym typeface="Shadows Into Light"/>
              </a:rPr>
              <a:t>APL - ACC</a:t>
            </a:r>
            <a:endParaRPr sz="2603">
              <a:solidFill>
                <a:srgbClr val="F54132"/>
              </a:solidFill>
              <a:latin typeface="Shadows Into Light"/>
              <a:ea typeface="Shadows Into Light"/>
              <a:cs typeface="Shadows Into Light"/>
              <a:sym typeface="Shadows Into Light"/>
            </a:endParaRPr>
          </a:p>
        </p:txBody>
      </p:sp>
      <p:sp>
        <p:nvSpPr>
          <p:cNvPr id="215" name="Google Shape;215;p24"/>
          <p:cNvSpPr/>
          <p:nvPr/>
        </p:nvSpPr>
        <p:spPr>
          <a:xfrm>
            <a:off x="191048" y="2097217"/>
            <a:ext cx="1144500" cy="453600"/>
          </a:xfrm>
          <a:prstGeom prst="roundRect">
            <a:avLst>
              <a:gd fmla="val 16529" name="adj"/>
            </a:avLst>
          </a:prstGeom>
          <a:solidFill>
            <a:srgbClr val="F85B40"/>
          </a:solidFill>
          <a:ln cap="flat" cmpd="sng" w="6375">
            <a:solidFill>
              <a:srgbClr val="FFFFFF"/>
            </a:solidFill>
            <a:prstDash val="solid"/>
            <a:miter lim="400000"/>
            <a:headEnd len="sm" w="sm" type="none"/>
            <a:tailEnd len="sm" w="sm" type="none"/>
          </a:ln>
          <a:effectLst>
            <a:outerShdw blurRad="12719" rotWithShape="0" dir="2700000" dist="25438">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01">
                <a:solidFill>
                  <a:srgbClr val="FFFFFF"/>
                </a:solidFill>
                <a:latin typeface="Montserrat Black"/>
                <a:ea typeface="Montserrat Black"/>
                <a:cs typeface="Montserrat Black"/>
                <a:sym typeface="Montserrat Black"/>
              </a:rPr>
              <a:t>QUÉ HACER</a:t>
            </a:r>
            <a:endParaRPr sz="1101">
              <a:latin typeface="Montserrat"/>
              <a:ea typeface="Montserrat"/>
              <a:cs typeface="Montserrat"/>
              <a:sym typeface="Montserrat"/>
            </a:endParaRPr>
          </a:p>
        </p:txBody>
      </p:sp>
      <p:sp>
        <p:nvSpPr>
          <p:cNvPr id="216" name="Google Shape;216;p24"/>
          <p:cNvSpPr/>
          <p:nvPr/>
        </p:nvSpPr>
        <p:spPr>
          <a:xfrm>
            <a:off x="1335602" y="2286862"/>
            <a:ext cx="320700" cy="74100"/>
          </a:xfrm>
          <a:prstGeom prst="rightArrow">
            <a:avLst>
              <a:gd fmla="val 50000" name="adj1"/>
              <a:gd fmla="val 116706" name="adj2"/>
            </a:avLst>
          </a:prstGeom>
          <a:solidFill>
            <a:srgbClr val="F47721"/>
          </a:solidFill>
          <a:ln cap="flat" cmpd="sng" w="4775">
            <a:solidFill>
              <a:srgbClr val="FFFFFF"/>
            </a:solidFill>
            <a:prstDash val="solid"/>
            <a:round/>
            <a:headEnd len="sm" w="sm" type="none"/>
            <a:tailEnd len="sm" w="sm" type="none"/>
          </a:ln>
        </p:spPr>
        <p:txBody>
          <a:bodyPr anchorCtr="0" anchor="ctr" bIns="91550" lIns="91550" spcFirstLastPara="1" rIns="91550" wrap="square" tIns="9155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17" name="Google Shape;217;p24"/>
          <p:cNvSpPr txBox="1"/>
          <p:nvPr/>
        </p:nvSpPr>
        <p:spPr>
          <a:xfrm>
            <a:off x="1730600" y="1143375"/>
            <a:ext cx="4617900" cy="2959800"/>
          </a:xfrm>
          <a:prstGeom prst="rect">
            <a:avLst/>
          </a:prstGeom>
          <a:noFill/>
          <a:ln>
            <a:noFill/>
          </a:ln>
        </p:spPr>
        <p:txBody>
          <a:bodyPr anchorCtr="0" anchor="ctr" bIns="91550" lIns="91550" spcFirstLastPara="1" rIns="91550" wrap="square" tIns="91550">
            <a:spAutoFit/>
          </a:bodyPr>
          <a:lstStyle/>
          <a:p>
            <a:pPr indent="0" lvl="0" marL="0" marR="0" rtl="0" algn="just">
              <a:lnSpc>
                <a:spcPct val="100000"/>
              </a:lnSpc>
              <a:spcBef>
                <a:spcPts val="0"/>
              </a:spcBef>
              <a:spcAft>
                <a:spcPts val="0"/>
              </a:spcAft>
              <a:buNone/>
            </a:pPr>
            <a:r>
              <a:rPr lang="en" sz="1201">
                <a:solidFill>
                  <a:schemeClr val="dk1"/>
                </a:solidFill>
                <a:latin typeface="Montserrat Light"/>
                <a:ea typeface="Montserrat Light"/>
                <a:cs typeface="Montserrat Light"/>
                <a:sym typeface="Montserrat Light"/>
              </a:rPr>
              <a:t>Una vez que el EP haya aplicado, ponte en contacto con la cooperación para que lo contacten lo más rápido posible. </a:t>
            </a:r>
            <a:r>
              <a:rPr b="1" lang="en" sz="1201">
                <a:solidFill>
                  <a:schemeClr val="dk1"/>
                </a:solidFill>
                <a:latin typeface="Montserrat"/>
                <a:ea typeface="Montserrat"/>
                <a:cs typeface="Montserrat"/>
                <a:sym typeface="Montserrat"/>
              </a:rPr>
              <a:t>Es responsabilidad de OGX dar seguimiento a que se le haya contactado y que se le esté dando la información necesaria</a:t>
            </a:r>
            <a:r>
              <a:rPr lang="en" sz="1201">
                <a:solidFill>
                  <a:schemeClr val="dk1"/>
                </a:solidFill>
                <a:latin typeface="Montserrat Light"/>
                <a:ea typeface="Montserrat Light"/>
                <a:cs typeface="Montserrat Light"/>
                <a:sym typeface="Montserrat Light"/>
              </a:rPr>
              <a:t>. </a:t>
            </a:r>
            <a:endParaRPr sz="120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20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01">
                <a:solidFill>
                  <a:schemeClr val="dk1"/>
                </a:solidFill>
                <a:latin typeface="Montserrat Light"/>
                <a:ea typeface="Montserrat Light"/>
                <a:cs typeface="Montserrat Light"/>
                <a:sym typeface="Montserrat Light"/>
              </a:rPr>
              <a:t>La cooperación le dará la explicación más a fondo sobre el proceso, proyecto y sobre datos del país, así como requisitos, beneficios y responsabilidades. </a:t>
            </a:r>
            <a:endParaRPr sz="120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20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01">
                <a:solidFill>
                  <a:schemeClr val="dk1"/>
                </a:solidFill>
                <a:latin typeface="Montserrat Light"/>
                <a:ea typeface="Montserrat Light"/>
                <a:cs typeface="Montserrat Light"/>
                <a:sym typeface="Montserrat Light"/>
              </a:rPr>
              <a:t>El EP pasará por el proceso de entrevista correspondiente (puede variar dependiendo la entidad a la que aplique), después de eso será aceptado por la cooperación. Como OGV asegurate de que el estatus del EP en expa cambie a “Aceptado” por tu cooperación.</a:t>
            </a:r>
            <a:endParaRPr sz="1201">
              <a:solidFill>
                <a:schemeClr val="dk1"/>
              </a:solidFill>
              <a:latin typeface="Montserrat Light"/>
              <a:ea typeface="Montserrat Light"/>
              <a:cs typeface="Montserrat Light"/>
              <a:sym typeface="Montserrat Light"/>
            </a:endParaRPr>
          </a:p>
        </p:txBody>
      </p:sp>
      <p:sp>
        <p:nvSpPr>
          <p:cNvPr id="218" name="Google Shape;218;p24"/>
          <p:cNvSpPr/>
          <p:nvPr/>
        </p:nvSpPr>
        <p:spPr>
          <a:xfrm>
            <a:off x="191048" y="4228771"/>
            <a:ext cx="1144500" cy="453600"/>
          </a:xfrm>
          <a:prstGeom prst="roundRect">
            <a:avLst>
              <a:gd fmla="val 16529" name="adj"/>
            </a:avLst>
          </a:prstGeom>
          <a:solidFill>
            <a:srgbClr val="F85B40"/>
          </a:solidFill>
          <a:ln cap="flat" cmpd="sng" w="6375">
            <a:solidFill>
              <a:srgbClr val="FFFFFF"/>
            </a:solidFill>
            <a:prstDash val="solid"/>
            <a:miter lim="400000"/>
            <a:headEnd len="sm" w="sm" type="none"/>
            <a:tailEnd len="sm" w="sm" type="none"/>
          </a:ln>
          <a:effectLst>
            <a:outerShdw blurRad="12719" rotWithShape="0" dir="2700000" dist="25438">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01">
                <a:solidFill>
                  <a:srgbClr val="FFFFFF"/>
                </a:solidFill>
                <a:latin typeface="Montserrat Black"/>
                <a:ea typeface="Montserrat Black"/>
                <a:cs typeface="Montserrat Black"/>
                <a:sym typeface="Montserrat Black"/>
              </a:rPr>
              <a:t>CON QUIÉN</a:t>
            </a:r>
            <a:endParaRPr sz="1101">
              <a:latin typeface="Montserrat"/>
              <a:ea typeface="Montserrat"/>
              <a:cs typeface="Montserrat"/>
              <a:sym typeface="Montserrat"/>
            </a:endParaRPr>
          </a:p>
        </p:txBody>
      </p:sp>
      <p:sp>
        <p:nvSpPr>
          <p:cNvPr id="219" name="Google Shape;219;p24"/>
          <p:cNvSpPr txBox="1"/>
          <p:nvPr/>
        </p:nvSpPr>
        <p:spPr>
          <a:xfrm>
            <a:off x="1730592" y="4163876"/>
            <a:ext cx="4408800" cy="555000"/>
          </a:xfrm>
          <a:prstGeom prst="rect">
            <a:avLst/>
          </a:prstGeom>
          <a:noFill/>
          <a:ln>
            <a:noFill/>
          </a:ln>
        </p:spPr>
        <p:txBody>
          <a:bodyPr anchorCtr="0" anchor="ctr" bIns="91550" lIns="91550" spcFirstLastPara="1" rIns="91550" wrap="square" tIns="91550">
            <a:spAutoFit/>
          </a:bodyPr>
          <a:lstStyle/>
          <a:p>
            <a:pPr indent="0" lvl="0" marL="0" marR="0" rtl="0" algn="just">
              <a:lnSpc>
                <a:spcPct val="100000"/>
              </a:lnSpc>
              <a:spcBef>
                <a:spcPts val="0"/>
              </a:spcBef>
              <a:spcAft>
                <a:spcPts val="0"/>
              </a:spcAft>
              <a:buNone/>
            </a:pPr>
            <a:r>
              <a:rPr lang="en" sz="1201">
                <a:solidFill>
                  <a:schemeClr val="dk1"/>
                </a:solidFill>
                <a:latin typeface="Montserrat Light"/>
                <a:ea typeface="Montserrat Light"/>
                <a:cs typeface="Montserrat Light"/>
                <a:sym typeface="Montserrat Light"/>
              </a:rPr>
              <a:t>OGX Consideration Team</a:t>
            </a:r>
            <a:endParaRPr sz="120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01">
                <a:solidFill>
                  <a:schemeClr val="dk1"/>
                </a:solidFill>
                <a:latin typeface="Montserrat Light"/>
                <a:ea typeface="Montserrat Light"/>
                <a:cs typeface="Montserrat Light"/>
                <a:sym typeface="Montserrat Light"/>
              </a:rPr>
              <a:t>IR Partner</a:t>
            </a:r>
            <a:endParaRPr sz="1201">
              <a:solidFill>
                <a:schemeClr val="dk1"/>
              </a:solidFill>
              <a:latin typeface="Montserrat Light"/>
              <a:ea typeface="Montserrat Light"/>
              <a:cs typeface="Montserrat Light"/>
              <a:sym typeface="Montserrat Light"/>
            </a:endParaRPr>
          </a:p>
        </p:txBody>
      </p:sp>
      <p:sp>
        <p:nvSpPr>
          <p:cNvPr id="220" name="Google Shape;220;p24"/>
          <p:cNvSpPr/>
          <p:nvPr/>
        </p:nvSpPr>
        <p:spPr>
          <a:xfrm>
            <a:off x="1335602" y="4418416"/>
            <a:ext cx="320700" cy="74100"/>
          </a:xfrm>
          <a:prstGeom prst="rightArrow">
            <a:avLst>
              <a:gd fmla="val 50000" name="adj1"/>
              <a:gd fmla="val 116706" name="adj2"/>
            </a:avLst>
          </a:prstGeom>
          <a:solidFill>
            <a:srgbClr val="F47721"/>
          </a:solidFill>
          <a:ln cap="flat" cmpd="sng" w="4775">
            <a:solidFill>
              <a:srgbClr val="FFFFFF"/>
            </a:solidFill>
            <a:prstDash val="solid"/>
            <a:round/>
            <a:headEnd len="sm" w="sm" type="none"/>
            <a:tailEnd len="sm" w="sm" type="none"/>
          </a:ln>
        </p:spPr>
        <p:txBody>
          <a:bodyPr anchorCtr="0" anchor="ctr" bIns="91550" lIns="91550" spcFirstLastPara="1" rIns="91550" wrap="square" tIns="9155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sp>
        <p:nvSpPr>
          <p:cNvPr id="225" name="Google Shape;225;p25"/>
          <p:cNvSpPr txBox="1"/>
          <p:nvPr/>
        </p:nvSpPr>
        <p:spPr>
          <a:xfrm>
            <a:off x="117550" y="226001"/>
            <a:ext cx="3365700" cy="639300"/>
          </a:xfrm>
          <a:prstGeom prst="rect">
            <a:avLst/>
          </a:prstGeom>
          <a:noFill/>
          <a:ln>
            <a:noFill/>
          </a:ln>
        </p:spPr>
        <p:txBody>
          <a:bodyPr anchorCtr="0" anchor="ctr" bIns="92600" lIns="92600" spcFirstLastPara="1" rIns="92600" wrap="square" tIns="92600">
            <a:noAutofit/>
          </a:bodyPr>
          <a:lstStyle/>
          <a:p>
            <a:pPr indent="0" lvl="0" marL="0" marR="0" rtl="0" algn="l">
              <a:lnSpc>
                <a:spcPct val="115000"/>
              </a:lnSpc>
              <a:spcBef>
                <a:spcPts val="0"/>
              </a:spcBef>
              <a:spcAft>
                <a:spcPts val="0"/>
              </a:spcAft>
              <a:buClr>
                <a:srgbClr val="343434"/>
              </a:buClr>
              <a:buSzPts val="4052"/>
              <a:buFont typeface="Lato Black"/>
              <a:buNone/>
            </a:pPr>
            <a:r>
              <a:rPr lang="en" sz="3140">
                <a:solidFill>
                  <a:srgbClr val="434343"/>
                </a:solidFill>
                <a:latin typeface="Montserrat Black"/>
                <a:ea typeface="Montserrat Black"/>
                <a:cs typeface="Montserrat Black"/>
                <a:sym typeface="Montserrat Black"/>
              </a:rPr>
              <a:t>Consideration.</a:t>
            </a:r>
            <a:endParaRPr sz="1823">
              <a:solidFill>
                <a:srgbClr val="434343"/>
              </a:solidFill>
              <a:latin typeface="Montserrat Light"/>
              <a:ea typeface="Montserrat Light"/>
              <a:cs typeface="Montserrat Light"/>
              <a:sym typeface="Montserrat Light"/>
            </a:endParaRPr>
          </a:p>
        </p:txBody>
      </p:sp>
      <p:sp>
        <p:nvSpPr>
          <p:cNvPr id="226" name="Google Shape;226;p25"/>
          <p:cNvSpPr txBox="1"/>
          <p:nvPr/>
        </p:nvSpPr>
        <p:spPr>
          <a:xfrm>
            <a:off x="117550" y="466866"/>
            <a:ext cx="2186700" cy="592500"/>
          </a:xfrm>
          <a:prstGeom prst="rect">
            <a:avLst/>
          </a:prstGeom>
          <a:noFill/>
          <a:ln>
            <a:noFill/>
          </a:ln>
        </p:spPr>
        <p:txBody>
          <a:bodyPr anchorCtr="0" anchor="t" bIns="92625" lIns="92625" spcFirstLastPara="1" rIns="92625" wrap="square" tIns="92625">
            <a:spAutoFit/>
          </a:bodyPr>
          <a:lstStyle/>
          <a:p>
            <a:pPr indent="0" lvl="0" marL="0" rtl="0" algn="l">
              <a:spcBef>
                <a:spcPts val="0"/>
              </a:spcBef>
              <a:spcAft>
                <a:spcPts val="0"/>
              </a:spcAft>
              <a:buNone/>
            </a:pPr>
            <a:r>
              <a:rPr lang="en" sz="2634">
                <a:solidFill>
                  <a:srgbClr val="F54132"/>
                </a:solidFill>
                <a:latin typeface="Shadows Into Light"/>
                <a:ea typeface="Shadows Into Light"/>
                <a:cs typeface="Shadows Into Light"/>
                <a:sym typeface="Shadows Into Light"/>
              </a:rPr>
              <a:t>ACC - APD</a:t>
            </a:r>
            <a:endParaRPr sz="2634">
              <a:solidFill>
                <a:srgbClr val="F54132"/>
              </a:solidFill>
              <a:latin typeface="Shadows Into Light"/>
              <a:ea typeface="Shadows Into Light"/>
              <a:cs typeface="Shadows Into Light"/>
              <a:sym typeface="Shadows Into Light"/>
            </a:endParaRPr>
          </a:p>
        </p:txBody>
      </p:sp>
      <p:sp>
        <p:nvSpPr>
          <p:cNvPr id="227" name="Google Shape;227;p25"/>
          <p:cNvSpPr/>
          <p:nvPr/>
        </p:nvSpPr>
        <p:spPr>
          <a:xfrm>
            <a:off x="234537" y="2075371"/>
            <a:ext cx="1460700" cy="397200"/>
          </a:xfrm>
          <a:prstGeom prst="roundRect">
            <a:avLst>
              <a:gd fmla="val 16529" name="adj"/>
            </a:avLst>
          </a:prstGeom>
          <a:solidFill>
            <a:srgbClr val="F85B40"/>
          </a:solidFill>
          <a:ln cap="flat" cmpd="sng" w="6450">
            <a:solidFill>
              <a:srgbClr val="FFFFFF"/>
            </a:solidFill>
            <a:prstDash val="solid"/>
            <a:miter lim="400000"/>
            <a:headEnd len="sm" w="sm" type="none"/>
            <a:tailEnd len="sm" w="sm" type="none"/>
          </a:ln>
          <a:effectLst>
            <a:outerShdw blurRad="12866" rotWithShape="0" dir="2700000" dist="25733">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14">
                <a:solidFill>
                  <a:srgbClr val="FFFFFF"/>
                </a:solidFill>
                <a:latin typeface="Montserrat Black"/>
                <a:ea typeface="Montserrat Black"/>
                <a:cs typeface="Montserrat Black"/>
                <a:sym typeface="Montserrat Black"/>
              </a:rPr>
              <a:t>QUÉ HACER</a:t>
            </a:r>
            <a:endParaRPr sz="1114">
              <a:latin typeface="Montserrat"/>
              <a:ea typeface="Montserrat"/>
              <a:cs typeface="Montserrat"/>
              <a:sym typeface="Montserrat"/>
            </a:endParaRPr>
          </a:p>
        </p:txBody>
      </p:sp>
      <p:sp>
        <p:nvSpPr>
          <p:cNvPr id="228" name="Google Shape;228;p25"/>
          <p:cNvSpPr/>
          <p:nvPr/>
        </p:nvSpPr>
        <p:spPr>
          <a:xfrm>
            <a:off x="1695537" y="2241469"/>
            <a:ext cx="409500" cy="64800"/>
          </a:xfrm>
          <a:prstGeom prst="rightArrow">
            <a:avLst>
              <a:gd fmla="val 50000" name="adj1"/>
              <a:gd fmla="val 116706" name="adj2"/>
            </a:avLst>
          </a:prstGeom>
          <a:solidFill>
            <a:srgbClr val="F47721"/>
          </a:solidFill>
          <a:ln cap="flat" cmpd="sng" w="4850">
            <a:solidFill>
              <a:srgbClr val="FFFFFF"/>
            </a:solidFill>
            <a:prstDash val="solid"/>
            <a:round/>
            <a:headEnd len="sm" w="sm" type="none"/>
            <a:tailEnd len="sm" w="sm" type="none"/>
          </a:ln>
        </p:spPr>
        <p:txBody>
          <a:bodyPr anchorCtr="0" anchor="ctr" bIns="92625" lIns="92625" spcFirstLastPara="1" rIns="92625" wrap="square" tIns="92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29" name="Google Shape;229;p25"/>
          <p:cNvSpPr txBox="1"/>
          <p:nvPr/>
        </p:nvSpPr>
        <p:spPr>
          <a:xfrm>
            <a:off x="2199725" y="865175"/>
            <a:ext cx="4002000" cy="3466200"/>
          </a:xfrm>
          <a:prstGeom prst="rect">
            <a:avLst/>
          </a:prstGeom>
          <a:noFill/>
          <a:ln>
            <a:noFill/>
          </a:ln>
        </p:spPr>
        <p:txBody>
          <a:bodyPr anchorCtr="0" anchor="ctr" bIns="92625" lIns="92625" spcFirstLastPara="1" rIns="92625" wrap="square" tIns="92625">
            <a:spAutoFit/>
          </a:bodyPr>
          <a:lstStyle/>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Una vez el EP haya sido aceptado por la cooperación, deberá </a:t>
            </a:r>
            <a:r>
              <a:rPr b="1" lang="en" sz="1014">
                <a:solidFill>
                  <a:schemeClr val="dk1"/>
                </a:solidFill>
                <a:latin typeface="Montserrat"/>
                <a:ea typeface="Montserrat"/>
                <a:cs typeface="Montserrat"/>
                <a:sym typeface="Montserrat"/>
              </a:rPr>
              <a:t>realizar la inversión  y entregar toda la documentación</a:t>
            </a:r>
            <a:r>
              <a:rPr lang="en" sz="1014">
                <a:solidFill>
                  <a:schemeClr val="dk1"/>
                </a:solidFill>
                <a:latin typeface="Montserrat Light"/>
                <a:ea typeface="Montserrat Light"/>
                <a:cs typeface="Montserrat Light"/>
                <a:sym typeface="Montserrat Light"/>
              </a:rPr>
              <a:t> necesaria.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La documentación correspondiente es: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1. Correo de alineación de expectativas</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2. Mensaje o correo con dicha información</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3. DNI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4. Convenio</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5. Acuerdo Básico Común de intercambio (ABC) en caso de oGV</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6. Comprobante de inversión</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7. Contacto de emergencia</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Es importante revisar con el equipo de ECB y tu VP Finanzas constantemente los documentos a entregar ya que pueden sufrir modificaciones.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1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4">
                <a:solidFill>
                  <a:schemeClr val="dk1"/>
                </a:solidFill>
                <a:latin typeface="Montserrat Light"/>
                <a:ea typeface="Montserrat Light"/>
                <a:cs typeface="Montserrat Light"/>
                <a:sym typeface="Montserrat Light"/>
              </a:rPr>
              <a:t>Una vez el EP haya hecho la inversión y entregado la documentación, podrán cambiar el estatus a Aprobado en expa. </a:t>
            </a:r>
            <a:endParaRPr sz="1014">
              <a:solidFill>
                <a:schemeClr val="dk1"/>
              </a:solidFill>
              <a:latin typeface="Montserrat Light"/>
              <a:ea typeface="Montserrat Light"/>
              <a:cs typeface="Montserrat Light"/>
              <a:sym typeface="Montserrat Light"/>
            </a:endParaRPr>
          </a:p>
        </p:txBody>
      </p:sp>
      <p:sp>
        <p:nvSpPr>
          <p:cNvPr id="230" name="Google Shape;230;p25"/>
          <p:cNvSpPr/>
          <p:nvPr/>
        </p:nvSpPr>
        <p:spPr>
          <a:xfrm>
            <a:off x="275662" y="4426712"/>
            <a:ext cx="1460700" cy="397200"/>
          </a:xfrm>
          <a:prstGeom prst="roundRect">
            <a:avLst>
              <a:gd fmla="val 16529" name="adj"/>
            </a:avLst>
          </a:prstGeom>
          <a:solidFill>
            <a:srgbClr val="F85B40"/>
          </a:solidFill>
          <a:ln cap="flat" cmpd="sng" w="6450">
            <a:solidFill>
              <a:srgbClr val="FFFFFF"/>
            </a:solidFill>
            <a:prstDash val="solid"/>
            <a:miter lim="400000"/>
            <a:headEnd len="sm" w="sm" type="none"/>
            <a:tailEnd len="sm" w="sm" type="none"/>
          </a:ln>
          <a:effectLst>
            <a:outerShdw blurRad="12866" rotWithShape="0" dir="2700000" dist="25733">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14">
                <a:solidFill>
                  <a:srgbClr val="FFFFFF"/>
                </a:solidFill>
                <a:latin typeface="Montserrat Black"/>
                <a:ea typeface="Montserrat Black"/>
                <a:cs typeface="Montserrat Black"/>
                <a:sym typeface="Montserrat Black"/>
              </a:rPr>
              <a:t>CON QUIÉN</a:t>
            </a:r>
            <a:endParaRPr sz="1114">
              <a:latin typeface="Montserrat"/>
              <a:ea typeface="Montserrat"/>
              <a:cs typeface="Montserrat"/>
              <a:sym typeface="Montserrat"/>
            </a:endParaRPr>
          </a:p>
        </p:txBody>
      </p:sp>
      <p:sp>
        <p:nvSpPr>
          <p:cNvPr id="231" name="Google Shape;231;p25"/>
          <p:cNvSpPr txBox="1"/>
          <p:nvPr/>
        </p:nvSpPr>
        <p:spPr>
          <a:xfrm>
            <a:off x="2199734" y="4297250"/>
            <a:ext cx="5627700" cy="656100"/>
          </a:xfrm>
          <a:prstGeom prst="rect">
            <a:avLst/>
          </a:prstGeom>
          <a:noFill/>
          <a:ln>
            <a:noFill/>
          </a:ln>
        </p:spPr>
        <p:txBody>
          <a:bodyPr anchorCtr="0" anchor="ctr" bIns="92625" lIns="92625" spcFirstLastPara="1" rIns="92625" wrap="square" tIns="92625">
            <a:spAutoFit/>
          </a:bodyPr>
          <a:lstStyle/>
          <a:p>
            <a:pPr indent="0" lvl="0" marL="0" marR="0" rtl="0" algn="just">
              <a:lnSpc>
                <a:spcPct val="100000"/>
              </a:lnSpc>
              <a:spcBef>
                <a:spcPts val="0"/>
              </a:spcBef>
              <a:spcAft>
                <a:spcPts val="0"/>
              </a:spcAft>
              <a:buNone/>
            </a:pPr>
            <a:r>
              <a:rPr lang="en" sz="1015">
                <a:solidFill>
                  <a:schemeClr val="dk1"/>
                </a:solidFill>
                <a:latin typeface="Montserrat Light"/>
                <a:ea typeface="Montserrat Light"/>
                <a:cs typeface="Montserrat Light"/>
                <a:sym typeface="Montserrat Light"/>
              </a:rPr>
              <a:t>OGX Consideration Team</a:t>
            </a:r>
            <a:endParaRPr sz="101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5">
                <a:solidFill>
                  <a:schemeClr val="dk1"/>
                </a:solidFill>
                <a:latin typeface="Montserrat Light"/>
                <a:ea typeface="Montserrat Light"/>
                <a:cs typeface="Montserrat Light"/>
                <a:sym typeface="Montserrat Light"/>
              </a:rPr>
              <a:t>IR Partner</a:t>
            </a:r>
            <a:endParaRPr sz="101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15">
                <a:solidFill>
                  <a:schemeClr val="dk1"/>
                </a:solidFill>
                <a:latin typeface="Montserrat Light"/>
                <a:ea typeface="Montserrat Light"/>
                <a:cs typeface="Montserrat Light"/>
                <a:sym typeface="Montserrat Light"/>
              </a:rPr>
              <a:t>Finanzas </a:t>
            </a:r>
            <a:endParaRPr sz="1015">
              <a:solidFill>
                <a:schemeClr val="dk1"/>
              </a:solidFill>
              <a:latin typeface="Montserrat Light"/>
              <a:ea typeface="Montserrat Light"/>
              <a:cs typeface="Montserrat Light"/>
              <a:sym typeface="Montserrat Light"/>
            </a:endParaRPr>
          </a:p>
        </p:txBody>
      </p:sp>
      <p:sp>
        <p:nvSpPr>
          <p:cNvPr id="232" name="Google Shape;232;p25"/>
          <p:cNvSpPr/>
          <p:nvPr/>
        </p:nvSpPr>
        <p:spPr>
          <a:xfrm>
            <a:off x="1736662" y="4592810"/>
            <a:ext cx="409500" cy="64800"/>
          </a:xfrm>
          <a:prstGeom prst="rightArrow">
            <a:avLst>
              <a:gd fmla="val 50000" name="adj1"/>
              <a:gd fmla="val 116706" name="adj2"/>
            </a:avLst>
          </a:prstGeom>
          <a:solidFill>
            <a:srgbClr val="F47721"/>
          </a:solidFill>
          <a:ln cap="flat" cmpd="sng" w="4850">
            <a:solidFill>
              <a:srgbClr val="FFFFFF"/>
            </a:solidFill>
            <a:prstDash val="solid"/>
            <a:round/>
            <a:headEnd len="sm" w="sm" type="none"/>
            <a:tailEnd len="sm" w="sm" type="none"/>
          </a:ln>
        </p:spPr>
        <p:txBody>
          <a:bodyPr anchorCtr="0" anchor="ctr" bIns="92625" lIns="92625" spcFirstLastPara="1" rIns="92625" wrap="square" tIns="92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26"/>
          <p:cNvSpPr txBox="1"/>
          <p:nvPr/>
        </p:nvSpPr>
        <p:spPr>
          <a:xfrm>
            <a:off x="610718" y="755300"/>
            <a:ext cx="25341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5500">
                <a:solidFill>
                  <a:schemeClr val="lt1"/>
                </a:solidFill>
                <a:latin typeface="Montserrat"/>
                <a:ea typeface="Montserrat"/>
                <a:cs typeface="Montserrat"/>
                <a:sym typeface="Montserrat"/>
              </a:rPr>
              <a:t>TIPS!</a:t>
            </a:r>
            <a:endParaRPr b="1" sz="5500">
              <a:solidFill>
                <a:schemeClr val="dk2"/>
              </a:solidFill>
              <a:latin typeface="Nunito"/>
              <a:ea typeface="Nunito"/>
              <a:cs typeface="Nunito"/>
              <a:sym typeface="Nunito"/>
            </a:endParaRPr>
          </a:p>
        </p:txBody>
      </p:sp>
      <p:sp>
        <p:nvSpPr>
          <p:cNvPr id="238" name="Google Shape;238;p26"/>
          <p:cNvSpPr txBox="1"/>
          <p:nvPr/>
        </p:nvSpPr>
        <p:spPr>
          <a:xfrm>
            <a:off x="-117600" y="1343125"/>
            <a:ext cx="7333200" cy="3370800"/>
          </a:xfrm>
          <a:prstGeom prst="rect">
            <a:avLst/>
          </a:prstGeom>
          <a:noFill/>
          <a:ln>
            <a:noFill/>
          </a:ln>
        </p:spPr>
        <p:txBody>
          <a:bodyPr anchorCtr="0" anchor="t" bIns="182850" lIns="182850" spcFirstLastPara="1" rIns="182850" wrap="square" tIns="182850">
            <a:spAutoFit/>
          </a:bodyPr>
          <a:lstStyle/>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Involucra a los papás o tomadores de decisiones de tu EP a una sesión informativa, de esta manera se sentirán parte de la experiencia, tendrán más seguridad y podrán resolver todas sus dudas. Recuerda que ellos también son parte de nuestro mercado ya que, en la mayoría de los casos, son quienes costean el voluntariado. </a:t>
            </a:r>
            <a:br>
              <a:rPr lang="en" sz="1500">
                <a:solidFill>
                  <a:schemeClr val="lt1"/>
                </a:solidFill>
                <a:latin typeface="Montserrat"/>
                <a:ea typeface="Montserrat"/>
                <a:cs typeface="Montserrat"/>
                <a:sym typeface="Montserrat"/>
              </a:rPr>
            </a:br>
            <a:endParaRPr sz="1500">
              <a:solidFill>
                <a:schemeClr val="lt1"/>
              </a:solidFill>
              <a:latin typeface="Montserrat"/>
              <a:ea typeface="Montserrat"/>
              <a:cs typeface="Montserrat"/>
              <a:sym typeface="Montserrat"/>
            </a:endParaRPr>
          </a:p>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Trabaja activamente en sinergia con tu cooperación para el proceso de convencimiento del EP, así como también para establecer timelines y ddls claros.</a:t>
            </a:r>
            <a:br>
              <a:rPr lang="en" sz="1500">
                <a:solidFill>
                  <a:schemeClr val="lt1"/>
                </a:solidFill>
                <a:latin typeface="Montserrat"/>
                <a:ea typeface="Montserrat"/>
                <a:cs typeface="Montserrat"/>
                <a:sym typeface="Montserrat"/>
              </a:rPr>
            </a:br>
            <a:endParaRPr sz="1500">
              <a:solidFill>
                <a:schemeClr val="lt1"/>
              </a:solidFill>
              <a:latin typeface="Montserrat"/>
              <a:ea typeface="Montserrat"/>
              <a:cs typeface="Montserrat"/>
              <a:sym typeface="Montserrat"/>
            </a:endParaRPr>
          </a:p>
          <a:p>
            <a:pPr indent="-552450" lvl="0" marL="914400" rtl="0" algn="l">
              <a:spcBef>
                <a:spcPts val="0"/>
              </a:spcBef>
              <a:spcAft>
                <a:spcPts val="0"/>
              </a:spcAft>
              <a:buClr>
                <a:schemeClr val="lt1"/>
              </a:buClr>
              <a:buSzPts val="1500"/>
              <a:buFont typeface="Montserrat"/>
              <a:buChar char="➔"/>
            </a:pPr>
            <a:r>
              <a:rPr lang="en" sz="1500">
                <a:solidFill>
                  <a:schemeClr val="lt1"/>
                </a:solidFill>
                <a:latin typeface="Montserrat"/>
                <a:ea typeface="Montserrat"/>
                <a:cs typeface="Montserrat"/>
                <a:sym typeface="Montserrat"/>
              </a:rPr>
              <a:t>Trabaja en sinergia con finanzas ya que ellos podrán ayudarte en el cierre de ventas y todo el proceso de documentaciones </a:t>
            </a:r>
            <a:endParaRPr sz="1500">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27"/>
          <p:cNvSpPr txBox="1"/>
          <p:nvPr/>
        </p:nvSpPr>
        <p:spPr>
          <a:xfrm>
            <a:off x="88174" y="434628"/>
            <a:ext cx="3211800" cy="609900"/>
          </a:xfrm>
          <a:prstGeom prst="rect">
            <a:avLst/>
          </a:prstGeom>
          <a:noFill/>
          <a:ln>
            <a:noFill/>
          </a:ln>
        </p:spPr>
        <p:txBody>
          <a:bodyPr anchorCtr="0" anchor="ctr" bIns="88350" lIns="88350" spcFirstLastPara="1" rIns="88350" wrap="square" tIns="88350">
            <a:noAutofit/>
          </a:bodyPr>
          <a:lstStyle/>
          <a:p>
            <a:pPr indent="0" lvl="0" marL="0" marR="0" rtl="0" algn="l">
              <a:lnSpc>
                <a:spcPct val="115000"/>
              </a:lnSpc>
              <a:spcBef>
                <a:spcPts val="0"/>
              </a:spcBef>
              <a:spcAft>
                <a:spcPts val="0"/>
              </a:spcAft>
              <a:buClr>
                <a:srgbClr val="343434"/>
              </a:buClr>
              <a:buSzPts val="3867"/>
              <a:buFont typeface="Lato Black"/>
              <a:buNone/>
            </a:pPr>
            <a:r>
              <a:rPr lang="en" sz="2996">
                <a:solidFill>
                  <a:srgbClr val="434343"/>
                </a:solidFill>
                <a:latin typeface="Montserrat Black"/>
                <a:ea typeface="Montserrat Black"/>
                <a:cs typeface="Montserrat Black"/>
                <a:sym typeface="Montserrat Black"/>
              </a:rPr>
              <a:t>Preparation.</a:t>
            </a:r>
            <a:endParaRPr sz="1740">
              <a:solidFill>
                <a:srgbClr val="434343"/>
              </a:solidFill>
              <a:latin typeface="Montserrat Light"/>
              <a:ea typeface="Montserrat Light"/>
              <a:cs typeface="Montserrat Light"/>
              <a:sym typeface="Montserrat Light"/>
            </a:endParaRPr>
          </a:p>
        </p:txBody>
      </p:sp>
      <p:sp>
        <p:nvSpPr>
          <p:cNvPr id="244" name="Google Shape;244;p27"/>
          <p:cNvSpPr txBox="1"/>
          <p:nvPr/>
        </p:nvSpPr>
        <p:spPr>
          <a:xfrm>
            <a:off x="88174" y="664472"/>
            <a:ext cx="1986900" cy="565500"/>
          </a:xfrm>
          <a:prstGeom prst="rect">
            <a:avLst/>
          </a:prstGeom>
          <a:noFill/>
          <a:ln>
            <a:noFill/>
          </a:ln>
        </p:spPr>
        <p:txBody>
          <a:bodyPr anchorCtr="0" anchor="t" bIns="88375" lIns="88375" spcFirstLastPara="1" rIns="88375" wrap="square" tIns="88375">
            <a:spAutoFit/>
          </a:bodyPr>
          <a:lstStyle/>
          <a:p>
            <a:pPr indent="0" lvl="0" marL="0" rtl="0" algn="l">
              <a:spcBef>
                <a:spcPts val="0"/>
              </a:spcBef>
              <a:spcAft>
                <a:spcPts val="0"/>
              </a:spcAft>
              <a:buNone/>
            </a:pPr>
            <a:r>
              <a:rPr lang="en" sz="2513">
                <a:solidFill>
                  <a:srgbClr val="F54132"/>
                </a:solidFill>
                <a:latin typeface="Shadows Into Light"/>
                <a:ea typeface="Shadows Into Light"/>
                <a:cs typeface="Shadows Into Light"/>
                <a:sym typeface="Shadows Into Light"/>
              </a:rPr>
              <a:t>APD - RE</a:t>
            </a:r>
            <a:endParaRPr sz="2513">
              <a:solidFill>
                <a:srgbClr val="F54132"/>
              </a:solidFill>
              <a:latin typeface="Shadows Into Light"/>
              <a:ea typeface="Shadows Into Light"/>
              <a:cs typeface="Shadows Into Light"/>
              <a:sym typeface="Shadows Into Light"/>
            </a:endParaRPr>
          </a:p>
        </p:txBody>
      </p:sp>
      <p:sp>
        <p:nvSpPr>
          <p:cNvPr id="245" name="Google Shape;245;p27"/>
          <p:cNvSpPr/>
          <p:nvPr/>
        </p:nvSpPr>
        <p:spPr>
          <a:xfrm>
            <a:off x="199809" y="2199377"/>
            <a:ext cx="1394100" cy="378900"/>
          </a:xfrm>
          <a:prstGeom prst="roundRect">
            <a:avLst>
              <a:gd fmla="val 16529" name="adj"/>
            </a:avLst>
          </a:prstGeom>
          <a:solidFill>
            <a:srgbClr val="FFC845"/>
          </a:solidFill>
          <a:ln cap="flat" cmpd="sng" w="6125">
            <a:solidFill>
              <a:srgbClr val="FFFFFF"/>
            </a:solidFill>
            <a:prstDash val="solid"/>
            <a:miter lim="400000"/>
            <a:headEnd len="sm" w="sm" type="none"/>
            <a:tailEnd len="sm" w="sm" type="none"/>
          </a:ln>
          <a:effectLst>
            <a:outerShdw blurRad="12278" rotWithShape="0" dir="2700000" dist="24555">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63">
                <a:solidFill>
                  <a:srgbClr val="FFFFFF"/>
                </a:solidFill>
                <a:latin typeface="Montserrat Black"/>
                <a:ea typeface="Montserrat Black"/>
                <a:cs typeface="Montserrat Black"/>
                <a:sym typeface="Montserrat Black"/>
              </a:rPr>
              <a:t>QUÉ HACER</a:t>
            </a:r>
            <a:endParaRPr sz="1063">
              <a:latin typeface="Montserrat"/>
              <a:ea typeface="Montserrat"/>
              <a:cs typeface="Montserrat"/>
              <a:sym typeface="Montserrat"/>
            </a:endParaRPr>
          </a:p>
        </p:txBody>
      </p:sp>
      <p:sp>
        <p:nvSpPr>
          <p:cNvPr id="246" name="Google Shape;246;p27"/>
          <p:cNvSpPr/>
          <p:nvPr/>
        </p:nvSpPr>
        <p:spPr>
          <a:xfrm>
            <a:off x="1593964" y="2357875"/>
            <a:ext cx="390600" cy="62100"/>
          </a:xfrm>
          <a:prstGeom prst="rightArrow">
            <a:avLst>
              <a:gd fmla="val 50000" name="adj1"/>
              <a:gd fmla="val 116706" name="adj2"/>
            </a:avLst>
          </a:prstGeom>
          <a:solidFill>
            <a:srgbClr val="F47721"/>
          </a:solidFill>
          <a:ln cap="flat" cmpd="sng" w="4600">
            <a:solidFill>
              <a:srgbClr val="FFFFFF"/>
            </a:solidFill>
            <a:prstDash val="solid"/>
            <a:round/>
            <a:headEnd len="sm" w="sm" type="none"/>
            <a:tailEnd len="sm" w="sm" type="none"/>
          </a:ln>
        </p:spPr>
        <p:txBody>
          <a:bodyPr anchorCtr="0" anchor="ctr" bIns="88375" lIns="88375" spcFirstLastPara="1" rIns="88375" wrap="square" tIns="8837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47" name="Google Shape;247;p27"/>
          <p:cNvSpPr txBox="1"/>
          <p:nvPr/>
        </p:nvSpPr>
        <p:spPr>
          <a:xfrm>
            <a:off x="2075100" y="1229975"/>
            <a:ext cx="4214700" cy="2678400"/>
          </a:xfrm>
          <a:prstGeom prst="rect">
            <a:avLst/>
          </a:prstGeom>
          <a:noFill/>
          <a:ln>
            <a:noFill/>
          </a:ln>
        </p:spPr>
        <p:txBody>
          <a:bodyPr anchorCtr="0" anchor="ctr" bIns="88375" lIns="88375" spcFirstLastPara="1" rIns="88375" wrap="square" tIns="88375">
            <a:spAutoFit/>
          </a:bodyPr>
          <a:lstStyle/>
          <a:p>
            <a:pPr indent="0" lvl="0" marL="0" marR="0" rtl="0" algn="just">
              <a:lnSpc>
                <a:spcPct val="100000"/>
              </a:lnSpc>
              <a:spcBef>
                <a:spcPts val="0"/>
              </a:spcBef>
              <a:spcAft>
                <a:spcPts val="0"/>
              </a:spcAft>
              <a:buNone/>
            </a:pPr>
            <a:r>
              <a:rPr lang="en" sz="1160">
                <a:solidFill>
                  <a:schemeClr val="dk1"/>
                </a:solidFill>
                <a:latin typeface="Montserrat Light"/>
                <a:ea typeface="Montserrat Light"/>
                <a:cs typeface="Montserrat Light"/>
                <a:sym typeface="Montserrat Light"/>
              </a:rPr>
              <a:t>Ya una vez tu EP aprobado y con toda su documentación en órden, es importante alinearlo bien para la preparación de su experiencia. </a:t>
            </a:r>
            <a:endParaRPr sz="1160">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60">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0">
                <a:solidFill>
                  <a:schemeClr val="dk1"/>
                </a:solidFill>
                <a:latin typeface="Montserrat Light"/>
                <a:ea typeface="Montserrat Light"/>
                <a:cs typeface="Montserrat Light"/>
                <a:sym typeface="Montserrat Light"/>
              </a:rPr>
              <a:t>Sin importar si su fecha de realización es en 1 mes o en 6 meses, es importante mantener comunicación constante con los EPs para poder acompañarlos en su proceso de preparación para su voluntariado (compra de vuelo, de seguro, preparación) y alinearlos lo mejor posible. </a:t>
            </a:r>
            <a:endParaRPr sz="1160">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60">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0">
                <a:solidFill>
                  <a:schemeClr val="dk1"/>
                </a:solidFill>
                <a:latin typeface="Montserrat Light"/>
                <a:ea typeface="Montserrat Light"/>
                <a:cs typeface="Montserrat Light"/>
                <a:sym typeface="Montserrat Light"/>
              </a:rPr>
              <a:t>Dos semanas después del APD deberás tener la </a:t>
            </a:r>
            <a:r>
              <a:rPr b="1" lang="en" sz="116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sesión de alineación de expectativas</a:t>
            </a:r>
            <a:r>
              <a:rPr lang="en" sz="1160">
                <a:solidFill>
                  <a:schemeClr val="dk1"/>
                </a:solidFill>
                <a:latin typeface="Montserrat Light"/>
                <a:ea typeface="Montserrat Light"/>
                <a:cs typeface="Montserrat Light"/>
                <a:sym typeface="Montserrat Light"/>
              </a:rPr>
              <a:t> (esta sesión debe de estar previamente alineada con tu cooperación). </a:t>
            </a:r>
            <a:endParaRPr sz="1160">
              <a:solidFill>
                <a:schemeClr val="dk1"/>
              </a:solidFill>
              <a:latin typeface="Montserrat Light"/>
              <a:ea typeface="Montserrat Light"/>
              <a:cs typeface="Montserrat Light"/>
              <a:sym typeface="Montserrat Light"/>
            </a:endParaRPr>
          </a:p>
        </p:txBody>
      </p:sp>
      <p:sp>
        <p:nvSpPr>
          <p:cNvPr id="248" name="Google Shape;248;p27"/>
          <p:cNvSpPr txBox="1"/>
          <p:nvPr/>
        </p:nvSpPr>
        <p:spPr>
          <a:xfrm>
            <a:off x="2075093" y="4093829"/>
            <a:ext cx="5370000" cy="535800"/>
          </a:xfrm>
          <a:prstGeom prst="rect">
            <a:avLst/>
          </a:prstGeom>
          <a:noFill/>
          <a:ln>
            <a:noFill/>
          </a:ln>
        </p:spPr>
        <p:txBody>
          <a:bodyPr anchorCtr="0" anchor="ctr" bIns="88375" lIns="88375" spcFirstLastPara="1" rIns="88375" wrap="square" tIns="88375">
            <a:spAutoFit/>
          </a:bodyPr>
          <a:lstStyle/>
          <a:p>
            <a:pPr indent="0" lvl="0" marL="0" rtl="0" algn="just">
              <a:spcBef>
                <a:spcPts val="0"/>
              </a:spcBef>
              <a:spcAft>
                <a:spcPts val="0"/>
              </a:spcAft>
              <a:buClr>
                <a:srgbClr val="000000"/>
              </a:buClr>
              <a:buSzPts val="532"/>
              <a:buFont typeface="Arial"/>
              <a:buNone/>
            </a:pPr>
            <a:r>
              <a:rPr lang="en" sz="1160">
                <a:solidFill>
                  <a:schemeClr val="dk1"/>
                </a:solidFill>
                <a:latin typeface="Montserrat Light"/>
                <a:ea typeface="Montserrat Light"/>
                <a:cs typeface="Montserrat Light"/>
                <a:sym typeface="Montserrat Light"/>
              </a:rPr>
              <a:t>OGX Consideration Team</a:t>
            </a:r>
            <a:endParaRPr sz="1160">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0">
                <a:solidFill>
                  <a:schemeClr val="dk1"/>
                </a:solidFill>
                <a:latin typeface="Montserrat Light"/>
                <a:ea typeface="Montserrat Light"/>
                <a:cs typeface="Montserrat Light"/>
                <a:sym typeface="Montserrat Light"/>
              </a:rPr>
              <a:t>IR Partner</a:t>
            </a:r>
            <a:endParaRPr sz="1160">
              <a:solidFill>
                <a:schemeClr val="dk1"/>
              </a:solidFill>
              <a:latin typeface="Montserrat Light"/>
              <a:ea typeface="Montserrat Light"/>
              <a:cs typeface="Montserrat Light"/>
              <a:sym typeface="Montserrat Light"/>
            </a:endParaRPr>
          </a:p>
        </p:txBody>
      </p:sp>
      <p:sp>
        <p:nvSpPr>
          <p:cNvPr id="249" name="Google Shape;249;p27"/>
          <p:cNvSpPr/>
          <p:nvPr/>
        </p:nvSpPr>
        <p:spPr>
          <a:xfrm>
            <a:off x="199812" y="4163137"/>
            <a:ext cx="1460700" cy="397200"/>
          </a:xfrm>
          <a:prstGeom prst="roundRect">
            <a:avLst>
              <a:gd fmla="val 16529" name="adj"/>
            </a:avLst>
          </a:prstGeom>
          <a:solidFill>
            <a:srgbClr val="FFC845"/>
          </a:solidFill>
          <a:ln cap="flat" cmpd="sng" w="6450">
            <a:solidFill>
              <a:srgbClr val="FFFFFF"/>
            </a:solidFill>
            <a:prstDash val="solid"/>
            <a:miter lim="400000"/>
            <a:headEnd len="sm" w="sm" type="none"/>
            <a:tailEnd len="sm" w="sm" type="none"/>
          </a:ln>
          <a:effectLst>
            <a:outerShdw blurRad="12866" rotWithShape="0" dir="2700000" dist="25733">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14">
                <a:solidFill>
                  <a:srgbClr val="FFFFFF"/>
                </a:solidFill>
                <a:latin typeface="Montserrat Black"/>
                <a:ea typeface="Montserrat Black"/>
                <a:cs typeface="Montserrat Black"/>
                <a:sym typeface="Montserrat Black"/>
              </a:rPr>
              <a:t>CON QUIÉN</a:t>
            </a:r>
            <a:endParaRPr sz="1114">
              <a:latin typeface="Montserrat"/>
              <a:ea typeface="Montserrat"/>
              <a:cs typeface="Montserrat"/>
              <a:sym typeface="Montserrat"/>
            </a:endParaRPr>
          </a:p>
        </p:txBody>
      </p:sp>
      <p:sp>
        <p:nvSpPr>
          <p:cNvPr id="250" name="Google Shape;250;p27"/>
          <p:cNvSpPr/>
          <p:nvPr/>
        </p:nvSpPr>
        <p:spPr>
          <a:xfrm>
            <a:off x="1660812" y="4329235"/>
            <a:ext cx="409500" cy="64800"/>
          </a:xfrm>
          <a:prstGeom prst="rightArrow">
            <a:avLst>
              <a:gd fmla="val 50000" name="adj1"/>
              <a:gd fmla="val 116706" name="adj2"/>
            </a:avLst>
          </a:prstGeom>
          <a:solidFill>
            <a:srgbClr val="F47721"/>
          </a:solidFill>
          <a:ln cap="flat" cmpd="sng" w="4850">
            <a:solidFill>
              <a:srgbClr val="FFFFFF"/>
            </a:solidFill>
            <a:prstDash val="solid"/>
            <a:round/>
            <a:headEnd len="sm" w="sm" type="none"/>
            <a:tailEnd len="sm" w="sm" type="none"/>
          </a:ln>
        </p:spPr>
        <p:txBody>
          <a:bodyPr anchorCtr="0" anchor="ctr" bIns="92625" lIns="92625" spcFirstLastPara="1" rIns="92625" wrap="square" tIns="926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p28"/>
          <p:cNvSpPr txBox="1"/>
          <p:nvPr/>
        </p:nvSpPr>
        <p:spPr>
          <a:xfrm>
            <a:off x="88174" y="434628"/>
            <a:ext cx="3211800" cy="609900"/>
          </a:xfrm>
          <a:prstGeom prst="rect">
            <a:avLst/>
          </a:prstGeom>
          <a:noFill/>
          <a:ln>
            <a:noFill/>
          </a:ln>
        </p:spPr>
        <p:txBody>
          <a:bodyPr anchorCtr="0" anchor="ctr" bIns="88350" lIns="88350" spcFirstLastPara="1" rIns="88350" wrap="square" tIns="88350">
            <a:noAutofit/>
          </a:bodyPr>
          <a:lstStyle/>
          <a:p>
            <a:pPr indent="0" lvl="0" marL="0" marR="0" rtl="0" algn="l">
              <a:lnSpc>
                <a:spcPct val="115000"/>
              </a:lnSpc>
              <a:spcBef>
                <a:spcPts val="0"/>
              </a:spcBef>
              <a:spcAft>
                <a:spcPts val="0"/>
              </a:spcAft>
              <a:buClr>
                <a:srgbClr val="343434"/>
              </a:buClr>
              <a:buSzPts val="3867"/>
              <a:buFont typeface="Lato Black"/>
              <a:buNone/>
            </a:pPr>
            <a:r>
              <a:rPr lang="en" sz="2996">
                <a:solidFill>
                  <a:srgbClr val="434343"/>
                </a:solidFill>
                <a:latin typeface="Montserrat Black"/>
                <a:ea typeface="Montserrat Black"/>
                <a:cs typeface="Montserrat Black"/>
                <a:sym typeface="Montserrat Black"/>
              </a:rPr>
              <a:t>Preparation.</a:t>
            </a:r>
            <a:endParaRPr sz="1740">
              <a:solidFill>
                <a:srgbClr val="434343"/>
              </a:solidFill>
              <a:latin typeface="Montserrat Light"/>
              <a:ea typeface="Montserrat Light"/>
              <a:cs typeface="Montserrat Light"/>
              <a:sym typeface="Montserrat Light"/>
            </a:endParaRPr>
          </a:p>
        </p:txBody>
      </p:sp>
      <p:sp>
        <p:nvSpPr>
          <p:cNvPr id="256" name="Google Shape;256;p28"/>
          <p:cNvSpPr txBox="1"/>
          <p:nvPr/>
        </p:nvSpPr>
        <p:spPr>
          <a:xfrm>
            <a:off x="88174" y="664472"/>
            <a:ext cx="1986900" cy="565500"/>
          </a:xfrm>
          <a:prstGeom prst="rect">
            <a:avLst/>
          </a:prstGeom>
          <a:noFill/>
          <a:ln>
            <a:noFill/>
          </a:ln>
        </p:spPr>
        <p:txBody>
          <a:bodyPr anchorCtr="0" anchor="t" bIns="88375" lIns="88375" spcFirstLastPara="1" rIns="88375" wrap="square" tIns="88375">
            <a:spAutoFit/>
          </a:bodyPr>
          <a:lstStyle/>
          <a:p>
            <a:pPr indent="0" lvl="0" marL="0" rtl="0" algn="l">
              <a:spcBef>
                <a:spcPts val="0"/>
              </a:spcBef>
              <a:spcAft>
                <a:spcPts val="0"/>
              </a:spcAft>
              <a:buNone/>
            </a:pPr>
            <a:r>
              <a:rPr lang="en" sz="2513">
                <a:solidFill>
                  <a:srgbClr val="F54132"/>
                </a:solidFill>
                <a:latin typeface="Shadows Into Light"/>
                <a:ea typeface="Shadows Into Light"/>
                <a:cs typeface="Shadows Into Light"/>
                <a:sym typeface="Shadows Into Light"/>
              </a:rPr>
              <a:t>APD - RE</a:t>
            </a:r>
            <a:endParaRPr sz="2513">
              <a:solidFill>
                <a:srgbClr val="F54132"/>
              </a:solidFill>
              <a:latin typeface="Shadows Into Light"/>
              <a:ea typeface="Shadows Into Light"/>
              <a:cs typeface="Shadows Into Light"/>
              <a:sym typeface="Shadows Into Light"/>
            </a:endParaRPr>
          </a:p>
        </p:txBody>
      </p:sp>
      <p:sp>
        <p:nvSpPr>
          <p:cNvPr id="257" name="Google Shape;257;p28"/>
          <p:cNvSpPr/>
          <p:nvPr/>
        </p:nvSpPr>
        <p:spPr>
          <a:xfrm>
            <a:off x="176325" y="2020317"/>
            <a:ext cx="1190400" cy="488100"/>
          </a:xfrm>
          <a:prstGeom prst="roundRect">
            <a:avLst>
              <a:gd fmla="val 16529" name="adj"/>
            </a:avLst>
          </a:prstGeom>
          <a:solidFill>
            <a:srgbClr val="FFC845"/>
          </a:solidFill>
          <a:ln cap="flat" cmpd="sng" w="6550">
            <a:solidFill>
              <a:srgbClr val="FFFFFF"/>
            </a:solidFill>
            <a:prstDash val="solid"/>
            <a:miter lim="400000"/>
            <a:headEnd len="sm" w="sm" type="none"/>
            <a:tailEnd len="sm" w="sm" type="none"/>
          </a:ln>
          <a:effectLst>
            <a:outerShdw blurRad="13102" rotWithShape="0" dir="2700000" dist="2620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34">
                <a:solidFill>
                  <a:srgbClr val="FFFFFF"/>
                </a:solidFill>
                <a:latin typeface="Montserrat Black"/>
                <a:ea typeface="Montserrat Black"/>
                <a:cs typeface="Montserrat Black"/>
                <a:sym typeface="Montserrat Black"/>
              </a:rPr>
              <a:t>QUÉ HACER</a:t>
            </a:r>
            <a:endParaRPr sz="1134">
              <a:latin typeface="Montserrat"/>
              <a:ea typeface="Montserrat"/>
              <a:cs typeface="Montserrat"/>
              <a:sym typeface="Montserrat"/>
            </a:endParaRPr>
          </a:p>
        </p:txBody>
      </p:sp>
      <p:sp>
        <p:nvSpPr>
          <p:cNvPr id="258" name="Google Shape;258;p28"/>
          <p:cNvSpPr/>
          <p:nvPr/>
        </p:nvSpPr>
        <p:spPr>
          <a:xfrm>
            <a:off x="1366800" y="2224342"/>
            <a:ext cx="333600" cy="80100"/>
          </a:xfrm>
          <a:prstGeom prst="rightArrow">
            <a:avLst>
              <a:gd fmla="val 50000" name="adj1"/>
              <a:gd fmla="val 116706" name="adj2"/>
            </a:avLst>
          </a:prstGeom>
          <a:solidFill>
            <a:srgbClr val="F47721"/>
          </a:solidFill>
          <a:ln cap="flat" cmpd="sng" w="4900">
            <a:solidFill>
              <a:srgbClr val="FFFFFF"/>
            </a:solidFill>
            <a:prstDash val="solid"/>
            <a:round/>
            <a:headEnd len="sm" w="sm" type="none"/>
            <a:tailEnd len="sm" w="sm" type="none"/>
          </a:ln>
        </p:spPr>
        <p:txBody>
          <a:bodyPr anchorCtr="0" anchor="ctr" bIns="94300" lIns="94300" spcFirstLastPara="1" rIns="94300" wrap="square" tIns="943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59" name="Google Shape;259;p28"/>
          <p:cNvSpPr txBox="1"/>
          <p:nvPr/>
        </p:nvSpPr>
        <p:spPr>
          <a:xfrm>
            <a:off x="1777638" y="1229975"/>
            <a:ext cx="4585500" cy="2667600"/>
          </a:xfrm>
          <a:prstGeom prst="rect">
            <a:avLst/>
          </a:prstGeom>
          <a:noFill/>
          <a:ln>
            <a:noFill/>
          </a:ln>
        </p:spPr>
        <p:txBody>
          <a:bodyPr anchorCtr="0" anchor="ctr" bIns="94300" lIns="94300" spcFirstLastPara="1" rIns="94300" wrap="square" tIns="94300">
            <a:spAutoFit/>
          </a:bodyPr>
          <a:lstStyle/>
          <a:p>
            <a:pPr indent="0" lvl="0" marL="0" marR="0" rtl="0" algn="just">
              <a:lnSpc>
                <a:spcPct val="100000"/>
              </a:lnSpc>
              <a:spcBef>
                <a:spcPts val="0"/>
              </a:spcBef>
              <a:spcAft>
                <a:spcPts val="0"/>
              </a:spcAft>
              <a:buNone/>
            </a:pPr>
            <a:r>
              <a:rPr lang="en" sz="1237">
                <a:solidFill>
                  <a:schemeClr val="dk1"/>
                </a:solidFill>
                <a:latin typeface="Montserrat Light"/>
                <a:ea typeface="Montserrat Light"/>
                <a:cs typeface="Montserrat Light"/>
                <a:sym typeface="Montserrat Light"/>
              </a:rPr>
              <a:t>Antes de que tu EP se vaya a su intercambio, deberás de realizar el </a:t>
            </a:r>
            <a:r>
              <a:rPr b="1" lang="en" sz="1237">
                <a:solidFill>
                  <a:schemeClr val="dk1"/>
                </a:solidFill>
                <a:uFill>
                  <a:noFill/>
                </a:uFill>
                <a:latin typeface="Montserrat"/>
                <a:ea typeface="Montserrat"/>
                <a:cs typeface="Montserrat"/>
                <a:sym typeface="Montserrat"/>
                <a:hlinkClick r:id="rId4">
                  <a:extLst>
                    <a:ext uri="{A12FA001-AC4F-418D-AE19-62706E023703}">
                      <ahyp:hlinkClr val="tx"/>
                    </a:ext>
                  </a:extLst>
                </a:hlinkClick>
              </a:rPr>
              <a:t>Seminario de Preparación Saliente</a:t>
            </a:r>
            <a:r>
              <a:rPr b="1" lang="en" sz="1237">
                <a:solidFill>
                  <a:schemeClr val="dk1"/>
                </a:solidFill>
                <a:latin typeface="Montserrat"/>
                <a:ea typeface="Montserrat"/>
                <a:cs typeface="Montserrat"/>
                <a:sym typeface="Montserrat"/>
              </a:rPr>
              <a:t> (OPS)</a:t>
            </a:r>
            <a:r>
              <a:rPr lang="en" sz="1237">
                <a:solidFill>
                  <a:schemeClr val="dk1"/>
                </a:solidFill>
                <a:latin typeface="Montserrat Light"/>
                <a:ea typeface="Montserrat Light"/>
                <a:cs typeface="Montserrat Light"/>
                <a:sym typeface="Montserrat Light"/>
              </a:rPr>
              <a:t> y la alineación de metas personales del EP. </a:t>
            </a:r>
            <a:endParaRPr sz="1237">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237">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37">
                <a:solidFill>
                  <a:schemeClr val="dk1"/>
                </a:solidFill>
                <a:latin typeface="Montserrat Light"/>
                <a:ea typeface="Montserrat Light"/>
                <a:cs typeface="Montserrat Light"/>
                <a:sym typeface="Montserrat Light"/>
              </a:rPr>
              <a:t>La finalidad de esta sesión es alinear bien al EP con los estándares que recibirá durante su experiencia, así como alinearlo a la realidad de la entidad a donde asistirá con el fin de que tenga claro qué esperar y qué recibirá, de esta manera nos aseguraremos que nuestro voluntario vaya a su programa lo más alineado y preparado posible. </a:t>
            </a:r>
            <a:endParaRPr sz="1237">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237">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37">
                <a:solidFill>
                  <a:schemeClr val="dk1"/>
                </a:solidFill>
                <a:latin typeface="Montserrat Light"/>
                <a:ea typeface="Montserrat Light"/>
                <a:cs typeface="Montserrat Light"/>
                <a:sym typeface="Montserrat Light"/>
              </a:rPr>
              <a:t>Es importante alinear el OPS previamente con la cooperación.</a:t>
            </a:r>
            <a:endParaRPr sz="1237">
              <a:solidFill>
                <a:schemeClr val="dk1"/>
              </a:solidFill>
              <a:latin typeface="Montserrat Light"/>
              <a:ea typeface="Montserrat Light"/>
              <a:cs typeface="Montserrat Light"/>
              <a:sym typeface="Montserrat Light"/>
            </a:endParaRPr>
          </a:p>
        </p:txBody>
      </p:sp>
      <p:sp>
        <p:nvSpPr>
          <p:cNvPr id="260" name="Google Shape;260;p28"/>
          <p:cNvSpPr/>
          <p:nvPr/>
        </p:nvSpPr>
        <p:spPr>
          <a:xfrm>
            <a:off x="176325" y="4218676"/>
            <a:ext cx="1190400" cy="488100"/>
          </a:xfrm>
          <a:prstGeom prst="roundRect">
            <a:avLst>
              <a:gd fmla="val 16529" name="adj"/>
            </a:avLst>
          </a:prstGeom>
          <a:solidFill>
            <a:srgbClr val="FFC845"/>
          </a:solidFill>
          <a:ln cap="flat" cmpd="sng" w="6550">
            <a:solidFill>
              <a:srgbClr val="FFFFFF"/>
            </a:solidFill>
            <a:prstDash val="solid"/>
            <a:miter lim="400000"/>
            <a:headEnd len="sm" w="sm" type="none"/>
            <a:tailEnd len="sm" w="sm" type="none"/>
          </a:ln>
          <a:effectLst>
            <a:outerShdw blurRad="13102" rotWithShape="0" dir="2700000" dist="2620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34">
                <a:solidFill>
                  <a:srgbClr val="FFFFFF"/>
                </a:solidFill>
                <a:latin typeface="Montserrat Black"/>
                <a:ea typeface="Montserrat Black"/>
                <a:cs typeface="Montserrat Black"/>
                <a:sym typeface="Montserrat Black"/>
              </a:rPr>
              <a:t>CON QUIÉN</a:t>
            </a:r>
            <a:endParaRPr sz="1134">
              <a:latin typeface="Montserrat"/>
              <a:ea typeface="Montserrat"/>
              <a:cs typeface="Montserrat"/>
              <a:sym typeface="Montserrat"/>
            </a:endParaRPr>
          </a:p>
        </p:txBody>
      </p:sp>
      <p:sp>
        <p:nvSpPr>
          <p:cNvPr id="261" name="Google Shape;261;p28"/>
          <p:cNvSpPr txBox="1"/>
          <p:nvPr/>
        </p:nvSpPr>
        <p:spPr>
          <a:xfrm>
            <a:off x="1777638" y="4117877"/>
            <a:ext cx="4585500" cy="571500"/>
          </a:xfrm>
          <a:prstGeom prst="rect">
            <a:avLst/>
          </a:prstGeom>
          <a:noFill/>
          <a:ln>
            <a:noFill/>
          </a:ln>
        </p:spPr>
        <p:txBody>
          <a:bodyPr anchorCtr="0" anchor="ctr" bIns="94300" lIns="94300" spcFirstLastPara="1" rIns="94300" wrap="square" tIns="94300">
            <a:spAutoFit/>
          </a:bodyPr>
          <a:lstStyle/>
          <a:p>
            <a:pPr indent="0" lvl="0" marL="0" rtl="0" algn="just">
              <a:spcBef>
                <a:spcPts val="0"/>
              </a:spcBef>
              <a:spcAft>
                <a:spcPts val="0"/>
              </a:spcAft>
              <a:buClr>
                <a:srgbClr val="000000"/>
              </a:buClr>
              <a:buSzPts val="567"/>
              <a:buFont typeface="Arial"/>
              <a:buNone/>
            </a:pPr>
            <a:r>
              <a:rPr lang="en" sz="1237">
                <a:solidFill>
                  <a:schemeClr val="dk1"/>
                </a:solidFill>
                <a:latin typeface="Montserrat Light"/>
                <a:ea typeface="Montserrat Light"/>
                <a:cs typeface="Montserrat Light"/>
                <a:sym typeface="Montserrat Light"/>
              </a:rPr>
              <a:t>OGX Consideration Team</a:t>
            </a:r>
            <a:endParaRPr sz="1237">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237">
                <a:solidFill>
                  <a:schemeClr val="dk1"/>
                </a:solidFill>
                <a:latin typeface="Montserrat Light"/>
                <a:ea typeface="Montserrat Light"/>
                <a:cs typeface="Montserrat Light"/>
                <a:sym typeface="Montserrat Light"/>
              </a:rPr>
              <a:t>IR Partner</a:t>
            </a:r>
            <a:endParaRPr sz="1237">
              <a:solidFill>
                <a:schemeClr val="dk1"/>
              </a:solidFill>
              <a:latin typeface="Montserrat Light"/>
              <a:ea typeface="Montserrat Light"/>
              <a:cs typeface="Montserrat Light"/>
              <a:sym typeface="Montserrat Light"/>
            </a:endParaRPr>
          </a:p>
        </p:txBody>
      </p:sp>
      <p:sp>
        <p:nvSpPr>
          <p:cNvPr id="262" name="Google Shape;262;p28"/>
          <p:cNvSpPr/>
          <p:nvPr/>
        </p:nvSpPr>
        <p:spPr>
          <a:xfrm>
            <a:off x="1366800" y="4422701"/>
            <a:ext cx="333600" cy="80100"/>
          </a:xfrm>
          <a:prstGeom prst="rightArrow">
            <a:avLst>
              <a:gd fmla="val 50000" name="adj1"/>
              <a:gd fmla="val 116706" name="adj2"/>
            </a:avLst>
          </a:prstGeom>
          <a:solidFill>
            <a:srgbClr val="F47721"/>
          </a:solidFill>
          <a:ln cap="flat" cmpd="sng" w="4900">
            <a:solidFill>
              <a:srgbClr val="FFFFFF"/>
            </a:solidFill>
            <a:prstDash val="solid"/>
            <a:round/>
            <a:headEnd len="sm" w="sm" type="none"/>
            <a:tailEnd len="sm" w="sm" type="none"/>
          </a:ln>
        </p:spPr>
        <p:txBody>
          <a:bodyPr anchorCtr="0" anchor="ctr" bIns="94300" lIns="94300" spcFirstLastPara="1" rIns="94300" wrap="square" tIns="943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29"/>
          <p:cNvSpPr txBox="1"/>
          <p:nvPr/>
        </p:nvSpPr>
        <p:spPr>
          <a:xfrm>
            <a:off x="610718" y="755300"/>
            <a:ext cx="25341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5500">
                <a:solidFill>
                  <a:schemeClr val="lt1"/>
                </a:solidFill>
                <a:latin typeface="Montserrat"/>
                <a:ea typeface="Montserrat"/>
                <a:cs typeface="Montserrat"/>
                <a:sym typeface="Montserrat"/>
              </a:rPr>
              <a:t>TIPS!</a:t>
            </a:r>
            <a:endParaRPr b="1" sz="5500">
              <a:solidFill>
                <a:schemeClr val="dk2"/>
              </a:solidFill>
              <a:latin typeface="Nunito"/>
              <a:ea typeface="Nunito"/>
              <a:cs typeface="Nunito"/>
              <a:sym typeface="Nunito"/>
            </a:endParaRPr>
          </a:p>
        </p:txBody>
      </p:sp>
      <p:sp>
        <p:nvSpPr>
          <p:cNvPr id="268" name="Google Shape;268;p29"/>
          <p:cNvSpPr txBox="1"/>
          <p:nvPr/>
        </p:nvSpPr>
        <p:spPr>
          <a:xfrm>
            <a:off x="-117600" y="1343125"/>
            <a:ext cx="7333200" cy="4032600"/>
          </a:xfrm>
          <a:prstGeom prst="rect">
            <a:avLst/>
          </a:prstGeom>
          <a:noFill/>
          <a:ln>
            <a:noFill/>
          </a:ln>
        </p:spPr>
        <p:txBody>
          <a:bodyPr anchorCtr="0" anchor="t" bIns="182850" lIns="182850" spcFirstLastPara="1" rIns="182850" wrap="square" tIns="182850">
            <a:spAutoFit/>
          </a:bodyPr>
          <a:lstStyle/>
          <a:p>
            <a:pPr indent="0" lvl="0" marL="914400" rtl="0" algn="l">
              <a:spcBef>
                <a:spcPts val="0"/>
              </a:spcBef>
              <a:spcAft>
                <a:spcPts val="0"/>
              </a:spcAft>
              <a:buNone/>
            </a:pPr>
            <a:r>
              <a:rPr lang="en">
                <a:solidFill>
                  <a:schemeClr val="lt1"/>
                </a:solidFill>
                <a:latin typeface="Montserrat"/>
                <a:ea typeface="Montserrat"/>
                <a:cs typeface="Montserrat"/>
                <a:sym typeface="Montserrat"/>
              </a:rPr>
              <a:t>Es importante mantener a nuestros EPs interesados durante su proceso de preparación para su voluntariado, algunas cosas que puedes hacer son: </a:t>
            </a:r>
            <a:br>
              <a:rPr lang="en">
                <a:solidFill>
                  <a:schemeClr val="lt1"/>
                </a:solidFill>
                <a:latin typeface="Montserrat"/>
                <a:ea typeface="Montserrat"/>
                <a:cs typeface="Montserrat"/>
                <a:sym typeface="Montserrat"/>
              </a:rPr>
            </a:br>
            <a:br>
              <a:rPr lang="en">
                <a:solidFill>
                  <a:schemeClr val="lt1"/>
                </a:solidFill>
                <a:latin typeface="Montserrat"/>
                <a:ea typeface="Montserrat"/>
                <a:cs typeface="Montserrat"/>
                <a:sym typeface="Montserrat"/>
              </a:rPr>
            </a:br>
            <a:r>
              <a:rPr lang="en">
                <a:solidFill>
                  <a:schemeClr val="lt1"/>
                </a:solidFill>
                <a:latin typeface="Montserrat"/>
                <a:ea typeface="Montserrat"/>
                <a:cs typeface="Montserrat"/>
                <a:sym typeface="Montserrat"/>
              </a:rPr>
              <a:t>1. Puedes involucrar a los papás del EP en el OPS para que puedan sentirse más seguros y resolver dudas.</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rPr lang="en">
                <a:solidFill>
                  <a:schemeClr val="lt1"/>
                </a:solidFill>
                <a:latin typeface="Montserrat"/>
                <a:ea typeface="Montserrat"/>
                <a:cs typeface="Montserrat"/>
                <a:sym typeface="Montserrat"/>
              </a:rPr>
              <a:t>2. Enviar imágenes del proyecto y el país que visitará para que se siga emocionando por conocer nuevos lugares y cosas en su visita.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rPr lang="en">
                <a:solidFill>
                  <a:schemeClr val="lt1"/>
                </a:solidFill>
                <a:latin typeface="Montserrat"/>
                <a:ea typeface="Montserrat"/>
                <a:cs typeface="Montserrat"/>
                <a:sym typeface="Montserrat"/>
              </a:rPr>
              <a:t>Invitarlo a otros programas dentro de la organización como ser Familia Global, iniciativas de EwA o incluso formar parte de la membresía.</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rPr lang="en">
                <a:solidFill>
                  <a:schemeClr val="lt1"/>
                </a:solidFill>
                <a:latin typeface="Montserrat"/>
                <a:ea typeface="Montserrat"/>
                <a:cs typeface="Montserrat"/>
                <a:sym typeface="Montserrat"/>
              </a:rPr>
              <a:t>3. Crea sesiones de LEAD para tus EPs en espera de su realización, espacios donde puedes fomentar los valores AIESECos, el liderazgo, etc.</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30"/>
          <p:cNvSpPr txBox="1"/>
          <p:nvPr/>
        </p:nvSpPr>
        <p:spPr>
          <a:xfrm>
            <a:off x="132250" y="426178"/>
            <a:ext cx="2947200" cy="559500"/>
          </a:xfrm>
          <a:prstGeom prst="rect">
            <a:avLst/>
          </a:prstGeom>
          <a:noFill/>
          <a:ln>
            <a:noFill/>
          </a:ln>
        </p:spPr>
        <p:txBody>
          <a:bodyPr anchorCtr="0" anchor="ctr" bIns="81075" lIns="81075" spcFirstLastPara="1" rIns="81075" wrap="square" tIns="81075">
            <a:noAutofit/>
          </a:bodyPr>
          <a:lstStyle/>
          <a:p>
            <a:pPr indent="0" lvl="0" marL="0" marR="0" rtl="0" algn="l">
              <a:lnSpc>
                <a:spcPct val="115000"/>
              </a:lnSpc>
              <a:spcBef>
                <a:spcPts val="0"/>
              </a:spcBef>
              <a:spcAft>
                <a:spcPts val="0"/>
              </a:spcAft>
              <a:buClr>
                <a:srgbClr val="343434"/>
              </a:buClr>
              <a:buSzPts val="3549"/>
              <a:buFont typeface="Lato Black"/>
              <a:buNone/>
            </a:pPr>
            <a:r>
              <a:rPr lang="en" sz="2750">
                <a:solidFill>
                  <a:srgbClr val="434343"/>
                </a:solidFill>
                <a:latin typeface="Montserrat Black"/>
                <a:ea typeface="Montserrat Black"/>
                <a:cs typeface="Montserrat Black"/>
                <a:sym typeface="Montserrat Black"/>
              </a:rPr>
              <a:t>Experience.</a:t>
            </a:r>
            <a:endParaRPr sz="1596">
              <a:solidFill>
                <a:srgbClr val="434343"/>
              </a:solidFill>
              <a:latin typeface="Montserrat Light"/>
              <a:ea typeface="Montserrat Light"/>
              <a:cs typeface="Montserrat Light"/>
              <a:sym typeface="Montserrat Light"/>
            </a:endParaRPr>
          </a:p>
        </p:txBody>
      </p:sp>
      <p:sp>
        <p:nvSpPr>
          <p:cNvPr id="274" name="Google Shape;274;p30"/>
          <p:cNvSpPr txBox="1"/>
          <p:nvPr/>
        </p:nvSpPr>
        <p:spPr>
          <a:xfrm>
            <a:off x="132250" y="637101"/>
            <a:ext cx="1914900" cy="519000"/>
          </a:xfrm>
          <a:prstGeom prst="rect">
            <a:avLst/>
          </a:prstGeom>
          <a:noFill/>
          <a:ln>
            <a:noFill/>
          </a:ln>
        </p:spPr>
        <p:txBody>
          <a:bodyPr anchorCtr="0" anchor="t" bIns="81125" lIns="81125" spcFirstLastPara="1" rIns="81125" wrap="square" tIns="81125">
            <a:spAutoFit/>
          </a:bodyPr>
          <a:lstStyle/>
          <a:p>
            <a:pPr indent="0" lvl="0" marL="0" rtl="0" algn="l">
              <a:spcBef>
                <a:spcPts val="0"/>
              </a:spcBef>
              <a:spcAft>
                <a:spcPts val="0"/>
              </a:spcAft>
              <a:buNone/>
            </a:pPr>
            <a:r>
              <a:rPr lang="en" sz="2306">
                <a:solidFill>
                  <a:srgbClr val="F54132"/>
                </a:solidFill>
                <a:latin typeface="Shadows Into Light"/>
                <a:ea typeface="Shadows Into Light"/>
                <a:cs typeface="Shadows Into Light"/>
                <a:sym typeface="Shadows Into Light"/>
              </a:rPr>
              <a:t>RE - FI</a:t>
            </a:r>
            <a:endParaRPr sz="2306">
              <a:solidFill>
                <a:srgbClr val="F54132"/>
              </a:solidFill>
              <a:latin typeface="Shadows Into Light"/>
              <a:ea typeface="Shadows Into Light"/>
              <a:cs typeface="Shadows Into Light"/>
              <a:sym typeface="Shadows Into Light"/>
            </a:endParaRPr>
          </a:p>
        </p:txBody>
      </p:sp>
      <p:sp>
        <p:nvSpPr>
          <p:cNvPr id="275" name="Google Shape;275;p30"/>
          <p:cNvSpPr/>
          <p:nvPr/>
        </p:nvSpPr>
        <p:spPr>
          <a:xfrm>
            <a:off x="234700" y="1930857"/>
            <a:ext cx="1156800" cy="402300"/>
          </a:xfrm>
          <a:prstGeom prst="roundRect">
            <a:avLst>
              <a:gd fmla="val 16529" name="adj"/>
            </a:avLst>
          </a:prstGeom>
          <a:solidFill>
            <a:srgbClr val="F48923"/>
          </a:solidFill>
          <a:ln cap="flat" cmpd="sng" w="5625">
            <a:solidFill>
              <a:srgbClr val="FFFFFF"/>
            </a:solidFill>
            <a:prstDash val="solid"/>
            <a:miter lim="400000"/>
            <a:headEnd len="sm" w="sm" type="none"/>
            <a:tailEnd len="sm" w="sm" type="none"/>
          </a:ln>
          <a:effectLst>
            <a:outerShdw blurRad="11267" rotWithShape="0" dir="2700000" dist="2253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975">
                <a:solidFill>
                  <a:srgbClr val="FFFFFF"/>
                </a:solidFill>
                <a:latin typeface="Montserrat Black"/>
                <a:ea typeface="Montserrat Black"/>
                <a:cs typeface="Montserrat Black"/>
                <a:sym typeface="Montserrat Black"/>
              </a:rPr>
              <a:t>QUÉ HACER</a:t>
            </a:r>
            <a:endParaRPr sz="975">
              <a:latin typeface="Montserrat"/>
              <a:ea typeface="Montserrat"/>
              <a:cs typeface="Montserrat"/>
              <a:sym typeface="Montserrat"/>
            </a:endParaRPr>
          </a:p>
        </p:txBody>
      </p:sp>
      <p:sp>
        <p:nvSpPr>
          <p:cNvPr id="276" name="Google Shape;276;p30"/>
          <p:cNvSpPr/>
          <p:nvPr/>
        </p:nvSpPr>
        <p:spPr>
          <a:xfrm>
            <a:off x="1391319" y="2099029"/>
            <a:ext cx="324000" cy="66000"/>
          </a:xfrm>
          <a:prstGeom prst="rightArrow">
            <a:avLst>
              <a:gd fmla="val 50000" name="adj1"/>
              <a:gd fmla="val 116706" name="adj2"/>
            </a:avLst>
          </a:prstGeom>
          <a:solidFill>
            <a:srgbClr val="F47721"/>
          </a:solidFill>
          <a:ln cap="flat" cmpd="sng" w="4225">
            <a:solidFill>
              <a:srgbClr val="FFFFFF"/>
            </a:solidFill>
            <a:prstDash val="solid"/>
            <a:round/>
            <a:headEnd len="sm" w="sm" type="none"/>
            <a:tailEnd len="sm" w="sm" type="none"/>
          </a:ln>
        </p:spPr>
        <p:txBody>
          <a:bodyPr anchorCtr="0" anchor="ctr" bIns="81125" lIns="81125" spcFirstLastPara="1" rIns="81125" wrap="square" tIns="811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77" name="Google Shape;277;p30"/>
          <p:cNvSpPr txBox="1"/>
          <p:nvPr/>
        </p:nvSpPr>
        <p:spPr>
          <a:xfrm>
            <a:off x="1790473" y="1279400"/>
            <a:ext cx="4455300" cy="2622000"/>
          </a:xfrm>
          <a:prstGeom prst="rect">
            <a:avLst/>
          </a:prstGeom>
          <a:noFill/>
          <a:ln>
            <a:noFill/>
          </a:ln>
        </p:spPr>
        <p:txBody>
          <a:bodyPr anchorCtr="0" anchor="ctr" bIns="81125" lIns="81125" spcFirstLastPara="1" rIns="81125" wrap="square" tIns="81125">
            <a:spAutoFit/>
          </a:bodyPr>
          <a:lstStyle/>
          <a:p>
            <a:pPr indent="0" lvl="0" marL="0" marR="0" rtl="0" algn="just">
              <a:lnSpc>
                <a:spcPct val="100000"/>
              </a:lnSpc>
              <a:spcBef>
                <a:spcPts val="0"/>
              </a:spcBef>
              <a:spcAft>
                <a:spcPts val="0"/>
              </a:spcAft>
              <a:buNone/>
            </a:pPr>
            <a:r>
              <a:rPr lang="en" sz="1064">
                <a:solidFill>
                  <a:schemeClr val="dk1"/>
                </a:solidFill>
                <a:latin typeface="Montserrat Light"/>
                <a:ea typeface="Montserrat Light"/>
                <a:cs typeface="Montserrat Light"/>
                <a:sym typeface="Montserrat Light"/>
              </a:rPr>
              <a:t>Llegado el día de realización del EP, es de suma importancia hacerle sentir nuestro apoyo y acompañamiento durante todo el trayecto, así como también estar en </a:t>
            </a:r>
            <a:r>
              <a:rPr b="1" lang="en" sz="1064">
                <a:solidFill>
                  <a:schemeClr val="dk1"/>
                </a:solidFill>
                <a:latin typeface="Montserrat"/>
                <a:ea typeface="Montserrat"/>
                <a:cs typeface="Montserrat"/>
                <a:sym typeface="Montserrat"/>
              </a:rPr>
              <a:t>constante comunicación con la cooperación</a:t>
            </a:r>
            <a:r>
              <a:rPr lang="en" sz="1064">
                <a:solidFill>
                  <a:schemeClr val="dk1"/>
                </a:solidFill>
                <a:latin typeface="Montserrat Light"/>
                <a:ea typeface="Montserrat Light"/>
                <a:cs typeface="Montserrat Light"/>
                <a:sym typeface="Montserrat Light"/>
              </a:rPr>
              <a:t> para asegurarnos que esté todo listo para su llegada. </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64">
                <a:solidFill>
                  <a:schemeClr val="dk1"/>
                </a:solidFill>
                <a:latin typeface="Montserrat Light"/>
                <a:ea typeface="Montserrat Light"/>
                <a:cs typeface="Montserrat Light"/>
                <a:sym typeface="Montserrat Light"/>
              </a:rPr>
              <a:t>Es importante que estés en </a:t>
            </a:r>
            <a:r>
              <a:rPr b="1" lang="en" sz="1064">
                <a:solidFill>
                  <a:schemeClr val="dk1"/>
                </a:solidFill>
                <a:latin typeface="Montserrat"/>
                <a:ea typeface="Montserrat"/>
                <a:cs typeface="Montserrat"/>
                <a:sym typeface="Montserrat"/>
              </a:rPr>
              <a:t>constante comunicación con tu EP </a:t>
            </a:r>
            <a:r>
              <a:rPr lang="en" sz="1064">
                <a:solidFill>
                  <a:schemeClr val="dk1"/>
                </a:solidFill>
                <a:latin typeface="Montserrat Light"/>
                <a:ea typeface="Montserrat Light"/>
                <a:cs typeface="Montserrat Light"/>
                <a:sym typeface="Montserrat Light"/>
              </a:rPr>
              <a:t>para asegurarte que durante su ida y llegada todo pase de la mejor manera, haya sido recibido por el comité. </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64">
                <a:solidFill>
                  <a:schemeClr val="dk1"/>
                </a:solidFill>
                <a:latin typeface="Montserrat Light"/>
                <a:ea typeface="Montserrat Light"/>
                <a:cs typeface="Montserrat Light"/>
                <a:sym typeface="Montserrat Light"/>
              </a:rPr>
              <a:t>Es de suma importancia estar recolectando evidencias tanto por parte del comité como con el EP de la entrega de sus estándares y de que su experiencia esté sucediendo de la mejor manera.</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064">
              <a:solidFill>
                <a:schemeClr val="dk1"/>
              </a:solidFill>
              <a:latin typeface="Montserrat Light"/>
              <a:ea typeface="Montserrat Light"/>
              <a:cs typeface="Montserrat Light"/>
              <a:sym typeface="Montserrat Light"/>
            </a:endParaRPr>
          </a:p>
        </p:txBody>
      </p:sp>
      <p:sp>
        <p:nvSpPr>
          <p:cNvPr id="278" name="Google Shape;278;p30"/>
          <p:cNvSpPr/>
          <p:nvPr/>
        </p:nvSpPr>
        <p:spPr>
          <a:xfrm>
            <a:off x="234700" y="4055553"/>
            <a:ext cx="1156800" cy="402300"/>
          </a:xfrm>
          <a:prstGeom prst="roundRect">
            <a:avLst>
              <a:gd fmla="val 16529" name="adj"/>
            </a:avLst>
          </a:prstGeom>
          <a:solidFill>
            <a:srgbClr val="F48923"/>
          </a:solidFill>
          <a:ln cap="flat" cmpd="sng" w="5625">
            <a:solidFill>
              <a:srgbClr val="FFFFFF"/>
            </a:solidFill>
            <a:prstDash val="solid"/>
            <a:miter lim="400000"/>
            <a:headEnd len="sm" w="sm" type="none"/>
            <a:tailEnd len="sm" w="sm" type="none"/>
          </a:ln>
          <a:effectLst>
            <a:outerShdw blurRad="11267" rotWithShape="0" dir="2700000" dist="2253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975">
                <a:solidFill>
                  <a:srgbClr val="FFFFFF"/>
                </a:solidFill>
                <a:latin typeface="Montserrat Black"/>
                <a:ea typeface="Montserrat Black"/>
                <a:cs typeface="Montserrat Black"/>
                <a:sym typeface="Montserrat Black"/>
              </a:rPr>
              <a:t>CON QUIÉN</a:t>
            </a:r>
            <a:endParaRPr sz="975">
              <a:latin typeface="Montserrat"/>
              <a:ea typeface="Montserrat"/>
              <a:cs typeface="Montserrat"/>
              <a:sym typeface="Montserrat"/>
            </a:endParaRPr>
          </a:p>
        </p:txBody>
      </p:sp>
      <p:sp>
        <p:nvSpPr>
          <p:cNvPr id="279" name="Google Shape;279;p30"/>
          <p:cNvSpPr txBox="1"/>
          <p:nvPr/>
        </p:nvSpPr>
        <p:spPr>
          <a:xfrm>
            <a:off x="1790473" y="3972467"/>
            <a:ext cx="4455300" cy="491700"/>
          </a:xfrm>
          <a:prstGeom prst="rect">
            <a:avLst/>
          </a:prstGeom>
          <a:noFill/>
          <a:ln>
            <a:noFill/>
          </a:ln>
        </p:spPr>
        <p:txBody>
          <a:bodyPr anchorCtr="0" anchor="ctr" bIns="81125" lIns="81125" spcFirstLastPara="1" rIns="81125" wrap="square" tIns="81125">
            <a:spAutoFit/>
          </a:bodyPr>
          <a:lstStyle/>
          <a:p>
            <a:pPr indent="0" lvl="0" marL="0" rtl="0" algn="just">
              <a:spcBef>
                <a:spcPts val="0"/>
              </a:spcBef>
              <a:spcAft>
                <a:spcPts val="0"/>
              </a:spcAft>
              <a:buClr>
                <a:srgbClr val="000000"/>
              </a:buClr>
              <a:buSzPts val="488"/>
              <a:buFont typeface="Arial"/>
              <a:buNone/>
            </a:pPr>
            <a:r>
              <a:rPr lang="en" sz="1064">
                <a:solidFill>
                  <a:schemeClr val="dk1"/>
                </a:solidFill>
                <a:latin typeface="Montserrat Light"/>
                <a:ea typeface="Montserrat Light"/>
                <a:cs typeface="Montserrat Light"/>
                <a:sym typeface="Montserrat Light"/>
              </a:rPr>
              <a:t>OGX Consideration Team</a:t>
            </a:r>
            <a:endParaRPr sz="1064">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064">
                <a:solidFill>
                  <a:schemeClr val="dk1"/>
                </a:solidFill>
                <a:latin typeface="Montserrat Light"/>
                <a:ea typeface="Montserrat Light"/>
                <a:cs typeface="Montserrat Light"/>
                <a:sym typeface="Montserrat Light"/>
              </a:rPr>
              <a:t>IR Partner</a:t>
            </a:r>
            <a:endParaRPr sz="1064">
              <a:solidFill>
                <a:schemeClr val="dk1"/>
              </a:solidFill>
              <a:latin typeface="Montserrat Light"/>
              <a:ea typeface="Montserrat Light"/>
              <a:cs typeface="Montserrat Light"/>
              <a:sym typeface="Montserrat Light"/>
            </a:endParaRPr>
          </a:p>
        </p:txBody>
      </p:sp>
      <p:sp>
        <p:nvSpPr>
          <p:cNvPr id="280" name="Google Shape;280;p30"/>
          <p:cNvSpPr/>
          <p:nvPr/>
        </p:nvSpPr>
        <p:spPr>
          <a:xfrm>
            <a:off x="1391319" y="4223726"/>
            <a:ext cx="324000" cy="66000"/>
          </a:xfrm>
          <a:prstGeom prst="rightArrow">
            <a:avLst>
              <a:gd fmla="val 50000" name="adj1"/>
              <a:gd fmla="val 116706" name="adj2"/>
            </a:avLst>
          </a:prstGeom>
          <a:solidFill>
            <a:srgbClr val="F47721"/>
          </a:solidFill>
          <a:ln cap="flat" cmpd="sng" w="4225">
            <a:solidFill>
              <a:srgbClr val="FFFFFF"/>
            </a:solidFill>
            <a:prstDash val="solid"/>
            <a:round/>
            <a:headEnd len="sm" w="sm" type="none"/>
            <a:tailEnd len="sm" w="sm" type="none"/>
          </a:ln>
        </p:spPr>
        <p:txBody>
          <a:bodyPr anchorCtr="0" anchor="ctr" bIns="81125" lIns="81125" spcFirstLastPara="1" rIns="81125" wrap="square" tIns="811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4" name="Shape 284"/>
        <p:cNvGrpSpPr/>
        <p:nvPr/>
      </p:nvGrpSpPr>
      <p:grpSpPr>
        <a:xfrm>
          <a:off x="0" y="0"/>
          <a:ext cx="0" cy="0"/>
          <a:chOff x="0" y="0"/>
          <a:chExt cx="0" cy="0"/>
        </a:xfrm>
      </p:grpSpPr>
      <p:sp>
        <p:nvSpPr>
          <p:cNvPr id="285" name="Google Shape;285;p31"/>
          <p:cNvSpPr txBox="1"/>
          <p:nvPr/>
        </p:nvSpPr>
        <p:spPr>
          <a:xfrm>
            <a:off x="132250" y="426178"/>
            <a:ext cx="2947200" cy="559500"/>
          </a:xfrm>
          <a:prstGeom prst="rect">
            <a:avLst/>
          </a:prstGeom>
          <a:noFill/>
          <a:ln>
            <a:noFill/>
          </a:ln>
        </p:spPr>
        <p:txBody>
          <a:bodyPr anchorCtr="0" anchor="ctr" bIns="81075" lIns="81075" spcFirstLastPara="1" rIns="81075" wrap="square" tIns="81075">
            <a:noAutofit/>
          </a:bodyPr>
          <a:lstStyle/>
          <a:p>
            <a:pPr indent="0" lvl="0" marL="0" marR="0" rtl="0" algn="l">
              <a:lnSpc>
                <a:spcPct val="115000"/>
              </a:lnSpc>
              <a:spcBef>
                <a:spcPts val="0"/>
              </a:spcBef>
              <a:spcAft>
                <a:spcPts val="0"/>
              </a:spcAft>
              <a:buClr>
                <a:srgbClr val="343434"/>
              </a:buClr>
              <a:buSzPts val="3549"/>
              <a:buFont typeface="Lato Black"/>
              <a:buNone/>
            </a:pPr>
            <a:r>
              <a:rPr lang="en" sz="2750">
                <a:solidFill>
                  <a:srgbClr val="434343"/>
                </a:solidFill>
                <a:latin typeface="Montserrat Black"/>
                <a:ea typeface="Montserrat Black"/>
                <a:cs typeface="Montserrat Black"/>
                <a:sym typeface="Montserrat Black"/>
              </a:rPr>
              <a:t>Experience.</a:t>
            </a:r>
            <a:endParaRPr sz="1596">
              <a:solidFill>
                <a:srgbClr val="434343"/>
              </a:solidFill>
              <a:latin typeface="Montserrat Light"/>
              <a:ea typeface="Montserrat Light"/>
              <a:cs typeface="Montserrat Light"/>
              <a:sym typeface="Montserrat Light"/>
            </a:endParaRPr>
          </a:p>
        </p:txBody>
      </p:sp>
      <p:sp>
        <p:nvSpPr>
          <p:cNvPr id="286" name="Google Shape;286;p31"/>
          <p:cNvSpPr txBox="1"/>
          <p:nvPr/>
        </p:nvSpPr>
        <p:spPr>
          <a:xfrm>
            <a:off x="132250" y="637101"/>
            <a:ext cx="1914900" cy="519000"/>
          </a:xfrm>
          <a:prstGeom prst="rect">
            <a:avLst/>
          </a:prstGeom>
          <a:noFill/>
          <a:ln>
            <a:noFill/>
          </a:ln>
        </p:spPr>
        <p:txBody>
          <a:bodyPr anchorCtr="0" anchor="t" bIns="81125" lIns="81125" spcFirstLastPara="1" rIns="81125" wrap="square" tIns="81125">
            <a:spAutoFit/>
          </a:bodyPr>
          <a:lstStyle/>
          <a:p>
            <a:pPr indent="0" lvl="0" marL="0" rtl="0" algn="l">
              <a:spcBef>
                <a:spcPts val="0"/>
              </a:spcBef>
              <a:spcAft>
                <a:spcPts val="0"/>
              </a:spcAft>
              <a:buNone/>
            </a:pPr>
            <a:r>
              <a:rPr lang="en" sz="2306">
                <a:solidFill>
                  <a:srgbClr val="F54132"/>
                </a:solidFill>
                <a:latin typeface="Shadows Into Light"/>
                <a:ea typeface="Shadows Into Light"/>
                <a:cs typeface="Shadows Into Light"/>
                <a:sym typeface="Shadows Into Light"/>
              </a:rPr>
              <a:t>RE - FI</a:t>
            </a:r>
            <a:endParaRPr sz="2306">
              <a:solidFill>
                <a:srgbClr val="F54132"/>
              </a:solidFill>
              <a:latin typeface="Shadows Into Light"/>
              <a:ea typeface="Shadows Into Light"/>
              <a:cs typeface="Shadows Into Light"/>
              <a:sym typeface="Shadows Into Light"/>
            </a:endParaRPr>
          </a:p>
        </p:txBody>
      </p:sp>
      <p:sp>
        <p:nvSpPr>
          <p:cNvPr id="287" name="Google Shape;287;p31"/>
          <p:cNvSpPr/>
          <p:nvPr/>
        </p:nvSpPr>
        <p:spPr>
          <a:xfrm>
            <a:off x="132249" y="1905086"/>
            <a:ext cx="1395300" cy="379200"/>
          </a:xfrm>
          <a:prstGeom prst="roundRect">
            <a:avLst>
              <a:gd fmla="val 16529" name="adj"/>
            </a:avLst>
          </a:prstGeom>
          <a:solidFill>
            <a:srgbClr val="F48923"/>
          </a:solidFill>
          <a:ln cap="flat" cmpd="sng" w="6150">
            <a:solidFill>
              <a:srgbClr val="FFFFFF"/>
            </a:solidFill>
            <a:prstDash val="solid"/>
            <a:miter lim="400000"/>
            <a:headEnd len="sm" w="sm" type="none"/>
            <a:tailEnd len="sm" w="sm" type="none"/>
          </a:ln>
          <a:effectLst>
            <a:outerShdw blurRad="12288" rotWithShape="0" dir="2700000" dist="24576">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64">
                <a:solidFill>
                  <a:srgbClr val="FFFFFF"/>
                </a:solidFill>
                <a:latin typeface="Montserrat Black"/>
                <a:ea typeface="Montserrat Black"/>
                <a:cs typeface="Montserrat Black"/>
                <a:sym typeface="Montserrat Black"/>
              </a:rPr>
              <a:t>QUÉ HACER</a:t>
            </a:r>
            <a:endParaRPr sz="1064">
              <a:latin typeface="Montserrat"/>
              <a:ea typeface="Montserrat"/>
              <a:cs typeface="Montserrat"/>
              <a:sym typeface="Montserrat"/>
            </a:endParaRPr>
          </a:p>
        </p:txBody>
      </p:sp>
      <p:sp>
        <p:nvSpPr>
          <p:cNvPr id="288" name="Google Shape;288;p31"/>
          <p:cNvSpPr/>
          <p:nvPr/>
        </p:nvSpPr>
        <p:spPr>
          <a:xfrm>
            <a:off x="1527563" y="2063716"/>
            <a:ext cx="390900" cy="62100"/>
          </a:xfrm>
          <a:prstGeom prst="rightArrow">
            <a:avLst>
              <a:gd fmla="val 50000" name="adj1"/>
              <a:gd fmla="val 116706" name="adj2"/>
            </a:avLst>
          </a:prstGeom>
          <a:solidFill>
            <a:srgbClr val="F47721"/>
          </a:solidFill>
          <a:ln cap="flat" cmpd="sng" w="4625">
            <a:solidFill>
              <a:srgbClr val="FFFFFF"/>
            </a:solidFill>
            <a:prstDash val="solid"/>
            <a:round/>
            <a:headEnd len="sm" w="sm" type="none"/>
            <a:tailEnd len="sm" w="sm" type="none"/>
          </a:ln>
        </p:spPr>
        <p:txBody>
          <a:bodyPr anchorCtr="0" anchor="ctr" bIns="88475" lIns="88475" spcFirstLastPara="1" rIns="88475" wrap="square" tIns="8847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89" name="Google Shape;289;p31"/>
          <p:cNvSpPr txBox="1"/>
          <p:nvPr/>
        </p:nvSpPr>
        <p:spPr>
          <a:xfrm>
            <a:off x="2009097" y="1156100"/>
            <a:ext cx="3810300" cy="2859600"/>
          </a:xfrm>
          <a:prstGeom prst="rect">
            <a:avLst/>
          </a:prstGeom>
          <a:noFill/>
          <a:ln>
            <a:noFill/>
          </a:ln>
        </p:spPr>
        <p:txBody>
          <a:bodyPr anchorCtr="0" anchor="ctr" bIns="88475" lIns="88475" spcFirstLastPara="1" rIns="88475" wrap="square" tIns="88475">
            <a:spAutoFit/>
          </a:bodyPr>
          <a:lstStyle/>
          <a:p>
            <a:pPr indent="0" lvl="0" marL="0" marR="0" rtl="0" algn="just">
              <a:lnSpc>
                <a:spcPct val="100000"/>
              </a:lnSpc>
              <a:spcBef>
                <a:spcPts val="0"/>
              </a:spcBef>
              <a:spcAft>
                <a:spcPts val="0"/>
              </a:spcAft>
              <a:buNone/>
            </a:pPr>
            <a:r>
              <a:rPr lang="en" sz="1161">
                <a:solidFill>
                  <a:schemeClr val="dk1"/>
                </a:solidFill>
                <a:latin typeface="Montserrat Light"/>
                <a:ea typeface="Montserrat Light"/>
                <a:cs typeface="Montserrat Light"/>
                <a:sym typeface="Montserrat Light"/>
              </a:rPr>
              <a:t>Es importante antes de la realización de tu EP te asegures de </a:t>
            </a:r>
            <a:r>
              <a:rPr b="1" lang="en" sz="1161">
                <a:solidFill>
                  <a:schemeClr val="dk1"/>
                </a:solidFill>
                <a:latin typeface="Montserrat"/>
                <a:ea typeface="Montserrat"/>
                <a:cs typeface="Montserrat"/>
                <a:sym typeface="Montserrat"/>
              </a:rPr>
              <a:t>recolectar los siguientes documentos</a:t>
            </a:r>
            <a:r>
              <a:rPr lang="en" sz="1161">
                <a:solidFill>
                  <a:schemeClr val="dk1"/>
                </a:solidFill>
                <a:latin typeface="Montserrat Light"/>
                <a:ea typeface="Montserrat Light"/>
                <a:cs typeface="Montserrat Light"/>
                <a:sym typeface="Montserrat Light"/>
              </a:rPr>
              <a:t> para auditar y para garantizar su seguridad: </a:t>
            </a:r>
            <a:endParaRPr sz="116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1. Póliza de seguro médico</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2. PPT de OPS</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3. Lista de asistencia | Confirmación de invitación</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4. Mensajes o correos con información de seguimiento con Host Entity.</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5. DNI/ Pasaporte</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Clr>
                <a:srgbClr val="FFFFFF"/>
              </a:buClr>
              <a:buSzPts val="4838"/>
              <a:buFont typeface="Lato Black"/>
              <a:buNone/>
            </a:pPr>
            <a:r>
              <a:rPr lang="en" sz="1161">
                <a:solidFill>
                  <a:schemeClr val="dk1"/>
                </a:solidFill>
                <a:latin typeface="Montserrat Light"/>
                <a:ea typeface="Montserrat Light"/>
                <a:cs typeface="Montserrat Light"/>
                <a:sym typeface="Montserrat Light"/>
              </a:rPr>
              <a:t>6. Itinerario de vuelos</a:t>
            </a:r>
            <a:endParaRPr sz="1161">
              <a:solidFill>
                <a:schemeClr val="dk1"/>
              </a:solidFill>
              <a:latin typeface="Montserrat Light"/>
              <a:ea typeface="Montserrat Light"/>
              <a:cs typeface="Montserrat Light"/>
              <a:sym typeface="Montserrat Light"/>
            </a:endParaRPr>
          </a:p>
          <a:p>
            <a:pPr indent="0" lvl="0" marL="0" rtl="0" algn="l">
              <a:spcBef>
                <a:spcPts val="0"/>
              </a:spcBef>
              <a:spcAft>
                <a:spcPts val="0"/>
              </a:spcAft>
              <a:buNone/>
            </a:pPr>
            <a:r>
              <a:rPr lang="en" sz="1161">
                <a:solidFill>
                  <a:schemeClr val="dk1"/>
                </a:solidFill>
                <a:latin typeface="Montserrat Light"/>
                <a:ea typeface="Montserrat Light"/>
                <a:cs typeface="Montserrat Light"/>
                <a:sym typeface="Montserrat Light"/>
              </a:rPr>
              <a:t>7. Link con acceso al espacio (Podio o tool) en donde se hace trackeo de estándares de dicho EP.</a:t>
            </a:r>
            <a:endParaRPr sz="1161">
              <a:solidFill>
                <a:schemeClr val="dk1"/>
              </a:solidFill>
              <a:latin typeface="Montserrat Light"/>
              <a:ea typeface="Montserrat Light"/>
              <a:cs typeface="Montserrat Light"/>
              <a:sym typeface="Montserrat Light"/>
            </a:endParaRPr>
          </a:p>
        </p:txBody>
      </p:sp>
      <p:sp>
        <p:nvSpPr>
          <p:cNvPr id="290" name="Google Shape;290;p31"/>
          <p:cNvSpPr/>
          <p:nvPr/>
        </p:nvSpPr>
        <p:spPr>
          <a:xfrm>
            <a:off x="132249" y="3906889"/>
            <a:ext cx="1395300" cy="379200"/>
          </a:xfrm>
          <a:prstGeom prst="roundRect">
            <a:avLst>
              <a:gd fmla="val 16529" name="adj"/>
            </a:avLst>
          </a:prstGeom>
          <a:solidFill>
            <a:srgbClr val="F48923"/>
          </a:solidFill>
          <a:ln cap="flat" cmpd="sng" w="6150">
            <a:solidFill>
              <a:srgbClr val="FFFFFF"/>
            </a:solidFill>
            <a:prstDash val="solid"/>
            <a:miter lim="400000"/>
            <a:headEnd len="sm" w="sm" type="none"/>
            <a:tailEnd len="sm" w="sm" type="none"/>
          </a:ln>
          <a:effectLst>
            <a:outerShdw blurRad="12288" rotWithShape="0" dir="2700000" dist="24576">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64">
                <a:solidFill>
                  <a:srgbClr val="FFFFFF"/>
                </a:solidFill>
                <a:latin typeface="Montserrat Black"/>
                <a:ea typeface="Montserrat Black"/>
                <a:cs typeface="Montserrat Black"/>
                <a:sym typeface="Montserrat Black"/>
              </a:rPr>
              <a:t>CON QUIÉN</a:t>
            </a:r>
            <a:endParaRPr sz="1064">
              <a:latin typeface="Montserrat"/>
              <a:ea typeface="Montserrat"/>
              <a:cs typeface="Montserrat"/>
              <a:sym typeface="Montserrat"/>
            </a:endParaRPr>
          </a:p>
        </p:txBody>
      </p:sp>
      <p:sp>
        <p:nvSpPr>
          <p:cNvPr id="291" name="Google Shape;291;p31"/>
          <p:cNvSpPr txBox="1"/>
          <p:nvPr/>
        </p:nvSpPr>
        <p:spPr>
          <a:xfrm>
            <a:off x="2009091" y="3828517"/>
            <a:ext cx="5374500" cy="536100"/>
          </a:xfrm>
          <a:prstGeom prst="rect">
            <a:avLst/>
          </a:prstGeom>
          <a:noFill/>
          <a:ln>
            <a:noFill/>
          </a:ln>
        </p:spPr>
        <p:txBody>
          <a:bodyPr anchorCtr="0" anchor="ctr" bIns="88475" lIns="88475" spcFirstLastPara="1" rIns="88475" wrap="square" tIns="88475">
            <a:spAutoFit/>
          </a:bodyPr>
          <a:lstStyle/>
          <a:p>
            <a:pPr indent="0" lvl="0" marL="0" rtl="0" algn="just">
              <a:spcBef>
                <a:spcPts val="0"/>
              </a:spcBef>
              <a:spcAft>
                <a:spcPts val="0"/>
              </a:spcAft>
              <a:buClr>
                <a:srgbClr val="000000"/>
              </a:buClr>
              <a:buSzPts val="532"/>
              <a:buFont typeface="Arial"/>
              <a:buNone/>
            </a:pPr>
            <a:r>
              <a:rPr lang="en" sz="1161">
                <a:solidFill>
                  <a:schemeClr val="dk1"/>
                </a:solidFill>
                <a:latin typeface="Montserrat Light"/>
                <a:ea typeface="Montserrat Light"/>
                <a:cs typeface="Montserrat Light"/>
                <a:sym typeface="Montserrat Light"/>
              </a:rPr>
              <a:t>OGX Consideration Team</a:t>
            </a:r>
            <a:endParaRPr sz="1161">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1">
                <a:solidFill>
                  <a:schemeClr val="dk1"/>
                </a:solidFill>
                <a:latin typeface="Montserrat Light"/>
                <a:ea typeface="Montserrat Light"/>
                <a:cs typeface="Montserrat Light"/>
                <a:sym typeface="Montserrat Light"/>
              </a:rPr>
              <a:t>IR Partner</a:t>
            </a:r>
            <a:endParaRPr sz="1161">
              <a:solidFill>
                <a:schemeClr val="dk1"/>
              </a:solidFill>
              <a:latin typeface="Montserrat Light"/>
              <a:ea typeface="Montserrat Light"/>
              <a:cs typeface="Montserrat Light"/>
              <a:sym typeface="Montserrat Light"/>
            </a:endParaRPr>
          </a:p>
        </p:txBody>
      </p:sp>
      <p:sp>
        <p:nvSpPr>
          <p:cNvPr id="292" name="Google Shape;292;p31"/>
          <p:cNvSpPr/>
          <p:nvPr/>
        </p:nvSpPr>
        <p:spPr>
          <a:xfrm>
            <a:off x="1527563" y="4065519"/>
            <a:ext cx="390900" cy="62100"/>
          </a:xfrm>
          <a:prstGeom prst="rightArrow">
            <a:avLst>
              <a:gd fmla="val 50000" name="adj1"/>
              <a:gd fmla="val 116706" name="adj2"/>
            </a:avLst>
          </a:prstGeom>
          <a:solidFill>
            <a:srgbClr val="F47721"/>
          </a:solidFill>
          <a:ln cap="flat" cmpd="sng" w="4625">
            <a:solidFill>
              <a:srgbClr val="FFFFFF"/>
            </a:solidFill>
            <a:prstDash val="solid"/>
            <a:round/>
            <a:headEnd len="sm" w="sm" type="none"/>
            <a:tailEnd len="sm" w="sm" type="none"/>
          </a:ln>
        </p:spPr>
        <p:txBody>
          <a:bodyPr anchorCtr="0" anchor="ctr" bIns="88475" lIns="88475" spcFirstLastPara="1" rIns="88475" wrap="square" tIns="8847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32"/>
          <p:cNvSpPr txBox="1"/>
          <p:nvPr/>
        </p:nvSpPr>
        <p:spPr>
          <a:xfrm>
            <a:off x="610718" y="755300"/>
            <a:ext cx="25341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5500">
                <a:solidFill>
                  <a:schemeClr val="lt1"/>
                </a:solidFill>
                <a:latin typeface="Montserrat"/>
                <a:ea typeface="Montserrat"/>
                <a:cs typeface="Montserrat"/>
                <a:sym typeface="Montserrat"/>
              </a:rPr>
              <a:t>TIPS!</a:t>
            </a:r>
            <a:endParaRPr b="1" sz="5500">
              <a:solidFill>
                <a:schemeClr val="dk2"/>
              </a:solidFill>
              <a:latin typeface="Nunito"/>
              <a:ea typeface="Nunito"/>
              <a:cs typeface="Nunito"/>
              <a:sym typeface="Nunito"/>
            </a:endParaRPr>
          </a:p>
        </p:txBody>
      </p:sp>
      <p:sp>
        <p:nvSpPr>
          <p:cNvPr id="298" name="Google Shape;298;p32"/>
          <p:cNvSpPr txBox="1"/>
          <p:nvPr/>
        </p:nvSpPr>
        <p:spPr>
          <a:xfrm>
            <a:off x="-117600" y="1343125"/>
            <a:ext cx="7333200" cy="4248300"/>
          </a:xfrm>
          <a:prstGeom prst="rect">
            <a:avLst/>
          </a:prstGeom>
          <a:noFill/>
          <a:ln>
            <a:noFill/>
          </a:ln>
        </p:spPr>
        <p:txBody>
          <a:bodyPr anchorCtr="0" anchor="t" bIns="182850" lIns="182850" spcFirstLastPara="1" rIns="182850" wrap="square" tIns="182850">
            <a:spAutoFit/>
          </a:bodyPr>
          <a:lstStyle/>
          <a:p>
            <a:pPr indent="0" lvl="0" marL="914400" rtl="0" algn="l">
              <a:spcBef>
                <a:spcPts val="0"/>
              </a:spcBef>
              <a:spcAft>
                <a:spcPts val="0"/>
              </a:spcAft>
              <a:buNone/>
            </a:pPr>
            <a:r>
              <a:rPr lang="en">
                <a:solidFill>
                  <a:schemeClr val="lt1"/>
                </a:solidFill>
                <a:latin typeface="Montserrat"/>
                <a:ea typeface="Montserrat"/>
                <a:cs typeface="Montserrat"/>
                <a:sym typeface="Montserrat"/>
              </a:rPr>
              <a:t>La comunicación tanto con el EP como con la cooperación son esencial, para eso te recomendamos:</a:t>
            </a:r>
            <a:br>
              <a:rPr lang="en">
                <a:solidFill>
                  <a:schemeClr val="lt1"/>
                </a:solidFill>
                <a:latin typeface="Montserrat"/>
                <a:ea typeface="Montserrat"/>
                <a:cs typeface="Montserrat"/>
                <a:sym typeface="Montserrat"/>
              </a:rPr>
            </a:br>
            <a:br>
              <a:rPr lang="en">
                <a:solidFill>
                  <a:schemeClr val="lt1"/>
                </a:solidFill>
                <a:latin typeface="Montserrat"/>
                <a:ea typeface="Montserrat"/>
                <a:cs typeface="Montserrat"/>
                <a:sym typeface="Montserrat"/>
              </a:rPr>
            </a:br>
            <a:r>
              <a:rPr lang="en">
                <a:solidFill>
                  <a:schemeClr val="lt1"/>
                </a:solidFill>
                <a:latin typeface="Montserrat"/>
                <a:ea typeface="Montserrat"/>
                <a:cs typeface="Montserrat"/>
                <a:sym typeface="Montserrat"/>
              </a:rPr>
              <a:t>1. Crear una carpeta en drive con tu cooperación donde puedan subir toda la evidencia de los Exchange Standards entregados. Esto te servirá tanto para garantizar que se estén cumpliendo, pero también para el momento de hacer auditorias. </a:t>
            </a:r>
            <a:br>
              <a:rPr lang="en">
                <a:solidFill>
                  <a:schemeClr val="lt1"/>
                </a:solidFill>
                <a:latin typeface="Montserrat"/>
                <a:ea typeface="Montserrat"/>
                <a:cs typeface="Montserrat"/>
                <a:sym typeface="Montserrat"/>
              </a:rPr>
            </a:b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rPr lang="en">
                <a:solidFill>
                  <a:schemeClr val="lt1"/>
                </a:solidFill>
                <a:latin typeface="Montserrat"/>
                <a:ea typeface="Montserrat"/>
                <a:cs typeface="Montserrat"/>
                <a:sym typeface="Montserrat"/>
              </a:rPr>
              <a:t>2. Mantén una comunicación constante con ambos lados, de ser posible, ten una llamada a la mitad de la experiencia con tu EP para un touchpoint más personal sobre cómo está siendo su experiencia. </a:t>
            </a:r>
            <a:br>
              <a:rPr lang="en">
                <a:solidFill>
                  <a:schemeClr val="lt1"/>
                </a:solidFill>
                <a:latin typeface="Montserrat"/>
                <a:ea typeface="Montserrat"/>
                <a:cs typeface="Montserrat"/>
                <a:sym typeface="Montserrat"/>
              </a:rPr>
            </a:b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rPr lang="en">
                <a:solidFill>
                  <a:schemeClr val="lt1"/>
                </a:solidFill>
                <a:latin typeface="Montserrat"/>
                <a:ea typeface="Montserrat"/>
                <a:cs typeface="Montserrat"/>
                <a:sym typeface="Montserrat"/>
              </a:rPr>
              <a:t>3. Fomentar que nuestro EP esté haciendo showcasing (fotos, videos, testimonio)</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2" name="Shape 302"/>
        <p:cNvGrpSpPr/>
        <p:nvPr/>
      </p:nvGrpSpPr>
      <p:grpSpPr>
        <a:xfrm>
          <a:off x="0" y="0"/>
          <a:ext cx="0" cy="0"/>
          <a:chOff x="0" y="0"/>
          <a:chExt cx="0" cy="0"/>
        </a:xfrm>
      </p:grpSpPr>
      <p:sp>
        <p:nvSpPr>
          <p:cNvPr id="303" name="Google Shape;303;p33"/>
          <p:cNvSpPr txBox="1"/>
          <p:nvPr/>
        </p:nvSpPr>
        <p:spPr>
          <a:xfrm>
            <a:off x="117075" y="484953"/>
            <a:ext cx="4256700" cy="562500"/>
          </a:xfrm>
          <a:prstGeom prst="rect">
            <a:avLst/>
          </a:prstGeom>
          <a:noFill/>
          <a:ln>
            <a:noFill/>
          </a:ln>
        </p:spPr>
        <p:txBody>
          <a:bodyPr anchorCtr="0" anchor="ctr" bIns="81475" lIns="81475" spcFirstLastPara="1" rIns="81475" wrap="square" tIns="81475">
            <a:noAutofit/>
          </a:bodyPr>
          <a:lstStyle/>
          <a:p>
            <a:pPr indent="0" lvl="0" marL="0" marR="0" rtl="0" algn="l">
              <a:lnSpc>
                <a:spcPct val="115000"/>
              </a:lnSpc>
              <a:spcBef>
                <a:spcPts val="0"/>
              </a:spcBef>
              <a:spcAft>
                <a:spcPts val="0"/>
              </a:spcAft>
              <a:buClr>
                <a:srgbClr val="343434"/>
              </a:buClr>
              <a:buSzPts val="3566"/>
              <a:buFont typeface="Lato Black"/>
              <a:buNone/>
            </a:pPr>
            <a:r>
              <a:rPr lang="en" sz="2763">
                <a:solidFill>
                  <a:srgbClr val="434343"/>
                </a:solidFill>
                <a:latin typeface="Montserrat Black"/>
                <a:ea typeface="Montserrat Black"/>
                <a:cs typeface="Montserrat Black"/>
                <a:sym typeface="Montserrat Black"/>
              </a:rPr>
              <a:t>Post- Experience.</a:t>
            </a:r>
            <a:endParaRPr sz="1604">
              <a:solidFill>
                <a:srgbClr val="434343"/>
              </a:solidFill>
              <a:latin typeface="Montserrat Light"/>
              <a:ea typeface="Montserrat Light"/>
              <a:cs typeface="Montserrat Light"/>
              <a:sym typeface="Montserrat Light"/>
            </a:endParaRPr>
          </a:p>
        </p:txBody>
      </p:sp>
      <p:sp>
        <p:nvSpPr>
          <p:cNvPr id="304" name="Google Shape;304;p33"/>
          <p:cNvSpPr txBox="1"/>
          <p:nvPr/>
        </p:nvSpPr>
        <p:spPr>
          <a:xfrm>
            <a:off x="117075" y="696907"/>
            <a:ext cx="1924200" cy="521400"/>
          </a:xfrm>
          <a:prstGeom prst="rect">
            <a:avLst/>
          </a:prstGeom>
          <a:noFill/>
          <a:ln>
            <a:noFill/>
          </a:ln>
        </p:spPr>
        <p:txBody>
          <a:bodyPr anchorCtr="0" anchor="t" bIns="81500" lIns="81500" spcFirstLastPara="1" rIns="81500" wrap="square" tIns="81500">
            <a:spAutoFit/>
          </a:bodyPr>
          <a:lstStyle/>
          <a:p>
            <a:pPr indent="0" lvl="0" marL="0" rtl="0" algn="l">
              <a:spcBef>
                <a:spcPts val="0"/>
              </a:spcBef>
              <a:spcAft>
                <a:spcPts val="0"/>
              </a:spcAft>
              <a:buNone/>
            </a:pPr>
            <a:r>
              <a:rPr lang="en" sz="2317">
                <a:solidFill>
                  <a:srgbClr val="F54132"/>
                </a:solidFill>
                <a:latin typeface="Shadows Into Light"/>
                <a:ea typeface="Shadows Into Light"/>
                <a:cs typeface="Shadows Into Light"/>
                <a:sym typeface="Shadows Into Light"/>
              </a:rPr>
              <a:t>FI - CO</a:t>
            </a:r>
            <a:endParaRPr sz="2317">
              <a:solidFill>
                <a:srgbClr val="F54132"/>
              </a:solidFill>
              <a:latin typeface="Shadows Into Light"/>
              <a:ea typeface="Shadows Into Light"/>
              <a:cs typeface="Shadows Into Light"/>
              <a:sym typeface="Shadows Into Light"/>
            </a:endParaRPr>
          </a:p>
        </p:txBody>
      </p:sp>
      <p:sp>
        <p:nvSpPr>
          <p:cNvPr id="305" name="Google Shape;305;p33"/>
          <p:cNvSpPr/>
          <p:nvPr/>
        </p:nvSpPr>
        <p:spPr>
          <a:xfrm>
            <a:off x="220025" y="1997423"/>
            <a:ext cx="1285500" cy="404400"/>
          </a:xfrm>
          <a:prstGeom prst="roundRect">
            <a:avLst>
              <a:gd fmla="val 16529" name="adj"/>
            </a:avLst>
          </a:prstGeom>
          <a:solidFill>
            <a:srgbClr val="30C39D"/>
          </a:solidFill>
          <a:ln cap="flat" cmpd="sng" w="5650">
            <a:solidFill>
              <a:srgbClr val="FFFFFF"/>
            </a:solidFill>
            <a:prstDash val="solid"/>
            <a:miter lim="400000"/>
            <a:headEnd len="sm" w="sm" type="none"/>
            <a:tailEnd len="sm" w="sm" type="none"/>
          </a:ln>
          <a:effectLst>
            <a:outerShdw blurRad="11322" rotWithShape="0" dir="2700000" dist="2264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980">
                <a:solidFill>
                  <a:srgbClr val="FFFFFF"/>
                </a:solidFill>
                <a:latin typeface="Montserrat Black"/>
                <a:ea typeface="Montserrat Black"/>
                <a:cs typeface="Montserrat Black"/>
                <a:sym typeface="Montserrat Black"/>
              </a:rPr>
              <a:t>QUÉ HACER</a:t>
            </a:r>
            <a:endParaRPr sz="980">
              <a:latin typeface="Montserrat"/>
              <a:ea typeface="Montserrat"/>
              <a:cs typeface="Montserrat"/>
              <a:sym typeface="Montserrat"/>
            </a:endParaRPr>
          </a:p>
        </p:txBody>
      </p:sp>
      <p:sp>
        <p:nvSpPr>
          <p:cNvPr id="306" name="Google Shape;306;p33"/>
          <p:cNvSpPr/>
          <p:nvPr/>
        </p:nvSpPr>
        <p:spPr>
          <a:xfrm>
            <a:off x="1505659" y="2166528"/>
            <a:ext cx="360300" cy="66300"/>
          </a:xfrm>
          <a:prstGeom prst="rightArrow">
            <a:avLst>
              <a:gd fmla="val 50000" name="adj1"/>
              <a:gd fmla="val 116706" name="adj2"/>
            </a:avLst>
          </a:prstGeom>
          <a:solidFill>
            <a:srgbClr val="F47721"/>
          </a:solidFill>
          <a:ln cap="flat" cmpd="sng" w="4250">
            <a:solidFill>
              <a:srgbClr val="FFFFFF"/>
            </a:solidFill>
            <a:prstDash val="solid"/>
            <a:round/>
            <a:headEnd len="sm" w="sm" type="none"/>
            <a:tailEnd len="sm" w="sm" type="none"/>
          </a:ln>
        </p:spPr>
        <p:txBody>
          <a:bodyPr anchorCtr="0" anchor="ctr" bIns="81500" lIns="81500" spcFirstLastPara="1" rIns="81500" wrap="square" tIns="815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07" name="Google Shape;307;p33"/>
          <p:cNvSpPr txBox="1"/>
          <p:nvPr/>
        </p:nvSpPr>
        <p:spPr>
          <a:xfrm>
            <a:off x="1949328" y="1342350"/>
            <a:ext cx="4193400" cy="2685600"/>
          </a:xfrm>
          <a:prstGeom prst="rect">
            <a:avLst/>
          </a:prstGeom>
          <a:noFill/>
          <a:ln>
            <a:noFill/>
          </a:ln>
        </p:spPr>
        <p:txBody>
          <a:bodyPr anchorCtr="0" anchor="ctr" bIns="81500" lIns="81500" spcFirstLastPara="1" rIns="81500" wrap="square" tIns="81500">
            <a:spAutoFit/>
          </a:bodyPr>
          <a:lstStyle/>
          <a:p>
            <a:pPr indent="0" lvl="0" marL="0" marR="0" rtl="0" algn="just">
              <a:lnSpc>
                <a:spcPct val="100000"/>
              </a:lnSpc>
              <a:spcBef>
                <a:spcPts val="0"/>
              </a:spcBef>
              <a:spcAft>
                <a:spcPts val="0"/>
              </a:spcAft>
              <a:buNone/>
            </a:pPr>
            <a:r>
              <a:rPr lang="en" sz="1169">
                <a:solidFill>
                  <a:schemeClr val="dk1"/>
                </a:solidFill>
                <a:latin typeface="Montserrat Light"/>
                <a:ea typeface="Montserrat Light"/>
                <a:cs typeface="Montserrat Light"/>
                <a:sym typeface="Montserrat Light"/>
              </a:rPr>
              <a:t>Cuando el EP regresa de su experiencia,  deberás agendar el espacio para el </a:t>
            </a:r>
            <a:r>
              <a:rPr lang="en" sz="1169">
                <a:solidFill>
                  <a:schemeClr val="dk1"/>
                </a:solidFill>
                <a:uFill>
                  <a:noFill/>
                </a:uFill>
                <a:latin typeface="Montserrat Light"/>
                <a:ea typeface="Montserrat Light"/>
                <a:cs typeface="Montserrat Light"/>
                <a:sym typeface="Montserrat Light"/>
                <a:hlinkClick r:id="rId4">
                  <a:extLst>
                    <a:ext uri="{A12FA001-AC4F-418D-AE19-62706E023703}">
                      <ahyp:hlinkClr val="tx"/>
                    </a:ext>
                  </a:extLst>
                </a:hlinkClick>
              </a:rPr>
              <a:t>Seminario de Reintegración </a:t>
            </a:r>
            <a:r>
              <a:rPr lang="en" sz="1169">
                <a:solidFill>
                  <a:schemeClr val="dk1"/>
                </a:solidFill>
                <a:latin typeface="Montserrat Light"/>
                <a:ea typeface="Montserrat Light"/>
                <a:cs typeface="Montserrat Light"/>
                <a:sym typeface="Montserrat Light"/>
              </a:rPr>
              <a:t>(RIS). </a:t>
            </a:r>
            <a:endParaRPr sz="1169">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69">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9">
                <a:solidFill>
                  <a:schemeClr val="dk1"/>
                </a:solidFill>
                <a:latin typeface="Montserrat Light"/>
                <a:ea typeface="Montserrat Light"/>
                <a:cs typeface="Montserrat Light"/>
                <a:sym typeface="Montserrat Light"/>
              </a:rPr>
              <a:t>Aquí podrás dar un cierre a la experiencia del EP, alinear su desarrollo de liderazgo y los logros personales que logró (planteados en el personal goal setting), así como también presentarle otras oportunidades que puede tomar dentro de AIESEC con el objetivo de que vuelva a entrar al Customer Flow. </a:t>
            </a:r>
            <a:endParaRPr sz="1169">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69">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69">
                <a:solidFill>
                  <a:schemeClr val="dk1"/>
                </a:solidFill>
                <a:latin typeface="Montserrat Light"/>
                <a:ea typeface="Montserrat Light"/>
                <a:cs typeface="Montserrat Light"/>
                <a:sym typeface="Montserrat Light"/>
              </a:rPr>
              <a:t>El EP podrá llenar el NPS y darnos feedback para mejorar en la entrega de experiencias.</a:t>
            </a:r>
            <a:endParaRPr sz="1169">
              <a:solidFill>
                <a:schemeClr val="dk1"/>
              </a:solidFill>
              <a:latin typeface="Montserrat Light"/>
              <a:ea typeface="Montserrat Light"/>
              <a:cs typeface="Montserrat Light"/>
              <a:sym typeface="Montserrat Light"/>
            </a:endParaRPr>
          </a:p>
        </p:txBody>
      </p:sp>
      <p:sp>
        <p:nvSpPr>
          <p:cNvPr id="308" name="Google Shape;308;p33"/>
          <p:cNvSpPr/>
          <p:nvPr/>
        </p:nvSpPr>
        <p:spPr>
          <a:xfrm>
            <a:off x="220025" y="4133904"/>
            <a:ext cx="1285500" cy="404400"/>
          </a:xfrm>
          <a:prstGeom prst="roundRect">
            <a:avLst>
              <a:gd fmla="val 16529" name="adj"/>
            </a:avLst>
          </a:prstGeom>
          <a:solidFill>
            <a:srgbClr val="30C39D"/>
          </a:solidFill>
          <a:ln cap="flat" cmpd="sng" w="5650">
            <a:solidFill>
              <a:srgbClr val="FFFFFF"/>
            </a:solidFill>
            <a:prstDash val="solid"/>
            <a:miter lim="400000"/>
            <a:headEnd len="sm" w="sm" type="none"/>
            <a:tailEnd len="sm" w="sm" type="none"/>
          </a:ln>
          <a:effectLst>
            <a:outerShdw blurRad="11322" rotWithShape="0" dir="2700000" dist="22644">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980">
                <a:solidFill>
                  <a:srgbClr val="FFFFFF"/>
                </a:solidFill>
                <a:latin typeface="Montserrat Black"/>
                <a:ea typeface="Montserrat Black"/>
                <a:cs typeface="Montserrat Black"/>
                <a:sym typeface="Montserrat Black"/>
              </a:rPr>
              <a:t>CON QUIÉN</a:t>
            </a:r>
            <a:endParaRPr sz="980">
              <a:latin typeface="Montserrat"/>
              <a:ea typeface="Montserrat"/>
              <a:cs typeface="Montserrat"/>
              <a:sym typeface="Montserrat"/>
            </a:endParaRPr>
          </a:p>
        </p:txBody>
      </p:sp>
      <p:sp>
        <p:nvSpPr>
          <p:cNvPr id="309" name="Google Shape;309;p33"/>
          <p:cNvSpPr txBox="1"/>
          <p:nvPr/>
        </p:nvSpPr>
        <p:spPr>
          <a:xfrm>
            <a:off x="1949337" y="4145663"/>
            <a:ext cx="4952100" cy="494100"/>
          </a:xfrm>
          <a:prstGeom prst="rect">
            <a:avLst/>
          </a:prstGeom>
          <a:noFill/>
          <a:ln>
            <a:noFill/>
          </a:ln>
        </p:spPr>
        <p:txBody>
          <a:bodyPr anchorCtr="0" anchor="ctr" bIns="81500" lIns="81500" spcFirstLastPara="1" rIns="81500" wrap="square" tIns="81500">
            <a:spAutoFit/>
          </a:bodyPr>
          <a:lstStyle/>
          <a:p>
            <a:pPr indent="0" lvl="0" marL="0" rtl="0" algn="just">
              <a:spcBef>
                <a:spcPts val="0"/>
              </a:spcBef>
              <a:spcAft>
                <a:spcPts val="0"/>
              </a:spcAft>
              <a:buNone/>
            </a:pPr>
            <a:r>
              <a:rPr lang="en" sz="1069">
                <a:solidFill>
                  <a:schemeClr val="dk1"/>
                </a:solidFill>
                <a:latin typeface="Montserrat Light"/>
                <a:ea typeface="Montserrat Light"/>
                <a:cs typeface="Montserrat Light"/>
                <a:sym typeface="Montserrat Light"/>
              </a:rPr>
              <a:t>OGX Consideration Team</a:t>
            </a:r>
            <a:endParaRPr sz="1069">
              <a:solidFill>
                <a:schemeClr val="dk1"/>
              </a:solidFill>
              <a:latin typeface="Montserrat Light"/>
              <a:ea typeface="Montserrat Light"/>
              <a:cs typeface="Montserrat Light"/>
              <a:sym typeface="Montserrat Light"/>
            </a:endParaRPr>
          </a:p>
          <a:p>
            <a:pPr indent="0" lvl="0" marL="0" rtl="0" algn="just">
              <a:spcBef>
                <a:spcPts val="0"/>
              </a:spcBef>
              <a:spcAft>
                <a:spcPts val="0"/>
              </a:spcAft>
              <a:buClr>
                <a:srgbClr val="000000"/>
              </a:buClr>
              <a:buSzPts val="490"/>
              <a:buFont typeface="Arial"/>
              <a:buNone/>
            </a:pPr>
            <a:r>
              <a:rPr lang="en" sz="1069">
                <a:solidFill>
                  <a:schemeClr val="dk1"/>
                </a:solidFill>
                <a:latin typeface="Montserrat Light"/>
                <a:ea typeface="Montserrat Light"/>
                <a:cs typeface="Montserrat Light"/>
                <a:sym typeface="Montserrat Light"/>
              </a:rPr>
              <a:t>MXP</a:t>
            </a:r>
            <a:endParaRPr sz="1069">
              <a:solidFill>
                <a:schemeClr val="dk1"/>
              </a:solidFill>
              <a:latin typeface="Montserrat Light"/>
              <a:ea typeface="Montserrat Light"/>
              <a:cs typeface="Montserrat Light"/>
              <a:sym typeface="Montserrat Light"/>
            </a:endParaRPr>
          </a:p>
        </p:txBody>
      </p:sp>
      <p:sp>
        <p:nvSpPr>
          <p:cNvPr id="310" name="Google Shape;310;p33"/>
          <p:cNvSpPr/>
          <p:nvPr/>
        </p:nvSpPr>
        <p:spPr>
          <a:xfrm>
            <a:off x="1505659" y="4303010"/>
            <a:ext cx="360300" cy="66300"/>
          </a:xfrm>
          <a:prstGeom prst="rightArrow">
            <a:avLst>
              <a:gd fmla="val 50000" name="adj1"/>
              <a:gd fmla="val 116706" name="adj2"/>
            </a:avLst>
          </a:prstGeom>
          <a:solidFill>
            <a:srgbClr val="F47721"/>
          </a:solidFill>
          <a:ln cap="flat" cmpd="sng" w="4250">
            <a:solidFill>
              <a:srgbClr val="FFFFFF"/>
            </a:solidFill>
            <a:prstDash val="solid"/>
            <a:round/>
            <a:headEnd len="sm" w="sm" type="none"/>
            <a:tailEnd len="sm" w="sm" type="none"/>
          </a:ln>
        </p:spPr>
        <p:txBody>
          <a:bodyPr anchorCtr="0" anchor="ctr" bIns="81500" lIns="81500" spcFirstLastPara="1" rIns="81500" wrap="square" tIns="815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4" name="Shape 314"/>
        <p:cNvGrpSpPr/>
        <p:nvPr/>
      </p:nvGrpSpPr>
      <p:grpSpPr>
        <a:xfrm>
          <a:off x="0" y="0"/>
          <a:ext cx="0" cy="0"/>
          <a:chOff x="0" y="0"/>
          <a:chExt cx="0" cy="0"/>
        </a:xfrm>
      </p:grpSpPr>
      <p:sp>
        <p:nvSpPr>
          <p:cNvPr id="315" name="Google Shape;315;p34"/>
          <p:cNvSpPr txBox="1"/>
          <p:nvPr/>
        </p:nvSpPr>
        <p:spPr>
          <a:xfrm>
            <a:off x="117075" y="484953"/>
            <a:ext cx="4256700" cy="562500"/>
          </a:xfrm>
          <a:prstGeom prst="rect">
            <a:avLst/>
          </a:prstGeom>
          <a:noFill/>
          <a:ln>
            <a:noFill/>
          </a:ln>
        </p:spPr>
        <p:txBody>
          <a:bodyPr anchorCtr="0" anchor="ctr" bIns="81475" lIns="81475" spcFirstLastPara="1" rIns="81475" wrap="square" tIns="81475">
            <a:noAutofit/>
          </a:bodyPr>
          <a:lstStyle/>
          <a:p>
            <a:pPr indent="0" lvl="0" marL="0" marR="0" rtl="0" algn="l">
              <a:lnSpc>
                <a:spcPct val="115000"/>
              </a:lnSpc>
              <a:spcBef>
                <a:spcPts val="0"/>
              </a:spcBef>
              <a:spcAft>
                <a:spcPts val="0"/>
              </a:spcAft>
              <a:buClr>
                <a:srgbClr val="343434"/>
              </a:buClr>
              <a:buSzPts val="3566"/>
              <a:buFont typeface="Lato Black"/>
              <a:buNone/>
            </a:pPr>
            <a:r>
              <a:rPr lang="en" sz="2763">
                <a:solidFill>
                  <a:srgbClr val="434343"/>
                </a:solidFill>
                <a:latin typeface="Montserrat Black"/>
                <a:ea typeface="Montserrat Black"/>
                <a:cs typeface="Montserrat Black"/>
                <a:sym typeface="Montserrat Black"/>
              </a:rPr>
              <a:t>Post- Experience.</a:t>
            </a:r>
            <a:endParaRPr sz="1604">
              <a:solidFill>
                <a:srgbClr val="434343"/>
              </a:solidFill>
              <a:latin typeface="Montserrat Light"/>
              <a:ea typeface="Montserrat Light"/>
              <a:cs typeface="Montserrat Light"/>
              <a:sym typeface="Montserrat Light"/>
            </a:endParaRPr>
          </a:p>
        </p:txBody>
      </p:sp>
      <p:sp>
        <p:nvSpPr>
          <p:cNvPr id="316" name="Google Shape;316;p34"/>
          <p:cNvSpPr txBox="1"/>
          <p:nvPr/>
        </p:nvSpPr>
        <p:spPr>
          <a:xfrm>
            <a:off x="117075" y="696907"/>
            <a:ext cx="1924200" cy="521400"/>
          </a:xfrm>
          <a:prstGeom prst="rect">
            <a:avLst/>
          </a:prstGeom>
          <a:noFill/>
          <a:ln>
            <a:noFill/>
          </a:ln>
        </p:spPr>
        <p:txBody>
          <a:bodyPr anchorCtr="0" anchor="t" bIns="81500" lIns="81500" spcFirstLastPara="1" rIns="81500" wrap="square" tIns="81500">
            <a:spAutoFit/>
          </a:bodyPr>
          <a:lstStyle/>
          <a:p>
            <a:pPr indent="0" lvl="0" marL="0" rtl="0" algn="l">
              <a:spcBef>
                <a:spcPts val="0"/>
              </a:spcBef>
              <a:spcAft>
                <a:spcPts val="0"/>
              </a:spcAft>
              <a:buNone/>
            </a:pPr>
            <a:r>
              <a:rPr lang="en" sz="2317">
                <a:solidFill>
                  <a:srgbClr val="F54132"/>
                </a:solidFill>
                <a:latin typeface="Shadows Into Light"/>
                <a:ea typeface="Shadows Into Light"/>
                <a:cs typeface="Shadows Into Light"/>
                <a:sym typeface="Shadows Into Light"/>
              </a:rPr>
              <a:t>FI - CO</a:t>
            </a:r>
            <a:endParaRPr sz="2317">
              <a:solidFill>
                <a:srgbClr val="F54132"/>
              </a:solidFill>
              <a:latin typeface="Shadows Into Light"/>
              <a:ea typeface="Shadows Into Light"/>
              <a:cs typeface="Shadows Into Light"/>
              <a:sym typeface="Shadows Into Light"/>
            </a:endParaRPr>
          </a:p>
        </p:txBody>
      </p:sp>
      <p:sp>
        <p:nvSpPr>
          <p:cNvPr id="317" name="Google Shape;317;p34"/>
          <p:cNvSpPr/>
          <p:nvPr/>
        </p:nvSpPr>
        <p:spPr>
          <a:xfrm>
            <a:off x="117075" y="1899260"/>
            <a:ext cx="1436700" cy="390600"/>
          </a:xfrm>
          <a:prstGeom prst="roundRect">
            <a:avLst>
              <a:gd fmla="val 16529" name="adj"/>
            </a:avLst>
          </a:prstGeom>
          <a:solidFill>
            <a:srgbClr val="30C39D"/>
          </a:solidFill>
          <a:ln cap="flat" cmpd="sng" w="6325">
            <a:solidFill>
              <a:srgbClr val="FFFFFF"/>
            </a:solidFill>
            <a:prstDash val="solid"/>
            <a:miter lim="400000"/>
            <a:headEnd len="sm" w="sm" type="none"/>
            <a:tailEnd len="sm" w="sm" type="none"/>
          </a:ln>
          <a:effectLst>
            <a:outerShdw blurRad="12654" rotWithShape="0" dir="2700000" dist="25307">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95">
                <a:solidFill>
                  <a:srgbClr val="FFFFFF"/>
                </a:solidFill>
                <a:latin typeface="Montserrat Black"/>
                <a:ea typeface="Montserrat Black"/>
                <a:cs typeface="Montserrat Black"/>
                <a:sym typeface="Montserrat Black"/>
              </a:rPr>
              <a:t>QUÉ HACER</a:t>
            </a:r>
            <a:endParaRPr sz="1095">
              <a:latin typeface="Montserrat"/>
              <a:ea typeface="Montserrat"/>
              <a:cs typeface="Montserrat"/>
              <a:sym typeface="Montserrat"/>
            </a:endParaRPr>
          </a:p>
        </p:txBody>
      </p:sp>
      <p:sp>
        <p:nvSpPr>
          <p:cNvPr id="318" name="Google Shape;318;p34"/>
          <p:cNvSpPr/>
          <p:nvPr/>
        </p:nvSpPr>
        <p:spPr>
          <a:xfrm>
            <a:off x="1553923" y="2062613"/>
            <a:ext cx="402600" cy="63900"/>
          </a:xfrm>
          <a:prstGeom prst="rightArrow">
            <a:avLst>
              <a:gd fmla="val 50000" name="adj1"/>
              <a:gd fmla="val 116706" name="adj2"/>
            </a:avLst>
          </a:prstGeom>
          <a:solidFill>
            <a:srgbClr val="F47721"/>
          </a:solidFill>
          <a:ln cap="flat" cmpd="sng" w="4750">
            <a:solidFill>
              <a:srgbClr val="FFFFFF"/>
            </a:solidFill>
            <a:prstDash val="solid"/>
            <a:round/>
            <a:headEnd len="sm" w="sm" type="none"/>
            <a:tailEnd len="sm" w="sm" type="none"/>
          </a:ln>
        </p:spPr>
        <p:txBody>
          <a:bodyPr anchorCtr="0" anchor="ctr" bIns="91100" lIns="91100" spcFirstLastPara="1" rIns="91100" wrap="square" tIns="911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19" name="Google Shape;319;p34"/>
          <p:cNvSpPr txBox="1"/>
          <p:nvPr/>
        </p:nvSpPr>
        <p:spPr>
          <a:xfrm>
            <a:off x="2049777" y="1450450"/>
            <a:ext cx="4181100" cy="2024400"/>
          </a:xfrm>
          <a:prstGeom prst="rect">
            <a:avLst/>
          </a:prstGeom>
          <a:noFill/>
          <a:ln>
            <a:noFill/>
          </a:ln>
        </p:spPr>
        <p:txBody>
          <a:bodyPr anchorCtr="0" anchor="ctr" bIns="91100" lIns="91100" spcFirstLastPara="1" rIns="91100" wrap="square" tIns="91100">
            <a:spAutoFit/>
          </a:bodyPr>
          <a:lstStyle/>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Cuando tu EP regrese de su experiencia, es importante </a:t>
            </a:r>
            <a:r>
              <a:rPr b="1" lang="en" sz="1195">
                <a:solidFill>
                  <a:schemeClr val="dk1"/>
                </a:solidFill>
                <a:latin typeface="Montserrat"/>
                <a:ea typeface="Montserrat"/>
                <a:cs typeface="Montserrat"/>
                <a:sym typeface="Montserrat"/>
              </a:rPr>
              <a:t>recabar la siguiente información </a:t>
            </a:r>
            <a:r>
              <a:rPr lang="en" sz="1195">
                <a:solidFill>
                  <a:schemeClr val="dk1"/>
                </a:solidFill>
                <a:latin typeface="Montserrat Light"/>
                <a:ea typeface="Montserrat Light"/>
                <a:cs typeface="Montserrat Light"/>
                <a:sym typeface="Montserrat Light"/>
              </a:rPr>
              <a:t>para auditorías:</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1. Carta de cumplimiento</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2. Lista de asistencia | Confirmación de invitación</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3. PPT RIS</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4. Mensajes o correos de seguimiento de experiencia</a:t>
            </a:r>
            <a:endParaRPr sz="1195">
              <a:solidFill>
                <a:schemeClr val="dk1"/>
              </a:solidFill>
              <a:latin typeface="Montserrat Light"/>
              <a:ea typeface="Montserrat Light"/>
              <a:cs typeface="Montserrat Light"/>
              <a:sym typeface="Montserrat Light"/>
            </a:endParaRPr>
          </a:p>
          <a:p>
            <a:pPr indent="0" lvl="0" marL="0" marR="0" rtl="0" algn="just">
              <a:lnSpc>
                <a:spcPct val="100000"/>
              </a:lnSpc>
              <a:spcBef>
                <a:spcPts val="0"/>
              </a:spcBef>
              <a:spcAft>
                <a:spcPts val="0"/>
              </a:spcAft>
              <a:buNone/>
            </a:pPr>
            <a:r>
              <a:rPr lang="en" sz="1195">
                <a:solidFill>
                  <a:schemeClr val="dk1"/>
                </a:solidFill>
                <a:latin typeface="Montserrat Light"/>
                <a:ea typeface="Montserrat Light"/>
                <a:cs typeface="Montserrat Light"/>
                <a:sym typeface="Montserrat Light"/>
              </a:rPr>
              <a:t>5. Link con acceso al espacio (Podio o tool) en donde se hace trackeo de estándares de dicho EP.</a:t>
            </a:r>
            <a:endParaRPr sz="1195">
              <a:solidFill>
                <a:schemeClr val="dk1"/>
              </a:solidFill>
              <a:latin typeface="Montserrat Light"/>
              <a:ea typeface="Montserrat Light"/>
              <a:cs typeface="Montserrat Light"/>
              <a:sym typeface="Montserrat Light"/>
            </a:endParaRPr>
          </a:p>
        </p:txBody>
      </p:sp>
      <p:sp>
        <p:nvSpPr>
          <p:cNvPr id="320" name="Google Shape;320;p34"/>
          <p:cNvSpPr/>
          <p:nvPr/>
        </p:nvSpPr>
        <p:spPr>
          <a:xfrm>
            <a:off x="117075" y="3659378"/>
            <a:ext cx="1436700" cy="390600"/>
          </a:xfrm>
          <a:prstGeom prst="roundRect">
            <a:avLst>
              <a:gd fmla="val 16529" name="adj"/>
            </a:avLst>
          </a:prstGeom>
          <a:solidFill>
            <a:srgbClr val="30C39D"/>
          </a:solidFill>
          <a:ln cap="flat" cmpd="sng" w="6325">
            <a:solidFill>
              <a:srgbClr val="FFFFFF"/>
            </a:solidFill>
            <a:prstDash val="solid"/>
            <a:miter lim="400000"/>
            <a:headEnd len="sm" w="sm" type="none"/>
            <a:tailEnd len="sm" w="sm" type="none"/>
          </a:ln>
          <a:effectLst>
            <a:outerShdw blurRad="12654" rotWithShape="0" dir="2700000" dist="25307">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95">
                <a:solidFill>
                  <a:srgbClr val="FFFFFF"/>
                </a:solidFill>
                <a:latin typeface="Montserrat Black"/>
                <a:ea typeface="Montserrat Black"/>
                <a:cs typeface="Montserrat Black"/>
                <a:sym typeface="Montserrat Black"/>
              </a:rPr>
              <a:t>CON QUIÉN</a:t>
            </a:r>
            <a:endParaRPr sz="1095">
              <a:latin typeface="Montserrat"/>
              <a:ea typeface="Montserrat"/>
              <a:cs typeface="Montserrat"/>
              <a:sym typeface="Montserrat"/>
            </a:endParaRPr>
          </a:p>
        </p:txBody>
      </p:sp>
      <p:sp>
        <p:nvSpPr>
          <p:cNvPr id="321" name="Google Shape;321;p34"/>
          <p:cNvSpPr txBox="1"/>
          <p:nvPr/>
        </p:nvSpPr>
        <p:spPr>
          <a:xfrm>
            <a:off x="2049785" y="3670736"/>
            <a:ext cx="5534700" cy="368100"/>
          </a:xfrm>
          <a:prstGeom prst="rect">
            <a:avLst/>
          </a:prstGeom>
          <a:noFill/>
          <a:ln>
            <a:noFill/>
          </a:ln>
        </p:spPr>
        <p:txBody>
          <a:bodyPr anchorCtr="0" anchor="ctr" bIns="91100" lIns="91100" spcFirstLastPara="1" rIns="91100" wrap="square" tIns="91100">
            <a:spAutoFit/>
          </a:bodyPr>
          <a:lstStyle/>
          <a:p>
            <a:pPr indent="0" lvl="0" marL="0" rtl="0" algn="just">
              <a:spcBef>
                <a:spcPts val="0"/>
              </a:spcBef>
              <a:spcAft>
                <a:spcPts val="0"/>
              </a:spcAft>
              <a:buClr>
                <a:srgbClr val="000000"/>
              </a:buClr>
              <a:buSzPts val="548"/>
              <a:buFont typeface="Arial"/>
              <a:buNone/>
            </a:pPr>
            <a:r>
              <a:rPr lang="en" sz="1195">
                <a:solidFill>
                  <a:schemeClr val="dk1"/>
                </a:solidFill>
                <a:latin typeface="Montserrat Light"/>
                <a:ea typeface="Montserrat Light"/>
                <a:cs typeface="Montserrat Light"/>
                <a:sym typeface="Montserrat Light"/>
              </a:rPr>
              <a:t>OGX Consideration Team</a:t>
            </a:r>
            <a:endParaRPr sz="1195">
              <a:solidFill>
                <a:schemeClr val="dk1"/>
              </a:solidFill>
              <a:latin typeface="Montserrat Light"/>
              <a:ea typeface="Montserrat Light"/>
              <a:cs typeface="Montserrat Light"/>
              <a:sym typeface="Montserrat Light"/>
            </a:endParaRPr>
          </a:p>
        </p:txBody>
      </p:sp>
      <p:sp>
        <p:nvSpPr>
          <p:cNvPr id="322" name="Google Shape;322;p34"/>
          <p:cNvSpPr/>
          <p:nvPr/>
        </p:nvSpPr>
        <p:spPr>
          <a:xfrm>
            <a:off x="1553923" y="3822731"/>
            <a:ext cx="402600" cy="63900"/>
          </a:xfrm>
          <a:prstGeom prst="rightArrow">
            <a:avLst>
              <a:gd fmla="val 50000" name="adj1"/>
              <a:gd fmla="val 116706" name="adj2"/>
            </a:avLst>
          </a:prstGeom>
          <a:solidFill>
            <a:srgbClr val="F47721"/>
          </a:solidFill>
          <a:ln cap="flat" cmpd="sng" w="4750">
            <a:solidFill>
              <a:srgbClr val="FFFFFF"/>
            </a:solidFill>
            <a:prstDash val="solid"/>
            <a:round/>
            <a:headEnd len="sm" w="sm" type="none"/>
            <a:tailEnd len="sm" w="sm" type="none"/>
          </a:ln>
        </p:spPr>
        <p:txBody>
          <a:bodyPr anchorCtr="0" anchor="ctr" bIns="91100" lIns="91100" spcFirstLastPara="1" rIns="91100" wrap="square" tIns="91100">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35"/>
          <p:cNvSpPr txBox="1"/>
          <p:nvPr/>
        </p:nvSpPr>
        <p:spPr>
          <a:xfrm>
            <a:off x="610718" y="755300"/>
            <a:ext cx="25341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5500">
                <a:solidFill>
                  <a:schemeClr val="lt1"/>
                </a:solidFill>
                <a:latin typeface="Montserrat"/>
                <a:ea typeface="Montserrat"/>
                <a:cs typeface="Montserrat"/>
                <a:sym typeface="Montserrat"/>
              </a:rPr>
              <a:t>TIPS!</a:t>
            </a:r>
            <a:endParaRPr b="1" sz="5500">
              <a:solidFill>
                <a:schemeClr val="dk2"/>
              </a:solidFill>
              <a:latin typeface="Nunito"/>
              <a:ea typeface="Nunito"/>
              <a:cs typeface="Nunito"/>
              <a:sym typeface="Nunito"/>
            </a:endParaRPr>
          </a:p>
        </p:txBody>
      </p:sp>
      <p:sp>
        <p:nvSpPr>
          <p:cNvPr id="328" name="Google Shape;328;p35"/>
          <p:cNvSpPr txBox="1"/>
          <p:nvPr/>
        </p:nvSpPr>
        <p:spPr>
          <a:xfrm>
            <a:off x="543700" y="1299025"/>
            <a:ext cx="7333200" cy="42483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Para lograr convertir nuestros FI a CO te recomendamos: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No dejes pasar más de una semana del regreso de nuestro EP para agendar el Seminario de Reintegración (RIS). De esta manera, aseguramos que puedan asistir y sigan emocionados por su viaje.</a:t>
            </a:r>
            <a:endParaRPr>
              <a:solidFill>
                <a:schemeClr val="lt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Durante el RIS, aprovecha las imágenes que recabaste de la entrega de cada Exchange Standard para que el EP recuerde a qué se refiere cada una y el momento donde lo vivió, de esa manera nos aseguramos que no falte ninguno. </a:t>
            </a:r>
            <a:endParaRPr>
              <a:solidFill>
                <a:schemeClr val="lt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No termines el RIS sin dar un espacio para que llenen el formulario y garantizar el CO.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spcBef>
                <a:spcPts val="0"/>
              </a:spcBef>
              <a:spcAft>
                <a:spcPts val="0"/>
              </a:spcAft>
              <a:buNone/>
            </a:pPr>
            <a:r>
              <a:t/>
            </a:r>
            <a:endParaRPr>
              <a:solidFill>
                <a:schemeClr val="lt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2" name="Shape 33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