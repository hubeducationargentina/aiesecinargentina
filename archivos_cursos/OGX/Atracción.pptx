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aleway"/>
      <p:regular r:id="rId41"/>
      <p:bold r:id="rId42"/>
      <p:italic r:id="rId43"/>
      <p:boldItalic r:id="rId44"/>
    </p:embeddedFont>
    <p:embeddedFont>
      <p:font typeface="Nunito"/>
      <p:regular r:id="rId45"/>
      <p:bold r:id="rId46"/>
      <p:italic r:id="rId47"/>
      <p:boldItalic r:id="rId48"/>
    </p:embeddedFont>
    <p:embeddedFont>
      <p:font typeface="Montserrat"/>
      <p:regular r:id="rId49"/>
      <p:bold r:id="rId50"/>
      <p:italic r:id="rId51"/>
      <p:boldItalic r:id="rId52"/>
    </p:embeddedFont>
    <p:embeddedFont>
      <p:font typeface="Montserrat Black"/>
      <p:bold r:id="rId53"/>
      <p:boldItalic r:id="rId54"/>
    </p:embeddedFont>
    <p:embeddedFont>
      <p:font typeface="Montserrat Medium"/>
      <p:regular r:id="rId55"/>
      <p:bold r:id="rId56"/>
      <p:italic r:id="rId57"/>
      <p:boldItalic r:id="rId58"/>
    </p:embeddedFont>
    <p:embeddedFont>
      <p:font typeface="Raleway Black"/>
      <p:bold r:id="rId59"/>
      <p:boldItalic r:id="rId60"/>
    </p:embeddedFont>
    <p:embeddedFont>
      <p:font typeface="Raleway Medium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aleway-bold.fntdata"/><Relationship Id="rId41" Type="http://schemas.openxmlformats.org/officeDocument/2006/relationships/font" Target="fonts/Raleway-regular.fntdata"/><Relationship Id="rId44" Type="http://schemas.openxmlformats.org/officeDocument/2006/relationships/font" Target="fonts/Raleway-boldItalic.fntdata"/><Relationship Id="rId43" Type="http://schemas.openxmlformats.org/officeDocument/2006/relationships/font" Target="fonts/Raleway-italic.fntdata"/><Relationship Id="rId46" Type="http://schemas.openxmlformats.org/officeDocument/2006/relationships/font" Target="fonts/Nunito-bold.fntdata"/><Relationship Id="rId45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unito-boldItalic.fntdata"/><Relationship Id="rId47" Type="http://schemas.openxmlformats.org/officeDocument/2006/relationships/font" Target="fonts/Nunito-italic.fntdata"/><Relationship Id="rId49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alewayMedium-bold.fntdata"/><Relationship Id="rId61" Type="http://schemas.openxmlformats.org/officeDocument/2006/relationships/font" Target="fonts/RalewayMedium-regular.fntdata"/><Relationship Id="rId20" Type="http://schemas.openxmlformats.org/officeDocument/2006/relationships/slide" Target="slides/slide15.xml"/><Relationship Id="rId64" Type="http://schemas.openxmlformats.org/officeDocument/2006/relationships/font" Target="fonts/RalewayMedium-boldItalic.fntdata"/><Relationship Id="rId63" Type="http://schemas.openxmlformats.org/officeDocument/2006/relationships/font" Target="fonts/RalewayMedium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alewayBlack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-italic.fntdata"/><Relationship Id="rId50" Type="http://schemas.openxmlformats.org/officeDocument/2006/relationships/font" Target="fonts/Montserrat-bold.fntdata"/><Relationship Id="rId53" Type="http://schemas.openxmlformats.org/officeDocument/2006/relationships/font" Target="fonts/MontserratBlack-bold.fntdata"/><Relationship Id="rId52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55" Type="http://schemas.openxmlformats.org/officeDocument/2006/relationships/font" Target="fonts/MontserratMedium-regular.fntdata"/><Relationship Id="rId10" Type="http://schemas.openxmlformats.org/officeDocument/2006/relationships/slide" Target="slides/slide5.xml"/><Relationship Id="rId54" Type="http://schemas.openxmlformats.org/officeDocument/2006/relationships/font" Target="fonts/MontserratBlack-boldItalic.fntdata"/><Relationship Id="rId13" Type="http://schemas.openxmlformats.org/officeDocument/2006/relationships/slide" Target="slides/slide8.xml"/><Relationship Id="rId57" Type="http://schemas.openxmlformats.org/officeDocument/2006/relationships/font" Target="fonts/MontserratMedium-italic.fntdata"/><Relationship Id="rId12" Type="http://schemas.openxmlformats.org/officeDocument/2006/relationships/slide" Target="slides/slide7.xml"/><Relationship Id="rId56" Type="http://schemas.openxmlformats.org/officeDocument/2006/relationships/font" Target="fonts/MontserratMedium-bold.fntdata"/><Relationship Id="rId15" Type="http://schemas.openxmlformats.org/officeDocument/2006/relationships/slide" Target="slides/slide10.xml"/><Relationship Id="rId59" Type="http://schemas.openxmlformats.org/officeDocument/2006/relationships/font" Target="fonts/RalewayBlack-bold.fntdata"/><Relationship Id="rId14" Type="http://schemas.openxmlformats.org/officeDocument/2006/relationships/slide" Target="slides/slide9.xml"/><Relationship Id="rId58" Type="http://schemas.openxmlformats.org/officeDocument/2006/relationships/font" Target="fonts/Montserrat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bbf733ac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bbf733ac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8c37a42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8c37a42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3dbc0718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3dbc0718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8c9539de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8c9539d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8c9539de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8c9539de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8c9539de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8c9539de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8c9539de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8c9539de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8c9539de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8c9539de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8c9539de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8c9539de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8c9539de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8c9539de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8c9539de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8c9539de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8c9539de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8c9539de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8c9539de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8c9539de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c9539de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8c9539de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c9539de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8c9539de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8c9539de5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78c9539de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8c9539d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8c9539d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3dbc07181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3dbc0718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3bbf733ac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63bbf733ac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3bbf733ac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3bbf733ac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3bbf733ac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63bbf733a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3bbf733ac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3bbf733ac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3bbf733ac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3bbf733ac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3bbf733ac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3bbf733ac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3bbf733a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3bbf733a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385e42d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385e42d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385e42d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7385e42d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385e42d9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385e42d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385e42d9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385e42d9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3bbf733ac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3bbf733ac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3bc1dfc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3bc1df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3bc1dfc1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3bc1dfc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45f88cf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45f88cf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3bc1dfc1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3bc1dfc1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3bc1dfc1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3bc1dfc1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99300" y="2039150"/>
            <a:ext cx="67248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Atracción</a:t>
            </a:r>
            <a:endParaRPr b="1" sz="10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179275" y="1438625"/>
            <a:ext cx="6880500" cy="24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xxx</a:t>
            </a:r>
            <a:endParaRPr b="1" sz="10000">
              <a:solidFill>
                <a:srgbClr val="4BA5FB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0" name="Google Shape;60;p14" title="photo_4951723510330404388_w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3175" y="0"/>
            <a:ext cx="92547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661800" y="1714475"/>
            <a:ext cx="78204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¿CÓMO ME DOY CUENTA QUE ESTA SALIENDO MAL?</a:t>
            </a:r>
            <a:endParaRPr sz="4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6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ANALISIS</a:t>
            </a:r>
            <a:endParaRPr b="1" sz="6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6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/>
        </p:nvSpPr>
        <p:spPr>
          <a:xfrm>
            <a:off x="1660875" y="1687725"/>
            <a:ext cx="675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Es importante tener instancias de análisis de los procesos cada semana. Idealmente al principio o al final de la semana.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Este análisis solo puede estar basado en datos y hechos. Ya que de lo contrario lo único que estaríamos haciendo sería tomar decisiones en base a lo que nosotros pensamos, y no en base a lo que los números dicen.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/>
        </p:nvSpPr>
        <p:spPr>
          <a:xfrm>
            <a:off x="908550" y="1603825"/>
            <a:ext cx="73269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¿CÓMO PUEDO SABER QUE PARTE DEL PROCESO ANALIZAR?</a:t>
            </a:r>
            <a:endParaRPr b="1" sz="4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334825" y="1543900"/>
            <a:ext cx="6228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Si tu bottleneck está en esta etapa del funnel, el problema podría estar en algunos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de los siguientes procesos de ventas: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Intervenciones con público desenfocado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Mensaje poco atractivo en las intervenciones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Número de acciones de atracción realizadas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Primer contacto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Follow up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Llamados a la acción (CTA)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334825" y="805000"/>
            <a:ext cx="538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C7A31F"/>
                </a:solidFill>
                <a:latin typeface="Raleway Black"/>
                <a:ea typeface="Raleway Black"/>
                <a:cs typeface="Raleway Black"/>
                <a:sym typeface="Raleway Black"/>
              </a:rPr>
              <a:t>¿Te faltan </a:t>
            </a:r>
            <a:r>
              <a:rPr lang="en" sz="3600">
                <a:solidFill>
                  <a:srgbClr val="C7A31F"/>
                </a:solidFill>
                <a:latin typeface="Raleway Black"/>
                <a:ea typeface="Raleway Black"/>
                <a:cs typeface="Raleway Black"/>
                <a:sym typeface="Raleway Black"/>
              </a:rPr>
              <a:t>SIGN</a:t>
            </a:r>
            <a:r>
              <a:rPr lang="en" sz="3600">
                <a:solidFill>
                  <a:srgbClr val="C7A31F"/>
                </a:solidFill>
                <a:latin typeface="Raleway Black"/>
                <a:ea typeface="Raleway Black"/>
                <a:cs typeface="Raleway Black"/>
                <a:sym typeface="Raleway Black"/>
              </a:rPr>
              <a:t> UPs?</a:t>
            </a:r>
            <a:endParaRPr sz="3600">
              <a:solidFill>
                <a:srgbClr val="C7A31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/>
        </p:nvSpPr>
        <p:spPr>
          <a:xfrm>
            <a:off x="1861800" y="1789925"/>
            <a:ext cx="6228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Practicar tu speech de venta.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Hacer las intervenciones más llamativas.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Intervenciones estratégicas por buyer persona.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Planificación de intervenciones en base a datos.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Diversificación de canales de primer contacto y follow up.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Estrategias de seguimiento del cliente más claras y con un objetivo concreto.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Generar urgencia en el cliente con mi speech, descuentos.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1861800" y="496925"/>
            <a:ext cx="705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C7A31F"/>
                </a:solidFill>
                <a:latin typeface="Raleway Black"/>
                <a:ea typeface="Raleway Black"/>
                <a:cs typeface="Raleway Black"/>
                <a:sym typeface="Raleway Black"/>
              </a:rPr>
              <a:t>¿Qué puedo hacer para mejorar los SIGN UPs?</a:t>
            </a:r>
            <a:endParaRPr sz="3600">
              <a:solidFill>
                <a:srgbClr val="C7A31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334825" y="1543900"/>
            <a:ext cx="6228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Si tu bottleneck está en esta etapa del funnel, el problema podría estar en algunos de los siguientes procesos de ventas: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Reuniones informativas: Presentacion, skills de venta, informacion poco clara, etc.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Llamado a la acción para aplicar en el momento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Process time de envio de oportunidades al candidato.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Nurturing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Sentido de urgencia que le genero al comprador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334825" y="805000"/>
            <a:ext cx="538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C7A31F"/>
                </a:solidFill>
                <a:latin typeface="Raleway Black"/>
                <a:ea typeface="Raleway Black"/>
                <a:cs typeface="Raleway Black"/>
                <a:sym typeface="Raleway Black"/>
              </a:rPr>
              <a:t>¿Te faltan Aplicantes?</a:t>
            </a:r>
            <a:endParaRPr sz="3600">
              <a:solidFill>
                <a:srgbClr val="C7A31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/>
        </p:nvSpPr>
        <p:spPr>
          <a:xfrm>
            <a:off x="2477950" y="2084600"/>
            <a:ext cx="6228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Estructurar mejor la reunión informativa con una estrategia de venta por detras.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Mejorar el llamado a la acción de aplicar por medio de descuentos y o speechs de sentido de urgencia.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Rutina de process time mas rapida y eficiente.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Follow up en menos de 8 hs.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7A31F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Nurturing en base a experiencias de intercambios.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21"/>
          <p:cNvSpPr txBox="1"/>
          <p:nvPr/>
        </p:nvSpPr>
        <p:spPr>
          <a:xfrm>
            <a:off x="1861800" y="791600"/>
            <a:ext cx="705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C7A31F"/>
                </a:solidFill>
                <a:latin typeface="Raleway Black"/>
                <a:ea typeface="Raleway Black"/>
                <a:cs typeface="Raleway Black"/>
                <a:sym typeface="Raleway Black"/>
              </a:rPr>
              <a:t>¿Qué puedo hacer para mejorar los </a:t>
            </a:r>
            <a:r>
              <a:rPr lang="en" sz="3600">
                <a:solidFill>
                  <a:srgbClr val="C7A31F"/>
                </a:solidFill>
                <a:latin typeface="Raleway Black"/>
                <a:ea typeface="Raleway Black"/>
                <a:cs typeface="Raleway Black"/>
                <a:sym typeface="Raleway Black"/>
              </a:rPr>
              <a:t>APPLICANTS</a:t>
            </a:r>
            <a:r>
              <a:rPr lang="en" sz="3600">
                <a:solidFill>
                  <a:srgbClr val="C7A31F"/>
                </a:solidFill>
                <a:latin typeface="Raleway Black"/>
                <a:ea typeface="Raleway Black"/>
                <a:cs typeface="Raleway Black"/>
                <a:sym typeface="Raleway Black"/>
              </a:rPr>
              <a:t>?</a:t>
            </a:r>
            <a:endParaRPr sz="3600">
              <a:solidFill>
                <a:srgbClr val="C7A31F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/>
        </p:nvSpPr>
        <p:spPr>
          <a:xfrm>
            <a:off x="997900" y="1696200"/>
            <a:ext cx="7308900" cy="17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4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¿CÓMO ME PREPARO PARA PLANIFICAR ATRACCIÓN?</a:t>
            </a:r>
            <a:endParaRPr sz="48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23"/>
          <p:cNvGrpSpPr/>
          <p:nvPr/>
        </p:nvGrpSpPr>
        <p:grpSpPr>
          <a:xfrm>
            <a:off x="1163100" y="2401125"/>
            <a:ext cx="6817800" cy="187500"/>
            <a:chOff x="1163100" y="2096325"/>
            <a:chExt cx="6817800" cy="187500"/>
          </a:xfrm>
        </p:grpSpPr>
        <p:cxnSp>
          <p:nvCxnSpPr>
            <p:cNvPr id="110" name="Google Shape;110;p23"/>
            <p:cNvCxnSpPr/>
            <p:nvPr/>
          </p:nvCxnSpPr>
          <p:spPr>
            <a:xfrm>
              <a:off x="1163100" y="2183325"/>
              <a:ext cx="6817800" cy="13500"/>
            </a:xfrm>
            <a:prstGeom prst="straightConnector1">
              <a:avLst/>
            </a:prstGeom>
            <a:noFill/>
            <a:ln cap="flat" cmpd="sng" w="38100">
              <a:solidFill>
                <a:srgbClr val="4BA5FB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11" name="Google Shape;111;p23"/>
            <p:cNvSpPr/>
            <p:nvPr/>
          </p:nvSpPr>
          <p:spPr>
            <a:xfrm>
              <a:off x="4371000" y="2096325"/>
              <a:ext cx="201000" cy="187500"/>
            </a:xfrm>
            <a:prstGeom prst="ellipse">
              <a:avLst/>
            </a:prstGeom>
            <a:solidFill>
              <a:srgbClr val="4BA5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23"/>
          <p:cNvSpPr txBox="1"/>
          <p:nvPr/>
        </p:nvSpPr>
        <p:spPr>
          <a:xfrm>
            <a:off x="535800" y="1831775"/>
            <a:ext cx="154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Semana 0</a:t>
            </a:r>
            <a:endParaRPr sz="2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3" name="Google Shape;113;p23"/>
          <p:cNvSpPr txBox="1"/>
          <p:nvPr/>
        </p:nvSpPr>
        <p:spPr>
          <a:xfrm>
            <a:off x="3778175" y="1831775"/>
            <a:ext cx="154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Semana 1</a:t>
            </a:r>
            <a:endParaRPr sz="2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7185450" y="1831775"/>
            <a:ext cx="154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Semana 2</a:t>
            </a:r>
            <a:endParaRPr sz="22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642950" y="3082525"/>
            <a:ext cx="154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BA5FB"/>
                </a:solidFill>
                <a:latin typeface="Raleway"/>
                <a:ea typeface="Raleway"/>
                <a:cs typeface="Raleway"/>
                <a:sym typeface="Raleway"/>
              </a:rPr>
              <a:t>Pre-ATT</a:t>
            </a:r>
            <a:endParaRPr b="1" sz="2200">
              <a:solidFill>
                <a:srgbClr val="4BA5F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" name="Google Shape;116;p23"/>
          <p:cNvSpPr txBox="1"/>
          <p:nvPr/>
        </p:nvSpPr>
        <p:spPr>
          <a:xfrm>
            <a:off x="5416475" y="3082525"/>
            <a:ext cx="1540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4BA5FB"/>
                </a:solidFill>
                <a:latin typeface="Raleway"/>
                <a:ea typeface="Raleway"/>
                <a:cs typeface="Raleway"/>
                <a:sym typeface="Raleway"/>
              </a:rPr>
              <a:t>Attraction</a:t>
            </a:r>
            <a:endParaRPr b="1" sz="2200">
              <a:solidFill>
                <a:srgbClr val="4BA5FB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17" name="Google Shape;117;p23"/>
          <p:cNvCxnSpPr>
            <a:endCxn id="115" idx="0"/>
          </p:cNvCxnSpPr>
          <p:nvPr/>
        </p:nvCxnSpPr>
        <p:spPr>
          <a:xfrm>
            <a:off x="1252400" y="2634625"/>
            <a:ext cx="160800" cy="447900"/>
          </a:xfrm>
          <a:prstGeom prst="straightConnector1">
            <a:avLst/>
          </a:prstGeom>
          <a:noFill/>
          <a:ln cap="flat" cmpd="sng" w="28575">
            <a:solidFill>
              <a:srgbClr val="4BA5F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23"/>
          <p:cNvSpPr/>
          <p:nvPr/>
        </p:nvSpPr>
        <p:spPr>
          <a:xfrm rot="5400000">
            <a:off x="6027200" y="1175075"/>
            <a:ext cx="255300" cy="3415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4BA5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/>
        </p:nvSpPr>
        <p:spPr>
          <a:xfrm>
            <a:off x="281225" y="407400"/>
            <a:ext cx="7059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highlight>
                  <a:srgbClr val="405E78"/>
                </a:highlight>
                <a:latin typeface="Raleway Black"/>
                <a:ea typeface="Raleway Black"/>
                <a:cs typeface="Raleway Black"/>
                <a:sym typeface="Raleway Black"/>
              </a:rPr>
              <a:t>SEMANA 0</a:t>
            </a:r>
            <a:endParaRPr sz="3600">
              <a:solidFill>
                <a:schemeClr val="lt1"/>
              </a:solidFill>
              <a:highlight>
                <a:srgbClr val="405E78"/>
              </a:highlight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405E78"/>
                </a:solidFill>
                <a:latin typeface="Raleway Black"/>
                <a:ea typeface="Raleway Black"/>
                <a:cs typeface="Raleway Black"/>
                <a:sym typeface="Raleway Black"/>
              </a:rPr>
              <a:t>Pre atraccion</a:t>
            </a:r>
            <a:endParaRPr sz="3600">
              <a:solidFill>
                <a:srgbClr val="405E78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61600" y="1780800"/>
            <a:ext cx="6228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La semana 0, corresponde a la última semana del mes. En esta semana el objetivo es poder realizar: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Análisis de qué cosas funcionaron en el mes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Búsqueda de eventos por venir el mes siguiente donde poder hacer intervenciones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Planificación de universidades y carreras en donde se harán intervenciones según las oportunidades que ofrezco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800"/>
              <a:buFont typeface="Raleway"/>
              <a:buChar char="●"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Calendarización de actividades y acciones de atracción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13450" y="1844925"/>
            <a:ext cx="8117100" cy="16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¿Dónde calendarizar las acciones de atracción y actividades?</a:t>
            </a:r>
            <a:endParaRPr b="1" sz="4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/>
        </p:nvSpPr>
        <p:spPr>
          <a:xfrm>
            <a:off x="214275" y="2999675"/>
            <a:ext cx="82242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Pondremos el dia que sucederá esa acción.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El tipo de acción de atracción que es (intervencion, difusion, flayers, universidades,etc)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Designaremos una meta de SUs que me dará esa acción de atracción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En nuestra performance tracker personal pondremos todas las acciones que me llevaran a que la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atracción sea un éxito.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Por último le pondremos un deadline para que la acción suceda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/>
        </p:nvSpPr>
        <p:spPr>
          <a:xfrm>
            <a:off x="1714525" y="1415225"/>
            <a:ext cx="637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405E78"/>
                </a:solidFill>
                <a:latin typeface="Raleway Black"/>
                <a:ea typeface="Raleway Black"/>
                <a:cs typeface="Raleway Black"/>
                <a:sym typeface="Raleway Black"/>
              </a:rPr>
              <a:t>¿Dónde puedo encontrar eventos a donde ir?</a:t>
            </a:r>
            <a:endParaRPr sz="2800">
              <a:solidFill>
                <a:srgbClr val="405E78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4" name="Google Shape;144;p28"/>
          <p:cNvSpPr txBox="1"/>
          <p:nvPr/>
        </p:nvSpPr>
        <p:spPr>
          <a:xfrm>
            <a:off x="1647475" y="2461925"/>
            <a:ext cx="6228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2200"/>
              <a:buFont typeface="Raleway"/>
              <a:buChar char="●"/>
            </a:pPr>
            <a:r>
              <a:rPr lang="en" sz="2200">
                <a:latin typeface="Raleway"/>
                <a:ea typeface="Raleway"/>
                <a:cs typeface="Raleway"/>
                <a:sym typeface="Raleway"/>
              </a:rPr>
              <a:t>Calendario de eventos del gobierno</a:t>
            </a:r>
            <a:endParaRPr sz="2200"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2200"/>
              <a:buFont typeface="Raleway"/>
              <a:buChar char="●"/>
            </a:pPr>
            <a:r>
              <a:rPr lang="en" sz="2200">
                <a:latin typeface="Raleway"/>
                <a:ea typeface="Raleway"/>
                <a:cs typeface="Raleway"/>
                <a:sym typeface="Raleway"/>
              </a:rPr>
              <a:t>PÁGINAS DE LA PROVINCIA</a:t>
            </a:r>
            <a:endParaRPr sz="2200"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2200"/>
              <a:buFont typeface="Raleway"/>
              <a:buChar char="●"/>
            </a:pPr>
            <a:r>
              <a:rPr lang="en" sz="2200">
                <a:latin typeface="Raleway"/>
                <a:ea typeface="Raleway"/>
                <a:cs typeface="Raleway"/>
                <a:sym typeface="Raleway"/>
              </a:rPr>
              <a:t>PÁGINAS DE LA UNIVERSIDAD</a:t>
            </a:r>
            <a:endParaRPr sz="2200">
              <a:latin typeface="Raleway"/>
              <a:ea typeface="Raleway"/>
              <a:cs typeface="Raleway"/>
              <a:sym typeface="Ralew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405E78"/>
              </a:buClr>
              <a:buSzPts val="2200"/>
              <a:buFont typeface="Raleway"/>
              <a:buChar char="●"/>
            </a:pPr>
            <a:r>
              <a:rPr lang="en" sz="2200">
                <a:latin typeface="Raleway"/>
                <a:ea typeface="Raleway"/>
                <a:cs typeface="Raleway"/>
                <a:sym typeface="Raleway"/>
              </a:rPr>
              <a:t>GOOGLE</a:t>
            </a:r>
            <a:endParaRPr sz="2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1535825" y="2039150"/>
            <a:ext cx="61884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Títulos</a:t>
            </a:r>
            <a:endParaRPr b="1" sz="10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29"/>
          <p:cNvSpPr txBox="1"/>
          <p:nvPr/>
        </p:nvSpPr>
        <p:spPr>
          <a:xfrm>
            <a:off x="3114155" y="3318108"/>
            <a:ext cx="29157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1477788" y="1844918"/>
            <a:ext cx="61884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Subtítulo</a:t>
            </a:r>
            <a:endParaRPr sz="7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2517148" y="2585825"/>
            <a:ext cx="41097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Texto o teoria</a:t>
            </a:r>
            <a:endParaRPr sz="4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/>
        </p:nvSpPr>
        <p:spPr>
          <a:xfrm>
            <a:off x="332125" y="265450"/>
            <a:ext cx="3643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highlight>
                  <a:srgbClr val="405E78"/>
                </a:highlight>
                <a:latin typeface="Montserrat"/>
                <a:ea typeface="Montserrat"/>
                <a:cs typeface="Montserrat"/>
                <a:sym typeface="Montserrat"/>
              </a:rPr>
              <a:t>Storytelling</a:t>
            </a:r>
            <a:endParaRPr sz="4000">
              <a:solidFill>
                <a:schemeClr val="lt1"/>
              </a:solidFill>
              <a:highlight>
                <a:srgbClr val="405E78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405E7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/>
        </p:nvSpPr>
        <p:spPr>
          <a:xfrm>
            <a:off x="1477788" y="1945643"/>
            <a:ext cx="61884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6807"/>
              </a:spcAft>
              <a:buNone/>
            </a:pPr>
            <a:r>
              <a:rPr lang="en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Dinámica</a:t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/>
        </p:nvSpPr>
        <p:spPr>
          <a:xfrm>
            <a:off x="1477788" y="1844918"/>
            <a:ext cx="61884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6807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Subtítulo</a:t>
            </a:r>
            <a:endParaRPr sz="7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6807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2" name="Google Shape;172;p33"/>
          <p:cNvSpPr txBox="1"/>
          <p:nvPr/>
        </p:nvSpPr>
        <p:spPr>
          <a:xfrm>
            <a:off x="2517148" y="2585825"/>
            <a:ext cx="41097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Texto o teoria</a:t>
            </a:r>
            <a:endParaRPr sz="4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