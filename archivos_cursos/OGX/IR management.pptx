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Nunito"/>
      <p:regular r:id="rId20"/>
      <p:bold r:id="rId21"/>
      <p:italic r:id="rId22"/>
      <p:boldItalic r:id="rId23"/>
    </p:embeddedFont>
    <p:embeddedFont>
      <p:font typeface="Montserrat"/>
      <p:regular r:id="rId24"/>
      <p:bold r:id="rId25"/>
      <p:italic r:id="rId26"/>
      <p:boldItalic r:id="rId27"/>
    </p:embeddedFont>
    <p:embeddedFont>
      <p:font typeface="Lato Black"/>
      <p:bold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Montserrat-regular.fntdata"/><Relationship Id="rId23"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italic.fntdata"/><Relationship Id="rId25" Type="http://schemas.openxmlformats.org/officeDocument/2006/relationships/font" Target="fonts/Montserrat-bold.fntdata"/><Relationship Id="rId28" Type="http://schemas.openxmlformats.org/officeDocument/2006/relationships/font" Target="fonts/LatoBlack-bold.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lack-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63bbf733a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63bbf733a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63bbf733ac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63bbf733ac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63bbf733ac_0_2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63bbf733ac_0_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63bbf733ac_0_3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63bbf733ac_0_3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7385e42d9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7385e42d9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64cd70f6d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64cd70f6d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3bbf733ac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63bbf733ac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63bbf733ac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63bbf733ac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385e42d9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7385e42d9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64cd70f6d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64cd70f6d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7385e42d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7385e42d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7385e42d93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7385e42d9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64cd70f6dc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64cd70f6dc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63bc1dfc1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63bc1dfc1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jpg"/><Relationship Id="rId4" Type="http://schemas.openxmlformats.org/officeDocument/2006/relationships/hyperlink" Target="https://expa.aiesec.org/" TargetMode="External"/><Relationship Id="rId5" Type="http://schemas.openxmlformats.org/officeDocument/2006/relationships/hyperlink" Target="https://core.aiesec.org.eg/" TargetMode="External"/><Relationship Id="rId6" Type="http://schemas.openxmlformats.org/officeDocument/2006/relationships/hyperlink" Target="https://podio.com/home" TargetMode="External"/><Relationship Id="rId7" Type="http://schemas.openxmlformats.org/officeDocument/2006/relationships/hyperlink" Target="http://bit.ly/oGXDashboard2024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jpg"/><Relationship Id="rId4"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jpg"/><Relationship Id="rId4" Type="http://schemas.openxmlformats.org/officeDocument/2006/relationships/hyperlink" Target="http://aiesec.org" TargetMode="External"/><Relationship Id="rId5" Type="http://schemas.openxmlformats.org/officeDocument/2006/relationships/hyperlink" Target="https://docs.google.com/spreadsheets/d/1Va65-jAfiPSWTkZQtqnX7KYpzijpFTNSKg9yRTP3gEQ/edit?gid=1240610964#gid=1240610964"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0" y="0"/>
            <a:ext cx="9144000" cy="514350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 name="Shape 58"/>
        <p:cNvGrpSpPr/>
        <p:nvPr/>
      </p:nvGrpSpPr>
      <p:grpSpPr>
        <a:xfrm>
          <a:off x="0" y="0"/>
          <a:ext cx="0" cy="0"/>
          <a:chOff x="0" y="0"/>
          <a:chExt cx="0" cy="0"/>
        </a:xfrm>
      </p:grpSpPr>
      <p:sp>
        <p:nvSpPr>
          <p:cNvPr id="59" name="Google Shape;59;p14"/>
          <p:cNvSpPr txBox="1"/>
          <p:nvPr/>
        </p:nvSpPr>
        <p:spPr>
          <a:xfrm>
            <a:off x="776100" y="2121750"/>
            <a:ext cx="7591800" cy="900000"/>
          </a:xfrm>
          <a:prstGeom prst="rect">
            <a:avLst/>
          </a:prstGeom>
          <a:noFill/>
          <a:ln>
            <a:noFill/>
          </a:ln>
        </p:spPr>
        <p:txBody>
          <a:bodyPr anchorCtr="0" anchor="t" bIns="86425" lIns="86425" spcFirstLastPara="1" rIns="86425" wrap="square" tIns="86425">
            <a:noAutofit/>
          </a:bodyPr>
          <a:lstStyle/>
          <a:p>
            <a:pPr indent="0" lvl="0" marL="0" rtl="0" algn="ctr">
              <a:lnSpc>
                <a:spcPct val="70000"/>
              </a:lnSpc>
              <a:spcBef>
                <a:spcPts val="6807"/>
              </a:spcBef>
              <a:spcAft>
                <a:spcPts val="0"/>
              </a:spcAft>
              <a:buClr>
                <a:schemeClr val="dk1"/>
              </a:buClr>
              <a:buSzPts val="1100"/>
              <a:buFont typeface="Arial"/>
              <a:buNone/>
            </a:pPr>
            <a:r>
              <a:rPr b="1" lang="en" sz="6800">
                <a:solidFill>
                  <a:schemeClr val="lt1"/>
                </a:solidFill>
                <a:latin typeface="Montserrat"/>
                <a:ea typeface="Montserrat"/>
                <a:cs typeface="Montserrat"/>
                <a:sym typeface="Montserrat"/>
              </a:rPr>
              <a:t>IR Management</a:t>
            </a:r>
            <a:endParaRPr b="1" sz="6800">
              <a:solidFill>
                <a:schemeClr val="lt1"/>
              </a:solidFill>
              <a:latin typeface="Montserrat"/>
              <a:ea typeface="Montserrat"/>
              <a:cs typeface="Montserrat"/>
              <a:sym typeface="Montserrat"/>
            </a:endParaRPr>
          </a:p>
          <a:p>
            <a:pPr indent="0" lvl="0" marL="0" rtl="0" algn="l">
              <a:spcBef>
                <a:spcPts val="6807"/>
              </a:spcBef>
              <a:spcAft>
                <a:spcPts val="0"/>
              </a:spcAft>
              <a:buNone/>
            </a:pPr>
            <a:r>
              <a:t/>
            </a:r>
            <a:endParaRPr sz="100">
              <a:solidFill>
                <a:schemeClr val="dk2"/>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 name="Shape 63"/>
        <p:cNvGrpSpPr/>
        <p:nvPr/>
      </p:nvGrpSpPr>
      <p:grpSpPr>
        <a:xfrm>
          <a:off x="0" y="0"/>
          <a:ext cx="0" cy="0"/>
          <a:chOff x="0" y="0"/>
          <a:chExt cx="0" cy="0"/>
        </a:xfrm>
      </p:grpSpPr>
      <p:sp>
        <p:nvSpPr>
          <p:cNvPr id="64" name="Google Shape;64;p15"/>
          <p:cNvSpPr txBox="1"/>
          <p:nvPr/>
        </p:nvSpPr>
        <p:spPr>
          <a:xfrm>
            <a:off x="332125" y="265450"/>
            <a:ext cx="36432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4000">
                <a:solidFill>
                  <a:schemeClr val="lt1"/>
                </a:solidFill>
                <a:highlight>
                  <a:srgbClr val="405E78"/>
                </a:highlight>
                <a:latin typeface="Montserrat"/>
                <a:ea typeface="Montserrat"/>
                <a:cs typeface="Montserrat"/>
                <a:sym typeface="Montserrat"/>
              </a:rPr>
              <a:t>¿Que es IR?</a:t>
            </a:r>
            <a:endParaRPr sz="40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4000">
              <a:solidFill>
                <a:srgbClr val="405E78"/>
              </a:solidFill>
              <a:latin typeface="Nunito"/>
              <a:ea typeface="Nunito"/>
              <a:cs typeface="Nunito"/>
              <a:sym typeface="Nunito"/>
            </a:endParaRPr>
          </a:p>
        </p:txBody>
      </p:sp>
      <p:sp>
        <p:nvSpPr>
          <p:cNvPr id="65" name="Google Shape;65;p15"/>
          <p:cNvSpPr txBox="1"/>
          <p:nvPr/>
        </p:nvSpPr>
        <p:spPr>
          <a:xfrm>
            <a:off x="332126" y="1247575"/>
            <a:ext cx="5860800" cy="900000"/>
          </a:xfrm>
          <a:prstGeom prst="rect">
            <a:avLst/>
          </a:prstGeom>
          <a:noFill/>
          <a:ln>
            <a:noFill/>
          </a:ln>
        </p:spPr>
        <p:txBody>
          <a:bodyPr anchorCtr="0" anchor="t" bIns="86425" lIns="86425" spcFirstLastPara="1" rIns="86425" wrap="square" tIns="86425">
            <a:noAutofit/>
          </a:bodyPr>
          <a:lstStyle/>
          <a:p>
            <a:pPr indent="0" lvl="0" marL="0" rtl="0" algn="just">
              <a:spcBef>
                <a:spcPts val="0"/>
              </a:spcBef>
              <a:spcAft>
                <a:spcPts val="0"/>
              </a:spcAft>
              <a:buClr>
                <a:schemeClr val="dk1"/>
              </a:buClr>
              <a:buSzPts val="3300"/>
              <a:buFont typeface="Arial"/>
              <a:buNone/>
            </a:pPr>
            <a:r>
              <a:rPr lang="en" sz="1600">
                <a:solidFill>
                  <a:schemeClr val="dk1"/>
                </a:solidFill>
                <a:latin typeface="Montserrat"/>
                <a:ea typeface="Montserrat"/>
                <a:cs typeface="Montserrat"/>
                <a:sym typeface="Montserrat"/>
              </a:rPr>
              <a:t>International Relations, simplificado como IR, se refiere a la relación que </a:t>
            </a:r>
            <a:r>
              <a:rPr b="1" lang="en" sz="1600">
                <a:solidFill>
                  <a:schemeClr val="dk1"/>
                </a:solidFill>
                <a:latin typeface="Montserrat"/>
                <a:ea typeface="Montserrat"/>
                <a:cs typeface="Montserrat"/>
                <a:sym typeface="Montserrat"/>
              </a:rPr>
              <a:t>se conforma entre comités de distintas entidades </a:t>
            </a:r>
            <a:r>
              <a:rPr lang="en" sz="1600">
                <a:solidFill>
                  <a:schemeClr val="dk1"/>
                </a:solidFill>
                <a:latin typeface="Montserrat"/>
                <a:ea typeface="Montserrat"/>
                <a:cs typeface="Montserrat"/>
                <a:sym typeface="Montserrat"/>
              </a:rPr>
              <a:t>con el fin de trabajar en conjunto para garantizar el crecimiento entre ambas y la entrega de </a:t>
            </a:r>
            <a:r>
              <a:rPr b="1" lang="en" sz="1600">
                <a:solidFill>
                  <a:schemeClr val="dk1"/>
                </a:solidFill>
                <a:latin typeface="Montserrat"/>
                <a:ea typeface="Montserrat"/>
                <a:cs typeface="Montserrat"/>
                <a:sym typeface="Montserrat"/>
              </a:rPr>
              <a:t>experiencias de calidad. </a:t>
            </a:r>
            <a:endParaRPr b="1" sz="16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3300"/>
              <a:buFont typeface="Arial"/>
              <a:buNone/>
            </a:pPr>
            <a:r>
              <a:t/>
            </a:r>
            <a:endParaRPr sz="16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3300"/>
              <a:buFont typeface="Arial"/>
              <a:buNone/>
            </a:pPr>
            <a:r>
              <a:rPr lang="en" sz="1600">
                <a:solidFill>
                  <a:schemeClr val="dk1"/>
                </a:solidFill>
                <a:latin typeface="Montserrat"/>
                <a:ea typeface="Montserrat"/>
                <a:cs typeface="Montserrat"/>
                <a:sym typeface="Montserrat"/>
              </a:rPr>
              <a:t>IR se encuentra presente en todas las fases del Customer Flow al ser un nexo de comunicación con nuestras cooperaciones. .</a:t>
            </a:r>
            <a:endParaRPr sz="16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3300"/>
              <a:buFont typeface="Arial"/>
              <a:buNone/>
            </a:pPr>
            <a:r>
              <a:t/>
            </a:r>
            <a:endParaRPr sz="1600">
              <a:solidFill>
                <a:schemeClr val="dk1"/>
              </a:solidFill>
              <a:latin typeface="Montserrat"/>
              <a:ea typeface="Montserrat"/>
              <a:cs typeface="Montserrat"/>
              <a:sym typeface="Montserrat"/>
            </a:endParaRPr>
          </a:p>
          <a:p>
            <a:pPr indent="0" lvl="0" marL="0" rtl="0" algn="just">
              <a:lnSpc>
                <a:spcPct val="90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00">
              <a:solidFill>
                <a:schemeClr val="dk1"/>
              </a:solidFill>
              <a:latin typeface="Montserrat"/>
              <a:ea typeface="Montserrat"/>
              <a:cs typeface="Montserrat"/>
              <a:sym typeface="Montserra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p16"/>
          <p:cNvSpPr txBox="1"/>
          <p:nvPr/>
        </p:nvSpPr>
        <p:spPr>
          <a:xfrm>
            <a:off x="332125" y="265450"/>
            <a:ext cx="36432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4000">
                <a:solidFill>
                  <a:schemeClr val="lt1"/>
                </a:solidFill>
                <a:highlight>
                  <a:srgbClr val="405E78"/>
                </a:highlight>
                <a:latin typeface="Montserrat"/>
                <a:ea typeface="Montserrat"/>
                <a:cs typeface="Montserrat"/>
                <a:sym typeface="Montserrat"/>
              </a:rPr>
              <a:t>Relevancia</a:t>
            </a:r>
            <a:endParaRPr sz="40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4000">
              <a:solidFill>
                <a:srgbClr val="405E78"/>
              </a:solidFill>
              <a:latin typeface="Nunito"/>
              <a:ea typeface="Nunito"/>
              <a:cs typeface="Nunito"/>
              <a:sym typeface="Nunito"/>
            </a:endParaRPr>
          </a:p>
        </p:txBody>
      </p:sp>
      <p:sp>
        <p:nvSpPr>
          <p:cNvPr id="71" name="Google Shape;71;p16"/>
          <p:cNvSpPr/>
          <p:nvPr/>
        </p:nvSpPr>
        <p:spPr>
          <a:xfrm>
            <a:off x="1363775" y="1016125"/>
            <a:ext cx="5173500" cy="11238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marR="0" rtl="0" algn="ctr">
              <a:spcBef>
                <a:spcPts val="0"/>
              </a:spcBef>
              <a:spcAft>
                <a:spcPts val="0"/>
              </a:spcAft>
              <a:buNone/>
            </a:pPr>
            <a:r>
              <a:rPr lang="en" sz="1600">
                <a:solidFill>
                  <a:schemeClr val="dk1"/>
                </a:solidFill>
                <a:latin typeface="Montserrat"/>
                <a:ea typeface="Montserrat"/>
                <a:cs typeface="Montserrat"/>
                <a:sym typeface="Montserrat"/>
              </a:rPr>
              <a:t>Asegurarnos que todas las experiencias que entreguemos sean de calidad y que cumplan con los objetivos de la organización </a:t>
            </a:r>
            <a:endParaRPr sz="1600">
              <a:solidFill>
                <a:schemeClr val="dk1"/>
              </a:solidFill>
              <a:latin typeface="Montserrat"/>
              <a:ea typeface="Montserrat"/>
              <a:cs typeface="Montserrat"/>
              <a:sym typeface="Montserrat"/>
            </a:endParaRPr>
          </a:p>
        </p:txBody>
      </p:sp>
      <p:sp>
        <p:nvSpPr>
          <p:cNvPr id="72" name="Google Shape;72;p16"/>
          <p:cNvSpPr/>
          <p:nvPr/>
        </p:nvSpPr>
        <p:spPr>
          <a:xfrm>
            <a:off x="1363775" y="2449133"/>
            <a:ext cx="5173500" cy="7611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marR="0" rtl="0" algn="ctr">
              <a:spcBef>
                <a:spcPts val="0"/>
              </a:spcBef>
              <a:spcAft>
                <a:spcPts val="0"/>
              </a:spcAft>
              <a:buNone/>
            </a:pPr>
            <a:r>
              <a:rPr lang="en" sz="1600">
                <a:solidFill>
                  <a:schemeClr val="dk1"/>
                </a:solidFill>
                <a:latin typeface="Montserrat"/>
                <a:ea typeface="Montserrat"/>
                <a:cs typeface="Montserrat"/>
                <a:sym typeface="Montserrat"/>
              </a:rPr>
              <a:t>Acelerar el proceso de venta al permitirnos tener procesos claros y con prioridad.</a:t>
            </a:r>
            <a:endParaRPr sz="1600">
              <a:solidFill>
                <a:schemeClr val="dk1"/>
              </a:solidFill>
              <a:latin typeface="Montserrat"/>
              <a:ea typeface="Montserrat"/>
              <a:cs typeface="Montserrat"/>
              <a:sym typeface="Montserrat"/>
            </a:endParaRPr>
          </a:p>
        </p:txBody>
      </p:sp>
      <p:sp>
        <p:nvSpPr>
          <p:cNvPr id="73" name="Google Shape;73;p16"/>
          <p:cNvSpPr/>
          <p:nvPr/>
        </p:nvSpPr>
        <p:spPr>
          <a:xfrm>
            <a:off x="1363775" y="3519270"/>
            <a:ext cx="5173500" cy="1123800"/>
          </a:xfrm>
          <a:prstGeom prst="roundRect">
            <a:avLst>
              <a:gd fmla="val 16667" name="adj"/>
            </a:avLst>
          </a:prstGeom>
          <a:solidFill>
            <a:srgbClr val="FFFFFF"/>
          </a:solidFill>
          <a:ln cap="flat" cmpd="sng" w="12400">
            <a:solidFill>
              <a:schemeClr val="accent1"/>
            </a:solidFill>
            <a:prstDash val="solid"/>
            <a:miter lim="800000"/>
            <a:headEnd len="sm" w="sm" type="none"/>
            <a:tailEnd len="sm" w="sm" type="none"/>
          </a:ln>
        </p:spPr>
        <p:txBody>
          <a:bodyPr anchorCtr="0" anchor="ctr" bIns="59475" lIns="118950" spcFirstLastPara="1" rIns="118950" wrap="square" tIns="59475">
            <a:noAutofit/>
          </a:bodyPr>
          <a:lstStyle/>
          <a:p>
            <a:pPr indent="0" lvl="0" marL="0" marR="0" rtl="0" algn="ctr">
              <a:spcBef>
                <a:spcPts val="0"/>
              </a:spcBef>
              <a:spcAft>
                <a:spcPts val="0"/>
              </a:spcAft>
              <a:buNone/>
            </a:pPr>
            <a:r>
              <a:rPr lang="en" sz="1600">
                <a:solidFill>
                  <a:schemeClr val="dk1"/>
                </a:solidFill>
                <a:latin typeface="Montserrat"/>
                <a:ea typeface="Montserrat"/>
                <a:cs typeface="Montserrat"/>
                <a:sym typeface="Montserrat"/>
              </a:rPr>
              <a:t>Facilitar la etapa de Consideration s al ser prioridad con nuestras cooperaciones, además de poder alinear de mejor manera a nuestros EPs. </a:t>
            </a:r>
            <a:endParaRPr sz="1600">
              <a:solidFill>
                <a:schemeClr val="dk1"/>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sp>
        <p:nvSpPr>
          <p:cNvPr id="78" name="Google Shape;78;p17"/>
          <p:cNvSpPr txBox="1"/>
          <p:nvPr/>
        </p:nvSpPr>
        <p:spPr>
          <a:xfrm>
            <a:off x="2287200" y="219775"/>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900">
                <a:solidFill>
                  <a:schemeClr val="lt1"/>
                </a:solidFill>
                <a:highlight>
                  <a:srgbClr val="405E78"/>
                </a:highlight>
                <a:latin typeface="Montserrat"/>
                <a:ea typeface="Montserrat"/>
                <a:cs typeface="Montserrat"/>
                <a:sym typeface="Montserrat"/>
              </a:rPr>
              <a:t>¿</a:t>
            </a:r>
            <a:r>
              <a:rPr lang="en" sz="2900">
                <a:solidFill>
                  <a:schemeClr val="lt1"/>
                </a:solidFill>
                <a:highlight>
                  <a:srgbClr val="405E78"/>
                </a:highlight>
                <a:latin typeface="Montserrat"/>
                <a:ea typeface="Montserrat"/>
                <a:cs typeface="Montserrat"/>
                <a:sym typeface="Montserrat"/>
              </a:rPr>
              <a:t>Cómo</a:t>
            </a:r>
            <a:r>
              <a:rPr lang="en" sz="2900">
                <a:solidFill>
                  <a:schemeClr val="lt1"/>
                </a:solidFill>
                <a:highlight>
                  <a:srgbClr val="405E78"/>
                </a:highlight>
                <a:latin typeface="Montserrat"/>
                <a:ea typeface="Montserrat"/>
                <a:cs typeface="Montserrat"/>
                <a:sym typeface="Montserrat"/>
              </a:rPr>
              <a:t> decidir con </a:t>
            </a:r>
            <a:r>
              <a:rPr lang="en" sz="2900">
                <a:solidFill>
                  <a:schemeClr val="lt1"/>
                </a:solidFill>
                <a:highlight>
                  <a:srgbClr val="405E78"/>
                </a:highlight>
                <a:latin typeface="Montserrat"/>
                <a:ea typeface="Montserrat"/>
                <a:cs typeface="Montserrat"/>
                <a:sym typeface="Montserrat"/>
              </a:rPr>
              <a:t>quién</a:t>
            </a:r>
            <a:r>
              <a:rPr lang="en" sz="2900">
                <a:solidFill>
                  <a:schemeClr val="lt1"/>
                </a:solidFill>
                <a:highlight>
                  <a:srgbClr val="405E78"/>
                </a:highlight>
                <a:latin typeface="Montserrat"/>
                <a:ea typeface="Montserrat"/>
                <a:cs typeface="Montserrat"/>
                <a:sym typeface="Montserrat"/>
              </a:rPr>
              <a:t> trabajar?</a:t>
            </a:r>
            <a:endParaRPr sz="29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900">
              <a:solidFill>
                <a:srgbClr val="405E78"/>
              </a:solidFill>
              <a:latin typeface="Nunito"/>
              <a:ea typeface="Nunito"/>
              <a:cs typeface="Nunito"/>
              <a:sym typeface="Nunito"/>
            </a:endParaRPr>
          </a:p>
        </p:txBody>
      </p:sp>
      <p:sp>
        <p:nvSpPr>
          <p:cNvPr id="79" name="Google Shape;79;p17"/>
          <p:cNvSpPr/>
          <p:nvPr/>
        </p:nvSpPr>
        <p:spPr>
          <a:xfrm>
            <a:off x="1042500" y="2352317"/>
            <a:ext cx="1509900" cy="396300"/>
          </a:xfrm>
          <a:prstGeom prst="roundRect">
            <a:avLst>
              <a:gd fmla="val 16529" name="adj"/>
            </a:avLst>
          </a:prstGeom>
          <a:solidFill>
            <a:srgbClr val="F85B40"/>
          </a:solidFill>
          <a:ln cap="flat" cmpd="sng" w="6425">
            <a:solidFill>
              <a:srgbClr val="FFFFFF"/>
            </a:solidFill>
            <a:prstDash val="solid"/>
            <a:miter lim="400000"/>
            <a:headEnd len="sm" w="sm" type="none"/>
            <a:tailEnd len="sm" w="sm" type="none"/>
          </a:ln>
          <a:effectLst>
            <a:outerShdw blurRad="12834" rotWithShape="0" dir="2700000" dist="25669">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00">
                <a:solidFill>
                  <a:srgbClr val="FFFFFF"/>
                </a:solidFill>
                <a:latin typeface="Montserrat"/>
                <a:ea typeface="Montserrat"/>
                <a:cs typeface="Montserrat"/>
                <a:sym typeface="Montserrat"/>
              </a:rPr>
              <a:t>PASO 1.</a:t>
            </a:r>
            <a:endParaRPr sz="1100">
              <a:latin typeface="Montserrat"/>
              <a:ea typeface="Montserrat"/>
              <a:cs typeface="Montserrat"/>
              <a:sym typeface="Montserrat"/>
            </a:endParaRPr>
          </a:p>
        </p:txBody>
      </p:sp>
      <p:sp>
        <p:nvSpPr>
          <p:cNvPr id="80" name="Google Shape;80;p17"/>
          <p:cNvSpPr/>
          <p:nvPr/>
        </p:nvSpPr>
        <p:spPr>
          <a:xfrm>
            <a:off x="2552625" y="2518001"/>
            <a:ext cx="422700" cy="65100"/>
          </a:xfrm>
          <a:prstGeom prst="rightArrow">
            <a:avLst>
              <a:gd fmla="val 50000" name="adj1"/>
              <a:gd fmla="val 116706" name="adj2"/>
            </a:avLst>
          </a:prstGeom>
          <a:solidFill>
            <a:srgbClr val="F47721"/>
          </a:solidFill>
          <a:ln cap="flat" cmpd="sng" w="4825">
            <a:solidFill>
              <a:srgbClr val="FFFFFF"/>
            </a:solidFill>
            <a:prstDash val="solid"/>
            <a:round/>
            <a:headEnd len="sm" w="sm" type="none"/>
            <a:tailEnd len="sm" w="sm" type="none"/>
          </a:ln>
        </p:spPr>
        <p:txBody>
          <a:bodyPr anchorCtr="0" anchor="ctr" bIns="92400" lIns="92400" spcFirstLastPara="1" rIns="92400" wrap="square" tIns="92400">
            <a:noAutofit/>
          </a:bodyPr>
          <a:lstStyle/>
          <a:p>
            <a:pPr indent="0" lvl="0" marL="0" rtl="0" algn="l">
              <a:spcBef>
                <a:spcPts val="0"/>
              </a:spcBef>
              <a:spcAft>
                <a:spcPts val="0"/>
              </a:spcAft>
              <a:buNone/>
            </a:pPr>
            <a:r>
              <a:t/>
            </a:r>
            <a:endParaRPr sz="1100">
              <a:latin typeface="Montserrat"/>
              <a:ea typeface="Montserrat"/>
              <a:cs typeface="Montserrat"/>
              <a:sym typeface="Montserrat"/>
            </a:endParaRPr>
          </a:p>
        </p:txBody>
      </p:sp>
      <p:sp>
        <p:nvSpPr>
          <p:cNvPr id="81" name="Google Shape;81;p17"/>
          <p:cNvSpPr txBox="1"/>
          <p:nvPr/>
        </p:nvSpPr>
        <p:spPr>
          <a:xfrm>
            <a:off x="3064167" y="1073133"/>
            <a:ext cx="5817000" cy="2049000"/>
          </a:xfrm>
          <a:prstGeom prst="rect">
            <a:avLst/>
          </a:prstGeom>
          <a:noFill/>
          <a:ln>
            <a:noFill/>
          </a:ln>
        </p:spPr>
        <p:txBody>
          <a:bodyPr anchorCtr="0" anchor="ctr" bIns="92400" lIns="92400" spcFirstLastPara="1" rIns="92400" wrap="square" tIns="92400">
            <a:spAutoFit/>
          </a:bodyPr>
          <a:lstStyle/>
          <a:p>
            <a:pPr indent="0" lvl="0" marL="0" rtl="0" algn="l">
              <a:spcBef>
                <a:spcPts val="0"/>
              </a:spcBef>
              <a:spcAft>
                <a:spcPts val="0"/>
              </a:spcAft>
              <a:buNone/>
            </a:pPr>
            <a:r>
              <a:rPr lang="en" sz="1100">
                <a:solidFill>
                  <a:schemeClr val="dk1"/>
                </a:solidFill>
                <a:latin typeface="Montserrat"/>
                <a:ea typeface="Montserrat"/>
                <a:cs typeface="Montserrat"/>
                <a:sym typeface="Montserrat"/>
              </a:rPr>
              <a:t>Hacer un análisis de nuestro mercado y nuestros históricos, tales como realizaciones y completes, para conocer qué comités nuestros EPs prefieren y con cuáles ya tenemos históricos positivos de haber trabajado, es decir, podemos asegurar que vayan a entregar experiencias de calidad.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100">
                <a:solidFill>
                  <a:schemeClr val="dk1"/>
                </a:solidFill>
                <a:latin typeface="Montserrat"/>
                <a:ea typeface="Montserrat"/>
                <a:cs typeface="Montserrat"/>
                <a:sym typeface="Montserrat"/>
              </a:rPr>
              <a:t>A la par, debemos conocer qué proyectos ofertan éstas cooperaciones y si se alinean a los proyectos que nuestro mercado más busca.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100">
                <a:solidFill>
                  <a:schemeClr val="dk1"/>
                </a:solidFill>
                <a:latin typeface="Montserrat"/>
                <a:ea typeface="Montserrat"/>
                <a:cs typeface="Montserrat"/>
                <a:sym typeface="Montserrat"/>
              </a:rPr>
              <a:t>Este análisis se debe de hacer mínimo 1 vez al semestre, sobre todo en la etapa de planning, para poder tener más certeza al momento de planear nuestras metas.</a:t>
            </a:r>
            <a:endParaRPr sz="1100">
              <a:solidFill>
                <a:schemeClr val="dk1"/>
              </a:solidFill>
              <a:latin typeface="Montserrat"/>
              <a:ea typeface="Montserrat"/>
              <a:cs typeface="Montserrat"/>
              <a:sym typeface="Montserrat"/>
            </a:endParaRPr>
          </a:p>
        </p:txBody>
      </p:sp>
      <p:sp>
        <p:nvSpPr>
          <p:cNvPr id="82" name="Google Shape;82;p17"/>
          <p:cNvSpPr/>
          <p:nvPr/>
        </p:nvSpPr>
        <p:spPr>
          <a:xfrm>
            <a:off x="1042500" y="4029614"/>
            <a:ext cx="1509900" cy="396300"/>
          </a:xfrm>
          <a:prstGeom prst="roundRect">
            <a:avLst>
              <a:gd fmla="val 16529" name="adj"/>
            </a:avLst>
          </a:prstGeom>
          <a:solidFill>
            <a:srgbClr val="F47721"/>
          </a:solidFill>
          <a:ln cap="flat" cmpd="sng" w="6425">
            <a:solidFill>
              <a:srgbClr val="FFFFFF"/>
            </a:solidFill>
            <a:prstDash val="solid"/>
            <a:miter lim="400000"/>
            <a:headEnd len="sm" w="sm" type="none"/>
            <a:tailEnd len="sm" w="sm" type="none"/>
          </a:ln>
          <a:effectLst>
            <a:outerShdw blurRad="12834" rotWithShape="0" dir="2700000" dist="25669">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00">
                <a:solidFill>
                  <a:srgbClr val="FFFFFF"/>
                </a:solidFill>
                <a:latin typeface="Montserrat"/>
                <a:ea typeface="Montserrat"/>
                <a:cs typeface="Montserrat"/>
                <a:sym typeface="Montserrat"/>
              </a:rPr>
              <a:t>H</a:t>
            </a:r>
            <a:r>
              <a:rPr lang="en" sz="1100">
                <a:solidFill>
                  <a:srgbClr val="FFFFFF"/>
                </a:solidFill>
                <a:latin typeface="Montserrat"/>
                <a:ea typeface="Montserrat"/>
                <a:cs typeface="Montserrat"/>
                <a:sym typeface="Montserrat"/>
              </a:rPr>
              <a:t>erramientas</a:t>
            </a:r>
            <a:endParaRPr sz="1100">
              <a:latin typeface="Montserrat"/>
              <a:ea typeface="Montserrat"/>
              <a:cs typeface="Montserrat"/>
              <a:sym typeface="Montserrat"/>
            </a:endParaRPr>
          </a:p>
        </p:txBody>
      </p:sp>
      <p:sp>
        <p:nvSpPr>
          <p:cNvPr id="83" name="Google Shape;83;p17"/>
          <p:cNvSpPr/>
          <p:nvPr/>
        </p:nvSpPr>
        <p:spPr>
          <a:xfrm>
            <a:off x="2552625" y="4195297"/>
            <a:ext cx="422700" cy="65100"/>
          </a:xfrm>
          <a:prstGeom prst="rightArrow">
            <a:avLst>
              <a:gd fmla="val 50000" name="adj1"/>
              <a:gd fmla="val 116706" name="adj2"/>
            </a:avLst>
          </a:prstGeom>
          <a:solidFill>
            <a:srgbClr val="F47721"/>
          </a:solidFill>
          <a:ln cap="flat" cmpd="sng" w="4825">
            <a:solidFill>
              <a:srgbClr val="FFFFFF"/>
            </a:solidFill>
            <a:prstDash val="solid"/>
            <a:round/>
            <a:headEnd len="sm" w="sm" type="none"/>
            <a:tailEnd len="sm" w="sm" type="none"/>
          </a:ln>
        </p:spPr>
        <p:txBody>
          <a:bodyPr anchorCtr="0" anchor="ctr" bIns="92400" lIns="92400" spcFirstLastPara="1" rIns="92400" wrap="square" tIns="92400">
            <a:noAutofit/>
          </a:bodyPr>
          <a:lstStyle/>
          <a:p>
            <a:pPr indent="0" lvl="0" marL="0" rtl="0" algn="l">
              <a:spcBef>
                <a:spcPts val="0"/>
              </a:spcBef>
              <a:spcAft>
                <a:spcPts val="0"/>
              </a:spcAft>
              <a:buNone/>
            </a:pPr>
            <a:r>
              <a:t/>
            </a:r>
            <a:endParaRPr sz="1100">
              <a:latin typeface="Montserrat"/>
              <a:ea typeface="Montserrat"/>
              <a:cs typeface="Montserrat"/>
              <a:sym typeface="Montserrat"/>
            </a:endParaRPr>
          </a:p>
        </p:txBody>
      </p:sp>
      <p:sp>
        <p:nvSpPr>
          <p:cNvPr id="84" name="Google Shape;84;p17"/>
          <p:cNvSpPr txBox="1"/>
          <p:nvPr/>
        </p:nvSpPr>
        <p:spPr>
          <a:xfrm>
            <a:off x="3064167" y="3133976"/>
            <a:ext cx="5817000" cy="2187600"/>
          </a:xfrm>
          <a:prstGeom prst="rect">
            <a:avLst/>
          </a:prstGeom>
          <a:noFill/>
          <a:ln>
            <a:noFill/>
          </a:ln>
        </p:spPr>
        <p:txBody>
          <a:bodyPr anchorCtr="0" anchor="ctr" bIns="92400" lIns="92400" spcFirstLastPara="1" rIns="92400" wrap="square" tIns="92400">
            <a:spAutoFit/>
          </a:bodyPr>
          <a:lstStyle/>
          <a:p>
            <a:pPr indent="0" lvl="0" marL="0" rtl="0" algn="l">
              <a:spcBef>
                <a:spcPts val="0"/>
              </a:spcBef>
              <a:spcAft>
                <a:spcPts val="0"/>
              </a:spcAft>
              <a:buNone/>
            </a:pPr>
            <a:r>
              <a:rPr lang="en" sz="1300">
                <a:solidFill>
                  <a:schemeClr val="dk1"/>
                </a:solidFill>
                <a:latin typeface="Montserrat"/>
                <a:ea typeface="Montserrat"/>
                <a:cs typeface="Montserrat"/>
                <a:sym typeface="Montserrat"/>
              </a:rPr>
              <a:t>Para hacer análisis puedes utilizar:</a:t>
            </a:r>
            <a:endParaRPr sz="13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300">
                <a:solidFill>
                  <a:schemeClr val="dk1"/>
                </a:solidFill>
                <a:latin typeface="Montserrat"/>
                <a:ea typeface="Montserrat"/>
                <a:cs typeface="Montserrat"/>
                <a:sym typeface="Montserrat"/>
              </a:rPr>
              <a:t>Expa Analytics: </a:t>
            </a:r>
            <a:r>
              <a:rPr lang="en" sz="1300" u="sng">
                <a:solidFill>
                  <a:schemeClr val="dk1"/>
                </a:solidFill>
                <a:latin typeface="Montserrat"/>
                <a:ea typeface="Montserrat"/>
                <a:cs typeface="Montserrat"/>
                <a:sym typeface="Montserrat"/>
                <a:hlinkClick r:id="rId4">
                  <a:extLst>
                    <a:ext uri="{A12FA001-AC4F-418D-AE19-62706E023703}">
                      <ahyp:hlinkClr val="tx"/>
                    </a:ext>
                  </a:extLst>
                </a:hlinkClick>
              </a:rPr>
              <a:t>https://expa.aiesec.org/</a:t>
            </a:r>
            <a:endParaRPr sz="13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300">
                <a:solidFill>
                  <a:schemeClr val="dk1"/>
                </a:solidFill>
                <a:latin typeface="Montserrat"/>
                <a:ea typeface="Montserrat"/>
                <a:cs typeface="Montserrat"/>
                <a:sym typeface="Montserrat"/>
              </a:rPr>
              <a:t>Core: </a:t>
            </a:r>
            <a:r>
              <a:rPr lang="en" sz="1300" u="sng">
                <a:solidFill>
                  <a:schemeClr val="dk1"/>
                </a:solidFill>
                <a:latin typeface="Montserrat"/>
                <a:ea typeface="Montserrat"/>
                <a:cs typeface="Montserrat"/>
                <a:sym typeface="Montserrat"/>
                <a:hlinkClick r:id="rId5">
                  <a:extLst>
                    <a:ext uri="{A12FA001-AC4F-418D-AE19-62706E023703}">
                      <ahyp:hlinkClr val="tx"/>
                    </a:ext>
                  </a:extLst>
                </a:hlinkClick>
              </a:rPr>
              <a:t>https://core.aiesec.org.eg/</a:t>
            </a:r>
            <a:endParaRPr sz="13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300">
                <a:solidFill>
                  <a:schemeClr val="dk1"/>
                </a:solidFill>
                <a:latin typeface="Montserrat"/>
                <a:ea typeface="Montserrat"/>
                <a:cs typeface="Montserrat"/>
                <a:sym typeface="Montserrat"/>
              </a:rPr>
              <a:t>Podio: </a:t>
            </a:r>
            <a:r>
              <a:rPr lang="en" sz="1300" u="sng">
                <a:solidFill>
                  <a:schemeClr val="dk1"/>
                </a:solidFill>
                <a:latin typeface="Montserrat"/>
                <a:ea typeface="Montserrat"/>
                <a:cs typeface="Montserrat"/>
                <a:sym typeface="Montserrat"/>
                <a:hlinkClick r:id="rId6">
                  <a:extLst>
                    <a:ext uri="{A12FA001-AC4F-418D-AE19-62706E023703}">
                      <ahyp:hlinkClr val="tx"/>
                    </a:ext>
                  </a:extLst>
                </a:hlinkClick>
              </a:rPr>
              <a:t>https://podio.com/home</a:t>
            </a:r>
            <a:endParaRPr sz="13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300">
                <a:solidFill>
                  <a:schemeClr val="dk1"/>
                </a:solidFill>
                <a:latin typeface="Montserrat"/>
                <a:ea typeface="Montserrat"/>
                <a:cs typeface="Montserrat"/>
                <a:sym typeface="Montserrat"/>
              </a:rPr>
              <a:t>Dashboard oGX:  </a:t>
            </a:r>
            <a:r>
              <a:rPr lang="en" sz="1300" u="sng">
                <a:solidFill>
                  <a:schemeClr val="dk1"/>
                </a:solidFill>
                <a:latin typeface="Montserrat"/>
                <a:ea typeface="Montserrat"/>
                <a:cs typeface="Montserrat"/>
                <a:sym typeface="Montserrat"/>
                <a:hlinkClick r:id="rId7">
                  <a:extLst>
                    <a:ext uri="{A12FA001-AC4F-418D-AE19-62706E023703}">
                      <ahyp:hlinkClr val="tx"/>
                    </a:ext>
                  </a:extLst>
                </a:hlinkClick>
              </a:rPr>
              <a:t>bit.ly/oGXDashboard2024</a:t>
            </a:r>
            <a:r>
              <a:rPr lang="en" sz="1300">
                <a:solidFill>
                  <a:schemeClr val="dk1"/>
                </a:solidFill>
                <a:latin typeface="Montserrat"/>
                <a:ea typeface="Montserrat"/>
                <a:cs typeface="Montserrat"/>
                <a:sym typeface="Montserrat"/>
              </a:rPr>
              <a:t>   Fijate las searchtools nacionales donde se encuentran todas las opps de cada LC (se encuentra en la dashboard de oGX)</a:t>
            </a:r>
            <a:endParaRPr sz="13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300">
                <a:solidFill>
                  <a:schemeClr val="dk1"/>
                </a:solidFill>
                <a:latin typeface="Montserrat"/>
                <a:ea typeface="Montserrat"/>
                <a:cs typeface="Montserrat"/>
                <a:sym typeface="Montserrat"/>
              </a:rPr>
              <a:t>Grupos de oGV → unite a todos los grupos de cooperaciones, Americas e Internacionales. </a:t>
            </a:r>
            <a:endParaRPr sz="13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300">
              <a:solidFill>
                <a:schemeClr val="dk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8"/>
          <p:cNvSpPr/>
          <p:nvPr/>
        </p:nvSpPr>
        <p:spPr>
          <a:xfrm>
            <a:off x="685852" y="2243593"/>
            <a:ext cx="1104300" cy="412500"/>
          </a:xfrm>
          <a:prstGeom prst="roundRect">
            <a:avLst>
              <a:gd fmla="val 16529" name="adj"/>
            </a:avLst>
          </a:prstGeom>
          <a:solidFill>
            <a:srgbClr val="F85B40"/>
          </a:solidFill>
          <a:ln cap="flat" cmpd="sng" w="6675">
            <a:solidFill>
              <a:srgbClr val="FFFFFF"/>
            </a:solidFill>
            <a:prstDash val="solid"/>
            <a:miter lim="400000"/>
            <a:headEnd len="sm" w="sm" type="none"/>
            <a:tailEnd len="sm" w="sm" type="none"/>
          </a:ln>
          <a:effectLst>
            <a:outerShdw blurRad="13364" rotWithShape="0" dir="2700000" dist="26728">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097">
                <a:solidFill>
                  <a:srgbClr val="FFFFFF"/>
                </a:solidFill>
                <a:latin typeface="Montserrat"/>
                <a:ea typeface="Montserrat"/>
                <a:cs typeface="Montserrat"/>
                <a:sym typeface="Montserrat"/>
              </a:rPr>
              <a:t>PASO 2.</a:t>
            </a:r>
            <a:endParaRPr sz="1097">
              <a:latin typeface="Montserrat"/>
              <a:ea typeface="Montserrat"/>
              <a:cs typeface="Montserrat"/>
              <a:sym typeface="Montserrat"/>
            </a:endParaRPr>
          </a:p>
        </p:txBody>
      </p:sp>
      <p:sp>
        <p:nvSpPr>
          <p:cNvPr id="90" name="Google Shape;90;p18"/>
          <p:cNvSpPr/>
          <p:nvPr/>
        </p:nvSpPr>
        <p:spPr>
          <a:xfrm>
            <a:off x="1775681" y="2416113"/>
            <a:ext cx="425400" cy="67500"/>
          </a:xfrm>
          <a:prstGeom prst="rightArrow">
            <a:avLst>
              <a:gd fmla="val 50000" name="adj1"/>
              <a:gd fmla="val 116706" name="adj2"/>
            </a:avLst>
          </a:prstGeom>
          <a:solidFill>
            <a:srgbClr val="F47721"/>
          </a:solidFill>
          <a:ln cap="flat" cmpd="sng" w="5025">
            <a:solidFill>
              <a:srgbClr val="FFFFFF"/>
            </a:solidFill>
            <a:prstDash val="solid"/>
            <a:round/>
            <a:headEnd len="sm" w="sm" type="none"/>
            <a:tailEnd len="sm" w="sm" type="none"/>
          </a:ln>
        </p:spPr>
        <p:txBody>
          <a:bodyPr anchorCtr="0" anchor="ctr" bIns="96200" lIns="96200" spcFirstLastPara="1" rIns="96200" wrap="square" tIns="96200">
            <a:noAutofit/>
          </a:bodyPr>
          <a:lstStyle/>
          <a:p>
            <a:pPr indent="0" lvl="0" marL="0" rtl="0" algn="l">
              <a:spcBef>
                <a:spcPts val="0"/>
              </a:spcBef>
              <a:spcAft>
                <a:spcPts val="0"/>
              </a:spcAft>
              <a:buNone/>
            </a:pPr>
            <a:r>
              <a:t/>
            </a:r>
            <a:endParaRPr sz="1097">
              <a:latin typeface="Montserrat"/>
              <a:ea typeface="Montserrat"/>
              <a:cs typeface="Montserrat"/>
              <a:sym typeface="Montserrat"/>
            </a:endParaRPr>
          </a:p>
        </p:txBody>
      </p:sp>
      <p:sp>
        <p:nvSpPr>
          <p:cNvPr id="91" name="Google Shape;91;p18"/>
          <p:cNvSpPr txBox="1"/>
          <p:nvPr/>
        </p:nvSpPr>
        <p:spPr>
          <a:xfrm>
            <a:off x="2200906" y="55800"/>
            <a:ext cx="6943200" cy="5155200"/>
          </a:xfrm>
          <a:prstGeom prst="rect">
            <a:avLst/>
          </a:prstGeom>
          <a:noFill/>
          <a:ln>
            <a:noFill/>
          </a:ln>
        </p:spPr>
        <p:txBody>
          <a:bodyPr anchorCtr="0" anchor="ctr" bIns="96200" lIns="96200" spcFirstLastPara="1" rIns="96200" wrap="square" tIns="96200">
            <a:spAutoFit/>
          </a:bodyPr>
          <a:lstStyle/>
          <a:p>
            <a:pPr indent="0" lvl="0" marL="0" rtl="0" algn="l">
              <a:spcBef>
                <a:spcPts val="0"/>
              </a:spcBef>
              <a:spcAft>
                <a:spcPts val="0"/>
              </a:spcAft>
              <a:buNone/>
            </a:pPr>
            <a:r>
              <a:rPr lang="en" sz="1100">
                <a:solidFill>
                  <a:schemeClr val="dk1"/>
                </a:solidFill>
                <a:latin typeface="Montserrat"/>
                <a:ea typeface="Montserrat"/>
                <a:cs typeface="Montserrat"/>
                <a:sym typeface="Montserrat"/>
              </a:rPr>
              <a:t>Agenda una IR Call con las entidades con las que tienes interés en trabajar. En esta IR Call es importante que recabes la siguiente información: </a:t>
            </a:r>
            <a:endParaRPr sz="11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100">
                <a:solidFill>
                  <a:schemeClr val="dk1"/>
                </a:solidFill>
                <a:latin typeface="Montserrat"/>
                <a:ea typeface="Montserrat"/>
                <a:cs typeface="Montserrat"/>
                <a:sym typeface="Montserrat"/>
              </a:rPr>
              <a:t>PRESENTACIÓN:</a:t>
            </a:r>
            <a:endParaRPr b="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Nombres, edad, rol, etc... lo que quieras contar de vos y pides que la otra persona se presente también </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100">
                <a:solidFill>
                  <a:schemeClr val="dk1"/>
                </a:solidFill>
                <a:latin typeface="Montserrat"/>
                <a:ea typeface="Montserrat"/>
                <a:cs typeface="Montserrat"/>
                <a:sym typeface="Montserrat"/>
              </a:rPr>
              <a:t>CONTEXTO DE AMBOS LCs</a:t>
            </a:r>
            <a:endParaRPr b="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Aquí le dices cuantos APDs hicieron en el semestre, con que países se manejan más y por qué, porque te interesa trabajar con ellos, etc. También si puedes hacer de conversiones de APL-APD y de process time también. Contá que planificas para este año...</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100">
                <a:solidFill>
                  <a:schemeClr val="dk1"/>
                </a:solidFill>
                <a:latin typeface="Montserrat"/>
                <a:ea typeface="Montserrat"/>
                <a:cs typeface="Montserrat"/>
                <a:sym typeface="Montserrat"/>
              </a:rPr>
              <a:t>PREGUNTAS</a:t>
            </a:r>
            <a:endParaRPr b="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Timeline de abrir nuevas opens </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Como es el paso a paso una vez que el EP aplica</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Cómo acompañan el proceso de venta desde que la persona es APL?</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Cual es su process time y que número de APDs tuvieron en este semestre?</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Tipos de proyectos que ofertan y perfiles que buscan en los EPs. </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Fecha de inicio de sus proyectos actuales y si se pueden negociar fechas </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TN Fee (en caso de GV) para sus proyectos, y si lo tienen, cuánto es.</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Requerimiento de algún idioma en particular de haberlo.</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Costos de vida. </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Cómo es la entrega de cada uno de los estándares.</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Cómo es la acomodación que se provee al EP (Host family, residencias, hostal, etc. )</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Si la comida es provista. Si el EP tendrá un espacio para cocinar. </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 Si tienen beneficios extras y si es así, preguntar cuáles son.</a:t>
            </a:r>
            <a:endParaRPr i="1" sz="11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i="1" lang="en" sz="1100">
                <a:solidFill>
                  <a:schemeClr val="dk1"/>
                </a:solidFill>
                <a:latin typeface="Montserrat"/>
                <a:ea typeface="Montserrat"/>
                <a:cs typeface="Montserrat"/>
                <a:sym typeface="Montserrat"/>
              </a:rPr>
              <a:t>Al tener la llamada, podrás analizar si es un LC que se alinea a lo que estás buscando y decidir formar una cooperación con ellos. </a:t>
            </a:r>
            <a:endParaRPr i="1" sz="1100">
              <a:solidFill>
                <a:schemeClr val="dk1"/>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9"/>
          <p:cNvSpPr txBox="1"/>
          <p:nvPr/>
        </p:nvSpPr>
        <p:spPr>
          <a:xfrm>
            <a:off x="58050" y="183225"/>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900">
                <a:solidFill>
                  <a:schemeClr val="lt1"/>
                </a:solidFill>
                <a:highlight>
                  <a:schemeClr val="accent4"/>
                </a:highlight>
                <a:latin typeface="Montserrat"/>
                <a:ea typeface="Montserrat"/>
                <a:cs typeface="Montserrat"/>
                <a:sym typeface="Montserrat"/>
              </a:rPr>
              <a:t>Analisis con EXPA</a:t>
            </a:r>
            <a:endParaRPr sz="2900">
              <a:solidFill>
                <a:schemeClr val="lt1"/>
              </a:solidFill>
              <a:highlight>
                <a:schemeClr val="accent4"/>
              </a:highlight>
              <a:latin typeface="Montserrat"/>
              <a:ea typeface="Montserrat"/>
              <a:cs typeface="Montserrat"/>
              <a:sym typeface="Montserrat"/>
            </a:endParaRPr>
          </a:p>
          <a:p>
            <a:pPr indent="0" lvl="0" marL="0" rtl="0" algn="l">
              <a:spcBef>
                <a:spcPts val="0"/>
              </a:spcBef>
              <a:spcAft>
                <a:spcPts val="0"/>
              </a:spcAft>
              <a:buNone/>
            </a:pPr>
            <a:r>
              <a:t/>
            </a:r>
            <a:endParaRPr sz="2900">
              <a:solidFill>
                <a:srgbClr val="405E78"/>
              </a:solidFill>
              <a:latin typeface="Nunito"/>
              <a:ea typeface="Nunito"/>
              <a:cs typeface="Nunito"/>
              <a:sym typeface="Nunito"/>
            </a:endParaRPr>
          </a:p>
        </p:txBody>
      </p:sp>
      <p:sp>
        <p:nvSpPr>
          <p:cNvPr id="97" name="Google Shape;97;p19"/>
          <p:cNvSpPr txBox="1"/>
          <p:nvPr/>
        </p:nvSpPr>
        <p:spPr>
          <a:xfrm>
            <a:off x="161550" y="1472175"/>
            <a:ext cx="6432600" cy="2678100"/>
          </a:xfrm>
          <a:prstGeom prst="rect">
            <a:avLst/>
          </a:prstGeom>
          <a:noFill/>
          <a:ln>
            <a:noFill/>
          </a:ln>
        </p:spPr>
        <p:txBody>
          <a:bodyPr anchorCtr="0" anchor="ctr" bIns="182850" lIns="182850" spcFirstLastPara="1" rIns="182850" wrap="square" tIns="182850">
            <a:spAutoFit/>
          </a:bodyPr>
          <a:lstStyle/>
          <a:p>
            <a:pPr indent="0" lvl="0" marL="0" rtl="0" algn="ctr">
              <a:spcBef>
                <a:spcPts val="0"/>
              </a:spcBef>
              <a:spcAft>
                <a:spcPts val="0"/>
              </a:spcAft>
              <a:buNone/>
            </a:pPr>
            <a:r>
              <a:rPr lang="en" sz="1500">
                <a:solidFill>
                  <a:schemeClr val="dk1"/>
                </a:solidFill>
                <a:latin typeface="Montserrat"/>
                <a:ea typeface="Montserrat"/>
                <a:cs typeface="Montserrat"/>
                <a:sym typeface="Montserrat"/>
              </a:rPr>
              <a:t>Expa es la plataforma utilizada a nivel internacional para el seguimiento y registro de nuestros EPs, de igual manera, nos permite hacer análisis de nuestros números y compararlos con otras entidades. </a:t>
            </a:r>
            <a:endParaRPr sz="15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1500">
              <a:solidFill>
                <a:schemeClr val="dk1"/>
              </a:solidFill>
              <a:latin typeface="Montserrat"/>
              <a:ea typeface="Montserrat"/>
              <a:cs typeface="Montserrat"/>
              <a:sym typeface="Montserrat"/>
            </a:endParaRPr>
          </a:p>
          <a:p>
            <a:pPr indent="0" lvl="0" marL="0" rtl="0" algn="ctr">
              <a:spcBef>
                <a:spcPts val="0"/>
              </a:spcBef>
              <a:spcAft>
                <a:spcPts val="0"/>
              </a:spcAft>
              <a:buNone/>
            </a:pPr>
            <a:r>
              <a:rPr lang="en" sz="1500">
                <a:solidFill>
                  <a:schemeClr val="dk1"/>
                </a:solidFill>
                <a:latin typeface="Montserrat"/>
                <a:ea typeface="Montserrat"/>
                <a:cs typeface="Montserrat"/>
                <a:sym typeface="Montserrat"/>
              </a:rPr>
              <a:t>Para hacer el análisis de entidades para saber con quién nos conviene trabajar utilizaremos la sección “Analytics”. Esta sección te permitirá ver análisis desde cada etapa del Customer Flow  de una entidad, hasta la cantidad de exchange standards entregados. </a:t>
            </a:r>
            <a:endParaRPr sz="1500">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0"/>
          <p:cNvSpPr txBox="1"/>
          <p:nvPr/>
        </p:nvSpPr>
        <p:spPr>
          <a:xfrm>
            <a:off x="58050" y="183225"/>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900">
                <a:solidFill>
                  <a:schemeClr val="lt1"/>
                </a:solidFill>
                <a:highlight>
                  <a:schemeClr val="accent4"/>
                </a:highlight>
                <a:latin typeface="Montserrat"/>
                <a:ea typeface="Montserrat"/>
                <a:cs typeface="Montserrat"/>
                <a:sym typeface="Montserrat"/>
              </a:rPr>
              <a:t>Ejemplo: Analisis con EXPA</a:t>
            </a:r>
            <a:endParaRPr sz="2900">
              <a:solidFill>
                <a:schemeClr val="lt1"/>
              </a:solidFill>
              <a:highlight>
                <a:schemeClr val="accent4"/>
              </a:highlight>
              <a:latin typeface="Montserrat"/>
              <a:ea typeface="Montserrat"/>
              <a:cs typeface="Montserrat"/>
              <a:sym typeface="Montserrat"/>
            </a:endParaRPr>
          </a:p>
          <a:p>
            <a:pPr indent="0" lvl="0" marL="0" rtl="0" algn="l">
              <a:spcBef>
                <a:spcPts val="0"/>
              </a:spcBef>
              <a:spcAft>
                <a:spcPts val="0"/>
              </a:spcAft>
              <a:buNone/>
            </a:pPr>
            <a:r>
              <a:t/>
            </a:r>
            <a:endParaRPr sz="2900">
              <a:solidFill>
                <a:srgbClr val="405E78"/>
              </a:solidFill>
              <a:latin typeface="Nunito"/>
              <a:ea typeface="Nunito"/>
              <a:cs typeface="Nunito"/>
              <a:sym typeface="Nunito"/>
            </a:endParaRPr>
          </a:p>
        </p:txBody>
      </p:sp>
      <p:sp>
        <p:nvSpPr>
          <p:cNvPr id="103" name="Google Shape;103;p20"/>
          <p:cNvSpPr txBox="1"/>
          <p:nvPr/>
        </p:nvSpPr>
        <p:spPr>
          <a:xfrm>
            <a:off x="555954" y="665625"/>
            <a:ext cx="5922000" cy="559200"/>
          </a:xfrm>
          <a:prstGeom prst="rect">
            <a:avLst/>
          </a:prstGeom>
          <a:noFill/>
          <a:ln>
            <a:noFill/>
          </a:ln>
        </p:spPr>
        <p:txBody>
          <a:bodyPr anchorCtr="0" anchor="ctr" bIns="92300" lIns="92300" spcFirstLastPara="1" rIns="92300" wrap="square" tIns="92300">
            <a:spAutoFit/>
          </a:bodyPr>
          <a:lstStyle/>
          <a:p>
            <a:pPr indent="0" lvl="0" marL="0" rtl="0" algn="ctr">
              <a:spcBef>
                <a:spcPts val="0"/>
              </a:spcBef>
              <a:spcAft>
                <a:spcPts val="0"/>
              </a:spcAft>
              <a:buNone/>
            </a:pPr>
            <a:r>
              <a:rPr lang="en" sz="1211">
                <a:solidFill>
                  <a:schemeClr val="dk1"/>
                </a:solidFill>
                <a:latin typeface="Montserrat"/>
                <a:ea typeface="Montserrat"/>
                <a:cs typeface="Montserrat"/>
                <a:sym typeface="Montserrat"/>
              </a:rPr>
              <a:t>Para ver cada etapa del Customer Flow por entidad, puedes utilizar la sección “Performance” o “Graphical”</a:t>
            </a:r>
            <a:endParaRPr sz="1211">
              <a:solidFill>
                <a:schemeClr val="dk1"/>
              </a:solidFill>
              <a:latin typeface="Montserrat"/>
              <a:ea typeface="Montserrat"/>
              <a:cs typeface="Montserrat"/>
              <a:sym typeface="Montserrat"/>
            </a:endParaRPr>
          </a:p>
        </p:txBody>
      </p:sp>
      <p:pic>
        <p:nvPicPr>
          <p:cNvPr id="104" name="Google Shape;104;p20"/>
          <p:cNvPicPr preferRelativeResize="0"/>
          <p:nvPr/>
        </p:nvPicPr>
        <p:blipFill>
          <a:blip r:embed="rId4">
            <a:alphaModFix/>
          </a:blip>
          <a:stretch>
            <a:fillRect/>
          </a:stretch>
        </p:blipFill>
        <p:spPr>
          <a:xfrm>
            <a:off x="821272" y="1293127"/>
            <a:ext cx="5391414" cy="1385948"/>
          </a:xfrm>
          <a:prstGeom prst="rect">
            <a:avLst/>
          </a:prstGeom>
          <a:noFill/>
          <a:ln>
            <a:noFill/>
          </a:ln>
        </p:spPr>
      </p:pic>
      <p:sp>
        <p:nvSpPr>
          <p:cNvPr id="105" name="Google Shape;105;p20"/>
          <p:cNvSpPr txBox="1"/>
          <p:nvPr/>
        </p:nvSpPr>
        <p:spPr>
          <a:xfrm>
            <a:off x="343219" y="2835991"/>
            <a:ext cx="6347400" cy="559200"/>
          </a:xfrm>
          <a:prstGeom prst="rect">
            <a:avLst/>
          </a:prstGeom>
          <a:noFill/>
          <a:ln>
            <a:noFill/>
          </a:ln>
        </p:spPr>
        <p:txBody>
          <a:bodyPr anchorCtr="0" anchor="ctr" bIns="92300" lIns="92300" spcFirstLastPara="1" rIns="92300" wrap="square" tIns="92300">
            <a:spAutoFit/>
          </a:bodyPr>
          <a:lstStyle/>
          <a:p>
            <a:pPr indent="0" lvl="0" marL="0" rtl="0" algn="ctr">
              <a:spcBef>
                <a:spcPts val="0"/>
              </a:spcBef>
              <a:spcAft>
                <a:spcPts val="0"/>
              </a:spcAft>
              <a:buNone/>
            </a:pPr>
            <a:r>
              <a:rPr lang="en" sz="1211">
                <a:solidFill>
                  <a:schemeClr val="dk1"/>
                </a:solidFill>
                <a:latin typeface="Montserrat"/>
                <a:ea typeface="Montserrat"/>
                <a:cs typeface="Montserrat"/>
                <a:sym typeface="Montserrat"/>
              </a:rPr>
              <a:t>Recuerda aplicar todos los filtros solicitados necesarios para poder tener una visualización clara y precisa del performance de la entidad que estás analizando.</a:t>
            </a:r>
            <a:endParaRPr sz="1211">
              <a:solidFill>
                <a:schemeClr val="dk1"/>
              </a:solidFill>
              <a:latin typeface="Montserrat"/>
              <a:ea typeface="Montserrat"/>
              <a:cs typeface="Montserrat"/>
              <a:sym typeface="Montserrat"/>
            </a:endParaRPr>
          </a:p>
        </p:txBody>
      </p:sp>
      <p:pic>
        <p:nvPicPr>
          <p:cNvPr id="106" name="Google Shape;106;p20"/>
          <p:cNvPicPr preferRelativeResize="0"/>
          <p:nvPr/>
        </p:nvPicPr>
        <p:blipFill>
          <a:blip r:embed="rId5">
            <a:alphaModFix/>
          </a:blip>
          <a:stretch>
            <a:fillRect/>
          </a:stretch>
        </p:blipFill>
        <p:spPr>
          <a:xfrm>
            <a:off x="58050" y="3497460"/>
            <a:ext cx="3642099" cy="1613039"/>
          </a:xfrm>
          <a:prstGeom prst="rect">
            <a:avLst/>
          </a:prstGeom>
          <a:noFill/>
          <a:ln>
            <a:noFill/>
          </a:ln>
        </p:spPr>
      </p:pic>
      <p:pic>
        <p:nvPicPr>
          <p:cNvPr id="107" name="Google Shape;107;p20"/>
          <p:cNvPicPr preferRelativeResize="0"/>
          <p:nvPr/>
        </p:nvPicPr>
        <p:blipFill>
          <a:blip r:embed="rId6">
            <a:alphaModFix/>
          </a:blip>
          <a:stretch>
            <a:fillRect/>
          </a:stretch>
        </p:blipFill>
        <p:spPr>
          <a:xfrm>
            <a:off x="3958971" y="3497458"/>
            <a:ext cx="3307306" cy="161304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 name="Shape 111"/>
        <p:cNvGrpSpPr/>
        <p:nvPr/>
      </p:nvGrpSpPr>
      <p:grpSpPr>
        <a:xfrm>
          <a:off x="0" y="0"/>
          <a:ext cx="0" cy="0"/>
          <a:chOff x="0" y="0"/>
          <a:chExt cx="0" cy="0"/>
        </a:xfrm>
      </p:grpSpPr>
      <p:sp>
        <p:nvSpPr>
          <p:cNvPr id="112" name="Google Shape;112;p21"/>
          <p:cNvSpPr txBox="1"/>
          <p:nvPr/>
        </p:nvSpPr>
        <p:spPr>
          <a:xfrm>
            <a:off x="2433375" y="164950"/>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800">
                <a:solidFill>
                  <a:schemeClr val="lt1"/>
                </a:solidFill>
                <a:highlight>
                  <a:schemeClr val="accent4"/>
                </a:highlight>
                <a:latin typeface="Montserrat"/>
                <a:ea typeface="Montserrat"/>
                <a:cs typeface="Montserrat"/>
                <a:sym typeface="Montserrat"/>
              </a:rPr>
              <a:t>¿</a:t>
            </a:r>
            <a:r>
              <a:rPr lang="en" sz="2800">
                <a:solidFill>
                  <a:schemeClr val="lt1"/>
                </a:solidFill>
                <a:highlight>
                  <a:schemeClr val="accent4"/>
                </a:highlight>
                <a:latin typeface="Montserrat"/>
                <a:ea typeface="Montserrat"/>
                <a:cs typeface="Montserrat"/>
                <a:sym typeface="Montserrat"/>
              </a:rPr>
              <a:t>Cómo</a:t>
            </a:r>
            <a:r>
              <a:rPr lang="en" sz="2800">
                <a:solidFill>
                  <a:schemeClr val="lt1"/>
                </a:solidFill>
                <a:highlight>
                  <a:schemeClr val="accent4"/>
                </a:highlight>
                <a:latin typeface="Montserrat"/>
                <a:ea typeface="Montserrat"/>
                <a:cs typeface="Montserrat"/>
                <a:sym typeface="Montserrat"/>
              </a:rPr>
              <a:t> mantener una </a:t>
            </a:r>
            <a:r>
              <a:rPr lang="en" sz="2800">
                <a:solidFill>
                  <a:schemeClr val="lt1"/>
                </a:solidFill>
                <a:highlight>
                  <a:schemeClr val="accent4"/>
                </a:highlight>
                <a:latin typeface="Montserrat"/>
                <a:ea typeface="Montserrat"/>
                <a:cs typeface="Montserrat"/>
                <a:sym typeface="Montserrat"/>
              </a:rPr>
              <a:t>cooperación</a:t>
            </a:r>
            <a:r>
              <a:rPr lang="en" sz="2800">
                <a:solidFill>
                  <a:schemeClr val="lt1"/>
                </a:solidFill>
                <a:highlight>
                  <a:schemeClr val="accent4"/>
                </a:highlight>
                <a:latin typeface="Montserrat"/>
                <a:ea typeface="Montserrat"/>
                <a:cs typeface="Montserrat"/>
                <a:sym typeface="Montserrat"/>
              </a:rPr>
              <a:t>?</a:t>
            </a:r>
            <a:endParaRPr sz="2800">
              <a:solidFill>
                <a:schemeClr val="lt1"/>
              </a:solidFill>
              <a:highlight>
                <a:schemeClr val="accent4"/>
              </a:highlight>
              <a:latin typeface="Montserrat"/>
              <a:ea typeface="Montserrat"/>
              <a:cs typeface="Montserrat"/>
              <a:sym typeface="Montserrat"/>
            </a:endParaRPr>
          </a:p>
          <a:p>
            <a:pPr indent="0" lvl="0" marL="0" rtl="0" algn="l">
              <a:spcBef>
                <a:spcPts val="0"/>
              </a:spcBef>
              <a:spcAft>
                <a:spcPts val="0"/>
              </a:spcAft>
              <a:buNone/>
            </a:pPr>
            <a:r>
              <a:t/>
            </a:r>
            <a:endParaRPr sz="2800">
              <a:solidFill>
                <a:srgbClr val="405E78"/>
              </a:solidFill>
              <a:latin typeface="Nunito"/>
              <a:ea typeface="Nunito"/>
              <a:cs typeface="Nunito"/>
              <a:sym typeface="Nunito"/>
            </a:endParaRPr>
          </a:p>
        </p:txBody>
      </p:sp>
      <p:sp>
        <p:nvSpPr>
          <p:cNvPr id="113" name="Google Shape;113;p21"/>
          <p:cNvSpPr/>
          <p:nvPr/>
        </p:nvSpPr>
        <p:spPr>
          <a:xfrm>
            <a:off x="1114148" y="2995491"/>
            <a:ext cx="1516800" cy="412500"/>
          </a:xfrm>
          <a:prstGeom prst="roundRect">
            <a:avLst>
              <a:gd fmla="val 16529" name="adj"/>
            </a:avLst>
          </a:prstGeom>
          <a:solidFill>
            <a:srgbClr val="F85B40"/>
          </a:solidFill>
          <a:ln cap="flat" cmpd="sng" w="6675">
            <a:solidFill>
              <a:srgbClr val="FFFFFF"/>
            </a:solidFill>
            <a:prstDash val="solid"/>
            <a:miter lim="400000"/>
            <a:headEnd len="sm" w="sm" type="none"/>
            <a:tailEnd len="sm" w="sm" type="none"/>
          </a:ln>
          <a:effectLst>
            <a:outerShdw blurRad="13359" rotWithShape="0" dir="2700000" dist="26717">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200">
                <a:solidFill>
                  <a:srgbClr val="FFFFFF"/>
                </a:solidFill>
                <a:latin typeface="Montserrat"/>
                <a:ea typeface="Montserrat"/>
                <a:cs typeface="Montserrat"/>
                <a:sym typeface="Montserrat"/>
              </a:rPr>
              <a:t>PASO 1.</a:t>
            </a:r>
            <a:endParaRPr sz="1200">
              <a:latin typeface="Montserrat"/>
              <a:ea typeface="Montserrat"/>
              <a:cs typeface="Montserrat"/>
              <a:sym typeface="Montserrat"/>
            </a:endParaRPr>
          </a:p>
        </p:txBody>
      </p:sp>
      <p:sp>
        <p:nvSpPr>
          <p:cNvPr id="114" name="Google Shape;114;p21"/>
          <p:cNvSpPr/>
          <p:nvPr/>
        </p:nvSpPr>
        <p:spPr>
          <a:xfrm>
            <a:off x="2631039" y="3167943"/>
            <a:ext cx="425100" cy="67500"/>
          </a:xfrm>
          <a:prstGeom prst="rightArrow">
            <a:avLst>
              <a:gd fmla="val 50000" name="adj1"/>
              <a:gd fmla="val 116706" name="adj2"/>
            </a:avLst>
          </a:prstGeom>
          <a:solidFill>
            <a:srgbClr val="F47721"/>
          </a:solidFill>
          <a:ln cap="flat" cmpd="sng" w="5000">
            <a:solidFill>
              <a:srgbClr val="FFFFFF"/>
            </a:solidFill>
            <a:prstDash val="solid"/>
            <a:round/>
            <a:headEnd len="sm" w="sm" type="none"/>
            <a:tailEnd len="sm" w="sm" type="none"/>
          </a:ln>
        </p:spPr>
        <p:txBody>
          <a:bodyPr anchorCtr="0" anchor="ctr" bIns="96175" lIns="96175" spcFirstLastPara="1" rIns="96175" wrap="square" tIns="96175">
            <a:noAutofit/>
          </a:bodyPr>
          <a:lstStyle/>
          <a:p>
            <a:pPr indent="0" lvl="0" marL="0" rtl="0" algn="l">
              <a:spcBef>
                <a:spcPts val="0"/>
              </a:spcBef>
              <a:spcAft>
                <a:spcPts val="0"/>
              </a:spcAft>
              <a:buNone/>
            </a:pPr>
            <a:r>
              <a:t/>
            </a:r>
            <a:endParaRPr sz="1200">
              <a:latin typeface="Montserrat"/>
              <a:ea typeface="Montserrat"/>
              <a:cs typeface="Montserrat"/>
              <a:sym typeface="Montserrat"/>
            </a:endParaRPr>
          </a:p>
        </p:txBody>
      </p:sp>
      <p:sp>
        <p:nvSpPr>
          <p:cNvPr id="115" name="Google Shape;115;p21"/>
          <p:cNvSpPr txBox="1"/>
          <p:nvPr/>
        </p:nvSpPr>
        <p:spPr>
          <a:xfrm>
            <a:off x="3164149" y="1453206"/>
            <a:ext cx="5842800" cy="3519000"/>
          </a:xfrm>
          <a:prstGeom prst="rect">
            <a:avLst/>
          </a:prstGeom>
          <a:noFill/>
          <a:ln>
            <a:noFill/>
          </a:ln>
        </p:spPr>
        <p:txBody>
          <a:bodyPr anchorCtr="0" anchor="ctr" bIns="96175" lIns="96175" spcFirstLastPara="1" rIns="96175" wrap="square" tIns="96175">
            <a:spAutoFit/>
          </a:bodyPr>
          <a:lstStyle/>
          <a:p>
            <a:pPr indent="0" lvl="0" marL="0" rtl="0" algn="l">
              <a:spcBef>
                <a:spcPts val="0"/>
              </a:spcBef>
              <a:spcAft>
                <a:spcPts val="0"/>
              </a:spcAft>
              <a:buNone/>
            </a:pPr>
            <a:r>
              <a:rPr lang="en" sz="1200">
                <a:solidFill>
                  <a:schemeClr val="dk1"/>
                </a:solidFill>
                <a:latin typeface="Montserrat"/>
                <a:ea typeface="Montserrat"/>
                <a:cs typeface="Montserrat"/>
                <a:sym typeface="Montserrat"/>
              </a:rPr>
              <a:t>Ten una llamada donde establezcan la rutina que tendrán como cooperación, los temas que verán en estas llamadas y una meta en conjunto. </a:t>
            </a:r>
            <a:endParaRPr sz="12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200">
                <a:solidFill>
                  <a:schemeClr val="dk1"/>
                </a:solidFill>
                <a:latin typeface="Montserrat"/>
                <a:ea typeface="Montserrat"/>
                <a:cs typeface="Montserrat"/>
                <a:sym typeface="Montserrat"/>
              </a:rPr>
              <a:t>Es importante establecer una meta mensual y semestral para poder ir dando seguimiento a qué tan efectiva está siendo la cooperación y poder crear estrategias para seguir mejorando. </a:t>
            </a:r>
            <a:endParaRPr sz="12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l">
              <a:spcBef>
                <a:spcPts val="0"/>
              </a:spcBef>
              <a:spcAft>
                <a:spcPts val="0"/>
              </a:spcAft>
              <a:buNone/>
            </a:pPr>
            <a:r>
              <a:rPr lang="en" sz="1200">
                <a:solidFill>
                  <a:schemeClr val="dk1"/>
                </a:solidFill>
                <a:latin typeface="Montserrat"/>
                <a:ea typeface="Montserrat"/>
                <a:cs typeface="Montserrat"/>
                <a:sym typeface="Montserrat"/>
              </a:rPr>
              <a:t>Los temas que no deben de faltar en la primera call son:</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Meta de aplicantes</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Meta de aceptados</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Meta de aprobados</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Meta de realizaciones</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Meta de completes</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Método de trackeo de Estándares </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Medios de comunicación durante APL-APD</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Medios de comunicación durante APD-RE</a:t>
            </a:r>
            <a:endParaRPr sz="1200">
              <a:solidFill>
                <a:schemeClr val="dk1"/>
              </a:solidFill>
              <a:latin typeface="Montserrat"/>
              <a:ea typeface="Montserrat"/>
              <a:cs typeface="Montserrat"/>
              <a:sym typeface="Montserrat"/>
            </a:endParaRPr>
          </a:p>
          <a:p>
            <a:pPr indent="-316655" lvl="0" marL="480910" rtl="0" algn="l">
              <a:spcBef>
                <a:spcPts val="0"/>
              </a:spcBef>
              <a:spcAft>
                <a:spcPts val="0"/>
              </a:spcAft>
              <a:buClr>
                <a:schemeClr val="dk1"/>
              </a:buClr>
              <a:buSzPts val="1200"/>
              <a:buFont typeface="Montserrat"/>
              <a:buChar char="-"/>
            </a:pPr>
            <a:r>
              <a:rPr lang="en" sz="1200">
                <a:solidFill>
                  <a:schemeClr val="dk1"/>
                </a:solidFill>
                <a:latin typeface="Montserrat"/>
                <a:ea typeface="Montserrat"/>
                <a:cs typeface="Montserrat"/>
                <a:sym typeface="Montserrat"/>
              </a:rPr>
              <a:t>Medios de comunicación durante RE</a:t>
            </a:r>
            <a:endParaRPr sz="1200">
              <a:solidFill>
                <a:schemeClr val="dk1"/>
              </a:solidFill>
              <a:latin typeface="Montserrat"/>
              <a:ea typeface="Montserrat"/>
              <a:cs typeface="Montserrat"/>
              <a:sym typeface="Montserrat"/>
            </a:endParaRPr>
          </a:p>
        </p:txBody>
      </p:sp>
      <p:sp>
        <p:nvSpPr>
          <p:cNvPr id="116" name="Google Shape;116;p21"/>
          <p:cNvSpPr txBox="1"/>
          <p:nvPr/>
        </p:nvSpPr>
        <p:spPr>
          <a:xfrm>
            <a:off x="1651835" y="782673"/>
            <a:ext cx="6705600" cy="748500"/>
          </a:xfrm>
          <a:prstGeom prst="rect">
            <a:avLst/>
          </a:prstGeom>
          <a:noFill/>
          <a:ln>
            <a:noFill/>
          </a:ln>
        </p:spPr>
        <p:txBody>
          <a:bodyPr anchorCtr="0" anchor="ctr" bIns="96175" lIns="96175" spcFirstLastPara="1" rIns="96175" wrap="square" tIns="96175">
            <a:spAutoFit/>
          </a:bodyPr>
          <a:lstStyle/>
          <a:p>
            <a:pPr indent="0" lvl="0" marL="0" rtl="0" algn="ctr">
              <a:spcBef>
                <a:spcPts val="0"/>
              </a:spcBef>
              <a:spcAft>
                <a:spcPts val="0"/>
              </a:spcAft>
              <a:buNone/>
            </a:pPr>
            <a:r>
              <a:rPr lang="en" sz="1200">
                <a:solidFill>
                  <a:schemeClr val="dk1"/>
                </a:solidFill>
                <a:latin typeface="Montserrat"/>
                <a:ea typeface="Montserrat"/>
                <a:cs typeface="Montserrat"/>
                <a:sym typeface="Montserrat"/>
              </a:rPr>
              <a:t>Una cooperación se trata de constante comunicación y seguimiento. Una vez habiendo tenido la primera llamada y decidido trabajar en conjunto como cooperación, haz lo siguiente:</a:t>
            </a:r>
            <a:endParaRPr sz="1200">
              <a:solidFill>
                <a:schemeClr val="dk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 name="Shape 120"/>
        <p:cNvGrpSpPr/>
        <p:nvPr/>
      </p:nvGrpSpPr>
      <p:grpSpPr>
        <a:xfrm>
          <a:off x="0" y="0"/>
          <a:ext cx="0" cy="0"/>
          <a:chOff x="0" y="0"/>
          <a:chExt cx="0" cy="0"/>
        </a:xfrm>
      </p:grpSpPr>
      <p:sp>
        <p:nvSpPr>
          <p:cNvPr id="121" name="Google Shape;121;p22"/>
          <p:cNvSpPr/>
          <p:nvPr/>
        </p:nvSpPr>
        <p:spPr>
          <a:xfrm>
            <a:off x="1041975" y="965447"/>
            <a:ext cx="1525500" cy="414600"/>
          </a:xfrm>
          <a:prstGeom prst="roundRect">
            <a:avLst>
              <a:gd fmla="val 16529" name="adj"/>
            </a:avLst>
          </a:prstGeom>
          <a:solidFill>
            <a:srgbClr val="F85B40"/>
          </a:solidFill>
          <a:ln cap="flat" cmpd="sng" w="6725">
            <a:solidFill>
              <a:srgbClr val="FFFFFF"/>
            </a:solidFill>
            <a:prstDash val="solid"/>
            <a:miter lim="400000"/>
            <a:headEnd len="sm" w="sm" type="none"/>
            <a:tailEnd len="sm" w="sm" type="none"/>
          </a:ln>
          <a:effectLst>
            <a:outerShdw blurRad="13433" rotWithShape="0" dir="2700000" dist="26866">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63">
                <a:solidFill>
                  <a:srgbClr val="FFFFFF"/>
                </a:solidFill>
                <a:latin typeface="Lato Black"/>
                <a:ea typeface="Lato Black"/>
                <a:cs typeface="Lato Black"/>
                <a:sym typeface="Lato Black"/>
              </a:rPr>
              <a:t>PASO 2.</a:t>
            </a:r>
            <a:endParaRPr sz="1163"/>
          </a:p>
        </p:txBody>
      </p:sp>
      <p:sp>
        <p:nvSpPr>
          <p:cNvPr id="122" name="Google Shape;122;p22"/>
          <p:cNvSpPr/>
          <p:nvPr/>
        </p:nvSpPr>
        <p:spPr>
          <a:xfrm>
            <a:off x="2567324" y="1138860"/>
            <a:ext cx="427500" cy="67800"/>
          </a:xfrm>
          <a:prstGeom prst="rightArrow">
            <a:avLst>
              <a:gd fmla="val 50000" name="adj1"/>
              <a:gd fmla="val 116706" name="adj2"/>
            </a:avLst>
          </a:prstGeom>
          <a:solidFill>
            <a:srgbClr val="F47721"/>
          </a:solidFill>
          <a:ln cap="flat" cmpd="sng" w="5050">
            <a:solidFill>
              <a:srgbClr val="FFFFFF"/>
            </a:solidFill>
            <a:prstDash val="solid"/>
            <a:round/>
            <a:headEnd len="sm" w="sm" type="none"/>
            <a:tailEnd len="sm" w="sm" type="none"/>
          </a:ln>
        </p:spPr>
        <p:txBody>
          <a:bodyPr anchorCtr="0" anchor="ctr" bIns="96700" lIns="96700" spcFirstLastPara="1" rIns="96700" wrap="square" tIns="96700">
            <a:noAutofit/>
          </a:bodyPr>
          <a:lstStyle/>
          <a:p>
            <a:pPr indent="0" lvl="0" marL="0" rtl="0" algn="l">
              <a:spcBef>
                <a:spcPts val="0"/>
              </a:spcBef>
              <a:spcAft>
                <a:spcPts val="0"/>
              </a:spcAft>
              <a:buNone/>
            </a:pPr>
            <a:r>
              <a:t/>
            </a:r>
            <a:endParaRPr/>
          </a:p>
        </p:txBody>
      </p:sp>
      <p:sp>
        <p:nvSpPr>
          <p:cNvPr id="123" name="Google Shape;123;p22"/>
          <p:cNvSpPr txBox="1"/>
          <p:nvPr/>
        </p:nvSpPr>
        <p:spPr>
          <a:xfrm>
            <a:off x="3074319" y="696376"/>
            <a:ext cx="5875500" cy="762300"/>
          </a:xfrm>
          <a:prstGeom prst="rect">
            <a:avLst/>
          </a:prstGeom>
          <a:noFill/>
          <a:ln>
            <a:noFill/>
          </a:ln>
        </p:spPr>
        <p:txBody>
          <a:bodyPr anchorCtr="0" anchor="ctr" bIns="96700" lIns="96700" spcFirstLastPara="1" rIns="96700" wrap="square" tIns="96700">
            <a:spAutoFit/>
          </a:bodyPr>
          <a:lstStyle/>
          <a:p>
            <a:pPr indent="0" lvl="0" marL="0" rtl="0" algn="l">
              <a:spcBef>
                <a:spcPts val="0"/>
              </a:spcBef>
              <a:spcAft>
                <a:spcPts val="0"/>
              </a:spcAft>
              <a:buNone/>
            </a:pPr>
            <a:r>
              <a:rPr lang="en" sz="1227">
                <a:solidFill>
                  <a:schemeClr val="dk1"/>
                </a:solidFill>
                <a:latin typeface="Montserrat"/>
                <a:ea typeface="Montserrat"/>
                <a:cs typeface="Montserrat"/>
                <a:sym typeface="Montserrat"/>
              </a:rPr>
              <a:t>Crea un grupo, ya sea en whatsapp o telegram, con ambos equipos, donde puedan presentarse, compartir material y mantener una comunicación constante. </a:t>
            </a:r>
            <a:endParaRPr sz="1227">
              <a:solidFill>
                <a:schemeClr val="dk1"/>
              </a:solidFill>
              <a:latin typeface="Montserrat"/>
              <a:ea typeface="Montserrat"/>
              <a:cs typeface="Montserrat"/>
              <a:sym typeface="Montserrat"/>
            </a:endParaRPr>
          </a:p>
        </p:txBody>
      </p:sp>
      <p:sp>
        <p:nvSpPr>
          <p:cNvPr id="124" name="Google Shape;124;p22"/>
          <p:cNvSpPr/>
          <p:nvPr/>
        </p:nvSpPr>
        <p:spPr>
          <a:xfrm>
            <a:off x="1041975" y="3165956"/>
            <a:ext cx="1525500" cy="414600"/>
          </a:xfrm>
          <a:prstGeom prst="roundRect">
            <a:avLst>
              <a:gd fmla="val 16529" name="adj"/>
            </a:avLst>
          </a:prstGeom>
          <a:solidFill>
            <a:srgbClr val="F85B40"/>
          </a:solidFill>
          <a:ln cap="flat" cmpd="sng" w="6725">
            <a:solidFill>
              <a:srgbClr val="FFFFFF"/>
            </a:solidFill>
            <a:prstDash val="solid"/>
            <a:miter lim="400000"/>
            <a:headEnd len="sm" w="sm" type="none"/>
            <a:tailEnd len="sm" w="sm" type="none"/>
          </a:ln>
          <a:effectLst>
            <a:outerShdw blurRad="13433" rotWithShape="0" dir="2700000" dist="26866">
              <a:srgbClr val="000000">
                <a:alpha val="40000"/>
              </a:srgbClr>
            </a:outerShdw>
          </a:effectLst>
        </p:spPr>
        <p:txBody>
          <a:bodyPr anchorCtr="0" anchor="ctr" bIns="0" lIns="0" spcFirstLastPara="1" rIns="0" wrap="square" tIns="0">
            <a:noAutofit/>
          </a:bodyPr>
          <a:lstStyle/>
          <a:p>
            <a:pPr indent="0" lvl="0" marL="0" marR="0" rtl="0" algn="ctr">
              <a:spcBef>
                <a:spcPts val="0"/>
              </a:spcBef>
              <a:spcAft>
                <a:spcPts val="0"/>
              </a:spcAft>
              <a:buNone/>
            </a:pPr>
            <a:r>
              <a:rPr lang="en" sz="1163">
                <a:solidFill>
                  <a:srgbClr val="FFFFFF"/>
                </a:solidFill>
                <a:latin typeface="Lato Black"/>
                <a:ea typeface="Lato Black"/>
                <a:cs typeface="Lato Black"/>
                <a:sym typeface="Lato Black"/>
              </a:rPr>
              <a:t>PASO 3.</a:t>
            </a:r>
            <a:endParaRPr sz="1163"/>
          </a:p>
        </p:txBody>
      </p:sp>
      <p:sp>
        <p:nvSpPr>
          <p:cNvPr id="125" name="Google Shape;125;p22"/>
          <p:cNvSpPr/>
          <p:nvPr/>
        </p:nvSpPr>
        <p:spPr>
          <a:xfrm>
            <a:off x="2567324" y="3339369"/>
            <a:ext cx="427500" cy="67800"/>
          </a:xfrm>
          <a:prstGeom prst="rightArrow">
            <a:avLst>
              <a:gd fmla="val 50000" name="adj1"/>
              <a:gd fmla="val 116706" name="adj2"/>
            </a:avLst>
          </a:prstGeom>
          <a:solidFill>
            <a:srgbClr val="F47721"/>
          </a:solidFill>
          <a:ln cap="flat" cmpd="sng" w="5050">
            <a:solidFill>
              <a:srgbClr val="FFFFFF"/>
            </a:solidFill>
            <a:prstDash val="solid"/>
            <a:round/>
            <a:headEnd len="sm" w="sm" type="none"/>
            <a:tailEnd len="sm" w="sm" type="none"/>
          </a:ln>
        </p:spPr>
        <p:txBody>
          <a:bodyPr anchorCtr="0" anchor="ctr" bIns="96700" lIns="96700" spcFirstLastPara="1" rIns="96700" wrap="square" tIns="96700">
            <a:noAutofit/>
          </a:bodyPr>
          <a:lstStyle/>
          <a:p>
            <a:pPr indent="0" lvl="0" marL="0" rtl="0" algn="l">
              <a:spcBef>
                <a:spcPts val="0"/>
              </a:spcBef>
              <a:spcAft>
                <a:spcPts val="0"/>
              </a:spcAft>
              <a:buNone/>
            </a:pPr>
            <a:r>
              <a:t/>
            </a:r>
            <a:endParaRPr/>
          </a:p>
        </p:txBody>
      </p:sp>
      <p:sp>
        <p:nvSpPr>
          <p:cNvPr id="126" name="Google Shape;126;p22"/>
          <p:cNvSpPr txBox="1"/>
          <p:nvPr/>
        </p:nvSpPr>
        <p:spPr>
          <a:xfrm>
            <a:off x="3074319" y="2189098"/>
            <a:ext cx="5875500" cy="2274300"/>
          </a:xfrm>
          <a:prstGeom prst="rect">
            <a:avLst/>
          </a:prstGeom>
          <a:noFill/>
          <a:ln>
            <a:noFill/>
          </a:ln>
        </p:spPr>
        <p:txBody>
          <a:bodyPr anchorCtr="0" anchor="ctr" bIns="96700" lIns="96700" spcFirstLastPara="1" rIns="96700" wrap="square" tIns="96700">
            <a:spAutoFit/>
          </a:bodyPr>
          <a:lstStyle/>
          <a:p>
            <a:pPr indent="0" lvl="0" marL="0" rtl="0" algn="l">
              <a:spcBef>
                <a:spcPts val="0"/>
              </a:spcBef>
              <a:spcAft>
                <a:spcPts val="0"/>
              </a:spcAft>
              <a:buNone/>
            </a:pPr>
            <a:r>
              <a:rPr lang="en" sz="1227">
                <a:solidFill>
                  <a:schemeClr val="dk1"/>
                </a:solidFill>
                <a:latin typeface="Montserrat"/>
                <a:ea typeface="Montserrat"/>
                <a:cs typeface="Montserrat"/>
                <a:sym typeface="Montserrat"/>
              </a:rPr>
              <a:t>Ten llamadas de seguimiento, de preferencia de manera mensual, donde puedan ver los siguientes temas:</a:t>
            </a:r>
            <a:endParaRPr sz="1227">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sz="1227">
              <a:solidFill>
                <a:schemeClr val="dk1"/>
              </a:solidFill>
              <a:latin typeface="Montserrat"/>
              <a:ea typeface="Montserrat"/>
              <a:cs typeface="Montserrat"/>
              <a:sym typeface="Montserrat"/>
            </a:endParaRPr>
          </a:p>
          <a:p>
            <a:pPr indent="-319770" lvl="0" marL="483591" rtl="0" algn="l">
              <a:spcBef>
                <a:spcPts val="0"/>
              </a:spcBef>
              <a:spcAft>
                <a:spcPts val="0"/>
              </a:spcAft>
              <a:buClr>
                <a:schemeClr val="dk1"/>
              </a:buClr>
              <a:buSzPts val="1228"/>
              <a:buFont typeface="Montserrat"/>
              <a:buChar char="-"/>
            </a:pPr>
            <a:r>
              <a:rPr lang="en" sz="1227">
                <a:solidFill>
                  <a:schemeClr val="dk1"/>
                </a:solidFill>
                <a:latin typeface="Montserrat"/>
                <a:ea typeface="Montserrat"/>
                <a:cs typeface="Montserrat"/>
                <a:sym typeface="Montserrat"/>
              </a:rPr>
              <a:t>Evaluación de metas.</a:t>
            </a:r>
            <a:endParaRPr sz="1227">
              <a:solidFill>
                <a:schemeClr val="dk1"/>
              </a:solidFill>
              <a:latin typeface="Montserrat"/>
              <a:ea typeface="Montserrat"/>
              <a:cs typeface="Montserrat"/>
              <a:sym typeface="Montserrat"/>
            </a:endParaRPr>
          </a:p>
          <a:p>
            <a:pPr indent="-319770" lvl="0" marL="483591" rtl="0" algn="l">
              <a:spcBef>
                <a:spcPts val="0"/>
              </a:spcBef>
              <a:spcAft>
                <a:spcPts val="0"/>
              </a:spcAft>
              <a:buClr>
                <a:schemeClr val="dk1"/>
              </a:buClr>
              <a:buSzPts val="1228"/>
              <a:buFont typeface="Montserrat"/>
              <a:buChar char="-"/>
            </a:pPr>
            <a:r>
              <a:rPr lang="en" sz="1227">
                <a:solidFill>
                  <a:schemeClr val="dk1"/>
                </a:solidFill>
                <a:latin typeface="Montserrat"/>
                <a:ea typeface="Montserrat"/>
                <a:cs typeface="Montserrat"/>
                <a:sym typeface="Montserrat"/>
              </a:rPr>
              <a:t>Conversion Rate.</a:t>
            </a:r>
            <a:endParaRPr sz="1227">
              <a:solidFill>
                <a:schemeClr val="dk1"/>
              </a:solidFill>
              <a:latin typeface="Montserrat"/>
              <a:ea typeface="Montserrat"/>
              <a:cs typeface="Montserrat"/>
              <a:sym typeface="Montserrat"/>
            </a:endParaRPr>
          </a:p>
          <a:p>
            <a:pPr indent="-319770" lvl="0" marL="483591" rtl="0" algn="l">
              <a:spcBef>
                <a:spcPts val="0"/>
              </a:spcBef>
              <a:spcAft>
                <a:spcPts val="0"/>
              </a:spcAft>
              <a:buClr>
                <a:schemeClr val="dk1"/>
              </a:buClr>
              <a:buSzPts val="1228"/>
              <a:buFont typeface="Montserrat"/>
              <a:buChar char="-"/>
            </a:pPr>
            <a:r>
              <a:rPr lang="en" sz="1227">
                <a:solidFill>
                  <a:schemeClr val="dk1"/>
                </a:solidFill>
                <a:latin typeface="Montserrat"/>
                <a:ea typeface="Montserrat"/>
                <a:cs typeface="Montserrat"/>
                <a:sym typeface="Montserrat"/>
              </a:rPr>
              <a:t>Información sobre nuevos proyectos.</a:t>
            </a:r>
            <a:endParaRPr sz="1227">
              <a:solidFill>
                <a:schemeClr val="dk1"/>
              </a:solidFill>
              <a:latin typeface="Montserrat"/>
              <a:ea typeface="Montserrat"/>
              <a:cs typeface="Montserrat"/>
              <a:sym typeface="Montserrat"/>
            </a:endParaRPr>
          </a:p>
          <a:p>
            <a:pPr indent="-319770" lvl="0" marL="483591" rtl="0" algn="l">
              <a:spcBef>
                <a:spcPts val="0"/>
              </a:spcBef>
              <a:spcAft>
                <a:spcPts val="0"/>
              </a:spcAft>
              <a:buClr>
                <a:schemeClr val="dk1"/>
              </a:buClr>
              <a:buSzPts val="1228"/>
              <a:buFont typeface="Montserrat"/>
              <a:buChar char="-"/>
            </a:pPr>
            <a:r>
              <a:rPr lang="en" sz="1227">
                <a:solidFill>
                  <a:schemeClr val="dk1"/>
                </a:solidFill>
                <a:latin typeface="Montserrat"/>
                <a:ea typeface="Montserrat"/>
                <a:cs typeface="Montserrat"/>
                <a:sym typeface="Montserrat"/>
              </a:rPr>
              <a:t>Campañas de attraction. </a:t>
            </a:r>
            <a:endParaRPr sz="1227">
              <a:solidFill>
                <a:schemeClr val="dk1"/>
              </a:solidFill>
              <a:latin typeface="Montserrat"/>
              <a:ea typeface="Montserrat"/>
              <a:cs typeface="Montserrat"/>
              <a:sym typeface="Montserrat"/>
            </a:endParaRPr>
          </a:p>
          <a:p>
            <a:pPr indent="-319770" lvl="0" marL="483591" rtl="0" algn="l">
              <a:spcBef>
                <a:spcPts val="0"/>
              </a:spcBef>
              <a:spcAft>
                <a:spcPts val="0"/>
              </a:spcAft>
              <a:buClr>
                <a:schemeClr val="dk1"/>
              </a:buClr>
              <a:buSzPts val="1228"/>
              <a:buFont typeface="Montserrat"/>
              <a:buChar char="-"/>
            </a:pPr>
            <a:r>
              <a:rPr lang="en" sz="1227">
                <a:solidFill>
                  <a:schemeClr val="dk1"/>
                </a:solidFill>
                <a:latin typeface="Montserrat"/>
                <a:ea typeface="Montserrat"/>
                <a:cs typeface="Montserrat"/>
                <a:sym typeface="Montserrat"/>
              </a:rPr>
              <a:t>En caso de que haya REs: evaluación de estándares entregados, experiencia.</a:t>
            </a:r>
            <a:endParaRPr sz="1227">
              <a:solidFill>
                <a:schemeClr val="dk1"/>
              </a:solidFill>
              <a:latin typeface="Montserrat"/>
              <a:ea typeface="Montserrat"/>
              <a:cs typeface="Montserrat"/>
              <a:sym typeface="Montserrat"/>
            </a:endParaRPr>
          </a:p>
          <a:p>
            <a:pPr indent="-319770" lvl="0" marL="483591" rtl="0" algn="l">
              <a:spcBef>
                <a:spcPts val="0"/>
              </a:spcBef>
              <a:spcAft>
                <a:spcPts val="0"/>
              </a:spcAft>
              <a:buClr>
                <a:schemeClr val="dk1"/>
              </a:buClr>
              <a:buSzPts val="1228"/>
              <a:buFont typeface="Montserrat"/>
              <a:buChar char="-"/>
            </a:pPr>
            <a:r>
              <a:rPr lang="en" sz="1227">
                <a:solidFill>
                  <a:schemeClr val="dk1"/>
                </a:solidFill>
                <a:latin typeface="Montserrat"/>
                <a:ea typeface="Montserrat"/>
                <a:cs typeface="Montserrat"/>
                <a:sym typeface="Montserrat"/>
              </a:rPr>
              <a:t>Flow de la comunicación. </a:t>
            </a:r>
            <a:endParaRPr sz="1227">
              <a:solidFill>
                <a:schemeClr val="dk1"/>
              </a:solidFill>
              <a:latin typeface="Montserrat"/>
              <a:ea typeface="Montserrat"/>
              <a:cs typeface="Montserrat"/>
              <a:sym typeface="Montserrat"/>
            </a:endParaRPr>
          </a:p>
          <a:p>
            <a:pPr indent="-319770" lvl="0" marL="483591" rtl="0" algn="l">
              <a:spcBef>
                <a:spcPts val="0"/>
              </a:spcBef>
              <a:spcAft>
                <a:spcPts val="0"/>
              </a:spcAft>
              <a:buClr>
                <a:schemeClr val="dk1"/>
              </a:buClr>
              <a:buSzPts val="1228"/>
              <a:buFont typeface="Montserrat"/>
              <a:buChar char="-"/>
            </a:pPr>
            <a:r>
              <a:rPr lang="en" sz="1227">
                <a:solidFill>
                  <a:schemeClr val="dk1"/>
                </a:solidFill>
                <a:latin typeface="Montserrat"/>
                <a:ea typeface="Montserrat"/>
                <a:cs typeface="Montserrat"/>
                <a:sym typeface="Montserrat"/>
              </a:rPr>
              <a:t>Estrategias para alcance de metas y next steps claros.</a:t>
            </a:r>
            <a:endParaRPr sz="1227">
              <a:solidFill>
                <a:schemeClr val="dk1"/>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23"/>
          <p:cNvSpPr txBox="1"/>
          <p:nvPr/>
        </p:nvSpPr>
        <p:spPr>
          <a:xfrm>
            <a:off x="58050" y="183225"/>
            <a:ext cx="87864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800">
                <a:solidFill>
                  <a:schemeClr val="lt1"/>
                </a:solidFill>
                <a:highlight>
                  <a:srgbClr val="405E78"/>
                </a:highlight>
                <a:latin typeface="Montserrat"/>
                <a:ea typeface="Montserrat"/>
                <a:cs typeface="Montserrat"/>
                <a:sym typeface="Montserrat"/>
              </a:rPr>
              <a:t>Cooperacion LC2LC: ¿</a:t>
            </a:r>
            <a:r>
              <a:rPr lang="en" sz="2800">
                <a:solidFill>
                  <a:schemeClr val="lt1"/>
                </a:solidFill>
                <a:highlight>
                  <a:srgbClr val="405E78"/>
                </a:highlight>
                <a:latin typeface="Montserrat"/>
                <a:ea typeface="Montserrat"/>
                <a:cs typeface="Montserrat"/>
                <a:sym typeface="Montserrat"/>
              </a:rPr>
              <a:t>Qué</a:t>
            </a:r>
            <a:r>
              <a:rPr lang="en" sz="2800">
                <a:solidFill>
                  <a:schemeClr val="lt1"/>
                </a:solidFill>
                <a:highlight>
                  <a:srgbClr val="405E78"/>
                </a:highlight>
                <a:latin typeface="Montserrat"/>
                <a:ea typeface="Montserrat"/>
                <a:cs typeface="Montserrat"/>
                <a:sym typeface="Montserrat"/>
              </a:rPr>
              <a:t> son y </a:t>
            </a:r>
            <a:r>
              <a:rPr lang="en" sz="2800">
                <a:solidFill>
                  <a:schemeClr val="lt1"/>
                </a:solidFill>
                <a:highlight>
                  <a:srgbClr val="405E78"/>
                </a:highlight>
                <a:latin typeface="Montserrat"/>
                <a:ea typeface="Montserrat"/>
                <a:cs typeface="Montserrat"/>
                <a:sym typeface="Montserrat"/>
              </a:rPr>
              <a:t>cómo</a:t>
            </a:r>
            <a:r>
              <a:rPr lang="en" sz="2800">
                <a:solidFill>
                  <a:schemeClr val="lt1"/>
                </a:solidFill>
                <a:highlight>
                  <a:srgbClr val="405E78"/>
                </a:highlight>
                <a:latin typeface="Montserrat"/>
                <a:ea typeface="Montserrat"/>
                <a:cs typeface="Montserrat"/>
                <a:sym typeface="Montserrat"/>
              </a:rPr>
              <a:t> llevarlas?</a:t>
            </a:r>
            <a:endParaRPr sz="28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800">
              <a:solidFill>
                <a:srgbClr val="405E78"/>
              </a:solidFill>
              <a:highlight>
                <a:srgbClr val="405E78"/>
              </a:highlight>
              <a:latin typeface="Nunito"/>
              <a:ea typeface="Nunito"/>
              <a:cs typeface="Nunito"/>
              <a:sym typeface="Nunito"/>
            </a:endParaRPr>
          </a:p>
        </p:txBody>
      </p:sp>
      <p:sp>
        <p:nvSpPr>
          <p:cNvPr id="132" name="Google Shape;132;p23"/>
          <p:cNvSpPr txBox="1"/>
          <p:nvPr/>
        </p:nvSpPr>
        <p:spPr>
          <a:xfrm>
            <a:off x="156325" y="994800"/>
            <a:ext cx="8058000" cy="3370800"/>
          </a:xfrm>
          <a:prstGeom prst="rect">
            <a:avLst/>
          </a:prstGeom>
          <a:noFill/>
          <a:ln>
            <a:noFill/>
          </a:ln>
        </p:spPr>
        <p:txBody>
          <a:bodyPr anchorCtr="0" anchor="ctr" bIns="182850" lIns="182850" spcFirstLastPara="1" rIns="182850" wrap="square" tIns="182850">
            <a:spAutoFit/>
          </a:bodyPr>
          <a:lstStyle/>
          <a:p>
            <a:pPr indent="0" lvl="0" marL="0" rtl="0" algn="just">
              <a:spcBef>
                <a:spcPts val="0"/>
              </a:spcBef>
              <a:spcAft>
                <a:spcPts val="0"/>
              </a:spcAft>
              <a:buNone/>
            </a:pPr>
            <a:r>
              <a:rPr lang="en" sz="1300">
                <a:solidFill>
                  <a:schemeClr val="dk1"/>
                </a:solidFill>
                <a:latin typeface="Montserrat"/>
                <a:ea typeface="Montserrat"/>
                <a:cs typeface="Montserrat"/>
                <a:sym typeface="Montserrat"/>
              </a:rPr>
              <a:t>Una cooperación LC2LC (</a:t>
            </a:r>
            <a:r>
              <a:rPr i="1" lang="en" sz="1300">
                <a:solidFill>
                  <a:schemeClr val="dk1"/>
                </a:solidFill>
                <a:latin typeface="Montserrat"/>
                <a:ea typeface="Montserrat"/>
                <a:cs typeface="Montserrat"/>
                <a:sym typeface="Montserrat"/>
              </a:rPr>
              <a:t>léase LC to LC</a:t>
            </a:r>
            <a:r>
              <a:rPr lang="en" sz="1300">
                <a:solidFill>
                  <a:schemeClr val="dk1"/>
                </a:solidFill>
                <a:latin typeface="Montserrat"/>
                <a:ea typeface="Montserrat"/>
                <a:cs typeface="Montserrat"/>
                <a:sym typeface="Montserrat"/>
              </a:rPr>
              <a:t>)  es cuando ambos comités trabajan entre sí con distintas áreas operativas, o todas, por lo que están en una mayor sinergia y comunicación. </a:t>
            </a:r>
            <a:endParaRPr sz="13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3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300">
                <a:solidFill>
                  <a:schemeClr val="dk1"/>
                </a:solidFill>
                <a:latin typeface="Montserrat"/>
                <a:ea typeface="Montserrat"/>
                <a:cs typeface="Montserrat"/>
                <a:sym typeface="Montserrat"/>
              </a:rPr>
              <a:t>Las cooperaciones LC2LC sirven para fomentar el crecimiento de ambos LCs por ambos lados, yo te envío, tú me envías; fomenta mayor comunicación; y nos asegura que ambos seamos la prioridad para el otro, es decir, el primer comité que ofertamos a nuestros EPs. </a:t>
            </a:r>
            <a:endParaRPr sz="1300">
              <a:solidFill>
                <a:schemeClr val="dk1"/>
              </a:solidFill>
              <a:latin typeface="Montserrat"/>
              <a:ea typeface="Montserrat"/>
              <a:cs typeface="Montserrat"/>
              <a:sym typeface="Montserrat"/>
            </a:endParaRPr>
          </a:p>
          <a:p>
            <a:pPr indent="0" lvl="0" marL="0" rtl="0" algn="just">
              <a:spcBef>
                <a:spcPts val="0"/>
              </a:spcBef>
              <a:spcAft>
                <a:spcPts val="0"/>
              </a:spcAft>
              <a:buNone/>
            </a:pPr>
            <a:r>
              <a:t/>
            </a:r>
            <a:endParaRPr sz="1300">
              <a:solidFill>
                <a:schemeClr val="dk1"/>
              </a:solidFill>
              <a:latin typeface="Montserrat"/>
              <a:ea typeface="Montserrat"/>
              <a:cs typeface="Montserrat"/>
              <a:sym typeface="Montserrat"/>
            </a:endParaRPr>
          </a:p>
          <a:p>
            <a:pPr indent="0" lvl="0" marL="0" rtl="0" algn="just">
              <a:spcBef>
                <a:spcPts val="0"/>
              </a:spcBef>
              <a:spcAft>
                <a:spcPts val="0"/>
              </a:spcAft>
              <a:buNone/>
            </a:pPr>
            <a:r>
              <a:rPr lang="en" sz="1300">
                <a:solidFill>
                  <a:schemeClr val="dk1"/>
                </a:solidFill>
                <a:latin typeface="Montserrat"/>
                <a:ea typeface="Montserrat"/>
                <a:cs typeface="Montserrat"/>
                <a:sym typeface="Montserrat"/>
              </a:rPr>
              <a:t>Durante las llamadas de seguimiento de una cooperación LC2LC es importante que ambas áreas de ambos comités estén involucradas. En estas llamadas deberán ver los siguientes temas:</a:t>
            </a:r>
            <a:endParaRPr sz="1300">
              <a:solidFill>
                <a:schemeClr val="dk1"/>
              </a:solidFill>
              <a:latin typeface="Montserrat"/>
              <a:ea typeface="Montserrat"/>
              <a:cs typeface="Montserrat"/>
              <a:sym typeface="Montserrat"/>
            </a:endParaRPr>
          </a:p>
          <a:p>
            <a:pPr indent="-539750" lvl="0" marL="914400" rtl="0" algn="just">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Porcentaje de metas alcanzadas.</a:t>
            </a:r>
            <a:endParaRPr sz="1300">
              <a:solidFill>
                <a:schemeClr val="dk1"/>
              </a:solidFill>
              <a:latin typeface="Montserrat"/>
              <a:ea typeface="Montserrat"/>
              <a:cs typeface="Montserrat"/>
              <a:sym typeface="Montserrat"/>
            </a:endParaRPr>
          </a:p>
          <a:p>
            <a:pPr indent="-539750" lvl="0" marL="914400" rtl="0" algn="just">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Número de estándares entregados. </a:t>
            </a:r>
            <a:endParaRPr sz="1300">
              <a:solidFill>
                <a:schemeClr val="dk1"/>
              </a:solidFill>
              <a:latin typeface="Montserrat"/>
              <a:ea typeface="Montserrat"/>
              <a:cs typeface="Montserrat"/>
              <a:sym typeface="Montserrat"/>
            </a:endParaRPr>
          </a:p>
          <a:p>
            <a:pPr indent="-539750" lvl="0" marL="914400" rtl="0" algn="just">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Calidad de las experiencias entregadas.</a:t>
            </a:r>
            <a:endParaRPr sz="1300">
              <a:solidFill>
                <a:schemeClr val="dk1"/>
              </a:solidFill>
              <a:latin typeface="Montserrat"/>
              <a:ea typeface="Montserrat"/>
              <a:cs typeface="Montserrat"/>
              <a:sym typeface="Montserrat"/>
            </a:endParaRPr>
          </a:p>
          <a:p>
            <a:pPr indent="-539750" lvl="0" marL="914400" rtl="0" algn="just">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Flow de comunicación. </a:t>
            </a:r>
            <a:endParaRPr sz="1300">
              <a:solidFill>
                <a:schemeClr val="dk1"/>
              </a:solidFill>
              <a:latin typeface="Montserrat"/>
              <a:ea typeface="Montserrat"/>
              <a:cs typeface="Montserrat"/>
              <a:sym typeface="Montserrat"/>
            </a:endParaRPr>
          </a:p>
          <a:p>
            <a:pPr indent="-539750" lvl="0" marL="914400" rtl="0" algn="just">
              <a:spcBef>
                <a:spcPts val="0"/>
              </a:spcBef>
              <a:spcAft>
                <a:spcPts val="0"/>
              </a:spcAft>
              <a:buClr>
                <a:schemeClr val="dk1"/>
              </a:buClr>
              <a:buSzPts val="1300"/>
              <a:buFont typeface="Montserrat"/>
              <a:buChar char="-"/>
            </a:pPr>
            <a:r>
              <a:rPr lang="en" sz="1300">
                <a:solidFill>
                  <a:schemeClr val="dk1"/>
                </a:solidFill>
                <a:latin typeface="Montserrat"/>
                <a:ea typeface="Montserrat"/>
                <a:cs typeface="Montserrat"/>
                <a:sym typeface="Montserrat"/>
              </a:rPr>
              <a:t>Next steps claros. </a:t>
            </a:r>
            <a:endParaRPr sz="1300">
              <a:solidFill>
                <a:schemeClr val="dk1"/>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24"/>
          <p:cNvSpPr txBox="1"/>
          <p:nvPr/>
        </p:nvSpPr>
        <p:spPr>
          <a:xfrm>
            <a:off x="167675" y="146675"/>
            <a:ext cx="66396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800">
                <a:solidFill>
                  <a:schemeClr val="lt1"/>
                </a:solidFill>
                <a:highlight>
                  <a:schemeClr val="accent4"/>
                </a:highlight>
                <a:latin typeface="Montserrat"/>
                <a:ea typeface="Montserrat"/>
                <a:cs typeface="Montserrat"/>
                <a:sym typeface="Montserrat"/>
              </a:rPr>
              <a:t>IMPORTANTE:</a:t>
            </a:r>
            <a:endParaRPr sz="2800">
              <a:solidFill>
                <a:schemeClr val="lt1"/>
              </a:solidFill>
              <a:highlight>
                <a:schemeClr val="accent4"/>
              </a:highlight>
              <a:latin typeface="Montserrat"/>
              <a:ea typeface="Montserrat"/>
              <a:cs typeface="Montserrat"/>
              <a:sym typeface="Montserrat"/>
            </a:endParaRPr>
          </a:p>
          <a:p>
            <a:pPr indent="0" lvl="0" marL="0" rtl="0" algn="l">
              <a:spcBef>
                <a:spcPts val="0"/>
              </a:spcBef>
              <a:spcAft>
                <a:spcPts val="0"/>
              </a:spcAft>
              <a:buNone/>
            </a:pPr>
            <a:r>
              <a:t/>
            </a:r>
            <a:endParaRPr sz="2800">
              <a:solidFill>
                <a:srgbClr val="405E78"/>
              </a:solidFill>
              <a:latin typeface="Nunito"/>
              <a:ea typeface="Nunito"/>
              <a:cs typeface="Nunito"/>
              <a:sym typeface="Nunito"/>
            </a:endParaRPr>
          </a:p>
        </p:txBody>
      </p:sp>
      <p:sp>
        <p:nvSpPr>
          <p:cNvPr id="138" name="Google Shape;138;p24"/>
          <p:cNvSpPr txBox="1"/>
          <p:nvPr/>
        </p:nvSpPr>
        <p:spPr>
          <a:xfrm>
            <a:off x="213375" y="1236425"/>
            <a:ext cx="8302200" cy="2458800"/>
          </a:xfrm>
          <a:prstGeom prst="rect">
            <a:avLst/>
          </a:prstGeom>
          <a:noFill/>
          <a:ln>
            <a:noFill/>
          </a:ln>
        </p:spPr>
        <p:txBody>
          <a:bodyPr anchorCtr="0" anchor="ctr" bIns="182850" lIns="182850" spcFirstLastPara="1" rIns="182850" wrap="square" tIns="182850">
            <a:spAutoFit/>
          </a:bodyPr>
          <a:lstStyle/>
          <a:p>
            <a:pPr indent="0" lvl="0" marL="0" marR="0" rtl="0" algn="just">
              <a:lnSpc>
                <a:spcPct val="115000"/>
              </a:lnSpc>
              <a:spcBef>
                <a:spcPts val="0"/>
              </a:spcBef>
              <a:spcAft>
                <a:spcPts val="0"/>
              </a:spcAft>
              <a:buNone/>
            </a:pPr>
            <a:r>
              <a:rPr lang="en" sz="1500">
                <a:solidFill>
                  <a:schemeClr val="dk1"/>
                </a:solidFill>
                <a:latin typeface="Montserrat"/>
                <a:ea typeface="Montserrat"/>
                <a:cs typeface="Montserrat"/>
                <a:sym typeface="Montserrat"/>
              </a:rPr>
              <a:t>Te recomendamos no tener más de 3 a 5 cooperaciones a nivel local para tener opciones seguras que ofrecer a tus EPs, y es importante que estas cooperaciones a nivel local estén alineadas a los National Partners, así como que tus EPs estén aplicando a oportunidades dentro de éstos. </a:t>
            </a:r>
            <a:endParaRPr sz="1500">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None/>
            </a:pPr>
            <a:r>
              <a:t/>
            </a:r>
            <a:endParaRPr sz="1500">
              <a:solidFill>
                <a:schemeClr val="dk1"/>
              </a:solidFill>
              <a:latin typeface="Montserrat"/>
              <a:ea typeface="Montserrat"/>
              <a:cs typeface="Montserrat"/>
              <a:sym typeface="Montserrat"/>
            </a:endParaRPr>
          </a:p>
          <a:p>
            <a:pPr indent="0" lvl="0" marL="0" marR="0" rtl="0" algn="just">
              <a:lnSpc>
                <a:spcPct val="115000"/>
              </a:lnSpc>
              <a:spcBef>
                <a:spcPts val="0"/>
              </a:spcBef>
              <a:spcAft>
                <a:spcPts val="0"/>
              </a:spcAft>
              <a:buNone/>
            </a:pPr>
            <a:r>
              <a:rPr lang="en" sz="1500">
                <a:solidFill>
                  <a:schemeClr val="dk1"/>
                </a:solidFill>
                <a:latin typeface="Montserrat"/>
                <a:ea typeface="Montserrat"/>
                <a:cs typeface="Montserrat"/>
                <a:sym typeface="Montserrat"/>
              </a:rPr>
              <a:t>No olvides: Recuerda que nosotros ofrecemos programas de voluntariado, no somos una agencia de viaje. Denle prioridad a las oportunidades que ofrecen tus cooperaciones, no a que tan turístico, bonito o de moda esté la ciudad o el país. </a:t>
            </a:r>
            <a:endParaRPr sz="1500">
              <a:solidFill>
                <a:schemeClr val="dk1"/>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25"/>
          <p:cNvSpPr txBox="1"/>
          <p:nvPr/>
        </p:nvSpPr>
        <p:spPr>
          <a:xfrm>
            <a:off x="58050" y="183225"/>
            <a:ext cx="8786400" cy="482400"/>
          </a:xfrm>
          <a:prstGeom prst="rect">
            <a:avLst/>
          </a:prstGeom>
          <a:noFill/>
          <a:ln>
            <a:noFill/>
          </a:ln>
        </p:spPr>
        <p:txBody>
          <a:bodyPr anchorCtr="0" anchor="t" bIns="86425" lIns="86425" spcFirstLastPara="1" rIns="86425" wrap="square" tIns="86425">
            <a:noAutofit/>
          </a:bodyPr>
          <a:lstStyle/>
          <a:p>
            <a:pPr indent="0" lvl="0" marL="0" rtl="0" algn="l">
              <a:lnSpc>
                <a:spcPct val="90000"/>
              </a:lnSpc>
              <a:spcBef>
                <a:spcPts val="0"/>
              </a:spcBef>
              <a:spcAft>
                <a:spcPts val="0"/>
              </a:spcAft>
              <a:buNone/>
            </a:pPr>
            <a:r>
              <a:rPr lang="en" sz="2800">
                <a:solidFill>
                  <a:schemeClr val="lt1"/>
                </a:solidFill>
                <a:highlight>
                  <a:srgbClr val="405E78"/>
                </a:highlight>
                <a:latin typeface="Montserrat"/>
                <a:ea typeface="Montserrat"/>
                <a:cs typeface="Montserrat"/>
                <a:sym typeface="Montserrat"/>
              </a:rPr>
              <a:t>¿Como buscar oportunidades?</a:t>
            </a:r>
            <a:endParaRPr sz="2800">
              <a:solidFill>
                <a:schemeClr val="lt1"/>
              </a:solidFill>
              <a:highlight>
                <a:srgbClr val="405E78"/>
              </a:highlight>
              <a:latin typeface="Montserrat"/>
              <a:ea typeface="Montserrat"/>
              <a:cs typeface="Montserrat"/>
              <a:sym typeface="Montserrat"/>
            </a:endParaRPr>
          </a:p>
          <a:p>
            <a:pPr indent="0" lvl="0" marL="0" rtl="0" algn="l">
              <a:spcBef>
                <a:spcPts val="0"/>
              </a:spcBef>
              <a:spcAft>
                <a:spcPts val="0"/>
              </a:spcAft>
              <a:buNone/>
            </a:pPr>
            <a:r>
              <a:t/>
            </a:r>
            <a:endParaRPr sz="2800">
              <a:solidFill>
                <a:srgbClr val="405E78"/>
              </a:solidFill>
              <a:highlight>
                <a:srgbClr val="405E78"/>
              </a:highlight>
              <a:latin typeface="Nunito"/>
              <a:ea typeface="Nunito"/>
              <a:cs typeface="Nunito"/>
              <a:sym typeface="Nunito"/>
            </a:endParaRPr>
          </a:p>
        </p:txBody>
      </p:sp>
      <p:sp>
        <p:nvSpPr>
          <p:cNvPr id="144" name="Google Shape;144;p25"/>
          <p:cNvSpPr txBox="1"/>
          <p:nvPr/>
        </p:nvSpPr>
        <p:spPr>
          <a:xfrm>
            <a:off x="111650" y="830400"/>
            <a:ext cx="8058000" cy="3817200"/>
          </a:xfrm>
          <a:prstGeom prst="rect">
            <a:avLst/>
          </a:prstGeom>
          <a:noFill/>
          <a:ln>
            <a:noFill/>
          </a:ln>
        </p:spPr>
        <p:txBody>
          <a:bodyPr anchorCtr="0" anchor="ctr" bIns="182850" lIns="182850" spcFirstLastPara="1" rIns="182850" wrap="square" tIns="182850">
            <a:spAutoFit/>
          </a:bodyPr>
          <a:lstStyle/>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Todas las oportunidades las encuentras en </a:t>
            </a:r>
            <a:r>
              <a:rPr lang="en" u="sng">
                <a:solidFill>
                  <a:schemeClr val="dk1"/>
                </a:solidFill>
                <a:latin typeface="Montserrat"/>
                <a:ea typeface="Montserrat"/>
                <a:cs typeface="Montserrat"/>
                <a:sym typeface="Montserrat"/>
                <a:hlinkClick r:id="rId4">
                  <a:extLst>
                    <a:ext uri="{A12FA001-AC4F-418D-AE19-62706E023703}">
                      <ahyp:hlinkClr val="tx"/>
                    </a:ext>
                  </a:extLst>
                </a:hlinkClick>
              </a:rPr>
              <a:t> AIESEC.ORG</a:t>
            </a:r>
            <a:endParaRPr>
              <a:solidFill>
                <a:schemeClr val="dk1"/>
              </a:solidFill>
              <a:latin typeface="Montserrat"/>
              <a:ea typeface="Montserrat"/>
              <a:cs typeface="Montserrat"/>
              <a:sym typeface="Montserrat"/>
            </a:endParaRPr>
          </a:p>
          <a:p>
            <a:pPr indent="0" lvl="0" marL="1371600" rtl="0" algn="l">
              <a:spcBef>
                <a:spcPts val="0"/>
              </a:spcBef>
              <a:spcAft>
                <a:spcPts val="0"/>
              </a:spcAft>
              <a:buNone/>
            </a:pPr>
            <a:r>
              <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El objetivo de tener cooperaciones es poder tener una claridad sobre qué oportunidades ofrecemos, con qué proyectos trabajamos, beneficios y fechas disponibles. </a:t>
            </a:r>
            <a:endParaRPr>
              <a:solidFill>
                <a:schemeClr val="dk1"/>
              </a:solidFill>
              <a:latin typeface="Montserrat"/>
              <a:ea typeface="Montserrat"/>
              <a:cs typeface="Montserrat"/>
              <a:sym typeface="Montserrat"/>
            </a:endParaRPr>
          </a:p>
          <a:p>
            <a:pPr indent="0" lvl="0" marL="1371600" rtl="0" algn="l">
              <a:spcBef>
                <a:spcPts val="0"/>
              </a:spcBef>
              <a:spcAft>
                <a:spcPts val="0"/>
              </a:spcAft>
              <a:buNone/>
            </a:pPr>
            <a:r>
              <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Cada entidad cuenta con una Searchtool, lo que es una herramienta donde podrás encontrar todas sus oportunidades con los requerimientos y detalles importantes. </a:t>
            </a:r>
            <a:endParaRPr>
              <a:solidFill>
                <a:schemeClr val="dk1"/>
              </a:solidFill>
              <a:latin typeface="Montserrat"/>
              <a:ea typeface="Montserrat"/>
              <a:cs typeface="Montserrat"/>
              <a:sym typeface="Montserrat"/>
            </a:endParaRPr>
          </a:p>
          <a:p>
            <a:pPr indent="0" lvl="0" marL="1371600" rtl="0" algn="l">
              <a:spcBef>
                <a:spcPts val="0"/>
              </a:spcBef>
              <a:spcAft>
                <a:spcPts val="0"/>
              </a:spcAft>
              <a:buNone/>
            </a:pPr>
            <a:r>
              <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Char char="●"/>
            </a:pPr>
            <a:r>
              <a:rPr lang="en">
                <a:solidFill>
                  <a:schemeClr val="dk1"/>
                </a:solidFill>
                <a:latin typeface="Montserrat"/>
                <a:ea typeface="Montserrat"/>
                <a:cs typeface="Montserrat"/>
                <a:sym typeface="Montserrat"/>
              </a:rPr>
              <a:t>De igual manera, el equipo nacional trabaja constantemente en la actualización de nuestra </a:t>
            </a:r>
            <a:endParaRPr>
              <a:solidFill>
                <a:schemeClr val="dk1"/>
              </a:solidFill>
              <a:latin typeface="Montserrat"/>
              <a:ea typeface="Montserrat"/>
              <a:cs typeface="Montserrat"/>
              <a:sym typeface="Montserrat"/>
            </a:endParaRPr>
          </a:p>
          <a:p>
            <a:pPr indent="0" lvl="0" marL="1371600" rtl="0" algn="l">
              <a:spcBef>
                <a:spcPts val="0"/>
              </a:spcBef>
              <a:spcAft>
                <a:spcPts val="0"/>
              </a:spcAft>
              <a:buNone/>
            </a:pPr>
            <a:r>
              <a:t/>
            </a:r>
            <a:endParaRPr>
              <a:solidFill>
                <a:schemeClr val="dk1"/>
              </a:solidFill>
              <a:latin typeface="Montserrat"/>
              <a:ea typeface="Montserrat"/>
              <a:cs typeface="Montserrat"/>
              <a:sym typeface="Montserrat"/>
            </a:endParaRPr>
          </a:p>
          <a:p>
            <a:pPr indent="-317500" lvl="0" marL="457200" rtl="0" algn="l">
              <a:spcBef>
                <a:spcPts val="0"/>
              </a:spcBef>
              <a:spcAft>
                <a:spcPts val="0"/>
              </a:spcAft>
              <a:buClr>
                <a:schemeClr val="dk1"/>
              </a:buClr>
              <a:buSzPts val="1400"/>
              <a:buFont typeface="Montserrat"/>
              <a:buChar char="●"/>
            </a:pPr>
            <a:r>
              <a:rPr lang="en" u="sng">
                <a:solidFill>
                  <a:schemeClr val="dk1"/>
                </a:solidFill>
                <a:latin typeface="Montserrat"/>
                <a:ea typeface="Montserrat"/>
                <a:cs typeface="Montserrat"/>
                <a:sym typeface="Montserrat"/>
                <a:hlinkClick r:id="rId5">
                  <a:extLst>
                    <a:ext uri="{A12FA001-AC4F-418D-AE19-62706E023703}">
                      <ahyp:hlinkClr val="tx"/>
                    </a:ext>
                  </a:extLst>
                </a:hlinkClick>
              </a:rPr>
              <a:t>oGX Dashboard</a:t>
            </a:r>
            <a:r>
              <a:rPr lang="en">
                <a:solidFill>
                  <a:schemeClr val="dk1"/>
                </a:solidFill>
                <a:latin typeface="Montserrat"/>
                <a:ea typeface="Montserrat"/>
                <a:cs typeface="Montserrat"/>
                <a:sym typeface="Montserrat"/>
              </a:rPr>
              <a:t>, donde podrás encontrar toda la información necesaria sobre nuestros National Partners and Suppliers, herramientas importantes y el contacto de los LCs de éstos. </a:t>
            </a:r>
            <a:endParaRPr>
              <a:solidFill>
                <a:schemeClr val="dk1"/>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