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Montserrat SemiBold"/>
      <p:regular r:id="rId36"/>
      <p:bold r:id="rId37"/>
      <p:italic r:id="rId38"/>
      <p:boldItalic r:id="rId39"/>
    </p:embeddedFont>
    <p:embeddedFont>
      <p:font typeface="Nunito"/>
      <p:regular r:id="rId40"/>
      <p:bold r:id="rId41"/>
      <p:italic r:id="rId42"/>
      <p:boldItalic r:id="rId43"/>
    </p:embeddedFont>
    <p:embeddedFont>
      <p:font typeface="Montserrat"/>
      <p:regular r:id="rId44"/>
      <p:bold r:id="rId45"/>
      <p:italic r:id="rId46"/>
      <p:boldItalic r:id="rId47"/>
    </p:embeddedFont>
    <p:embeddedFont>
      <p:font typeface="Lato Black"/>
      <p:bold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regular.fntdata"/><Relationship Id="rId42" Type="http://schemas.openxmlformats.org/officeDocument/2006/relationships/font" Target="fonts/Nunito-italic.fntdata"/><Relationship Id="rId41" Type="http://schemas.openxmlformats.org/officeDocument/2006/relationships/font" Target="fonts/Nunito-bold.fntdata"/><Relationship Id="rId44" Type="http://schemas.openxmlformats.org/officeDocument/2006/relationships/font" Target="fonts/Montserrat-regular.fntdata"/><Relationship Id="rId43" Type="http://schemas.openxmlformats.org/officeDocument/2006/relationships/font" Target="fonts/Nunito-boldItalic.fntdata"/><Relationship Id="rId46" Type="http://schemas.openxmlformats.org/officeDocument/2006/relationships/font" Target="fonts/Montserrat-italic.fntdata"/><Relationship Id="rId45"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Black-bold.fntdata"/><Relationship Id="rId47" Type="http://schemas.openxmlformats.org/officeDocument/2006/relationships/font" Target="fonts/Montserrat-boldItalic.fntdata"/><Relationship Id="rId49" Type="http://schemas.openxmlformats.org/officeDocument/2006/relationships/font" Target="fonts/LatoBlack-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MontserratSemiBold-bold.fntdata"/><Relationship Id="rId36" Type="http://schemas.openxmlformats.org/officeDocument/2006/relationships/font" Target="fonts/MontserratSemiBold-regular.fntdata"/><Relationship Id="rId39" Type="http://schemas.openxmlformats.org/officeDocument/2006/relationships/font" Target="fonts/MontserratSemiBold-boldItalic.fntdata"/><Relationship Id="rId38" Type="http://schemas.openxmlformats.org/officeDocument/2006/relationships/font" Target="fonts/MontserratSemi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3bbf733ac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3bbf733a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63bbf733a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63bbf733a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78c777b2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78c777b2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63bbf733ac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63bbf733ac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7385e42d9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7385e42d9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8c777b26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78c777b26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8c777b26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78c777b26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8c777b26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8c777b26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3bbf733ac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63bbf733ac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8c777b26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78c777b26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8c777b26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78c777b26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78c777b26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78c777b26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8c777b268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78c777b268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8c777b26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78c777b26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8c777b26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78c777b26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8c777b268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78c777b268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78c777b268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78c777b26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8c777b26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78c777b26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8c777b268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78c777b268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8c777b268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78c777b268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78c777b268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78c777b268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78c777b268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78c777b268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78c777b26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78c777b268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78c777b268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78c777b268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78c777b268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78c777b268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78c777b268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78c777b268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7385e42d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7385e42d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64cd70f6d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64cd70f6d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78c777b268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78c777b268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63bc1dfc1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63bc1dfc1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hyperlink" Target="https://docs.google.com/presentation/d/1C9uuwvTgPd-lbS5IpqhUtQW4ZgdptRnx252EMqxJK14/edit#slide=id.gf72b8253e4_0_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hyperlink" Target="https://docs.google.com/presentation/d/1_oQ20--tMwME_EFYKZn9JHcDYl-DqYa9yVwgUgoFwhk/edit#slide=id.gf72b8253e4_0_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jpg"/><Relationship Id="rId4" Type="http://schemas.openxmlformats.org/officeDocument/2006/relationships/hyperlink" Target="https://docs.google.com/presentation/d/1mBac1nZk1sth07JGLKi0xSPfBr3s5ZTk7ecEORsvq0A/edit#slide=id.p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0" y="0"/>
            <a:ext cx="9144000" cy="51435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txBox="1"/>
          <p:nvPr/>
        </p:nvSpPr>
        <p:spPr>
          <a:xfrm>
            <a:off x="776100" y="2121750"/>
            <a:ext cx="7591800" cy="9000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0"/>
              </a:spcAft>
              <a:buClr>
                <a:schemeClr val="dk1"/>
              </a:buClr>
              <a:buSzPts val="1100"/>
              <a:buFont typeface="Arial"/>
              <a:buNone/>
            </a:pPr>
            <a:r>
              <a:rPr b="1" lang="en" sz="6800">
                <a:solidFill>
                  <a:schemeClr val="lt1"/>
                </a:solidFill>
                <a:latin typeface="Montserrat"/>
                <a:ea typeface="Montserrat"/>
                <a:cs typeface="Montserrat"/>
                <a:sym typeface="Montserrat"/>
              </a:rPr>
              <a:t>PXP</a:t>
            </a:r>
            <a:endParaRPr b="1" sz="6800">
              <a:solidFill>
                <a:schemeClr val="lt1"/>
              </a:solidFill>
              <a:latin typeface="Montserrat"/>
              <a:ea typeface="Montserrat"/>
              <a:cs typeface="Montserrat"/>
              <a:sym typeface="Montserrat"/>
            </a:endParaRPr>
          </a:p>
          <a:p>
            <a:pPr indent="0" lvl="0" marL="0" rtl="0" algn="l">
              <a:spcBef>
                <a:spcPts val="6807"/>
              </a:spcBef>
              <a:spcAft>
                <a:spcPts val="0"/>
              </a:spcAft>
              <a:buNone/>
            </a:pPr>
            <a:r>
              <a:t/>
            </a:r>
            <a:endParaRPr sz="100">
              <a:solidFill>
                <a:schemeClr val="dk2"/>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sp>
        <p:nvSpPr>
          <p:cNvPr id="64" name="Google Shape;64;p15"/>
          <p:cNvSpPr txBox="1"/>
          <p:nvPr/>
        </p:nvSpPr>
        <p:spPr>
          <a:xfrm>
            <a:off x="520200" y="1491375"/>
            <a:ext cx="8103600" cy="900000"/>
          </a:xfrm>
          <a:prstGeom prst="rect">
            <a:avLst/>
          </a:prstGeom>
          <a:noFill/>
          <a:ln>
            <a:noFill/>
          </a:ln>
        </p:spPr>
        <p:txBody>
          <a:bodyPr anchorCtr="0" anchor="t" bIns="86425" lIns="86425" spcFirstLastPara="1" rIns="86425" wrap="square" tIns="86425">
            <a:noAutofit/>
          </a:bodyPr>
          <a:lstStyle/>
          <a:p>
            <a:pPr indent="0" lvl="0" marL="0" rtl="0" algn="ctr">
              <a:lnSpc>
                <a:spcPct val="147722"/>
              </a:lnSpc>
              <a:spcBef>
                <a:spcPts val="0"/>
              </a:spcBef>
              <a:spcAft>
                <a:spcPts val="0"/>
              </a:spcAft>
              <a:buClr>
                <a:schemeClr val="dk1"/>
              </a:buClr>
              <a:buSzPts val="1100"/>
              <a:buFont typeface="Arial"/>
              <a:buNone/>
            </a:pPr>
            <a:r>
              <a:rPr b="1" i="1" lang="en" sz="3000">
                <a:solidFill>
                  <a:schemeClr val="lt1"/>
                </a:solidFill>
                <a:latin typeface="Montserrat"/>
                <a:ea typeface="Montserrat"/>
                <a:cs typeface="Montserrat"/>
                <a:sym typeface="Montserrat"/>
              </a:rPr>
              <a:t>AIESEC Exchange Standards (Estandares de intercambio)</a:t>
            </a:r>
            <a:endParaRPr b="1" i="1" sz="3000">
              <a:solidFill>
                <a:schemeClr val="lt1"/>
              </a:solidFill>
              <a:latin typeface="Montserrat"/>
              <a:ea typeface="Montserrat"/>
              <a:cs typeface="Montserrat"/>
              <a:sym typeface="Montserrat"/>
            </a:endParaRPr>
          </a:p>
          <a:p>
            <a:pPr indent="0" lvl="0" marL="0" rtl="0" algn="ctr">
              <a:lnSpc>
                <a:spcPct val="147722"/>
              </a:lnSpc>
              <a:spcBef>
                <a:spcPts val="0"/>
              </a:spcBef>
              <a:spcAft>
                <a:spcPts val="0"/>
              </a:spcAft>
              <a:buClr>
                <a:schemeClr val="dk1"/>
              </a:buClr>
              <a:buSzPts val="1800"/>
              <a:buFont typeface="Arial"/>
              <a:buNone/>
            </a:pPr>
            <a:r>
              <a:rPr lang="en" sz="2100">
                <a:solidFill>
                  <a:schemeClr val="lt1"/>
                </a:solidFill>
                <a:latin typeface="Montserrat SemiBold"/>
                <a:ea typeface="Montserrat SemiBold"/>
                <a:cs typeface="Montserrat SemiBold"/>
                <a:sym typeface="Montserrat SemiBold"/>
              </a:rPr>
              <a:t>Garantizando experiencias de calidad en nuestros intercambios.</a:t>
            </a:r>
            <a:endParaRPr sz="2100">
              <a:solidFill>
                <a:schemeClr val="lt1"/>
              </a:solidFill>
              <a:latin typeface="Montserrat SemiBold"/>
              <a:ea typeface="Montserrat SemiBold"/>
              <a:cs typeface="Montserrat SemiBold"/>
              <a:sym typeface="Montserrat SemiBold"/>
            </a:endParaRPr>
          </a:p>
          <a:p>
            <a:pPr indent="0" lvl="0" marL="0" rtl="0" algn="l">
              <a:lnSpc>
                <a:spcPct val="70000"/>
              </a:lnSpc>
              <a:spcBef>
                <a:spcPts val="6807"/>
              </a:spcBef>
              <a:spcAft>
                <a:spcPts val="0"/>
              </a:spcAft>
              <a:buClr>
                <a:schemeClr val="dk1"/>
              </a:buClr>
              <a:buSzPts val="1100"/>
              <a:buFont typeface="Arial"/>
              <a:buNone/>
            </a:pPr>
            <a:r>
              <a:t/>
            </a:r>
            <a:endParaRPr sz="4900">
              <a:solidFill>
                <a:schemeClr val="lt1"/>
              </a:solidFill>
              <a:latin typeface="Montserrat SemiBold"/>
              <a:ea typeface="Montserrat SemiBold"/>
              <a:cs typeface="Montserrat SemiBold"/>
              <a:sym typeface="Montserrat SemiBold"/>
            </a:endParaRPr>
          </a:p>
          <a:p>
            <a:pPr indent="0" lvl="0" marL="0" rtl="0" algn="l">
              <a:spcBef>
                <a:spcPts val="6807"/>
              </a:spcBef>
              <a:spcAft>
                <a:spcPts val="0"/>
              </a:spcAft>
              <a:buNone/>
            </a:pPr>
            <a:r>
              <a:t/>
            </a:r>
            <a:endParaRPr sz="100">
              <a:solidFill>
                <a:schemeClr val="lt1"/>
              </a:solidFill>
              <a:latin typeface="Montserrat SemiBold"/>
              <a:ea typeface="Montserrat SemiBold"/>
              <a:cs typeface="Montserrat SemiBold"/>
              <a:sym typeface="Montserrat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 name="Shape 68"/>
        <p:cNvGrpSpPr/>
        <p:nvPr/>
      </p:nvGrpSpPr>
      <p:grpSpPr>
        <a:xfrm>
          <a:off x="0" y="0"/>
          <a:ext cx="0" cy="0"/>
          <a:chOff x="0" y="0"/>
          <a:chExt cx="0" cy="0"/>
        </a:xfrm>
      </p:grpSpPr>
      <p:sp>
        <p:nvSpPr>
          <p:cNvPr id="69" name="Google Shape;69;p16"/>
          <p:cNvSpPr txBox="1"/>
          <p:nvPr/>
        </p:nvSpPr>
        <p:spPr>
          <a:xfrm>
            <a:off x="332125" y="265450"/>
            <a:ext cx="66030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400">
                <a:solidFill>
                  <a:schemeClr val="lt1"/>
                </a:solidFill>
                <a:highlight>
                  <a:srgbClr val="405E78"/>
                </a:highlight>
                <a:latin typeface="Montserrat"/>
                <a:ea typeface="Montserrat"/>
                <a:cs typeface="Montserrat"/>
                <a:sym typeface="Montserrat"/>
              </a:rPr>
              <a:t>¿</a:t>
            </a:r>
            <a:r>
              <a:rPr lang="en" sz="2400">
                <a:solidFill>
                  <a:schemeClr val="lt1"/>
                </a:solidFill>
                <a:highlight>
                  <a:srgbClr val="405E78"/>
                </a:highlight>
                <a:latin typeface="Montserrat"/>
                <a:ea typeface="Montserrat"/>
                <a:cs typeface="Montserrat"/>
                <a:sym typeface="Montserrat"/>
              </a:rPr>
              <a:t>Qué</a:t>
            </a:r>
            <a:r>
              <a:rPr lang="en" sz="2400">
                <a:solidFill>
                  <a:schemeClr val="lt1"/>
                </a:solidFill>
                <a:highlight>
                  <a:srgbClr val="405E78"/>
                </a:highlight>
                <a:latin typeface="Montserrat"/>
                <a:ea typeface="Montserrat"/>
                <a:cs typeface="Montserrat"/>
                <a:sym typeface="Montserrat"/>
              </a:rPr>
              <a:t> son los </a:t>
            </a:r>
            <a:r>
              <a:rPr lang="en" sz="2400">
                <a:solidFill>
                  <a:schemeClr val="lt1"/>
                </a:solidFill>
                <a:highlight>
                  <a:srgbClr val="405E78"/>
                </a:highlight>
                <a:latin typeface="Montserrat"/>
                <a:ea typeface="Montserrat"/>
                <a:cs typeface="Montserrat"/>
                <a:sym typeface="Montserrat"/>
              </a:rPr>
              <a:t>estándares</a:t>
            </a:r>
            <a:r>
              <a:rPr lang="en" sz="2400">
                <a:solidFill>
                  <a:schemeClr val="lt1"/>
                </a:solidFill>
                <a:highlight>
                  <a:srgbClr val="405E78"/>
                </a:highlight>
                <a:latin typeface="Montserrat"/>
                <a:ea typeface="Montserrat"/>
                <a:cs typeface="Montserrat"/>
                <a:sym typeface="Montserrat"/>
              </a:rPr>
              <a:t> de intercambio?</a:t>
            </a:r>
            <a:endParaRPr sz="24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400">
              <a:solidFill>
                <a:srgbClr val="405E78"/>
              </a:solidFill>
              <a:latin typeface="Nunito"/>
              <a:ea typeface="Nunito"/>
              <a:cs typeface="Nunito"/>
              <a:sym typeface="Nunito"/>
            </a:endParaRPr>
          </a:p>
        </p:txBody>
      </p:sp>
      <p:sp>
        <p:nvSpPr>
          <p:cNvPr id="70" name="Google Shape;70;p16"/>
          <p:cNvSpPr/>
          <p:nvPr/>
        </p:nvSpPr>
        <p:spPr>
          <a:xfrm>
            <a:off x="1363775" y="1089225"/>
            <a:ext cx="5173500" cy="1123800"/>
          </a:xfrm>
          <a:prstGeom prst="roundRect">
            <a:avLst>
              <a:gd fmla="val 16667" name="adj"/>
            </a:avLst>
          </a:prstGeom>
          <a:solidFill>
            <a:srgbClr val="FFFFFF"/>
          </a:solidFill>
          <a:ln cap="flat" cmpd="sng" w="12400">
            <a:solidFill>
              <a:schemeClr val="accent1"/>
            </a:solidFill>
            <a:prstDash val="solid"/>
            <a:miter lim="800000"/>
            <a:headEnd len="sm" w="sm" type="none"/>
            <a:tailEnd len="sm" w="sm" type="none"/>
          </a:ln>
        </p:spPr>
        <p:txBody>
          <a:bodyPr anchorCtr="0" anchor="ctr" bIns="59475" lIns="118950" spcFirstLastPara="1" rIns="118950" wrap="square" tIns="59475">
            <a:noAutofit/>
          </a:bodyPr>
          <a:lstStyle/>
          <a:p>
            <a:pPr indent="0" lvl="0" marL="0" rtl="0" algn="ctr">
              <a:lnSpc>
                <a:spcPct val="115000"/>
              </a:lnSpc>
              <a:spcBef>
                <a:spcPts val="1200"/>
              </a:spcBef>
              <a:spcAft>
                <a:spcPts val="0"/>
              </a:spcAft>
              <a:buClr>
                <a:schemeClr val="dk1"/>
              </a:buClr>
              <a:buSzPts val="3400"/>
              <a:buFont typeface="Arial"/>
              <a:buNone/>
            </a:pPr>
            <a:r>
              <a:rPr lang="en" sz="1200">
                <a:solidFill>
                  <a:schemeClr val="dk1"/>
                </a:solidFill>
                <a:latin typeface="Montserrat"/>
                <a:ea typeface="Montserrat"/>
                <a:cs typeface="Montserrat"/>
                <a:sym typeface="Montserrat"/>
              </a:rPr>
              <a:t>📌 Son reglas que aseguran que cada intercambio cumpla con lo prometido.</a:t>
            </a:r>
            <a:br>
              <a:rPr lang="en" sz="1200">
                <a:solidFill>
                  <a:schemeClr val="dk1"/>
                </a:solidFill>
                <a:latin typeface="Montserrat"/>
                <a:ea typeface="Montserrat"/>
                <a:cs typeface="Montserrat"/>
                <a:sym typeface="Montserrat"/>
              </a:rPr>
            </a:br>
            <a:r>
              <a:rPr lang="en" sz="1200">
                <a:solidFill>
                  <a:schemeClr val="dk1"/>
                </a:solidFill>
                <a:latin typeface="Montserrat"/>
                <a:ea typeface="Montserrat"/>
                <a:cs typeface="Montserrat"/>
                <a:sym typeface="Montserrat"/>
              </a:rPr>
              <a:t>✅ Garantizan que el EP tenga una experiencia completa y satisfactoria.</a:t>
            </a:r>
            <a:endParaRPr sz="100">
              <a:solidFill>
                <a:schemeClr val="dk1"/>
              </a:solidFill>
              <a:latin typeface="Montserrat"/>
              <a:ea typeface="Montserrat"/>
              <a:cs typeface="Montserrat"/>
              <a:sym typeface="Montserrat"/>
            </a:endParaRPr>
          </a:p>
        </p:txBody>
      </p:sp>
      <p:sp>
        <p:nvSpPr>
          <p:cNvPr id="71" name="Google Shape;71;p16"/>
          <p:cNvSpPr/>
          <p:nvPr/>
        </p:nvSpPr>
        <p:spPr>
          <a:xfrm>
            <a:off x="1363775" y="3250270"/>
            <a:ext cx="5173500" cy="1123800"/>
          </a:xfrm>
          <a:prstGeom prst="roundRect">
            <a:avLst>
              <a:gd fmla="val 16667" name="adj"/>
            </a:avLst>
          </a:prstGeom>
          <a:solidFill>
            <a:srgbClr val="FFFFFF"/>
          </a:solidFill>
          <a:ln cap="flat" cmpd="sng" w="12400">
            <a:solidFill>
              <a:schemeClr val="accent1"/>
            </a:solidFill>
            <a:prstDash val="solid"/>
            <a:miter lim="800000"/>
            <a:headEnd len="sm" w="sm" type="none"/>
            <a:tailEnd len="sm" w="sm" type="none"/>
          </a:ln>
        </p:spPr>
        <p:txBody>
          <a:bodyPr anchorCtr="0" anchor="ctr" bIns="59475" lIns="118950" spcFirstLastPara="1" rIns="118950" wrap="square" tIns="59475">
            <a:noAutofit/>
          </a:bodyPr>
          <a:lstStyle/>
          <a:p>
            <a:pPr indent="0" lvl="0" marL="0" rtl="0" algn="ctr">
              <a:lnSpc>
                <a:spcPct val="115000"/>
              </a:lnSpc>
              <a:spcBef>
                <a:spcPts val="1200"/>
              </a:spcBef>
              <a:spcAft>
                <a:spcPts val="1200"/>
              </a:spcAft>
              <a:buClr>
                <a:schemeClr val="dk1"/>
              </a:buClr>
              <a:buSzPts val="1100"/>
              <a:buFont typeface="Arial"/>
              <a:buNone/>
            </a:pPr>
            <a:r>
              <a:rPr lang="en" sz="1200">
                <a:solidFill>
                  <a:schemeClr val="dk1"/>
                </a:solidFill>
                <a:latin typeface="Montserrat"/>
                <a:ea typeface="Montserrat"/>
                <a:cs typeface="Montserrat"/>
                <a:sym typeface="Montserrat"/>
              </a:rPr>
              <a:t>📊 Estándares de preparación (Antes del intercambio)</a:t>
            </a:r>
            <a:br>
              <a:rPr lang="en" sz="1200">
                <a:solidFill>
                  <a:schemeClr val="dk1"/>
                </a:solidFill>
                <a:latin typeface="Montserrat"/>
                <a:ea typeface="Montserrat"/>
                <a:cs typeface="Montserrat"/>
                <a:sym typeface="Montserrat"/>
              </a:rPr>
            </a:br>
            <a:r>
              <a:rPr lang="en" sz="1200">
                <a:solidFill>
                  <a:schemeClr val="dk1"/>
                </a:solidFill>
                <a:latin typeface="Montserrat"/>
                <a:ea typeface="Montserrat"/>
                <a:cs typeface="Montserrat"/>
                <a:sym typeface="Montserrat"/>
              </a:rPr>
              <a:t>📊 Estandares de experiencia (Durante el intercambio)</a:t>
            </a:r>
            <a:br>
              <a:rPr lang="en" sz="1200">
                <a:solidFill>
                  <a:schemeClr val="dk1"/>
                </a:solidFill>
                <a:latin typeface="Montserrat"/>
                <a:ea typeface="Montserrat"/>
                <a:cs typeface="Montserrat"/>
                <a:sym typeface="Montserrat"/>
              </a:rPr>
            </a:br>
            <a:r>
              <a:rPr lang="en" sz="1200">
                <a:solidFill>
                  <a:schemeClr val="dk1"/>
                </a:solidFill>
                <a:latin typeface="Montserrat"/>
                <a:ea typeface="Montserrat"/>
                <a:cs typeface="Montserrat"/>
                <a:sym typeface="Montserrat"/>
              </a:rPr>
              <a:t>📊 Estandares post-experiencia (Después del intercambio)</a:t>
            </a:r>
            <a:endParaRPr sz="100">
              <a:solidFill>
                <a:srgbClr val="3F3F3F"/>
              </a:solidFill>
              <a:latin typeface="Montserrat"/>
              <a:ea typeface="Montserrat"/>
              <a:cs typeface="Montserrat"/>
              <a:sym typeface="Montserrat"/>
            </a:endParaRPr>
          </a:p>
        </p:txBody>
      </p:sp>
      <p:sp>
        <p:nvSpPr>
          <p:cNvPr id="72" name="Google Shape;72;p16"/>
          <p:cNvSpPr txBox="1"/>
          <p:nvPr/>
        </p:nvSpPr>
        <p:spPr>
          <a:xfrm>
            <a:off x="332125" y="2490450"/>
            <a:ext cx="66030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400">
                <a:solidFill>
                  <a:schemeClr val="lt1"/>
                </a:solidFill>
                <a:highlight>
                  <a:srgbClr val="405E78"/>
                </a:highlight>
                <a:latin typeface="Montserrat"/>
                <a:ea typeface="Montserrat"/>
                <a:cs typeface="Montserrat"/>
                <a:sym typeface="Montserrat"/>
              </a:rPr>
              <a:t>Los estandares: 3 etapas</a:t>
            </a:r>
            <a:endParaRPr sz="24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400">
              <a:solidFill>
                <a:srgbClr val="405E78"/>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7"/>
          <p:cNvSpPr txBox="1"/>
          <p:nvPr/>
        </p:nvSpPr>
        <p:spPr>
          <a:xfrm>
            <a:off x="2287200" y="219775"/>
            <a:ext cx="66396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900">
                <a:solidFill>
                  <a:schemeClr val="lt1"/>
                </a:solidFill>
                <a:highlight>
                  <a:srgbClr val="405E78"/>
                </a:highlight>
                <a:latin typeface="Montserrat"/>
                <a:ea typeface="Montserrat"/>
                <a:cs typeface="Montserrat"/>
                <a:sym typeface="Montserrat"/>
              </a:rPr>
              <a:t>Estándares</a:t>
            </a:r>
            <a:r>
              <a:rPr lang="en" sz="2900">
                <a:solidFill>
                  <a:schemeClr val="lt1"/>
                </a:solidFill>
                <a:highlight>
                  <a:srgbClr val="405E78"/>
                </a:highlight>
                <a:latin typeface="Montserrat"/>
                <a:ea typeface="Montserrat"/>
                <a:cs typeface="Montserrat"/>
                <a:sym typeface="Montserrat"/>
              </a:rPr>
              <a:t> de </a:t>
            </a:r>
            <a:r>
              <a:rPr lang="en" sz="2900">
                <a:solidFill>
                  <a:schemeClr val="lt1"/>
                </a:solidFill>
                <a:highlight>
                  <a:srgbClr val="405E78"/>
                </a:highlight>
                <a:latin typeface="Montserrat"/>
                <a:ea typeface="Montserrat"/>
                <a:cs typeface="Montserrat"/>
                <a:sym typeface="Montserrat"/>
              </a:rPr>
              <a:t>preparación</a:t>
            </a:r>
            <a:r>
              <a:rPr lang="en" sz="2900">
                <a:solidFill>
                  <a:schemeClr val="lt1"/>
                </a:solidFill>
                <a:highlight>
                  <a:srgbClr val="405E78"/>
                </a:highlight>
                <a:latin typeface="Montserrat"/>
                <a:ea typeface="Montserrat"/>
                <a:cs typeface="Montserrat"/>
                <a:sym typeface="Montserrat"/>
              </a:rPr>
              <a:t> </a:t>
            </a:r>
            <a:endParaRPr sz="29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900">
              <a:solidFill>
                <a:srgbClr val="405E78"/>
              </a:solidFill>
              <a:latin typeface="Nunito"/>
              <a:ea typeface="Nunito"/>
              <a:cs typeface="Nunito"/>
              <a:sym typeface="Nunito"/>
            </a:endParaRPr>
          </a:p>
        </p:txBody>
      </p:sp>
      <p:sp>
        <p:nvSpPr>
          <p:cNvPr id="78" name="Google Shape;78;p17"/>
          <p:cNvSpPr/>
          <p:nvPr/>
        </p:nvSpPr>
        <p:spPr>
          <a:xfrm>
            <a:off x="514200" y="2121575"/>
            <a:ext cx="4057800" cy="1278900"/>
          </a:xfrm>
          <a:prstGeom prst="roundRect">
            <a:avLst>
              <a:gd fmla="val 16667" name="adj"/>
            </a:avLst>
          </a:prstGeom>
          <a:solidFill>
            <a:srgbClr val="FFFFFF"/>
          </a:solidFill>
          <a:ln cap="flat" cmpd="sng" w="12400">
            <a:solidFill>
              <a:schemeClr val="accent1"/>
            </a:solidFill>
            <a:prstDash val="solid"/>
            <a:miter lim="800000"/>
            <a:headEnd len="sm" w="sm" type="none"/>
            <a:tailEnd len="sm" w="sm" type="none"/>
          </a:ln>
        </p:spPr>
        <p:txBody>
          <a:bodyPr anchorCtr="0" anchor="ctr" bIns="59475" lIns="118950" spcFirstLastPara="1" rIns="118950" wrap="square" tIns="59475">
            <a:noAutofit/>
          </a:bodyPr>
          <a:lstStyle/>
          <a:p>
            <a:pPr indent="0" lvl="0" marL="0" rtl="0" algn="just">
              <a:lnSpc>
                <a:spcPct val="115000"/>
              </a:lnSpc>
              <a:spcBef>
                <a:spcPts val="1800"/>
              </a:spcBef>
              <a:spcAft>
                <a:spcPts val="0"/>
              </a:spcAft>
              <a:buClr>
                <a:schemeClr val="dk1"/>
              </a:buClr>
              <a:buSzPts val="1100"/>
              <a:buFont typeface="Arial"/>
              <a:buNone/>
            </a:pPr>
            <a:r>
              <a:rPr lang="en" sz="1100">
                <a:solidFill>
                  <a:schemeClr val="dk1"/>
                </a:solidFill>
                <a:latin typeface="Montserrat"/>
                <a:ea typeface="Montserrat"/>
                <a:cs typeface="Montserrat"/>
                <a:sym typeface="Montserrat"/>
              </a:rPr>
              <a:t>Antes del intercambio</a:t>
            </a:r>
            <a:endParaRPr sz="1100">
              <a:solidFill>
                <a:schemeClr val="dk1"/>
              </a:solidFill>
              <a:latin typeface="Montserrat"/>
              <a:ea typeface="Montserrat"/>
              <a:cs typeface="Montserrat"/>
              <a:sym typeface="Montserrat"/>
            </a:endParaRPr>
          </a:p>
          <a:p>
            <a:pPr indent="0" lvl="0" marL="0" rtl="0" algn="just">
              <a:lnSpc>
                <a:spcPct val="115000"/>
              </a:lnSpc>
              <a:spcBef>
                <a:spcPts val="1200"/>
              </a:spcBef>
              <a:spcAft>
                <a:spcPts val="0"/>
              </a:spcAft>
              <a:buClr>
                <a:schemeClr val="dk1"/>
              </a:buClr>
              <a:buSzPts val="1100"/>
              <a:buFont typeface="Arial"/>
              <a:buNone/>
            </a:pPr>
            <a:r>
              <a:rPr lang="en" sz="1100">
                <a:solidFill>
                  <a:schemeClr val="dk1"/>
                </a:solidFill>
                <a:latin typeface="Montserrat"/>
                <a:ea typeface="Montserrat"/>
                <a:cs typeface="Montserrat"/>
                <a:sym typeface="Montserrat"/>
              </a:rPr>
              <a:t>📌 Se cumplen antes del primer día de trabajo.</a:t>
            </a:r>
            <a:endParaRPr sz="1100">
              <a:solidFill>
                <a:schemeClr val="dk1"/>
              </a:solidFill>
              <a:latin typeface="Montserrat"/>
              <a:ea typeface="Montserrat"/>
              <a:cs typeface="Montserrat"/>
              <a:sym typeface="Montserrat"/>
            </a:endParaRPr>
          </a:p>
          <a:p>
            <a:pPr indent="0" lvl="0" marL="0" rtl="0" algn="just">
              <a:lnSpc>
                <a:spcPct val="115000"/>
              </a:lnSpc>
              <a:spcBef>
                <a:spcPts val="1200"/>
              </a:spcBef>
              <a:spcAft>
                <a:spcPts val="0"/>
              </a:spcAft>
              <a:buClr>
                <a:schemeClr val="dk1"/>
              </a:buClr>
              <a:buSzPts val="3600"/>
              <a:buFont typeface="Arial"/>
              <a:buNone/>
            </a:pPr>
            <a:r>
              <a:rPr lang="en" sz="1100">
                <a:solidFill>
                  <a:schemeClr val="dk1"/>
                </a:solidFill>
                <a:latin typeface="Montserrat"/>
                <a:ea typeface="Montserrat"/>
                <a:cs typeface="Montserrat"/>
                <a:sym typeface="Montserrat"/>
              </a:rPr>
              <a:t>🎯 Sin una buena preparación, la experiencia puede verse afectada.</a:t>
            </a:r>
            <a:endParaRPr sz="1100">
              <a:solidFill>
                <a:schemeClr val="dk1"/>
              </a:solidFill>
              <a:latin typeface="Montserrat"/>
              <a:ea typeface="Montserrat"/>
              <a:cs typeface="Montserrat"/>
              <a:sym typeface="Montserrat"/>
            </a:endParaRPr>
          </a:p>
        </p:txBody>
      </p:sp>
      <p:sp>
        <p:nvSpPr>
          <p:cNvPr id="79" name="Google Shape;79;p17"/>
          <p:cNvSpPr txBox="1"/>
          <p:nvPr/>
        </p:nvSpPr>
        <p:spPr>
          <a:xfrm>
            <a:off x="5143986" y="868925"/>
            <a:ext cx="3875700" cy="4811400"/>
          </a:xfrm>
          <a:prstGeom prst="rect">
            <a:avLst/>
          </a:prstGeom>
          <a:noFill/>
          <a:ln>
            <a:noFill/>
          </a:ln>
        </p:spPr>
        <p:txBody>
          <a:bodyPr anchorCtr="0" anchor="t" bIns="47175" lIns="47175" spcFirstLastPara="1" rIns="47175" wrap="square" tIns="47175">
            <a:noAutofit/>
          </a:bodyPr>
          <a:lstStyle/>
          <a:p>
            <a:pPr indent="0" lvl="0" marL="0" marR="0" rtl="0" algn="l">
              <a:lnSpc>
                <a:spcPct val="100000"/>
              </a:lnSpc>
              <a:spcBef>
                <a:spcPts val="0"/>
              </a:spcBef>
              <a:spcAft>
                <a:spcPts val="0"/>
              </a:spcAft>
              <a:buClr>
                <a:srgbClr val="000000"/>
              </a:buClr>
              <a:buSzPts val="1857"/>
              <a:buFont typeface="Arial"/>
              <a:buNone/>
            </a:pPr>
            <a:r>
              <a:rPr b="0" i="0" lang="en" sz="1857" u="none" cap="none" strike="noStrike">
                <a:solidFill>
                  <a:srgbClr val="000000"/>
                </a:solidFill>
                <a:latin typeface="Calibri"/>
                <a:ea typeface="Calibri"/>
                <a:cs typeface="Calibri"/>
                <a:sym typeface="Calibri"/>
              </a:rPr>
              <a:t>📋 </a:t>
            </a:r>
            <a:r>
              <a:rPr b="1" i="0" lang="en" sz="1857" u="none" cap="none" strike="noStrike">
                <a:solidFill>
                  <a:srgbClr val="000000"/>
                </a:solidFill>
                <a:latin typeface="Calibri"/>
                <a:ea typeface="Calibri"/>
                <a:cs typeface="Calibri"/>
                <a:sym typeface="Calibri"/>
              </a:rPr>
              <a:t>Incluyen:</a:t>
            </a:r>
            <a:endParaRPr b="1" i="0" sz="1857" u="none" cap="none" strike="noStrike">
              <a:solidFill>
                <a:srgbClr val="000000"/>
              </a:solidFill>
              <a:latin typeface="Calibri"/>
              <a:ea typeface="Calibri"/>
              <a:cs typeface="Calibri"/>
              <a:sym typeface="Calibri"/>
            </a:endParaRPr>
          </a:p>
          <a:p>
            <a:pPr indent="0" lvl="0" marL="0" marR="0" rtl="0" algn="l">
              <a:lnSpc>
                <a:spcPct val="100000"/>
              </a:lnSpc>
              <a:spcBef>
                <a:spcPts val="516"/>
              </a:spcBef>
              <a:spcAft>
                <a:spcPts val="0"/>
              </a:spcAft>
              <a:buClr>
                <a:srgbClr val="000000"/>
              </a:buClr>
              <a:buSzPts val="1857"/>
              <a:buFont typeface="Arial"/>
              <a:buNone/>
            </a:pPr>
            <a:br>
              <a:rPr b="1" i="0" lang="en" sz="1857" u="none" cap="none" strike="noStrike">
                <a:solidFill>
                  <a:srgbClr val="000000"/>
                </a:solidFill>
                <a:latin typeface="Calibri"/>
                <a:ea typeface="Calibri"/>
                <a:cs typeface="Calibri"/>
                <a:sym typeface="Calibri"/>
              </a:rPr>
            </a:br>
            <a:r>
              <a:rPr b="0" i="0" lang="en" sz="1857" u="none" cap="none" strike="noStrike">
                <a:solidFill>
                  <a:srgbClr val="000000"/>
                </a:solidFill>
                <a:latin typeface="Calibri"/>
                <a:ea typeface="Calibri"/>
                <a:cs typeface="Calibri"/>
                <a:sym typeface="Calibri"/>
              </a:rPr>
              <a:t>Establecimiento de Metas</a:t>
            </a:r>
            <a:r>
              <a:rPr lang="en" sz="1857">
                <a:solidFill>
                  <a:srgbClr val="000000"/>
                </a:solidFill>
                <a:latin typeface="Calibri"/>
                <a:ea typeface="Calibri"/>
                <a:cs typeface="Calibri"/>
                <a:sym typeface="Calibri"/>
              </a:rPr>
              <a:t> </a:t>
            </a:r>
            <a:r>
              <a:rPr b="0" i="0" lang="en" sz="1857" u="none" cap="none" strike="noStrike">
                <a:solidFill>
                  <a:srgbClr val="000000"/>
                </a:solidFill>
                <a:latin typeface="Calibri"/>
                <a:ea typeface="Calibri"/>
                <a:cs typeface="Calibri"/>
                <a:sym typeface="Calibri"/>
              </a:rPr>
              <a:t>Personales</a:t>
            </a:r>
            <a:endParaRPr sz="1857">
              <a:solidFill>
                <a:srgbClr val="000000"/>
              </a:solidFill>
              <a:latin typeface="Calibri"/>
              <a:ea typeface="Calibri"/>
              <a:cs typeface="Calibri"/>
              <a:sym typeface="Calibri"/>
            </a:endParaRPr>
          </a:p>
          <a:p>
            <a:pPr indent="0" lvl="0" marL="0" marR="0" rtl="0" algn="l">
              <a:lnSpc>
                <a:spcPct val="100000"/>
              </a:lnSpc>
              <a:spcBef>
                <a:spcPts val="516"/>
              </a:spcBef>
              <a:spcAft>
                <a:spcPts val="0"/>
              </a:spcAft>
              <a:buClr>
                <a:srgbClr val="000000"/>
              </a:buClr>
              <a:buSzPts val="568"/>
              <a:buFont typeface="Arial"/>
              <a:buNone/>
            </a:pPr>
            <a:r>
              <a:rPr b="0" i="0" lang="en" sz="1857" u="none" cap="none" strike="noStrike">
                <a:solidFill>
                  <a:srgbClr val="000000"/>
                </a:solidFill>
                <a:latin typeface="Calibri"/>
                <a:ea typeface="Calibri"/>
                <a:cs typeface="Calibri"/>
                <a:sym typeface="Calibri"/>
              </a:rPr>
              <a:t>Preparación para Salir</a:t>
            </a:r>
            <a:endParaRPr b="0" i="0" sz="1857" u="none" cap="none" strike="noStrike">
              <a:solidFill>
                <a:srgbClr val="000000"/>
              </a:solidFill>
              <a:latin typeface="Calibri"/>
              <a:ea typeface="Calibri"/>
              <a:cs typeface="Calibri"/>
              <a:sym typeface="Calibri"/>
            </a:endParaRPr>
          </a:p>
          <a:p>
            <a:pPr indent="0" lvl="0" marL="0" marR="0" rtl="0" algn="l">
              <a:lnSpc>
                <a:spcPct val="100000"/>
              </a:lnSpc>
              <a:spcBef>
                <a:spcPts val="516"/>
              </a:spcBef>
              <a:spcAft>
                <a:spcPts val="0"/>
              </a:spcAft>
              <a:buClr>
                <a:srgbClr val="000000"/>
              </a:buClr>
              <a:buSzPts val="568"/>
              <a:buFont typeface="Arial"/>
              <a:buNone/>
            </a:pPr>
            <a:r>
              <a:rPr b="0" i="0" lang="en" sz="1857" u="none" cap="none" strike="noStrike">
                <a:solidFill>
                  <a:srgbClr val="000000"/>
                </a:solidFill>
                <a:latin typeface="Calibri"/>
                <a:ea typeface="Calibri"/>
                <a:cs typeface="Calibri"/>
                <a:sym typeface="Calibri"/>
              </a:rPr>
              <a:t>Seguro</a:t>
            </a:r>
            <a:endParaRPr sz="1857">
              <a:solidFill>
                <a:srgbClr val="000000"/>
              </a:solidFill>
              <a:latin typeface="Calibri"/>
              <a:ea typeface="Calibri"/>
              <a:cs typeface="Calibri"/>
              <a:sym typeface="Calibri"/>
            </a:endParaRPr>
          </a:p>
          <a:p>
            <a:pPr indent="0" lvl="0" marL="0" marR="0" rtl="0" algn="l">
              <a:lnSpc>
                <a:spcPct val="100000"/>
              </a:lnSpc>
              <a:spcBef>
                <a:spcPts val="516"/>
              </a:spcBef>
              <a:spcAft>
                <a:spcPts val="0"/>
              </a:spcAft>
              <a:buClr>
                <a:srgbClr val="000000"/>
              </a:buClr>
              <a:buSzPts val="568"/>
              <a:buFont typeface="Arial"/>
              <a:buNone/>
            </a:pPr>
            <a:r>
              <a:rPr b="0" i="0" lang="en" sz="1857" u="none" cap="none" strike="noStrike">
                <a:solidFill>
                  <a:srgbClr val="000000"/>
                </a:solidFill>
                <a:latin typeface="Calibri"/>
                <a:ea typeface="Calibri"/>
                <a:cs typeface="Calibri"/>
                <a:sym typeface="Calibri"/>
              </a:rPr>
              <a:t>Establecimiento de Expectativas</a:t>
            </a:r>
            <a:endParaRPr sz="1857">
              <a:solidFill>
                <a:srgbClr val="000000"/>
              </a:solidFill>
              <a:latin typeface="Calibri"/>
              <a:ea typeface="Calibri"/>
              <a:cs typeface="Calibri"/>
              <a:sym typeface="Calibri"/>
            </a:endParaRPr>
          </a:p>
          <a:p>
            <a:pPr indent="0" lvl="0" marL="0" marR="0" rtl="0" algn="l">
              <a:lnSpc>
                <a:spcPct val="100000"/>
              </a:lnSpc>
              <a:spcBef>
                <a:spcPts val="516"/>
              </a:spcBef>
              <a:spcAft>
                <a:spcPts val="0"/>
              </a:spcAft>
              <a:buClr>
                <a:srgbClr val="000000"/>
              </a:buClr>
              <a:buSzPts val="568"/>
              <a:buFont typeface="Arial"/>
              <a:buNone/>
            </a:pPr>
            <a:r>
              <a:rPr b="0" i="0" lang="en" sz="1857" u="none" cap="none" strike="noStrike">
                <a:solidFill>
                  <a:srgbClr val="000000"/>
                </a:solidFill>
                <a:latin typeface="Calibri"/>
                <a:ea typeface="Calibri"/>
                <a:cs typeface="Calibri"/>
                <a:sym typeface="Calibri"/>
              </a:rPr>
              <a:t>Visa y Permiso de Trabajo</a:t>
            </a:r>
            <a:endParaRPr sz="1857">
              <a:solidFill>
                <a:srgbClr val="000000"/>
              </a:solidFill>
              <a:latin typeface="Calibri"/>
              <a:ea typeface="Calibri"/>
              <a:cs typeface="Calibri"/>
              <a:sym typeface="Calibri"/>
            </a:endParaRPr>
          </a:p>
          <a:p>
            <a:pPr indent="0" lvl="0" marL="0" marR="0" rtl="0" algn="l">
              <a:lnSpc>
                <a:spcPct val="100000"/>
              </a:lnSpc>
              <a:spcBef>
                <a:spcPts val="516"/>
              </a:spcBef>
              <a:spcAft>
                <a:spcPts val="0"/>
              </a:spcAft>
              <a:buClr>
                <a:srgbClr val="000000"/>
              </a:buClr>
              <a:buSzPts val="568"/>
              <a:buFont typeface="Arial"/>
              <a:buNone/>
            </a:pPr>
            <a:r>
              <a:rPr b="0" i="0" lang="en" sz="1857" u="none" cap="none" strike="noStrike">
                <a:solidFill>
                  <a:srgbClr val="000000"/>
                </a:solidFill>
                <a:latin typeface="Calibri"/>
                <a:ea typeface="Calibri"/>
                <a:cs typeface="Calibri"/>
                <a:sym typeface="Calibri"/>
              </a:rPr>
              <a:t>Apoyo a la Llegada</a:t>
            </a:r>
            <a:endParaRPr sz="1857">
              <a:solidFill>
                <a:srgbClr val="000000"/>
              </a:solidFill>
              <a:latin typeface="Calibri"/>
              <a:ea typeface="Calibri"/>
              <a:cs typeface="Calibri"/>
              <a:sym typeface="Calibri"/>
            </a:endParaRPr>
          </a:p>
          <a:p>
            <a:pPr indent="0" lvl="0" marL="0" marR="0" rtl="0" algn="l">
              <a:lnSpc>
                <a:spcPct val="100000"/>
              </a:lnSpc>
              <a:spcBef>
                <a:spcPts val="516"/>
              </a:spcBef>
              <a:spcAft>
                <a:spcPts val="0"/>
              </a:spcAft>
              <a:buClr>
                <a:srgbClr val="000000"/>
              </a:buClr>
              <a:buSzPts val="568"/>
              <a:buFont typeface="Arial"/>
              <a:buNone/>
            </a:pPr>
            <a:r>
              <a:rPr b="0" i="0" lang="en" sz="1857" u="none" cap="none" strike="noStrike">
                <a:solidFill>
                  <a:srgbClr val="000000"/>
                </a:solidFill>
                <a:latin typeface="Calibri"/>
                <a:ea typeface="Calibri"/>
                <a:cs typeface="Calibri"/>
                <a:sym typeface="Calibri"/>
              </a:rPr>
              <a:t>Alojamiento</a:t>
            </a:r>
            <a:endParaRPr sz="1857">
              <a:solidFill>
                <a:srgbClr val="000000"/>
              </a:solidFill>
              <a:latin typeface="Calibri"/>
              <a:ea typeface="Calibri"/>
              <a:cs typeface="Calibri"/>
              <a:sym typeface="Calibri"/>
            </a:endParaRPr>
          </a:p>
          <a:p>
            <a:pPr indent="0" lvl="0" marL="0" marR="0" rtl="0" algn="l">
              <a:lnSpc>
                <a:spcPct val="100000"/>
              </a:lnSpc>
              <a:spcBef>
                <a:spcPts val="516"/>
              </a:spcBef>
              <a:spcAft>
                <a:spcPts val="516"/>
              </a:spcAft>
              <a:buClr>
                <a:srgbClr val="000000"/>
              </a:buClr>
              <a:buSzPts val="1857"/>
              <a:buFont typeface="Arial"/>
              <a:buNone/>
            </a:pPr>
            <a:r>
              <a:rPr b="0" i="0" lang="en" sz="1857" u="none" cap="none" strike="noStrike">
                <a:solidFill>
                  <a:srgbClr val="000000"/>
                </a:solidFill>
                <a:latin typeface="Calibri"/>
                <a:ea typeface="Calibri"/>
                <a:cs typeface="Calibri"/>
                <a:sym typeface="Calibri"/>
              </a:rPr>
              <a:t>Preparación para la Llegada</a:t>
            </a:r>
            <a:endParaRPr b="0" i="0" sz="1650" u="none" cap="none" strike="noStrike">
              <a:solidFill>
                <a:srgbClr val="000000"/>
              </a:solidFill>
              <a:latin typeface="Calibri"/>
              <a:ea typeface="Calibri"/>
              <a:cs typeface="Calibri"/>
              <a:sym typeface="Calibri"/>
            </a:endParaRPr>
          </a:p>
        </p:txBody>
      </p:sp>
      <p:sp>
        <p:nvSpPr>
          <p:cNvPr id="80" name="Google Shape;80;p17"/>
          <p:cNvSpPr/>
          <p:nvPr/>
        </p:nvSpPr>
        <p:spPr>
          <a:xfrm>
            <a:off x="4773075" y="1533635"/>
            <a:ext cx="270000" cy="284700"/>
          </a:xfrm>
          <a:prstGeom prst="rect">
            <a:avLst/>
          </a:prstGeom>
          <a:solidFill>
            <a:srgbClr val="FFC845"/>
          </a:solidFill>
          <a:ln cap="flat" cmpd="sng" w="32750">
            <a:solidFill>
              <a:srgbClr val="FFC845"/>
            </a:solidFill>
            <a:prstDash val="solid"/>
            <a:miter lim="400000"/>
            <a:headEnd len="sm" w="sm" type="none"/>
            <a:tailEnd len="sm" w="sm" type="none"/>
          </a:ln>
        </p:spPr>
        <p:txBody>
          <a:bodyPr anchorCtr="0" anchor="ctr" bIns="23575" lIns="23575" spcFirstLastPara="1" rIns="23575" wrap="square" tIns="23575">
            <a:noAutofit/>
          </a:bodyPr>
          <a:lstStyle/>
          <a:p>
            <a:pPr indent="0" lvl="0" marL="0" marR="0" rtl="0" algn="ctr">
              <a:lnSpc>
                <a:spcPct val="100000"/>
              </a:lnSpc>
              <a:spcBef>
                <a:spcPts val="0"/>
              </a:spcBef>
              <a:spcAft>
                <a:spcPts val="0"/>
              </a:spcAft>
              <a:buClr>
                <a:srgbClr val="FFFFFF"/>
              </a:buClr>
              <a:buSzPts val="2476"/>
              <a:buFont typeface="Lato Black"/>
              <a:buNone/>
            </a:pPr>
            <a:r>
              <a:rPr b="0" i="0" lang="en" sz="1444" u="none" cap="none" strike="noStrike">
                <a:solidFill>
                  <a:srgbClr val="FFFFFF"/>
                </a:solidFill>
                <a:latin typeface="Lato Black"/>
                <a:ea typeface="Lato Black"/>
                <a:cs typeface="Lato Black"/>
                <a:sym typeface="Lato Black"/>
              </a:rPr>
              <a:t>#</a:t>
            </a:r>
            <a:r>
              <a:rPr lang="en" sz="1444">
                <a:solidFill>
                  <a:srgbClr val="FFFFFF"/>
                </a:solidFill>
                <a:latin typeface="Lato Black"/>
                <a:ea typeface="Lato Black"/>
                <a:cs typeface="Lato Black"/>
                <a:sym typeface="Lato Black"/>
              </a:rPr>
              <a:t>1</a:t>
            </a:r>
            <a:endParaRPr sz="1444"/>
          </a:p>
        </p:txBody>
      </p:sp>
      <p:sp>
        <p:nvSpPr>
          <p:cNvPr id="81" name="Google Shape;81;p17"/>
          <p:cNvSpPr/>
          <p:nvPr/>
        </p:nvSpPr>
        <p:spPr>
          <a:xfrm>
            <a:off x="4773075" y="1887445"/>
            <a:ext cx="270000" cy="284700"/>
          </a:xfrm>
          <a:prstGeom prst="rect">
            <a:avLst/>
          </a:prstGeom>
          <a:solidFill>
            <a:srgbClr val="FFC845"/>
          </a:solidFill>
          <a:ln cap="flat" cmpd="sng" w="32750">
            <a:solidFill>
              <a:srgbClr val="FFC845"/>
            </a:solidFill>
            <a:prstDash val="solid"/>
            <a:miter lim="400000"/>
            <a:headEnd len="sm" w="sm" type="none"/>
            <a:tailEnd len="sm" w="sm" type="none"/>
          </a:ln>
        </p:spPr>
        <p:txBody>
          <a:bodyPr anchorCtr="0" anchor="ctr" bIns="23575" lIns="23575" spcFirstLastPara="1" rIns="23575" wrap="square" tIns="23575">
            <a:noAutofit/>
          </a:bodyPr>
          <a:lstStyle/>
          <a:p>
            <a:pPr indent="0" lvl="0" marL="0" marR="0" rtl="0" algn="ctr">
              <a:lnSpc>
                <a:spcPct val="100000"/>
              </a:lnSpc>
              <a:spcBef>
                <a:spcPts val="0"/>
              </a:spcBef>
              <a:spcAft>
                <a:spcPts val="0"/>
              </a:spcAft>
              <a:buClr>
                <a:srgbClr val="FFFFFF"/>
              </a:buClr>
              <a:buSzPts val="2476"/>
              <a:buFont typeface="Lato Black"/>
              <a:buNone/>
            </a:pPr>
            <a:r>
              <a:rPr b="0" i="0" lang="en" sz="1444" u="none" cap="none" strike="noStrike">
                <a:solidFill>
                  <a:srgbClr val="FFFFFF"/>
                </a:solidFill>
                <a:latin typeface="Lato Black"/>
                <a:ea typeface="Lato Black"/>
                <a:cs typeface="Lato Black"/>
                <a:sym typeface="Lato Black"/>
              </a:rPr>
              <a:t>#</a:t>
            </a:r>
            <a:r>
              <a:rPr lang="en" sz="1444">
                <a:solidFill>
                  <a:srgbClr val="FFFFFF"/>
                </a:solidFill>
                <a:latin typeface="Lato Black"/>
                <a:ea typeface="Lato Black"/>
                <a:cs typeface="Lato Black"/>
                <a:sym typeface="Lato Black"/>
              </a:rPr>
              <a:t>2</a:t>
            </a:r>
            <a:endParaRPr sz="1444"/>
          </a:p>
        </p:txBody>
      </p:sp>
      <p:sp>
        <p:nvSpPr>
          <p:cNvPr id="82" name="Google Shape;82;p17"/>
          <p:cNvSpPr/>
          <p:nvPr/>
        </p:nvSpPr>
        <p:spPr>
          <a:xfrm>
            <a:off x="4773075" y="2241255"/>
            <a:ext cx="270000" cy="284700"/>
          </a:xfrm>
          <a:prstGeom prst="rect">
            <a:avLst/>
          </a:prstGeom>
          <a:solidFill>
            <a:srgbClr val="FFC845"/>
          </a:solidFill>
          <a:ln cap="flat" cmpd="sng" w="32750">
            <a:solidFill>
              <a:srgbClr val="FFC845"/>
            </a:solidFill>
            <a:prstDash val="solid"/>
            <a:miter lim="400000"/>
            <a:headEnd len="sm" w="sm" type="none"/>
            <a:tailEnd len="sm" w="sm" type="none"/>
          </a:ln>
        </p:spPr>
        <p:txBody>
          <a:bodyPr anchorCtr="0" anchor="ctr" bIns="23575" lIns="23575" spcFirstLastPara="1" rIns="23575" wrap="square" tIns="23575">
            <a:noAutofit/>
          </a:bodyPr>
          <a:lstStyle/>
          <a:p>
            <a:pPr indent="0" lvl="0" marL="0" marR="0" rtl="0" algn="ctr">
              <a:lnSpc>
                <a:spcPct val="100000"/>
              </a:lnSpc>
              <a:spcBef>
                <a:spcPts val="0"/>
              </a:spcBef>
              <a:spcAft>
                <a:spcPts val="0"/>
              </a:spcAft>
              <a:buClr>
                <a:srgbClr val="FFFFFF"/>
              </a:buClr>
              <a:buSzPts val="2476"/>
              <a:buFont typeface="Lato Black"/>
              <a:buNone/>
            </a:pPr>
            <a:r>
              <a:rPr b="0" i="0" lang="en" sz="1444" u="none" cap="none" strike="noStrike">
                <a:solidFill>
                  <a:srgbClr val="FFFFFF"/>
                </a:solidFill>
                <a:latin typeface="Lato Black"/>
                <a:ea typeface="Lato Black"/>
                <a:cs typeface="Lato Black"/>
                <a:sym typeface="Lato Black"/>
              </a:rPr>
              <a:t>#</a:t>
            </a:r>
            <a:r>
              <a:rPr lang="en" sz="1444">
                <a:solidFill>
                  <a:srgbClr val="FFFFFF"/>
                </a:solidFill>
                <a:latin typeface="Lato Black"/>
                <a:ea typeface="Lato Black"/>
                <a:cs typeface="Lato Black"/>
                <a:sym typeface="Lato Black"/>
              </a:rPr>
              <a:t>3</a:t>
            </a:r>
            <a:endParaRPr sz="1444"/>
          </a:p>
        </p:txBody>
      </p:sp>
      <p:sp>
        <p:nvSpPr>
          <p:cNvPr id="83" name="Google Shape;83;p17"/>
          <p:cNvSpPr/>
          <p:nvPr/>
        </p:nvSpPr>
        <p:spPr>
          <a:xfrm>
            <a:off x="4773075" y="2595065"/>
            <a:ext cx="270000" cy="284700"/>
          </a:xfrm>
          <a:prstGeom prst="rect">
            <a:avLst/>
          </a:prstGeom>
          <a:solidFill>
            <a:srgbClr val="FFC845"/>
          </a:solidFill>
          <a:ln cap="flat" cmpd="sng" w="32750">
            <a:solidFill>
              <a:srgbClr val="FFC845"/>
            </a:solidFill>
            <a:prstDash val="solid"/>
            <a:miter lim="400000"/>
            <a:headEnd len="sm" w="sm" type="none"/>
            <a:tailEnd len="sm" w="sm" type="none"/>
          </a:ln>
        </p:spPr>
        <p:txBody>
          <a:bodyPr anchorCtr="0" anchor="ctr" bIns="23575" lIns="23575" spcFirstLastPara="1" rIns="23575" wrap="square" tIns="23575">
            <a:noAutofit/>
          </a:bodyPr>
          <a:lstStyle/>
          <a:p>
            <a:pPr indent="0" lvl="0" marL="0" marR="0" rtl="0" algn="ctr">
              <a:lnSpc>
                <a:spcPct val="100000"/>
              </a:lnSpc>
              <a:spcBef>
                <a:spcPts val="0"/>
              </a:spcBef>
              <a:spcAft>
                <a:spcPts val="0"/>
              </a:spcAft>
              <a:buClr>
                <a:srgbClr val="FFFFFF"/>
              </a:buClr>
              <a:buSzPts val="2476"/>
              <a:buFont typeface="Lato Black"/>
              <a:buNone/>
            </a:pPr>
            <a:r>
              <a:rPr b="0" i="0" lang="en" sz="1444" u="none" cap="none" strike="noStrike">
                <a:solidFill>
                  <a:srgbClr val="FFFFFF"/>
                </a:solidFill>
                <a:latin typeface="Lato Black"/>
                <a:ea typeface="Lato Black"/>
                <a:cs typeface="Lato Black"/>
                <a:sym typeface="Lato Black"/>
              </a:rPr>
              <a:t>#</a:t>
            </a:r>
            <a:r>
              <a:rPr lang="en" sz="1444">
                <a:solidFill>
                  <a:srgbClr val="FFFFFF"/>
                </a:solidFill>
                <a:latin typeface="Lato Black"/>
                <a:ea typeface="Lato Black"/>
                <a:cs typeface="Lato Black"/>
                <a:sym typeface="Lato Black"/>
              </a:rPr>
              <a:t>4</a:t>
            </a:r>
            <a:endParaRPr sz="1444"/>
          </a:p>
        </p:txBody>
      </p:sp>
      <p:sp>
        <p:nvSpPr>
          <p:cNvPr id="84" name="Google Shape;84;p17"/>
          <p:cNvSpPr/>
          <p:nvPr/>
        </p:nvSpPr>
        <p:spPr>
          <a:xfrm>
            <a:off x="4773075" y="2948876"/>
            <a:ext cx="270000" cy="284700"/>
          </a:xfrm>
          <a:prstGeom prst="rect">
            <a:avLst/>
          </a:prstGeom>
          <a:solidFill>
            <a:srgbClr val="FFC845"/>
          </a:solidFill>
          <a:ln cap="flat" cmpd="sng" w="32750">
            <a:solidFill>
              <a:srgbClr val="FFC845"/>
            </a:solidFill>
            <a:prstDash val="solid"/>
            <a:miter lim="400000"/>
            <a:headEnd len="sm" w="sm" type="none"/>
            <a:tailEnd len="sm" w="sm" type="none"/>
          </a:ln>
        </p:spPr>
        <p:txBody>
          <a:bodyPr anchorCtr="0" anchor="ctr" bIns="23575" lIns="23575" spcFirstLastPara="1" rIns="23575" wrap="square" tIns="23575">
            <a:noAutofit/>
          </a:bodyPr>
          <a:lstStyle/>
          <a:p>
            <a:pPr indent="0" lvl="0" marL="0" marR="0" rtl="0" algn="ctr">
              <a:lnSpc>
                <a:spcPct val="100000"/>
              </a:lnSpc>
              <a:spcBef>
                <a:spcPts val="0"/>
              </a:spcBef>
              <a:spcAft>
                <a:spcPts val="0"/>
              </a:spcAft>
              <a:buClr>
                <a:srgbClr val="FFFFFF"/>
              </a:buClr>
              <a:buSzPts val="2476"/>
              <a:buFont typeface="Lato Black"/>
              <a:buNone/>
            </a:pPr>
            <a:r>
              <a:rPr b="0" i="0" lang="en" sz="1444" u="none" cap="none" strike="noStrike">
                <a:solidFill>
                  <a:srgbClr val="FFFFFF"/>
                </a:solidFill>
                <a:latin typeface="Lato Black"/>
                <a:ea typeface="Lato Black"/>
                <a:cs typeface="Lato Black"/>
                <a:sym typeface="Lato Black"/>
              </a:rPr>
              <a:t>#</a:t>
            </a:r>
            <a:r>
              <a:rPr lang="en" sz="1444">
                <a:solidFill>
                  <a:srgbClr val="FFFFFF"/>
                </a:solidFill>
                <a:latin typeface="Lato Black"/>
                <a:ea typeface="Lato Black"/>
                <a:cs typeface="Lato Black"/>
                <a:sym typeface="Lato Black"/>
              </a:rPr>
              <a:t>5</a:t>
            </a:r>
            <a:endParaRPr sz="1444"/>
          </a:p>
        </p:txBody>
      </p:sp>
      <p:sp>
        <p:nvSpPr>
          <p:cNvPr id="85" name="Google Shape;85;p17"/>
          <p:cNvSpPr/>
          <p:nvPr/>
        </p:nvSpPr>
        <p:spPr>
          <a:xfrm>
            <a:off x="4773075" y="3302686"/>
            <a:ext cx="270000" cy="284700"/>
          </a:xfrm>
          <a:prstGeom prst="rect">
            <a:avLst/>
          </a:prstGeom>
          <a:solidFill>
            <a:srgbClr val="FFC845"/>
          </a:solidFill>
          <a:ln cap="flat" cmpd="sng" w="32750">
            <a:solidFill>
              <a:srgbClr val="FFC845"/>
            </a:solidFill>
            <a:prstDash val="solid"/>
            <a:miter lim="400000"/>
            <a:headEnd len="sm" w="sm" type="none"/>
            <a:tailEnd len="sm" w="sm" type="none"/>
          </a:ln>
        </p:spPr>
        <p:txBody>
          <a:bodyPr anchorCtr="0" anchor="ctr" bIns="23575" lIns="23575" spcFirstLastPara="1" rIns="23575" wrap="square" tIns="23575">
            <a:noAutofit/>
          </a:bodyPr>
          <a:lstStyle/>
          <a:p>
            <a:pPr indent="0" lvl="0" marL="0" marR="0" rtl="0" algn="ctr">
              <a:lnSpc>
                <a:spcPct val="100000"/>
              </a:lnSpc>
              <a:spcBef>
                <a:spcPts val="0"/>
              </a:spcBef>
              <a:spcAft>
                <a:spcPts val="0"/>
              </a:spcAft>
              <a:buClr>
                <a:srgbClr val="FFFFFF"/>
              </a:buClr>
              <a:buSzPts val="2476"/>
              <a:buFont typeface="Lato Black"/>
              <a:buNone/>
            </a:pPr>
            <a:r>
              <a:rPr b="0" i="0" lang="en" sz="1444" u="none" cap="none" strike="noStrike">
                <a:solidFill>
                  <a:srgbClr val="FFFFFF"/>
                </a:solidFill>
                <a:latin typeface="Lato Black"/>
                <a:ea typeface="Lato Black"/>
                <a:cs typeface="Lato Black"/>
                <a:sym typeface="Lato Black"/>
              </a:rPr>
              <a:t>#</a:t>
            </a:r>
            <a:r>
              <a:rPr lang="en" sz="1444">
                <a:solidFill>
                  <a:srgbClr val="FFFFFF"/>
                </a:solidFill>
                <a:latin typeface="Lato Black"/>
                <a:ea typeface="Lato Black"/>
                <a:cs typeface="Lato Black"/>
                <a:sym typeface="Lato Black"/>
              </a:rPr>
              <a:t>6</a:t>
            </a:r>
            <a:endParaRPr sz="1444"/>
          </a:p>
        </p:txBody>
      </p:sp>
      <p:sp>
        <p:nvSpPr>
          <p:cNvPr id="86" name="Google Shape;86;p17"/>
          <p:cNvSpPr/>
          <p:nvPr/>
        </p:nvSpPr>
        <p:spPr>
          <a:xfrm>
            <a:off x="4773075" y="3656496"/>
            <a:ext cx="270000" cy="284700"/>
          </a:xfrm>
          <a:prstGeom prst="rect">
            <a:avLst/>
          </a:prstGeom>
          <a:solidFill>
            <a:srgbClr val="FFC845"/>
          </a:solidFill>
          <a:ln cap="flat" cmpd="sng" w="32750">
            <a:solidFill>
              <a:srgbClr val="FFC845"/>
            </a:solidFill>
            <a:prstDash val="solid"/>
            <a:miter lim="400000"/>
            <a:headEnd len="sm" w="sm" type="none"/>
            <a:tailEnd len="sm" w="sm" type="none"/>
          </a:ln>
        </p:spPr>
        <p:txBody>
          <a:bodyPr anchorCtr="0" anchor="ctr" bIns="23575" lIns="23575" spcFirstLastPara="1" rIns="23575" wrap="square" tIns="23575">
            <a:noAutofit/>
          </a:bodyPr>
          <a:lstStyle/>
          <a:p>
            <a:pPr indent="0" lvl="0" marL="0" marR="0" rtl="0" algn="ctr">
              <a:lnSpc>
                <a:spcPct val="100000"/>
              </a:lnSpc>
              <a:spcBef>
                <a:spcPts val="0"/>
              </a:spcBef>
              <a:spcAft>
                <a:spcPts val="0"/>
              </a:spcAft>
              <a:buClr>
                <a:srgbClr val="FFFFFF"/>
              </a:buClr>
              <a:buSzPts val="2476"/>
              <a:buFont typeface="Lato Black"/>
              <a:buNone/>
            </a:pPr>
            <a:r>
              <a:rPr b="0" i="0" lang="en" sz="1444" u="none" cap="none" strike="noStrike">
                <a:solidFill>
                  <a:srgbClr val="FFFFFF"/>
                </a:solidFill>
                <a:latin typeface="Lato Black"/>
                <a:ea typeface="Lato Black"/>
                <a:cs typeface="Lato Black"/>
                <a:sym typeface="Lato Black"/>
              </a:rPr>
              <a:t>#</a:t>
            </a:r>
            <a:r>
              <a:rPr lang="en" sz="1444">
                <a:solidFill>
                  <a:srgbClr val="FFFFFF"/>
                </a:solidFill>
                <a:latin typeface="Lato Black"/>
                <a:ea typeface="Lato Black"/>
                <a:cs typeface="Lato Black"/>
                <a:sym typeface="Lato Black"/>
              </a:rPr>
              <a:t>7</a:t>
            </a:r>
            <a:endParaRPr sz="1444"/>
          </a:p>
        </p:txBody>
      </p:sp>
      <p:sp>
        <p:nvSpPr>
          <p:cNvPr id="87" name="Google Shape;87;p17"/>
          <p:cNvSpPr/>
          <p:nvPr/>
        </p:nvSpPr>
        <p:spPr>
          <a:xfrm>
            <a:off x="4773075" y="4010306"/>
            <a:ext cx="270000" cy="284700"/>
          </a:xfrm>
          <a:prstGeom prst="rect">
            <a:avLst/>
          </a:prstGeom>
          <a:solidFill>
            <a:srgbClr val="FFC845"/>
          </a:solidFill>
          <a:ln cap="flat" cmpd="sng" w="32750">
            <a:solidFill>
              <a:srgbClr val="FFC845"/>
            </a:solidFill>
            <a:prstDash val="solid"/>
            <a:miter lim="400000"/>
            <a:headEnd len="sm" w="sm" type="none"/>
            <a:tailEnd len="sm" w="sm" type="none"/>
          </a:ln>
        </p:spPr>
        <p:txBody>
          <a:bodyPr anchorCtr="0" anchor="ctr" bIns="23575" lIns="23575" spcFirstLastPara="1" rIns="23575" wrap="square" tIns="23575">
            <a:noAutofit/>
          </a:bodyPr>
          <a:lstStyle/>
          <a:p>
            <a:pPr indent="0" lvl="0" marL="0" marR="0" rtl="0" algn="ctr">
              <a:lnSpc>
                <a:spcPct val="100000"/>
              </a:lnSpc>
              <a:spcBef>
                <a:spcPts val="0"/>
              </a:spcBef>
              <a:spcAft>
                <a:spcPts val="0"/>
              </a:spcAft>
              <a:buClr>
                <a:srgbClr val="FFFFFF"/>
              </a:buClr>
              <a:buSzPts val="2476"/>
              <a:buFont typeface="Lato Black"/>
              <a:buNone/>
            </a:pPr>
            <a:r>
              <a:rPr b="0" i="0" lang="en" sz="1444" u="none" cap="none" strike="noStrike">
                <a:solidFill>
                  <a:srgbClr val="FFFFFF"/>
                </a:solidFill>
                <a:latin typeface="Lato Black"/>
                <a:ea typeface="Lato Black"/>
                <a:cs typeface="Lato Black"/>
                <a:sym typeface="Lato Black"/>
              </a:rPr>
              <a:t>#</a:t>
            </a:r>
            <a:r>
              <a:rPr lang="en" sz="1444">
                <a:solidFill>
                  <a:srgbClr val="FFFFFF"/>
                </a:solidFill>
                <a:latin typeface="Lato Black"/>
                <a:ea typeface="Lato Black"/>
                <a:cs typeface="Lato Black"/>
                <a:sym typeface="Lato Black"/>
              </a:rPr>
              <a:t>8</a:t>
            </a:r>
            <a:endParaRPr sz="1444"/>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18"/>
          <p:cNvSpPr txBox="1"/>
          <p:nvPr/>
        </p:nvSpPr>
        <p:spPr>
          <a:xfrm>
            <a:off x="2287200" y="219775"/>
            <a:ext cx="66396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900">
                <a:solidFill>
                  <a:schemeClr val="lt1"/>
                </a:solidFill>
                <a:highlight>
                  <a:srgbClr val="405E78"/>
                </a:highlight>
                <a:latin typeface="Montserrat"/>
                <a:ea typeface="Montserrat"/>
                <a:cs typeface="Montserrat"/>
                <a:sym typeface="Montserrat"/>
              </a:rPr>
              <a:t>Estándares de experiencia </a:t>
            </a:r>
            <a:endParaRPr sz="29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900">
              <a:solidFill>
                <a:srgbClr val="405E78"/>
              </a:solidFill>
              <a:latin typeface="Nunito"/>
              <a:ea typeface="Nunito"/>
              <a:cs typeface="Nunito"/>
              <a:sym typeface="Nunito"/>
            </a:endParaRPr>
          </a:p>
        </p:txBody>
      </p:sp>
      <p:sp>
        <p:nvSpPr>
          <p:cNvPr id="93" name="Google Shape;93;p18"/>
          <p:cNvSpPr/>
          <p:nvPr/>
        </p:nvSpPr>
        <p:spPr>
          <a:xfrm>
            <a:off x="514200" y="2121575"/>
            <a:ext cx="4057800" cy="1278900"/>
          </a:xfrm>
          <a:prstGeom prst="roundRect">
            <a:avLst>
              <a:gd fmla="val 16667" name="adj"/>
            </a:avLst>
          </a:prstGeom>
          <a:solidFill>
            <a:srgbClr val="FFFFFF"/>
          </a:solidFill>
          <a:ln cap="flat" cmpd="sng" w="12400">
            <a:solidFill>
              <a:schemeClr val="accent1"/>
            </a:solidFill>
            <a:prstDash val="solid"/>
            <a:miter lim="800000"/>
            <a:headEnd len="sm" w="sm" type="none"/>
            <a:tailEnd len="sm" w="sm" type="none"/>
          </a:ln>
        </p:spPr>
        <p:txBody>
          <a:bodyPr anchorCtr="0" anchor="ctr" bIns="59475" lIns="118950" spcFirstLastPara="1" rIns="118950" wrap="square" tIns="59475">
            <a:noAutofit/>
          </a:bodyPr>
          <a:lstStyle/>
          <a:p>
            <a:pPr indent="0" lvl="0" marL="0" rtl="0" algn="l">
              <a:lnSpc>
                <a:spcPct val="115000"/>
              </a:lnSpc>
              <a:spcBef>
                <a:spcPts val="1200"/>
              </a:spcBef>
              <a:spcAft>
                <a:spcPts val="0"/>
              </a:spcAft>
              <a:buClr>
                <a:srgbClr val="000000"/>
              </a:buClr>
              <a:buSzPts val="3600"/>
              <a:buFont typeface="Arial"/>
              <a:buNone/>
            </a:pPr>
            <a:r>
              <a:t/>
            </a:r>
            <a:endParaRPr b="1" sz="3600">
              <a:solidFill>
                <a:srgbClr val="FFFFFF"/>
              </a:solidFill>
              <a:latin typeface="Calibri"/>
              <a:ea typeface="Calibri"/>
              <a:cs typeface="Calibri"/>
              <a:sym typeface="Calibri"/>
            </a:endParaRPr>
          </a:p>
          <a:p>
            <a:pPr indent="0" lvl="0" marL="0" rtl="0" algn="l">
              <a:lnSpc>
                <a:spcPct val="115000"/>
              </a:lnSpc>
              <a:spcBef>
                <a:spcPts val="1800"/>
              </a:spcBef>
              <a:spcAft>
                <a:spcPts val="0"/>
              </a:spcAft>
              <a:buClr>
                <a:srgbClr val="000000"/>
              </a:buClr>
              <a:buSzPts val="3600"/>
              <a:buFont typeface="Arial"/>
              <a:buNone/>
            </a:pPr>
            <a:r>
              <a:rPr lang="en" sz="1100">
                <a:solidFill>
                  <a:schemeClr val="dk1"/>
                </a:solidFill>
                <a:latin typeface="Montserrat"/>
                <a:ea typeface="Montserrat"/>
                <a:cs typeface="Montserrat"/>
                <a:sym typeface="Montserrat"/>
              </a:rPr>
              <a:t>Durante el intercambio</a:t>
            </a:r>
            <a:endParaRPr sz="11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SzPts val="3600"/>
              <a:buNone/>
            </a:pPr>
            <a:r>
              <a:rPr lang="en" sz="1100">
                <a:solidFill>
                  <a:schemeClr val="dk1"/>
                </a:solidFill>
                <a:latin typeface="Montserrat"/>
                <a:ea typeface="Montserrat"/>
                <a:cs typeface="Montserrat"/>
                <a:sym typeface="Montserrat"/>
              </a:rPr>
              <a:t>📌 Se aplican desde el primero, hasta el ultimo dia del intercambio.</a:t>
            </a:r>
            <a:endParaRPr sz="11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SzPts val="3600"/>
              <a:buNone/>
            </a:pPr>
            <a:r>
              <a:rPr lang="en" sz="1100">
                <a:solidFill>
                  <a:schemeClr val="dk1"/>
                </a:solidFill>
                <a:latin typeface="Montserrat"/>
                <a:ea typeface="Montserrat"/>
                <a:cs typeface="Montserrat"/>
                <a:sym typeface="Montserrat"/>
              </a:rPr>
              <a:t>🎯 Estos estándares garantizan que la experiencia sea enriquecedora.</a:t>
            </a:r>
            <a:endParaRPr sz="1100">
              <a:solidFill>
                <a:schemeClr val="dk1"/>
              </a:solidFill>
              <a:latin typeface="Montserrat"/>
              <a:ea typeface="Montserrat"/>
              <a:cs typeface="Montserrat"/>
              <a:sym typeface="Montserrat"/>
            </a:endParaRPr>
          </a:p>
          <a:p>
            <a:pPr indent="0" lvl="0" marL="0" rtl="0" algn="l">
              <a:spcBef>
                <a:spcPts val="1200"/>
              </a:spcBef>
              <a:spcAft>
                <a:spcPts val="0"/>
              </a:spcAft>
              <a:buClr>
                <a:srgbClr val="000000"/>
              </a:buClr>
              <a:buSzPts val="3200"/>
              <a:buFont typeface="Arial"/>
              <a:buNone/>
            </a:pPr>
            <a:r>
              <a:t/>
            </a:r>
            <a:endParaRPr sz="3200">
              <a:latin typeface="Calibri"/>
              <a:ea typeface="Calibri"/>
              <a:cs typeface="Calibri"/>
              <a:sym typeface="Calibri"/>
            </a:endParaRPr>
          </a:p>
          <a:p>
            <a:pPr indent="0" lvl="0" marL="0" rtl="0" algn="just">
              <a:lnSpc>
                <a:spcPct val="115000"/>
              </a:lnSpc>
              <a:spcBef>
                <a:spcPts val="1200"/>
              </a:spcBef>
              <a:spcAft>
                <a:spcPts val="0"/>
              </a:spcAft>
              <a:buSzPts val="3600"/>
              <a:buNone/>
            </a:pPr>
            <a:r>
              <a:t/>
            </a:r>
            <a:endParaRPr sz="1100">
              <a:solidFill>
                <a:schemeClr val="dk1"/>
              </a:solidFill>
              <a:latin typeface="Montserrat"/>
              <a:ea typeface="Montserrat"/>
              <a:cs typeface="Montserrat"/>
              <a:sym typeface="Montserrat"/>
            </a:endParaRPr>
          </a:p>
        </p:txBody>
      </p:sp>
      <p:sp>
        <p:nvSpPr>
          <p:cNvPr id="94" name="Google Shape;94;p18"/>
          <p:cNvSpPr txBox="1"/>
          <p:nvPr/>
        </p:nvSpPr>
        <p:spPr>
          <a:xfrm>
            <a:off x="5044514" y="860725"/>
            <a:ext cx="4348200" cy="3142200"/>
          </a:xfrm>
          <a:prstGeom prst="rect">
            <a:avLst/>
          </a:prstGeom>
          <a:noFill/>
          <a:ln>
            <a:noFill/>
          </a:ln>
        </p:spPr>
        <p:txBody>
          <a:bodyPr anchorCtr="0" anchor="t" bIns="48525" lIns="48525" spcFirstLastPara="1" rIns="48525" wrap="square" tIns="48525">
            <a:noAutofit/>
          </a:bodyPr>
          <a:lstStyle/>
          <a:p>
            <a:pPr indent="0" lvl="0" marL="0" marR="0" rtl="0" algn="l">
              <a:lnSpc>
                <a:spcPct val="100000"/>
              </a:lnSpc>
              <a:spcBef>
                <a:spcPts val="0"/>
              </a:spcBef>
              <a:spcAft>
                <a:spcPts val="0"/>
              </a:spcAft>
              <a:buClr>
                <a:srgbClr val="000000"/>
              </a:buClr>
              <a:buSzPts val="1911"/>
              <a:buFont typeface="Arial"/>
              <a:buNone/>
            </a:pPr>
            <a:r>
              <a:rPr b="0" i="0" lang="en" sz="1910" u="none" cap="none" strike="noStrike">
                <a:solidFill>
                  <a:srgbClr val="000000"/>
                </a:solidFill>
                <a:latin typeface="Calibri"/>
                <a:ea typeface="Calibri"/>
                <a:cs typeface="Calibri"/>
                <a:sym typeface="Calibri"/>
              </a:rPr>
              <a:t>📋 </a:t>
            </a:r>
            <a:r>
              <a:rPr b="1" i="0" lang="en" sz="1910" u="none" cap="none" strike="noStrike">
                <a:solidFill>
                  <a:srgbClr val="000000"/>
                </a:solidFill>
                <a:latin typeface="Calibri"/>
                <a:ea typeface="Calibri"/>
                <a:cs typeface="Calibri"/>
                <a:sym typeface="Calibri"/>
              </a:rPr>
              <a:t>Incluyen:</a:t>
            </a:r>
            <a:br>
              <a:rPr b="1" i="0" lang="en" sz="1910" u="none" cap="none" strike="noStrike">
                <a:solidFill>
                  <a:srgbClr val="000000"/>
                </a:solidFill>
                <a:latin typeface="Calibri"/>
                <a:ea typeface="Calibri"/>
                <a:cs typeface="Calibri"/>
                <a:sym typeface="Calibri"/>
              </a:rPr>
            </a:br>
            <a:endParaRPr b="1"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0"/>
              </a:spcAft>
              <a:buClr>
                <a:srgbClr val="000000"/>
              </a:buClr>
              <a:buSzPts val="1911"/>
              <a:buFont typeface="Arial"/>
              <a:buNone/>
            </a:pPr>
            <a:r>
              <a:rPr b="0" i="0" lang="en" sz="1910" u="none" cap="none" strike="noStrike">
                <a:solidFill>
                  <a:srgbClr val="000000"/>
                </a:solidFill>
                <a:latin typeface="Calibri"/>
                <a:ea typeface="Calibri"/>
                <a:cs typeface="Calibri"/>
                <a:sym typeface="Calibri"/>
              </a:rPr>
              <a:t>Primer </a:t>
            </a:r>
            <a:r>
              <a:rPr lang="en" sz="1910">
                <a:latin typeface="Calibri"/>
                <a:ea typeface="Calibri"/>
                <a:cs typeface="Calibri"/>
                <a:sym typeface="Calibri"/>
              </a:rPr>
              <a:t>d</a:t>
            </a:r>
            <a:r>
              <a:rPr b="0" i="0" lang="en" sz="1910" u="none" cap="none" strike="noStrike">
                <a:solidFill>
                  <a:srgbClr val="000000"/>
                </a:solidFill>
                <a:latin typeface="Calibri"/>
                <a:ea typeface="Calibri"/>
                <a:cs typeface="Calibri"/>
                <a:sym typeface="Calibri"/>
              </a:rPr>
              <a:t>ía de </a:t>
            </a:r>
            <a:r>
              <a:rPr lang="en" sz="1910">
                <a:latin typeface="Calibri"/>
                <a:ea typeface="Calibri"/>
                <a:cs typeface="Calibri"/>
                <a:sym typeface="Calibri"/>
              </a:rPr>
              <a:t>t</a:t>
            </a:r>
            <a:r>
              <a:rPr b="0" i="0" lang="en" sz="1910" u="none" cap="none" strike="noStrike">
                <a:solidFill>
                  <a:srgbClr val="000000"/>
                </a:solidFill>
                <a:latin typeface="Calibri"/>
                <a:ea typeface="Calibri"/>
                <a:cs typeface="Calibri"/>
                <a:sym typeface="Calibri"/>
              </a:rPr>
              <a:t>rabajo</a:t>
            </a:r>
            <a:endParaRPr b="0"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0"/>
              </a:spcAft>
              <a:buClr>
                <a:srgbClr val="000000"/>
              </a:buClr>
              <a:buSzPts val="584"/>
              <a:buFont typeface="Arial"/>
              <a:buNone/>
            </a:pPr>
            <a:r>
              <a:rPr b="0" i="0" lang="en" sz="1910" u="none" cap="none" strike="noStrike">
                <a:solidFill>
                  <a:srgbClr val="000000"/>
                </a:solidFill>
                <a:latin typeface="Calibri"/>
                <a:ea typeface="Calibri"/>
                <a:cs typeface="Calibri"/>
                <a:sym typeface="Calibri"/>
              </a:rPr>
              <a:t>Espacios </a:t>
            </a:r>
            <a:r>
              <a:rPr lang="en" sz="1910">
                <a:latin typeface="Calibri"/>
                <a:ea typeface="Calibri"/>
                <a:cs typeface="Calibri"/>
                <a:sym typeface="Calibri"/>
              </a:rPr>
              <a:t>a</a:t>
            </a:r>
            <a:r>
              <a:rPr b="0" i="0" lang="en" sz="1910" u="none" cap="none" strike="noStrike">
                <a:solidFill>
                  <a:srgbClr val="000000"/>
                </a:solidFill>
                <a:latin typeface="Calibri"/>
                <a:ea typeface="Calibri"/>
                <a:cs typeface="Calibri"/>
                <a:sym typeface="Calibri"/>
              </a:rPr>
              <a:t>lineación con </a:t>
            </a:r>
            <a:r>
              <a:rPr lang="en" sz="1910">
                <a:solidFill>
                  <a:srgbClr val="000000"/>
                </a:solidFill>
                <a:latin typeface="Calibri"/>
                <a:ea typeface="Calibri"/>
                <a:cs typeface="Calibri"/>
                <a:sym typeface="Calibri"/>
              </a:rPr>
              <a:t>la empresa</a:t>
            </a:r>
            <a:endParaRPr b="0"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0"/>
              </a:spcAft>
              <a:buClr>
                <a:srgbClr val="000000"/>
              </a:buClr>
              <a:buSzPts val="584"/>
              <a:buFont typeface="Arial"/>
              <a:buNone/>
            </a:pPr>
            <a:r>
              <a:rPr b="0" i="0" lang="en" sz="1910" u="none" cap="none" strike="noStrike">
                <a:solidFill>
                  <a:srgbClr val="000000"/>
                </a:solidFill>
                <a:latin typeface="Calibri"/>
                <a:ea typeface="Calibri"/>
                <a:cs typeface="Calibri"/>
                <a:sym typeface="Calibri"/>
              </a:rPr>
              <a:t>Descripción del puesto</a:t>
            </a:r>
            <a:endParaRPr b="0"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0"/>
              </a:spcAft>
              <a:buClr>
                <a:srgbClr val="000000"/>
              </a:buClr>
              <a:buSzPts val="584"/>
              <a:buFont typeface="Arial"/>
              <a:buNone/>
            </a:pPr>
            <a:r>
              <a:rPr b="0" i="0" lang="en" sz="1910" u="none" cap="none" strike="noStrike">
                <a:solidFill>
                  <a:srgbClr val="000000"/>
                </a:solidFill>
                <a:latin typeface="Calibri"/>
                <a:ea typeface="Calibri"/>
                <a:cs typeface="Calibri"/>
                <a:sym typeface="Calibri"/>
              </a:rPr>
              <a:t>Horario de trabajo</a:t>
            </a:r>
            <a:endParaRPr b="0"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0"/>
              </a:spcAft>
              <a:buClr>
                <a:srgbClr val="000000"/>
              </a:buClr>
              <a:buSzPts val="584"/>
              <a:buFont typeface="Arial"/>
              <a:buNone/>
            </a:pPr>
            <a:r>
              <a:rPr b="0" i="0" lang="en" sz="1910" u="none" cap="none" strike="noStrike">
                <a:solidFill>
                  <a:srgbClr val="000000"/>
                </a:solidFill>
                <a:latin typeface="Calibri"/>
                <a:ea typeface="Calibri"/>
                <a:cs typeface="Calibri"/>
                <a:sym typeface="Calibri"/>
              </a:rPr>
              <a:t>Duración</a:t>
            </a:r>
            <a:endParaRPr b="0"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0"/>
              </a:spcAft>
              <a:buClr>
                <a:srgbClr val="000000"/>
              </a:buClr>
              <a:buSzPts val="584"/>
              <a:buFont typeface="Arial"/>
              <a:buNone/>
            </a:pPr>
            <a:r>
              <a:rPr b="0" i="0" lang="en" sz="1910" u="none" cap="none" strike="noStrike">
                <a:solidFill>
                  <a:srgbClr val="000000"/>
                </a:solidFill>
                <a:latin typeface="Calibri"/>
                <a:ea typeface="Calibri"/>
                <a:cs typeface="Calibri"/>
                <a:sym typeface="Calibri"/>
              </a:rPr>
              <a:t>Beneficios de la </a:t>
            </a:r>
            <a:r>
              <a:rPr lang="en" sz="1910">
                <a:latin typeface="Calibri"/>
                <a:ea typeface="Calibri"/>
                <a:cs typeface="Calibri"/>
                <a:sym typeface="Calibri"/>
              </a:rPr>
              <a:t>o</a:t>
            </a:r>
            <a:r>
              <a:rPr b="0" i="0" lang="en" sz="1910" u="none" cap="none" strike="noStrike">
                <a:solidFill>
                  <a:srgbClr val="000000"/>
                </a:solidFill>
                <a:latin typeface="Calibri"/>
                <a:ea typeface="Calibri"/>
                <a:cs typeface="Calibri"/>
                <a:sym typeface="Calibri"/>
              </a:rPr>
              <a:t>portunidad</a:t>
            </a:r>
            <a:endParaRPr b="0"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0"/>
              </a:spcAft>
              <a:buClr>
                <a:srgbClr val="000000"/>
              </a:buClr>
              <a:buSzPts val="584"/>
              <a:buFont typeface="Arial"/>
              <a:buNone/>
            </a:pPr>
            <a:r>
              <a:rPr b="0" i="0" lang="en" sz="1910" u="none" cap="none" strike="noStrike">
                <a:solidFill>
                  <a:srgbClr val="000000"/>
                </a:solidFill>
                <a:latin typeface="Calibri"/>
                <a:ea typeface="Calibri"/>
                <a:cs typeface="Calibri"/>
                <a:sym typeface="Calibri"/>
              </a:rPr>
              <a:t>Educación en </a:t>
            </a:r>
            <a:r>
              <a:rPr lang="en" sz="1910">
                <a:latin typeface="Calibri"/>
                <a:ea typeface="Calibri"/>
                <a:cs typeface="Calibri"/>
                <a:sym typeface="Calibri"/>
              </a:rPr>
              <a:t>l</a:t>
            </a:r>
            <a:r>
              <a:rPr b="0" i="0" lang="en" sz="1910" u="none" cap="none" strike="noStrike">
                <a:solidFill>
                  <a:srgbClr val="000000"/>
                </a:solidFill>
                <a:latin typeface="Calibri"/>
                <a:ea typeface="Calibri"/>
                <a:cs typeface="Calibri"/>
                <a:sym typeface="Calibri"/>
              </a:rPr>
              <a:t>iderazgo </a:t>
            </a:r>
            <a:r>
              <a:rPr lang="en" sz="1910">
                <a:latin typeface="Calibri"/>
                <a:ea typeface="Calibri"/>
                <a:cs typeface="Calibri"/>
                <a:sym typeface="Calibri"/>
              </a:rPr>
              <a:t>b</a:t>
            </a:r>
            <a:r>
              <a:rPr b="0" i="0" lang="en" sz="1910" u="none" cap="none" strike="noStrike">
                <a:solidFill>
                  <a:srgbClr val="000000"/>
                </a:solidFill>
                <a:latin typeface="Calibri"/>
                <a:ea typeface="Calibri"/>
                <a:cs typeface="Calibri"/>
                <a:sym typeface="Calibri"/>
              </a:rPr>
              <a:t>asado en </a:t>
            </a:r>
            <a:r>
              <a:rPr lang="en" sz="1910">
                <a:latin typeface="Calibri"/>
                <a:ea typeface="Calibri"/>
                <a:cs typeface="Calibri"/>
                <a:sym typeface="Calibri"/>
              </a:rPr>
              <a:t>v</a:t>
            </a:r>
            <a:r>
              <a:rPr b="0" i="0" lang="en" sz="1910" u="none" cap="none" strike="noStrike">
                <a:solidFill>
                  <a:srgbClr val="000000"/>
                </a:solidFill>
                <a:latin typeface="Calibri"/>
                <a:ea typeface="Calibri"/>
                <a:cs typeface="Calibri"/>
                <a:sym typeface="Calibri"/>
              </a:rPr>
              <a:t>alores</a:t>
            </a:r>
            <a:endParaRPr b="0"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0"/>
              </a:spcAft>
              <a:buClr>
                <a:srgbClr val="000000"/>
              </a:buClr>
              <a:buSzPts val="584"/>
              <a:buFont typeface="Arial"/>
              <a:buNone/>
            </a:pPr>
            <a:r>
              <a:rPr b="0" i="0" lang="en" sz="1910" u="none" cap="none" strike="noStrike">
                <a:solidFill>
                  <a:srgbClr val="000000"/>
                </a:solidFill>
                <a:latin typeface="Calibri"/>
                <a:ea typeface="Calibri"/>
                <a:cs typeface="Calibri"/>
                <a:sym typeface="Calibri"/>
              </a:rPr>
              <a:t>Apoyo en la salida</a:t>
            </a:r>
            <a:endParaRPr b="0" i="0" sz="1910" u="none" cap="none" strike="noStrike">
              <a:solidFill>
                <a:srgbClr val="000000"/>
              </a:solidFill>
              <a:latin typeface="Calibri"/>
              <a:ea typeface="Calibri"/>
              <a:cs typeface="Calibri"/>
              <a:sym typeface="Calibri"/>
            </a:endParaRPr>
          </a:p>
          <a:p>
            <a:pPr indent="0" lvl="0" marL="0" marR="0" rtl="0" algn="l">
              <a:lnSpc>
                <a:spcPct val="100000"/>
              </a:lnSpc>
              <a:spcBef>
                <a:spcPts val="531"/>
              </a:spcBef>
              <a:spcAft>
                <a:spcPts val="531"/>
              </a:spcAft>
              <a:buClr>
                <a:srgbClr val="000000"/>
              </a:buClr>
              <a:buSzPts val="1911"/>
              <a:buFont typeface="Arial"/>
              <a:buNone/>
            </a:pPr>
            <a:r>
              <a:rPr b="0" i="0" lang="en" sz="1910" u="none" cap="none" strike="noStrike">
                <a:solidFill>
                  <a:srgbClr val="000000"/>
                </a:solidFill>
                <a:latin typeface="Calibri"/>
                <a:ea typeface="Calibri"/>
                <a:cs typeface="Calibri"/>
                <a:sym typeface="Calibri"/>
              </a:rPr>
              <a:t>Puntos de revisión</a:t>
            </a:r>
            <a:endParaRPr b="0" i="0" sz="1910" u="none" cap="none" strike="noStrike">
              <a:solidFill>
                <a:srgbClr val="000000"/>
              </a:solidFill>
              <a:latin typeface="Calibri"/>
              <a:ea typeface="Calibri"/>
              <a:cs typeface="Calibri"/>
              <a:sym typeface="Calibri"/>
            </a:endParaRPr>
          </a:p>
        </p:txBody>
      </p:sp>
      <p:sp>
        <p:nvSpPr>
          <p:cNvPr id="95" name="Google Shape;95;p18"/>
          <p:cNvSpPr/>
          <p:nvPr/>
        </p:nvSpPr>
        <p:spPr>
          <a:xfrm>
            <a:off x="4686700" y="1545459"/>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lang="en" sz="1114">
                <a:solidFill>
                  <a:srgbClr val="FFFFFF"/>
                </a:solidFill>
                <a:latin typeface="Lato Black"/>
                <a:ea typeface="Lato Black"/>
                <a:cs typeface="Lato Black"/>
                <a:sym typeface="Lato Black"/>
              </a:rPr>
              <a:t>9</a:t>
            </a:r>
            <a:endParaRPr sz="100"/>
          </a:p>
        </p:txBody>
      </p:sp>
      <p:sp>
        <p:nvSpPr>
          <p:cNvPr id="96" name="Google Shape;96;p18"/>
          <p:cNvSpPr/>
          <p:nvPr/>
        </p:nvSpPr>
        <p:spPr>
          <a:xfrm>
            <a:off x="4686700" y="1909455"/>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b="0" i="0" lang="en" sz="1114" u="none" cap="none" strike="noStrike">
                <a:solidFill>
                  <a:srgbClr val="FFFFFF"/>
                </a:solidFill>
                <a:latin typeface="Lato Black"/>
                <a:ea typeface="Lato Black"/>
                <a:cs typeface="Lato Black"/>
                <a:sym typeface="Lato Black"/>
              </a:rPr>
              <a:t>10</a:t>
            </a:r>
            <a:endParaRPr sz="100"/>
          </a:p>
        </p:txBody>
      </p:sp>
      <p:sp>
        <p:nvSpPr>
          <p:cNvPr id="97" name="Google Shape;97;p18"/>
          <p:cNvSpPr/>
          <p:nvPr/>
        </p:nvSpPr>
        <p:spPr>
          <a:xfrm>
            <a:off x="4686700" y="2273451"/>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b="0" i="0" lang="en" sz="1114" u="none" cap="none" strike="noStrike">
                <a:solidFill>
                  <a:srgbClr val="FFFFFF"/>
                </a:solidFill>
                <a:latin typeface="Lato Black"/>
                <a:ea typeface="Lato Black"/>
                <a:cs typeface="Lato Black"/>
                <a:sym typeface="Lato Black"/>
              </a:rPr>
              <a:t>1</a:t>
            </a:r>
            <a:r>
              <a:rPr lang="en" sz="1114">
                <a:solidFill>
                  <a:srgbClr val="FFFFFF"/>
                </a:solidFill>
                <a:latin typeface="Lato Black"/>
                <a:ea typeface="Lato Black"/>
                <a:cs typeface="Lato Black"/>
                <a:sym typeface="Lato Black"/>
              </a:rPr>
              <a:t>1</a:t>
            </a:r>
            <a:endParaRPr sz="100"/>
          </a:p>
        </p:txBody>
      </p:sp>
      <p:sp>
        <p:nvSpPr>
          <p:cNvPr id="98" name="Google Shape;98;p18"/>
          <p:cNvSpPr/>
          <p:nvPr/>
        </p:nvSpPr>
        <p:spPr>
          <a:xfrm>
            <a:off x="4686700" y="3001442"/>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b="0" i="0" lang="en" sz="1114" u="none" cap="none" strike="noStrike">
                <a:solidFill>
                  <a:srgbClr val="FFFFFF"/>
                </a:solidFill>
                <a:latin typeface="Lato Black"/>
                <a:ea typeface="Lato Black"/>
                <a:cs typeface="Lato Black"/>
                <a:sym typeface="Lato Black"/>
              </a:rPr>
              <a:t>1</a:t>
            </a:r>
            <a:r>
              <a:rPr lang="en" sz="1114">
                <a:solidFill>
                  <a:srgbClr val="FFFFFF"/>
                </a:solidFill>
                <a:latin typeface="Lato Black"/>
                <a:ea typeface="Lato Black"/>
                <a:cs typeface="Lato Black"/>
                <a:sym typeface="Lato Black"/>
              </a:rPr>
              <a:t>3</a:t>
            </a:r>
            <a:endParaRPr sz="100"/>
          </a:p>
        </p:txBody>
      </p:sp>
      <p:sp>
        <p:nvSpPr>
          <p:cNvPr id="99" name="Google Shape;99;p18"/>
          <p:cNvSpPr/>
          <p:nvPr/>
        </p:nvSpPr>
        <p:spPr>
          <a:xfrm>
            <a:off x="4686700" y="2637447"/>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b="0" i="0" lang="en" sz="1114" u="none" cap="none" strike="noStrike">
                <a:solidFill>
                  <a:srgbClr val="FFFFFF"/>
                </a:solidFill>
                <a:latin typeface="Lato Black"/>
                <a:ea typeface="Lato Black"/>
                <a:cs typeface="Lato Black"/>
                <a:sym typeface="Lato Black"/>
              </a:rPr>
              <a:t>1</a:t>
            </a:r>
            <a:r>
              <a:rPr lang="en" sz="1114">
                <a:solidFill>
                  <a:srgbClr val="FFFFFF"/>
                </a:solidFill>
                <a:latin typeface="Lato Black"/>
                <a:ea typeface="Lato Black"/>
                <a:cs typeface="Lato Black"/>
                <a:sym typeface="Lato Black"/>
              </a:rPr>
              <a:t>2</a:t>
            </a:r>
            <a:endParaRPr sz="100"/>
          </a:p>
        </p:txBody>
      </p:sp>
      <p:sp>
        <p:nvSpPr>
          <p:cNvPr id="100" name="Google Shape;100;p18"/>
          <p:cNvSpPr/>
          <p:nvPr/>
        </p:nvSpPr>
        <p:spPr>
          <a:xfrm>
            <a:off x="4686700" y="3365438"/>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b="0" i="0" lang="en" sz="1114" u="none" cap="none" strike="noStrike">
                <a:solidFill>
                  <a:srgbClr val="FFFFFF"/>
                </a:solidFill>
                <a:latin typeface="Lato Black"/>
                <a:ea typeface="Lato Black"/>
                <a:cs typeface="Lato Black"/>
                <a:sym typeface="Lato Black"/>
              </a:rPr>
              <a:t>1</a:t>
            </a:r>
            <a:r>
              <a:rPr lang="en" sz="1114">
                <a:solidFill>
                  <a:srgbClr val="FFFFFF"/>
                </a:solidFill>
                <a:latin typeface="Lato Black"/>
                <a:ea typeface="Lato Black"/>
                <a:cs typeface="Lato Black"/>
                <a:sym typeface="Lato Black"/>
              </a:rPr>
              <a:t>4</a:t>
            </a:r>
            <a:endParaRPr sz="100"/>
          </a:p>
        </p:txBody>
      </p:sp>
      <p:sp>
        <p:nvSpPr>
          <p:cNvPr id="101" name="Google Shape;101;p18"/>
          <p:cNvSpPr/>
          <p:nvPr/>
        </p:nvSpPr>
        <p:spPr>
          <a:xfrm>
            <a:off x="4686700" y="3729434"/>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b="0" i="0" lang="en" sz="1114" u="none" cap="none" strike="noStrike">
                <a:solidFill>
                  <a:srgbClr val="FFFFFF"/>
                </a:solidFill>
                <a:latin typeface="Lato Black"/>
                <a:ea typeface="Lato Black"/>
                <a:cs typeface="Lato Black"/>
                <a:sym typeface="Lato Black"/>
              </a:rPr>
              <a:t>1</a:t>
            </a:r>
            <a:r>
              <a:rPr lang="en" sz="1114">
                <a:solidFill>
                  <a:srgbClr val="FFFFFF"/>
                </a:solidFill>
                <a:latin typeface="Lato Black"/>
                <a:ea typeface="Lato Black"/>
                <a:cs typeface="Lato Black"/>
                <a:sym typeface="Lato Black"/>
              </a:rPr>
              <a:t>5</a:t>
            </a:r>
            <a:endParaRPr sz="100"/>
          </a:p>
        </p:txBody>
      </p:sp>
      <p:sp>
        <p:nvSpPr>
          <p:cNvPr id="102" name="Google Shape;102;p18"/>
          <p:cNvSpPr/>
          <p:nvPr/>
        </p:nvSpPr>
        <p:spPr>
          <a:xfrm>
            <a:off x="4686700" y="4093429"/>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b="0" i="0" lang="en" sz="1114" u="none" cap="none" strike="noStrike">
                <a:solidFill>
                  <a:srgbClr val="FFFFFF"/>
                </a:solidFill>
                <a:latin typeface="Lato Black"/>
                <a:ea typeface="Lato Black"/>
                <a:cs typeface="Lato Black"/>
                <a:sym typeface="Lato Black"/>
              </a:rPr>
              <a:t>1</a:t>
            </a:r>
            <a:r>
              <a:rPr lang="en" sz="1114">
                <a:solidFill>
                  <a:srgbClr val="FFFFFF"/>
                </a:solidFill>
                <a:latin typeface="Lato Black"/>
                <a:ea typeface="Lato Black"/>
                <a:cs typeface="Lato Black"/>
                <a:sym typeface="Lato Black"/>
              </a:rPr>
              <a:t>6</a:t>
            </a:r>
            <a:endParaRPr sz="100"/>
          </a:p>
        </p:txBody>
      </p:sp>
      <p:sp>
        <p:nvSpPr>
          <p:cNvPr id="103" name="Google Shape;103;p18"/>
          <p:cNvSpPr/>
          <p:nvPr/>
        </p:nvSpPr>
        <p:spPr>
          <a:xfrm>
            <a:off x="4686700" y="4457425"/>
            <a:ext cx="302700" cy="300900"/>
          </a:xfrm>
          <a:prstGeom prst="rect">
            <a:avLst/>
          </a:prstGeom>
          <a:solidFill>
            <a:srgbClr val="F48924"/>
          </a:solidFill>
          <a:ln cap="flat" cmpd="sng" w="33700">
            <a:solidFill>
              <a:srgbClr val="F48924"/>
            </a:solidFill>
            <a:prstDash val="solid"/>
            <a:miter lim="400000"/>
            <a:headEnd len="sm" w="sm" type="none"/>
            <a:tailEnd len="sm" w="sm" type="none"/>
          </a:ln>
        </p:spPr>
        <p:txBody>
          <a:bodyPr anchorCtr="0" anchor="ctr" bIns="24275" lIns="24275" spcFirstLastPara="1" rIns="24275" wrap="square" tIns="24275">
            <a:noAutofit/>
          </a:bodyPr>
          <a:lstStyle/>
          <a:p>
            <a:pPr indent="0" lvl="0" marL="0" marR="0" rtl="0" algn="ctr">
              <a:lnSpc>
                <a:spcPct val="100000"/>
              </a:lnSpc>
              <a:spcBef>
                <a:spcPts val="0"/>
              </a:spcBef>
              <a:spcAft>
                <a:spcPts val="0"/>
              </a:spcAft>
              <a:buClr>
                <a:srgbClr val="FFFFFF"/>
              </a:buClr>
              <a:buSzPts val="2548"/>
              <a:buFont typeface="Lato Black"/>
              <a:buNone/>
            </a:pPr>
            <a:r>
              <a:rPr b="0" i="0" lang="en" sz="1114" u="none" cap="none" strike="noStrike">
                <a:solidFill>
                  <a:srgbClr val="FFFFFF"/>
                </a:solidFill>
                <a:latin typeface="Lato Black"/>
                <a:ea typeface="Lato Black"/>
                <a:cs typeface="Lato Black"/>
                <a:sym typeface="Lato Black"/>
              </a:rPr>
              <a:t>#</a:t>
            </a:r>
            <a:r>
              <a:rPr b="0" i="0" lang="en" sz="1114" u="none" cap="none" strike="noStrike">
                <a:solidFill>
                  <a:srgbClr val="FFFFFF"/>
                </a:solidFill>
                <a:latin typeface="Lato Black"/>
                <a:ea typeface="Lato Black"/>
                <a:cs typeface="Lato Black"/>
                <a:sym typeface="Lato Black"/>
              </a:rPr>
              <a:t>1</a:t>
            </a:r>
            <a:r>
              <a:rPr lang="en" sz="1114">
                <a:solidFill>
                  <a:srgbClr val="FFFFFF"/>
                </a:solidFill>
                <a:latin typeface="Lato Black"/>
                <a:ea typeface="Lato Black"/>
                <a:cs typeface="Lato Black"/>
                <a:sym typeface="Lato Black"/>
              </a:rPr>
              <a:t>7</a:t>
            </a:r>
            <a:endParaRPr sz="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19"/>
          <p:cNvSpPr txBox="1"/>
          <p:nvPr/>
        </p:nvSpPr>
        <p:spPr>
          <a:xfrm>
            <a:off x="2287200" y="219775"/>
            <a:ext cx="66396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900">
                <a:solidFill>
                  <a:schemeClr val="lt1"/>
                </a:solidFill>
                <a:highlight>
                  <a:srgbClr val="405E78"/>
                </a:highlight>
                <a:latin typeface="Montserrat"/>
                <a:ea typeface="Montserrat"/>
                <a:cs typeface="Montserrat"/>
                <a:sym typeface="Montserrat"/>
              </a:rPr>
              <a:t>Estándares de post -experiencia </a:t>
            </a:r>
            <a:endParaRPr sz="29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900">
              <a:solidFill>
                <a:srgbClr val="405E78"/>
              </a:solidFill>
              <a:latin typeface="Nunito"/>
              <a:ea typeface="Nunito"/>
              <a:cs typeface="Nunito"/>
              <a:sym typeface="Nunito"/>
            </a:endParaRPr>
          </a:p>
        </p:txBody>
      </p:sp>
      <p:sp>
        <p:nvSpPr>
          <p:cNvPr id="109" name="Google Shape;109;p19"/>
          <p:cNvSpPr/>
          <p:nvPr/>
        </p:nvSpPr>
        <p:spPr>
          <a:xfrm>
            <a:off x="514200" y="2121575"/>
            <a:ext cx="4057800" cy="1507500"/>
          </a:xfrm>
          <a:prstGeom prst="roundRect">
            <a:avLst>
              <a:gd fmla="val 16667" name="adj"/>
            </a:avLst>
          </a:prstGeom>
          <a:solidFill>
            <a:srgbClr val="FFFFFF"/>
          </a:solidFill>
          <a:ln cap="flat" cmpd="sng" w="12400">
            <a:solidFill>
              <a:schemeClr val="accent1"/>
            </a:solidFill>
            <a:prstDash val="solid"/>
            <a:miter lim="800000"/>
            <a:headEnd len="sm" w="sm" type="none"/>
            <a:tailEnd len="sm" w="sm" type="none"/>
          </a:ln>
        </p:spPr>
        <p:txBody>
          <a:bodyPr anchorCtr="0" anchor="ctr" bIns="59475" lIns="118950" spcFirstLastPara="1" rIns="118950" wrap="square" tIns="59475">
            <a:noAutofit/>
          </a:bodyPr>
          <a:lstStyle/>
          <a:p>
            <a:pPr indent="0" lvl="0" marL="0" rtl="0" algn="l">
              <a:lnSpc>
                <a:spcPct val="115000"/>
              </a:lnSpc>
              <a:spcBef>
                <a:spcPts val="1200"/>
              </a:spcBef>
              <a:spcAft>
                <a:spcPts val="0"/>
              </a:spcAft>
              <a:buSzPts val="3600"/>
              <a:buNone/>
            </a:pPr>
            <a:r>
              <a:t/>
            </a:r>
            <a:endParaRPr b="1" sz="3600">
              <a:solidFill>
                <a:srgbClr val="FFFFFF"/>
              </a:solidFill>
              <a:latin typeface="Calibri"/>
              <a:ea typeface="Calibri"/>
              <a:cs typeface="Calibri"/>
              <a:sym typeface="Calibri"/>
            </a:endParaRPr>
          </a:p>
          <a:p>
            <a:pPr indent="0" lvl="0" marL="0" rtl="0" algn="l">
              <a:lnSpc>
                <a:spcPct val="115000"/>
              </a:lnSpc>
              <a:spcBef>
                <a:spcPts val="1800"/>
              </a:spcBef>
              <a:spcAft>
                <a:spcPts val="0"/>
              </a:spcAft>
              <a:buClr>
                <a:schemeClr val="dk1"/>
              </a:buClr>
              <a:buSzPts val="3600"/>
              <a:buFont typeface="Arial"/>
              <a:buNone/>
            </a:pPr>
            <a:r>
              <a:rPr lang="en" sz="1100">
                <a:solidFill>
                  <a:schemeClr val="dk1"/>
                </a:solidFill>
                <a:latin typeface="Montserrat"/>
                <a:ea typeface="Montserrat"/>
                <a:cs typeface="Montserrat"/>
                <a:sym typeface="Montserrat"/>
              </a:rPr>
              <a:t>Después del intercambio</a:t>
            </a:r>
            <a:endParaRPr sz="11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3600"/>
              <a:buFont typeface="Arial"/>
              <a:buNone/>
            </a:pPr>
            <a:r>
              <a:rPr lang="en" sz="1100">
                <a:solidFill>
                  <a:schemeClr val="dk1"/>
                </a:solidFill>
                <a:latin typeface="Montserrat"/>
                <a:ea typeface="Montserrat"/>
                <a:cs typeface="Montserrat"/>
                <a:sym typeface="Montserrat"/>
              </a:rPr>
              <a:t>📌 Se aplica una vez que el EP vuelve a su país (en el caso de que vuelva), se puede realizar una meet en el caso contrario.</a:t>
            </a:r>
            <a:endParaRPr sz="11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3600"/>
              <a:buFont typeface="Arial"/>
              <a:buNone/>
            </a:pPr>
            <a:r>
              <a:rPr lang="en" sz="1100">
                <a:solidFill>
                  <a:schemeClr val="dk1"/>
                </a:solidFill>
                <a:latin typeface="Montserrat"/>
                <a:ea typeface="Montserrat"/>
                <a:cs typeface="Montserrat"/>
                <a:sym typeface="Montserrat"/>
              </a:rPr>
              <a:t>🎯 El cierre es clave para medir nuestro impacto y mejorar futuras experiencias.</a:t>
            </a:r>
            <a:endParaRPr sz="1100">
              <a:solidFill>
                <a:schemeClr val="dk1"/>
              </a:solidFill>
              <a:latin typeface="Montserrat"/>
              <a:ea typeface="Montserrat"/>
              <a:cs typeface="Montserrat"/>
              <a:sym typeface="Montserrat"/>
            </a:endParaRPr>
          </a:p>
          <a:p>
            <a:pPr indent="0" lvl="0" marL="0" rtl="0" algn="l">
              <a:spcBef>
                <a:spcPts val="1200"/>
              </a:spcBef>
              <a:spcAft>
                <a:spcPts val="0"/>
              </a:spcAft>
              <a:buSzPts val="3200"/>
              <a:buNone/>
            </a:pPr>
            <a:r>
              <a:t/>
            </a:r>
            <a:endParaRPr sz="3200">
              <a:latin typeface="Calibri"/>
              <a:ea typeface="Calibri"/>
              <a:cs typeface="Calibri"/>
              <a:sym typeface="Calibri"/>
            </a:endParaRPr>
          </a:p>
          <a:p>
            <a:pPr indent="0" lvl="0" marL="0" rtl="0" algn="just">
              <a:lnSpc>
                <a:spcPct val="115000"/>
              </a:lnSpc>
              <a:spcBef>
                <a:spcPts val="1200"/>
              </a:spcBef>
              <a:spcAft>
                <a:spcPts val="0"/>
              </a:spcAft>
              <a:buSzPts val="3600"/>
              <a:buNone/>
            </a:pPr>
            <a:r>
              <a:t/>
            </a:r>
            <a:endParaRPr sz="1100">
              <a:solidFill>
                <a:schemeClr val="dk1"/>
              </a:solidFill>
              <a:latin typeface="Montserrat"/>
              <a:ea typeface="Montserrat"/>
              <a:cs typeface="Montserrat"/>
              <a:sym typeface="Montserrat"/>
            </a:endParaRPr>
          </a:p>
        </p:txBody>
      </p:sp>
      <p:sp>
        <p:nvSpPr>
          <p:cNvPr id="110" name="Google Shape;110;p19"/>
          <p:cNvSpPr txBox="1"/>
          <p:nvPr/>
        </p:nvSpPr>
        <p:spPr>
          <a:xfrm>
            <a:off x="5268375" y="2240899"/>
            <a:ext cx="3593700" cy="748800"/>
          </a:xfrm>
          <a:prstGeom prst="rect">
            <a:avLst/>
          </a:prstGeom>
          <a:noFill/>
          <a:ln>
            <a:noFill/>
          </a:ln>
        </p:spPr>
        <p:txBody>
          <a:bodyPr anchorCtr="0" anchor="t" bIns="50200" lIns="50200" spcFirstLastPara="1" rIns="50200" wrap="square" tIns="50200">
            <a:noAutofit/>
          </a:bodyPr>
          <a:lstStyle/>
          <a:p>
            <a:pPr indent="0" lvl="0" marL="0" marR="0" rtl="0" algn="l">
              <a:lnSpc>
                <a:spcPct val="100000"/>
              </a:lnSpc>
              <a:spcBef>
                <a:spcPts val="0"/>
              </a:spcBef>
              <a:spcAft>
                <a:spcPts val="0"/>
              </a:spcAft>
              <a:buClr>
                <a:srgbClr val="000000"/>
              </a:buClr>
              <a:buSzPts val="1977"/>
              <a:buFont typeface="Arial"/>
              <a:buNone/>
            </a:pPr>
            <a:r>
              <a:rPr b="0" i="0" lang="en" sz="1977" u="none" cap="none" strike="noStrike">
                <a:solidFill>
                  <a:srgbClr val="000000"/>
                </a:solidFill>
                <a:latin typeface="Calibri"/>
                <a:ea typeface="Calibri"/>
                <a:cs typeface="Calibri"/>
                <a:sym typeface="Calibri"/>
              </a:rPr>
              <a:t>📋 </a:t>
            </a:r>
            <a:r>
              <a:rPr b="1" i="0" lang="en" sz="1977" u="none" cap="none" strike="noStrike">
                <a:solidFill>
                  <a:srgbClr val="000000"/>
                </a:solidFill>
                <a:latin typeface="Calibri"/>
                <a:ea typeface="Calibri"/>
                <a:cs typeface="Calibri"/>
                <a:sym typeface="Calibri"/>
              </a:rPr>
              <a:t>Incluye:</a:t>
            </a:r>
            <a:endParaRPr b="1" i="0" sz="1977"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977"/>
              <a:buFont typeface="Arial"/>
              <a:buNone/>
            </a:pPr>
            <a:br>
              <a:rPr b="1" i="0" lang="en" sz="1977" u="none" cap="none" strike="noStrike">
                <a:solidFill>
                  <a:srgbClr val="000000"/>
                </a:solidFill>
                <a:latin typeface="Calibri"/>
                <a:ea typeface="Calibri"/>
                <a:cs typeface="Calibri"/>
                <a:sym typeface="Calibri"/>
              </a:rPr>
            </a:br>
            <a:r>
              <a:rPr b="0" i="0" lang="en" sz="1977" u="none" cap="none" strike="noStrike">
                <a:solidFill>
                  <a:srgbClr val="000000"/>
                </a:solidFill>
                <a:latin typeface="Calibri"/>
                <a:ea typeface="Calibri"/>
                <a:cs typeface="Calibri"/>
                <a:sym typeface="Calibri"/>
              </a:rPr>
              <a:t>Revision con Aiesec (seminario de reintegración).</a:t>
            </a:r>
            <a:endParaRPr b="0" i="0" sz="1977"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57"/>
              <a:buFont typeface="Arial"/>
              <a:buNone/>
            </a:pPr>
            <a:r>
              <a:t/>
            </a:r>
            <a:endParaRPr b="0" i="0" sz="1757" u="none" cap="none" strike="noStrike">
              <a:solidFill>
                <a:srgbClr val="000000"/>
              </a:solidFill>
              <a:latin typeface="Calibri"/>
              <a:ea typeface="Calibri"/>
              <a:cs typeface="Calibri"/>
              <a:sym typeface="Calibri"/>
            </a:endParaRPr>
          </a:p>
        </p:txBody>
      </p:sp>
      <p:sp>
        <p:nvSpPr>
          <p:cNvPr id="111" name="Google Shape;111;p19"/>
          <p:cNvSpPr/>
          <p:nvPr/>
        </p:nvSpPr>
        <p:spPr>
          <a:xfrm>
            <a:off x="4804200" y="2870825"/>
            <a:ext cx="401700" cy="401700"/>
          </a:xfrm>
          <a:prstGeom prst="rect">
            <a:avLst/>
          </a:prstGeom>
          <a:solidFill>
            <a:srgbClr val="30C39E"/>
          </a:solidFill>
          <a:ln cap="flat" cmpd="sng" w="34875">
            <a:solidFill>
              <a:srgbClr val="30C39E"/>
            </a:solidFill>
            <a:prstDash val="solid"/>
            <a:miter lim="400000"/>
            <a:headEnd len="sm" w="sm" type="none"/>
            <a:tailEnd len="sm" w="sm" type="none"/>
          </a:ln>
        </p:spPr>
        <p:txBody>
          <a:bodyPr anchorCtr="0" anchor="ctr" bIns="25100" lIns="25100" spcFirstLastPara="1" rIns="25100" wrap="square" tIns="25100">
            <a:noAutofit/>
          </a:bodyPr>
          <a:lstStyle/>
          <a:p>
            <a:pPr indent="0" lvl="0" marL="0" marR="0" rtl="0" algn="ctr">
              <a:lnSpc>
                <a:spcPct val="100000"/>
              </a:lnSpc>
              <a:spcBef>
                <a:spcPts val="0"/>
              </a:spcBef>
              <a:spcAft>
                <a:spcPts val="0"/>
              </a:spcAft>
              <a:buClr>
                <a:srgbClr val="FFFFFF"/>
              </a:buClr>
              <a:buSzPts val="2636"/>
              <a:buFont typeface="Lato Black"/>
              <a:buNone/>
            </a:pPr>
            <a:r>
              <a:rPr b="0" i="0" lang="en" sz="1427" u="none" cap="none" strike="noStrike">
                <a:solidFill>
                  <a:srgbClr val="FFFFFF"/>
                </a:solidFill>
                <a:latin typeface="Lato Black"/>
                <a:ea typeface="Lato Black"/>
                <a:cs typeface="Lato Black"/>
                <a:sym typeface="Lato Black"/>
              </a:rPr>
              <a:t>#1</a:t>
            </a:r>
            <a:r>
              <a:rPr lang="en" sz="1427">
                <a:solidFill>
                  <a:srgbClr val="FFFFFF"/>
                </a:solidFill>
                <a:latin typeface="Lato Black"/>
                <a:ea typeface="Lato Black"/>
                <a:cs typeface="Lato Black"/>
                <a:sym typeface="Lato Black"/>
              </a:rPr>
              <a:t>8</a:t>
            </a:r>
            <a:endParaRPr sz="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0"/>
          <p:cNvSpPr txBox="1"/>
          <p:nvPr/>
        </p:nvSpPr>
        <p:spPr>
          <a:xfrm>
            <a:off x="520200" y="1235550"/>
            <a:ext cx="8103600" cy="900000"/>
          </a:xfrm>
          <a:prstGeom prst="rect">
            <a:avLst/>
          </a:prstGeom>
          <a:noFill/>
          <a:ln>
            <a:noFill/>
          </a:ln>
        </p:spPr>
        <p:txBody>
          <a:bodyPr anchorCtr="0" anchor="t" bIns="86425" lIns="86425" spcFirstLastPara="1" rIns="86425" wrap="square" tIns="86425">
            <a:noAutofit/>
          </a:bodyPr>
          <a:lstStyle/>
          <a:p>
            <a:pPr indent="0" lvl="0" marL="0" rtl="0" algn="ctr">
              <a:lnSpc>
                <a:spcPct val="147722"/>
              </a:lnSpc>
              <a:spcBef>
                <a:spcPts val="0"/>
              </a:spcBef>
              <a:spcAft>
                <a:spcPts val="0"/>
              </a:spcAft>
              <a:buClr>
                <a:schemeClr val="dk1"/>
              </a:buClr>
              <a:buSzPts val="1100"/>
              <a:buFont typeface="Arial"/>
              <a:buNone/>
            </a:pPr>
            <a:r>
              <a:rPr b="1" i="1" lang="en" sz="3000">
                <a:solidFill>
                  <a:schemeClr val="lt1"/>
                </a:solidFill>
                <a:latin typeface="Montserrat"/>
                <a:ea typeface="Montserrat"/>
                <a:cs typeface="Montserrat"/>
                <a:sym typeface="Montserrat"/>
              </a:rPr>
              <a:t>Explicación</a:t>
            </a:r>
            <a:r>
              <a:rPr b="1" i="1" lang="en" sz="3000">
                <a:solidFill>
                  <a:schemeClr val="lt1"/>
                </a:solidFill>
                <a:latin typeface="Montserrat"/>
                <a:ea typeface="Montserrat"/>
                <a:cs typeface="Montserrat"/>
                <a:sym typeface="Montserrat"/>
              </a:rPr>
              <a:t> de cada </a:t>
            </a:r>
            <a:r>
              <a:rPr b="1" i="1" lang="en" sz="3000">
                <a:solidFill>
                  <a:schemeClr val="lt1"/>
                </a:solidFill>
                <a:latin typeface="Montserrat"/>
                <a:ea typeface="Montserrat"/>
                <a:cs typeface="Montserrat"/>
                <a:sym typeface="Montserrat"/>
              </a:rPr>
              <a:t>estándar</a:t>
            </a:r>
            <a:r>
              <a:rPr b="1" i="1" lang="en" sz="3000">
                <a:solidFill>
                  <a:schemeClr val="lt1"/>
                </a:solidFill>
                <a:latin typeface="Montserrat"/>
                <a:ea typeface="Montserrat"/>
                <a:cs typeface="Montserrat"/>
                <a:sym typeface="Montserrat"/>
              </a:rPr>
              <a:t> </a:t>
            </a:r>
            <a:r>
              <a:rPr b="1" lang="en" sz="3000">
                <a:solidFill>
                  <a:schemeClr val="dk1"/>
                </a:solidFill>
                <a:latin typeface="Calibri"/>
                <a:ea typeface="Calibri"/>
                <a:cs typeface="Calibri"/>
                <a:sym typeface="Calibri"/>
              </a:rPr>
              <a:t>📊</a:t>
            </a:r>
            <a:r>
              <a:rPr b="1" i="1" lang="en" sz="3000">
                <a:solidFill>
                  <a:schemeClr val="lt1"/>
                </a:solidFill>
                <a:latin typeface="Montserrat"/>
                <a:ea typeface="Montserrat"/>
                <a:cs typeface="Montserrat"/>
                <a:sym typeface="Montserrat"/>
              </a:rPr>
              <a:t> </a:t>
            </a:r>
            <a:endParaRPr sz="4900">
              <a:solidFill>
                <a:schemeClr val="lt1"/>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100">
              <a:solidFill>
                <a:schemeClr val="lt1"/>
              </a:solidFill>
              <a:latin typeface="Montserrat SemiBold"/>
              <a:ea typeface="Montserrat SemiBold"/>
              <a:cs typeface="Montserrat SemiBold"/>
              <a:sym typeface="Montserrat SemiBold"/>
            </a:endParaRPr>
          </a:p>
        </p:txBody>
      </p:sp>
      <p:sp>
        <p:nvSpPr>
          <p:cNvPr id="117" name="Google Shape;117;p20"/>
          <p:cNvSpPr/>
          <p:nvPr/>
        </p:nvSpPr>
        <p:spPr>
          <a:xfrm>
            <a:off x="229892" y="2626575"/>
            <a:ext cx="402900" cy="402900"/>
          </a:xfrm>
          <a:prstGeom prst="rect">
            <a:avLst/>
          </a:prstGeom>
          <a:solidFill>
            <a:srgbClr val="FFC845"/>
          </a:solidFill>
          <a:ln cap="flat" cmpd="sng" w="45150">
            <a:solidFill>
              <a:srgbClr val="FFC845"/>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a:t>
            </a:r>
            <a:endParaRPr sz="100"/>
          </a:p>
        </p:txBody>
      </p:sp>
      <p:sp>
        <p:nvSpPr>
          <p:cNvPr id="118" name="Google Shape;118;p20"/>
          <p:cNvSpPr/>
          <p:nvPr/>
        </p:nvSpPr>
        <p:spPr>
          <a:xfrm>
            <a:off x="717290" y="2626575"/>
            <a:ext cx="402900" cy="402900"/>
          </a:xfrm>
          <a:prstGeom prst="rect">
            <a:avLst/>
          </a:prstGeom>
          <a:solidFill>
            <a:srgbClr val="FFC845"/>
          </a:solidFill>
          <a:ln cap="flat" cmpd="sng" w="45150">
            <a:solidFill>
              <a:srgbClr val="FFC845"/>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2</a:t>
            </a:r>
            <a:endParaRPr sz="100"/>
          </a:p>
        </p:txBody>
      </p:sp>
      <p:sp>
        <p:nvSpPr>
          <p:cNvPr id="119" name="Google Shape;119;p20"/>
          <p:cNvSpPr/>
          <p:nvPr/>
        </p:nvSpPr>
        <p:spPr>
          <a:xfrm>
            <a:off x="1204687" y="2626575"/>
            <a:ext cx="402900" cy="402900"/>
          </a:xfrm>
          <a:prstGeom prst="rect">
            <a:avLst/>
          </a:prstGeom>
          <a:solidFill>
            <a:srgbClr val="FFC845"/>
          </a:solidFill>
          <a:ln cap="flat" cmpd="sng" w="45150">
            <a:solidFill>
              <a:srgbClr val="FFC845"/>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3</a:t>
            </a:r>
            <a:endParaRPr sz="100"/>
          </a:p>
        </p:txBody>
      </p:sp>
      <p:sp>
        <p:nvSpPr>
          <p:cNvPr id="120" name="Google Shape;120;p20"/>
          <p:cNvSpPr/>
          <p:nvPr/>
        </p:nvSpPr>
        <p:spPr>
          <a:xfrm>
            <a:off x="1692085" y="2626575"/>
            <a:ext cx="402900" cy="402900"/>
          </a:xfrm>
          <a:prstGeom prst="rect">
            <a:avLst/>
          </a:prstGeom>
          <a:solidFill>
            <a:srgbClr val="FFC845"/>
          </a:solidFill>
          <a:ln cap="flat" cmpd="sng" w="45150">
            <a:solidFill>
              <a:srgbClr val="FFC845"/>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4</a:t>
            </a:r>
            <a:endParaRPr sz="100"/>
          </a:p>
        </p:txBody>
      </p:sp>
      <p:sp>
        <p:nvSpPr>
          <p:cNvPr id="121" name="Google Shape;121;p20"/>
          <p:cNvSpPr/>
          <p:nvPr/>
        </p:nvSpPr>
        <p:spPr>
          <a:xfrm>
            <a:off x="2179482" y="2626575"/>
            <a:ext cx="402900" cy="402900"/>
          </a:xfrm>
          <a:prstGeom prst="rect">
            <a:avLst/>
          </a:prstGeom>
          <a:solidFill>
            <a:srgbClr val="FFC845"/>
          </a:solidFill>
          <a:ln cap="flat" cmpd="sng" w="45150">
            <a:solidFill>
              <a:srgbClr val="FFC845"/>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5</a:t>
            </a:r>
            <a:endParaRPr sz="100"/>
          </a:p>
        </p:txBody>
      </p:sp>
      <p:sp>
        <p:nvSpPr>
          <p:cNvPr id="122" name="Google Shape;122;p20"/>
          <p:cNvSpPr/>
          <p:nvPr/>
        </p:nvSpPr>
        <p:spPr>
          <a:xfrm>
            <a:off x="2666880" y="2626575"/>
            <a:ext cx="402900" cy="402900"/>
          </a:xfrm>
          <a:prstGeom prst="rect">
            <a:avLst/>
          </a:prstGeom>
          <a:solidFill>
            <a:srgbClr val="FFC845"/>
          </a:solidFill>
          <a:ln cap="flat" cmpd="sng" w="45150">
            <a:solidFill>
              <a:srgbClr val="FFC845"/>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6</a:t>
            </a:r>
            <a:endParaRPr sz="100"/>
          </a:p>
        </p:txBody>
      </p:sp>
      <p:sp>
        <p:nvSpPr>
          <p:cNvPr id="123" name="Google Shape;123;p20"/>
          <p:cNvSpPr/>
          <p:nvPr/>
        </p:nvSpPr>
        <p:spPr>
          <a:xfrm>
            <a:off x="3154278" y="2626575"/>
            <a:ext cx="402900" cy="402900"/>
          </a:xfrm>
          <a:prstGeom prst="rect">
            <a:avLst/>
          </a:prstGeom>
          <a:solidFill>
            <a:srgbClr val="FFC845"/>
          </a:solidFill>
          <a:ln cap="flat" cmpd="sng" w="45150">
            <a:solidFill>
              <a:srgbClr val="FFC845"/>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7</a:t>
            </a:r>
            <a:endParaRPr sz="100"/>
          </a:p>
        </p:txBody>
      </p:sp>
      <p:sp>
        <p:nvSpPr>
          <p:cNvPr id="124" name="Google Shape;124;p20"/>
          <p:cNvSpPr/>
          <p:nvPr/>
        </p:nvSpPr>
        <p:spPr>
          <a:xfrm>
            <a:off x="3641675" y="2626575"/>
            <a:ext cx="402900" cy="402900"/>
          </a:xfrm>
          <a:prstGeom prst="rect">
            <a:avLst/>
          </a:prstGeom>
          <a:solidFill>
            <a:srgbClr val="FFC845"/>
          </a:solidFill>
          <a:ln cap="flat" cmpd="sng" w="45150">
            <a:solidFill>
              <a:srgbClr val="FFC845"/>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8</a:t>
            </a:r>
            <a:endParaRPr sz="100"/>
          </a:p>
        </p:txBody>
      </p:sp>
      <p:sp>
        <p:nvSpPr>
          <p:cNvPr id="125" name="Google Shape;125;p20"/>
          <p:cNvSpPr/>
          <p:nvPr/>
        </p:nvSpPr>
        <p:spPr>
          <a:xfrm>
            <a:off x="4129073"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9</a:t>
            </a:r>
            <a:endParaRPr sz="100"/>
          </a:p>
        </p:txBody>
      </p:sp>
      <p:sp>
        <p:nvSpPr>
          <p:cNvPr id="126" name="Google Shape;126;p20"/>
          <p:cNvSpPr/>
          <p:nvPr/>
        </p:nvSpPr>
        <p:spPr>
          <a:xfrm>
            <a:off x="4616470"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10</a:t>
            </a:r>
            <a:endParaRPr sz="100"/>
          </a:p>
        </p:txBody>
      </p:sp>
      <p:sp>
        <p:nvSpPr>
          <p:cNvPr id="127" name="Google Shape;127;p20"/>
          <p:cNvSpPr/>
          <p:nvPr/>
        </p:nvSpPr>
        <p:spPr>
          <a:xfrm>
            <a:off x="5103868"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11</a:t>
            </a:r>
            <a:endParaRPr sz="100"/>
          </a:p>
        </p:txBody>
      </p:sp>
      <p:sp>
        <p:nvSpPr>
          <p:cNvPr id="128" name="Google Shape;128;p20"/>
          <p:cNvSpPr/>
          <p:nvPr/>
        </p:nvSpPr>
        <p:spPr>
          <a:xfrm>
            <a:off x="5591265"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12</a:t>
            </a:r>
            <a:endParaRPr sz="100"/>
          </a:p>
        </p:txBody>
      </p:sp>
      <p:sp>
        <p:nvSpPr>
          <p:cNvPr id="129" name="Google Shape;129;p20"/>
          <p:cNvSpPr/>
          <p:nvPr/>
        </p:nvSpPr>
        <p:spPr>
          <a:xfrm>
            <a:off x="6078663"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13</a:t>
            </a:r>
            <a:endParaRPr sz="100"/>
          </a:p>
        </p:txBody>
      </p:sp>
      <p:sp>
        <p:nvSpPr>
          <p:cNvPr id="130" name="Google Shape;130;p20"/>
          <p:cNvSpPr/>
          <p:nvPr/>
        </p:nvSpPr>
        <p:spPr>
          <a:xfrm>
            <a:off x="6566060"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14</a:t>
            </a:r>
            <a:endParaRPr sz="100"/>
          </a:p>
        </p:txBody>
      </p:sp>
      <p:sp>
        <p:nvSpPr>
          <p:cNvPr id="131" name="Google Shape;131;p20"/>
          <p:cNvSpPr/>
          <p:nvPr/>
        </p:nvSpPr>
        <p:spPr>
          <a:xfrm>
            <a:off x="7053458"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15</a:t>
            </a:r>
            <a:endParaRPr sz="100"/>
          </a:p>
        </p:txBody>
      </p:sp>
      <p:sp>
        <p:nvSpPr>
          <p:cNvPr id="132" name="Google Shape;132;p20"/>
          <p:cNvSpPr/>
          <p:nvPr/>
        </p:nvSpPr>
        <p:spPr>
          <a:xfrm>
            <a:off x="7540855"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16</a:t>
            </a:r>
            <a:endParaRPr sz="100"/>
          </a:p>
        </p:txBody>
      </p:sp>
      <p:sp>
        <p:nvSpPr>
          <p:cNvPr id="133" name="Google Shape;133;p20"/>
          <p:cNvSpPr/>
          <p:nvPr/>
        </p:nvSpPr>
        <p:spPr>
          <a:xfrm>
            <a:off x="8028253" y="2626575"/>
            <a:ext cx="402900" cy="402900"/>
          </a:xfrm>
          <a:prstGeom prst="rect">
            <a:avLst/>
          </a:prstGeom>
          <a:solidFill>
            <a:srgbClr val="F48924"/>
          </a:solidFill>
          <a:ln cap="flat" cmpd="sng" w="45150">
            <a:solidFill>
              <a:srgbClr val="F48924"/>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a:t>
            </a:r>
            <a:r>
              <a:rPr lang="en" sz="1492">
                <a:solidFill>
                  <a:srgbClr val="FFFFFF"/>
                </a:solidFill>
                <a:latin typeface="Lato Black"/>
                <a:ea typeface="Lato Black"/>
                <a:cs typeface="Lato Black"/>
                <a:sym typeface="Lato Black"/>
              </a:rPr>
              <a:t>17</a:t>
            </a:r>
            <a:endParaRPr sz="100"/>
          </a:p>
        </p:txBody>
      </p:sp>
      <p:sp>
        <p:nvSpPr>
          <p:cNvPr id="134" name="Google Shape;134;p20"/>
          <p:cNvSpPr/>
          <p:nvPr/>
        </p:nvSpPr>
        <p:spPr>
          <a:xfrm>
            <a:off x="8515650" y="2626575"/>
            <a:ext cx="402900" cy="402900"/>
          </a:xfrm>
          <a:prstGeom prst="rect">
            <a:avLst/>
          </a:prstGeom>
          <a:solidFill>
            <a:srgbClr val="30C39E"/>
          </a:solidFill>
          <a:ln cap="flat" cmpd="sng" w="45150">
            <a:solidFill>
              <a:srgbClr val="30C39E"/>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3411"/>
              <a:buFont typeface="Lato Black"/>
              <a:buNone/>
            </a:pPr>
            <a:r>
              <a:rPr b="0" i="0" lang="en" sz="1492" u="none" cap="none" strike="noStrike">
                <a:solidFill>
                  <a:srgbClr val="FFFFFF"/>
                </a:solidFill>
                <a:latin typeface="Lato Black"/>
                <a:ea typeface="Lato Black"/>
                <a:cs typeface="Lato Black"/>
                <a:sym typeface="Lato Black"/>
              </a:rPr>
              <a:t>#1</a:t>
            </a:r>
            <a:r>
              <a:rPr lang="en" sz="1492">
                <a:solidFill>
                  <a:srgbClr val="FFFFFF"/>
                </a:solidFill>
                <a:latin typeface="Lato Black"/>
                <a:ea typeface="Lato Black"/>
                <a:cs typeface="Lato Black"/>
                <a:sym typeface="Lato Black"/>
              </a:rPr>
              <a:t>8</a:t>
            </a:r>
            <a:endParaRPr sz="100"/>
          </a:p>
        </p:txBody>
      </p:sp>
      <p:sp>
        <p:nvSpPr>
          <p:cNvPr id="135" name="Google Shape;135;p20"/>
          <p:cNvSpPr/>
          <p:nvPr/>
        </p:nvSpPr>
        <p:spPr>
          <a:xfrm>
            <a:off x="225375" y="3220753"/>
            <a:ext cx="1382400" cy="398100"/>
          </a:xfrm>
          <a:prstGeom prst="rect">
            <a:avLst/>
          </a:prstGeom>
          <a:solidFill>
            <a:srgbClr val="52565E"/>
          </a:solidFill>
          <a:ln cap="flat" cmpd="sng" w="45150">
            <a:solidFill>
              <a:srgbClr val="52565E"/>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1777"/>
              <a:buFont typeface="Lato Black"/>
              <a:buNone/>
            </a:pPr>
            <a:r>
              <a:rPr lang="en" sz="1421">
                <a:solidFill>
                  <a:srgbClr val="FFFFFF"/>
                </a:solidFill>
                <a:latin typeface="Lato Black"/>
                <a:ea typeface="Lato Black"/>
                <a:cs typeface="Lato Black"/>
                <a:sym typeface="Lato Black"/>
              </a:rPr>
              <a:t>HOME</a:t>
            </a:r>
            <a:endParaRPr sz="1421"/>
          </a:p>
        </p:txBody>
      </p:sp>
      <p:sp>
        <p:nvSpPr>
          <p:cNvPr id="136" name="Google Shape;136;p20"/>
          <p:cNvSpPr/>
          <p:nvPr/>
        </p:nvSpPr>
        <p:spPr>
          <a:xfrm>
            <a:off x="1683059" y="3220753"/>
            <a:ext cx="6570900" cy="398100"/>
          </a:xfrm>
          <a:prstGeom prst="rect">
            <a:avLst/>
          </a:prstGeom>
          <a:solidFill>
            <a:srgbClr val="52565E"/>
          </a:solidFill>
          <a:ln cap="flat" cmpd="sng" w="45150">
            <a:solidFill>
              <a:srgbClr val="52565E"/>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1777"/>
              <a:buFont typeface="Lato Black"/>
              <a:buNone/>
            </a:pPr>
            <a:r>
              <a:rPr b="0" i="0" lang="en" sz="1776" u="none" cap="none" strike="noStrike">
                <a:solidFill>
                  <a:srgbClr val="FFFFFF"/>
                </a:solidFill>
                <a:latin typeface="Lato Black"/>
                <a:ea typeface="Lato Black"/>
                <a:cs typeface="Lato Black"/>
                <a:sym typeface="Lato Black"/>
              </a:rPr>
              <a:t>HOST ENTITY</a:t>
            </a:r>
            <a:endParaRPr sz="994"/>
          </a:p>
        </p:txBody>
      </p:sp>
      <p:sp>
        <p:nvSpPr>
          <p:cNvPr id="137" name="Google Shape;137;p20"/>
          <p:cNvSpPr/>
          <p:nvPr/>
        </p:nvSpPr>
        <p:spPr>
          <a:xfrm>
            <a:off x="8329418" y="3220753"/>
            <a:ext cx="589200" cy="398100"/>
          </a:xfrm>
          <a:prstGeom prst="rect">
            <a:avLst/>
          </a:prstGeom>
          <a:solidFill>
            <a:srgbClr val="52565E"/>
          </a:solidFill>
          <a:ln cap="flat" cmpd="sng" w="45150">
            <a:solidFill>
              <a:srgbClr val="52565E"/>
            </a:solidFill>
            <a:prstDash val="solid"/>
            <a:miter lim="400000"/>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rgbClr val="FFFFFF"/>
              </a:buClr>
              <a:buSzPts val="1777"/>
              <a:buFont typeface="Lato Black"/>
              <a:buNone/>
            </a:pPr>
            <a:r>
              <a:rPr lang="en" sz="1279">
                <a:solidFill>
                  <a:srgbClr val="FFFFFF"/>
                </a:solidFill>
                <a:latin typeface="Lato Black"/>
                <a:ea typeface="Lato Black"/>
                <a:cs typeface="Lato Black"/>
                <a:sym typeface="Lato Black"/>
              </a:rPr>
              <a:t>HOME</a:t>
            </a:r>
            <a:endParaRPr sz="497"/>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21"/>
          <p:cNvSpPr txBox="1"/>
          <p:nvPr/>
        </p:nvSpPr>
        <p:spPr>
          <a:xfrm>
            <a:off x="255100" y="1700300"/>
            <a:ext cx="6387600" cy="2586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4000"/>
              <a:buFont typeface="Arial"/>
              <a:buNone/>
            </a:pPr>
            <a:r>
              <a:rPr i="0" lang="en" sz="1500" u="sng" cap="none" strike="noStrike">
                <a:solidFill>
                  <a:schemeClr val="dk1"/>
                </a:solidFill>
                <a:latin typeface="Montserrat"/>
                <a:ea typeface="Montserrat"/>
                <a:cs typeface="Montserrat"/>
                <a:sym typeface="Montserrat"/>
              </a:rPr>
              <a:t>Establecimiento de Metas Personales</a:t>
            </a:r>
            <a:endParaRPr i="0" sz="1500" u="sng" cap="none" strike="noStrike">
              <a:solidFill>
                <a:schemeClr val="dk1"/>
              </a:solidFill>
              <a:latin typeface="Montserrat"/>
              <a:ea typeface="Montserrat"/>
              <a:cs typeface="Montserrat"/>
              <a:sym typeface="Montserrat"/>
            </a:endParaRPr>
          </a:p>
          <a:p>
            <a:pPr indent="0" lvl="0" marL="0" marR="0" rtl="0" algn="ctr">
              <a:lnSpc>
                <a:spcPct val="115000"/>
              </a:lnSpc>
              <a:spcBef>
                <a:spcPts val="1200"/>
              </a:spcBef>
              <a:spcAft>
                <a:spcPts val="0"/>
              </a:spcAft>
              <a:buClr>
                <a:srgbClr val="000000"/>
              </a:buClr>
              <a:buSzPts val="3600"/>
              <a:buFont typeface="Arial"/>
              <a:buNone/>
            </a:pPr>
            <a:r>
              <a:rPr i="0" lang="en" sz="1500" u="none" cap="none" strike="noStrike">
                <a:solidFill>
                  <a:schemeClr val="dk1"/>
                </a:solidFill>
                <a:latin typeface="Montserrat"/>
                <a:ea typeface="Montserrat"/>
                <a:cs typeface="Montserrat"/>
                <a:sym typeface="Montserrat"/>
              </a:rPr>
              <a:t>📌 Antes de viajar, el EP debe definir qué quiere lograr en su intercambio. Se puede tener una </a:t>
            </a:r>
            <a:r>
              <a:rPr lang="en" sz="1500">
                <a:solidFill>
                  <a:schemeClr val="dk1"/>
                </a:solidFill>
                <a:latin typeface="Montserrat"/>
                <a:ea typeface="Montserrat"/>
                <a:cs typeface="Montserrat"/>
                <a:sym typeface="Montserrat"/>
              </a:rPr>
              <a:t>meet</a:t>
            </a:r>
            <a:r>
              <a:rPr i="0" lang="en" sz="1500" u="none" cap="none" strike="noStrike">
                <a:solidFill>
                  <a:schemeClr val="dk1"/>
                </a:solidFill>
                <a:latin typeface="Montserrat"/>
                <a:ea typeface="Montserrat"/>
                <a:cs typeface="Montserrat"/>
                <a:sym typeface="Montserrat"/>
              </a:rPr>
              <a:t> con el EP para así establecer estas metas.</a:t>
            </a:r>
            <a:br>
              <a:rPr i="0" lang="en" sz="1500" u="none" cap="none" strike="noStrike">
                <a:solidFill>
                  <a:schemeClr val="dk1"/>
                </a:solidFill>
                <a:latin typeface="Montserrat"/>
                <a:ea typeface="Montserrat"/>
                <a:cs typeface="Montserrat"/>
                <a:sym typeface="Montserrat"/>
              </a:rPr>
            </a:br>
            <a:r>
              <a:rPr i="0" lang="en" sz="1500" u="none" cap="none" strike="noStrike">
                <a:solidFill>
                  <a:schemeClr val="dk1"/>
                </a:solidFill>
                <a:latin typeface="Montserrat"/>
                <a:ea typeface="Montserrat"/>
                <a:cs typeface="Montserrat"/>
                <a:sym typeface="Montserrat"/>
              </a:rPr>
              <a:t>✅ Se establecen objetivos personales y profesionales con ayuda del manager, este es el que va a estar a cargo de toda su experiencia.</a:t>
            </a:r>
            <a:br>
              <a:rPr i="0" lang="en" sz="1500" u="none" cap="none" strike="noStrike">
                <a:solidFill>
                  <a:schemeClr val="dk1"/>
                </a:solidFill>
                <a:latin typeface="Montserrat"/>
                <a:ea typeface="Montserrat"/>
                <a:cs typeface="Montserrat"/>
                <a:sym typeface="Montserrat"/>
              </a:rPr>
            </a:br>
            <a:r>
              <a:rPr i="0" lang="en" sz="1500" u="none" cap="none" strike="noStrike">
                <a:solidFill>
                  <a:schemeClr val="dk1"/>
                </a:solidFill>
                <a:latin typeface="Montserrat"/>
                <a:ea typeface="Montserrat"/>
                <a:cs typeface="Montserrat"/>
                <a:sym typeface="Montserrat"/>
              </a:rPr>
              <a:t>✅ Permite que el EP mida su crecimiento durante la experiencia.</a:t>
            </a:r>
            <a:endParaRPr i="0" sz="1500" u="none" cap="none" strike="noStrike">
              <a:solidFill>
                <a:schemeClr val="dk1"/>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sz="1500" u="none" cap="none" strike="noStrike">
              <a:solidFill>
                <a:schemeClr val="dk1"/>
              </a:solidFill>
              <a:latin typeface="Montserrat"/>
              <a:ea typeface="Montserrat"/>
              <a:cs typeface="Montserrat"/>
              <a:sym typeface="Montserrat"/>
            </a:endParaRPr>
          </a:p>
        </p:txBody>
      </p:sp>
      <p:grpSp>
        <p:nvGrpSpPr>
          <p:cNvPr id="143" name="Google Shape;143;p21"/>
          <p:cNvGrpSpPr/>
          <p:nvPr/>
        </p:nvGrpSpPr>
        <p:grpSpPr>
          <a:xfrm>
            <a:off x="2194813" y="355775"/>
            <a:ext cx="2508175" cy="897946"/>
            <a:chOff x="0" y="0"/>
            <a:chExt cx="3699919" cy="1269900"/>
          </a:xfrm>
        </p:grpSpPr>
        <p:sp>
          <p:nvSpPr>
            <p:cNvPr id="144" name="Google Shape;144;p21"/>
            <p:cNvSpPr/>
            <p:nvPr/>
          </p:nvSpPr>
          <p:spPr>
            <a:xfrm>
              <a:off x="0" y="0"/>
              <a:ext cx="1273500" cy="1269900"/>
            </a:xfrm>
            <a:prstGeom prst="rect">
              <a:avLst/>
            </a:prstGeom>
            <a:solidFill>
              <a:srgbClr val="FFC845"/>
            </a:solidFill>
            <a:ln cap="flat" cmpd="sng" w="44900">
              <a:solidFill>
                <a:srgbClr val="FFC845"/>
              </a:solidFill>
              <a:prstDash val="solid"/>
              <a:miter lim="400000"/>
              <a:headEnd len="sm" w="sm" type="none"/>
              <a:tailEnd len="sm" w="sm" type="none"/>
            </a:ln>
          </p:spPr>
          <p:txBody>
            <a:bodyPr anchorCtr="0" anchor="ctr" bIns="32300" lIns="32300" spcFirstLastPara="1" rIns="32300" wrap="square" tIns="32300">
              <a:noAutofit/>
            </a:bodyPr>
            <a:lstStyle/>
            <a:p>
              <a:pPr indent="0" lvl="0" marL="0" marR="0" rtl="0" algn="ctr">
                <a:lnSpc>
                  <a:spcPct val="100000"/>
                </a:lnSpc>
                <a:spcBef>
                  <a:spcPts val="0"/>
                </a:spcBef>
                <a:spcAft>
                  <a:spcPts val="0"/>
                </a:spcAft>
                <a:buClr>
                  <a:srgbClr val="FFFFFF"/>
                </a:buClr>
                <a:buSzPts val="3394"/>
                <a:buFont typeface="Lato Black"/>
                <a:buNone/>
              </a:pPr>
              <a:r>
                <a:rPr b="0" i="0" lang="en" sz="3393" u="none" cap="none" strike="noStrike">
                  <a:solidFill>
                    <a:srgbClr val="FFFFFF"/>
                  </a:solidFill>
                  <a:latin typeface="Lato Black"/>
                  <a:ea typeface="Lato Black"/>
                  <a:cs typeface="Lato Black"/>
                  <a:sym typeface="Lato Black"/>
                </a:rPr>
                <a:t>#1</a:t>
              </a:r>
              <a:endParaRPr sz="989"/>
            </a:p>
          </p:txBody>
        </p:sp>
        <p:sp>
          <p:nvSpPr>
            <p:cNvPr id="145" name="Google Shape;145;p21"/>
            <p:cNvSpPr/>
            <p:nvPr/>
          </p:nvSpPr>
          <p:spPr>
            <a:xfrm>
              <a:off x="1320919" y="0"/>
              <a:ext cx="2379000" cy="1269900"/>
            </a:xfrm>
            <a:prstGeom prst="rect">
              <a:avLst/>
            </a:prstGeom>
            <a:solidFill>
              <a:srgbClr val="F3F4F7"/>
            </a:solidFill>
            <a:ln cap="flat" cmpd="sng" w="44900">
              <a:solidFill>
                <a:srgbClr val="FFC845"/>
              </a:solidFill>
              <a:prstDash val="solid"/>
              <a:miter lim="400000"/>
              <a:headEnd len="sm" w="sm" type="none"/>
              <a:tailEnd len="sm" w="sm" type="none"/>
            </a:ln>
          </p:spPr>
          <p:txBody>
            <a:bodyPr anchorCtr="0" anchor="ctr" bIns="32300" lIns="32300" spcFirstLastPara="1" rIns="32300" wrap="square" tIns="32300">
              <a:noAutofit/>
            </a:bodyPr>
            <a:lstStyle/>
            <a:p>
              <a:pPr indent="0" lvl="0" marL="0" marR="0" rtl="0" algn="ctr">
                <a:lnSpc>
                  <a:spcPct val="90000"/>
                </a:lnSpc>
                <a:spcBef>
                  <a:spcPts val="0"/>
                </a:spcBef>
                <a:spcAft>
                  <a:spcPts val="0"/>
                </a:spcAft>
                <a:buClr>
                  <a:srgbClr val="52565E"/>
                </a:buClr>
                <a:buSzPts val="2121"/>
                <a:buFont typeface="Lato Black"/>
                <a:buNone/>
              </a:pPr>
              <a:r>
                <a:rPr b="0" i="0" lang="en" sz="2121" u="none" cap="none" strike="noStrike">
                  <a:solidFill>
                    <a:srgbClr val="52565E"/>
                  </a:solidFill>
                  <a:latin typeface="Lato Black"/>
                  <a:ea typeface="Lato Black"/>
                  <a:cs typeface="Lato Black"/>
                  <a:sym typeface="Lato Black"/>
                </a:rPr>
                <a:t>PERSONAL</a:t>
              </a:r>
              <a:r>
                <a:rPr b="0" i="0" lang="en" sz="2050" u="none" cap="none" strike="noStrike">
                  <a:solidFill>
                    <a:srgbClr val="52565E"/>
                  </a:solidFill>
                  <a:latin typeface="Lato Black"/>
                  <a:ea typeface="Lato Black"/>
                  <a:cs typeface="Lato Black"/>
                  <a:sym typeface="Lato Black"/>
                </a:rPr>
                <a:t> </a:t>
              </a:r>
              <a:r>
                <a:rPr b="0" i="0" lang="en" sz="1555" u="none" cap="none" strike="noStrike">
                  <a:solidFill>
                    <a:srgbClr val="52565E"/>
                  </a:solidFill>
                  <a:latin typeface="Lato Black"/>
                  <a:ea typeface="Lato Black"/>
                  <a:cs typeface="Lato Black"/>
                  <a:sym typeface="Lato Black"/>
                </a:rPr>
                <a:t>GOAL SETTING</a:t>
              </a:r>
              <a:endParaRPr sz="989"/>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
        <p:nvSpPr>
          <p:cNvPr id="150" name="Google Shape;150;p22"/>
          <p:cNvSpPr txBox="1"/>
          <p:nvPr/>
        </p:nvSpPr>
        <p:spPr>
          <a:xfrm>
            <a:off x="118075" y="2129650"/>
            <a:ext cx="6917700" cy="25866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Preparación para Salir (Seminario de preparación - OPS)</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El manager debe darle una sesión de preparación antes del viaje. Se presenta un PPT llamado OPS donde se abarcan los siguientes puntos:</a:t>
            </a:r>
            <a:br>
              <a:rPr lang="en">
                <a:solidFill>
                  <a:schemeClr val="dk1"/>
                </a:solidFill>
                <a:latin typeface="Montserrat"/>
                <a:ea typeface="Montserrat"/>
                <a:cs typeface="Montserrat"/>
                <a:sym typeface="Montserrat"/>
              </a:rPr>
            </a:br>
            <a:r>
              <a:rPr lang="en">
                <a:solidFill>
                  <a:schemeClr val="dk1"/>
                </a:solidFill>
                <a:latin typeface="Montserrat"/>
                <a:ea typeface="Montserrat"/>
                <a:cs typeface="Montserrat"/>
                <a:sym typeface="Montserrat"/>
              </a:rPr>
              <a:t>✅ Se ofrece un espacio para que se presenten y se conozcan mejor.</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explican las reglas del programa, así como derechos y responsabilidades.</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proporciona una visión general sobre lo que es y hace AIESEC.</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presentan todos los estándares y quienes son responsables de cumplirlos.</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ayuda al EP a comprender qué esperar y cómo adaptarse a la experiencia.</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le recuerda la importancia de leer las políticas de intercambio.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proporcionan diversas recomendaciones para el viaje.</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 LINK para acceder al OPS: </a:t>
            </a:r>
            <a:r>
              <a:rPr lang="en" u="sng">
                <a:solidFill>
                  <a:schemeClr val="hlink"/>
                </a:solidFill>
                <a:latin typeface="Montserrat"/>
                <a:ea typeface="Montserrat"/>
                <a:cs typeface="Montserrat"/>
                <a:sym typeface="Montserrat"/>
                <a:hlinkClick r:id="rId4"/>
              </a:rPr>
              <a:t>OGT</a:t>
            </a:r>
            <a:endParaRPr u="sng">
              <a:solidFill>
                <a:schemeClr val="dk1"/>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u="none" cap="none" strike="noStrike">
              <a:solidFill>
                <a:schemeClr val="dk1"/>
              </a:solidFill>
              <a:latin typeface="Montserrat"/>
              <a:ea typeface="Montserrat"/>
              <a:cs typeface="Montserrat"/>
              <a:sym typeface="Montserrat"/>
            </a:endParaRPr>
          </a:p>
        </p:txBody>
      </p:sp>
      <p:grpSp>
        <p:nvGrpSpPr>
          <p:cNvPr id="151" name="Google Shape;151;p22"/>
          <p:cNvGrpSpPr/>
          <p:nvPr/>
        </p:nvGrpSpPr>
        <p:grpSpPr>
          <a:xfrm>
            <a:off x="1997072" y="457826"/>
            <a:ext cx="2690549" cy="945736"/>
            <a:chOff x="0" y="0"/>
            <a:chExt cx="3779392" cy="1273719"/>
          </a:xfrm>
        </p:grpSpPr>
        <p:sp>
          <p:nvSpPr>
            <p:cNvPr id="152" name="Google Shape;152;p22"/>
            <p:cNvSpPr/>
            <p:nvPr/>
          </p:nvSpPr>
          <p:spPr>
            <a:xfrm>
              <a:off x="0" y="3819"/>
              <a:ext cx="1273500" cy="1269900"/>
            </a:xfrm>
            <a:prstGeom prst="rect">
              <a:avLst/>
            </a:prstGeom>
            <a:solidFill>
              <a:srgbClr val="FFC845"/>
            </a:solidFill>
            <a:ln cap="flat" cmpd="sng" w="47150">
              <a:solidFill>
                <a:srgbClr val="FFC845"/>
              </a:solidFill>
              <a:prstDash val="solid"/>
              <a:miter lim="400000"/>
              <a:headEnd len="sm" w="sm" type="none"/>
              <a:tailEnd len="sm" w="sm" type="none"/>
            </a:ln>
          </p:spPr>
          <p:txBody>
            <a:bodyPr anchorCtr="0" anchor="ctr" bIns="33925" lIns="33925" spcFirstLastPara="1" rIns="33925" wrap="square" tIns="33925">
              <a:noAutofit/>
            </a:bodyPr>
            <a:lstStyle/>
            <a:p>
              <a:pPr indent="0" lvl="0" marL="0" marR="0" rtl="0" algn="ctr">
                <a:lnSpc>
                  <a:spcPct val="100000"/>
                </a:lnSpc>
                <a:spcBef>
                  <a:spcPts val="0"/>
                </a:spcBef>
                <a:spcAft>
                  <a:spcPts val="0"/>
                </a:spcAft>
                <a:buClr>
                  <a:srgbClr val="FFFFFF"/>
                </a:buClr>
                <a:buSzPts val="3564"/>
                <a:buFont typeface="Lato Black"/>
                <a:buNone/>
              </a:pPr>
              <a:r>
                <a:rPr b="0" i="0" lang="en" sz="3564" u="none" cap="none" strike="noStrike">
                  <a:solidFill>
                    <a:srgbClr val="FFFFFF"/>
                  </a:solidFill>
                  <a:latin typeface="Lato Black"/>
                  <a:ea typeface="Lato Black"/>
                  <a:cs typeface="Lato Black"/>
                  <a:sym typeface="Lato Black"/>
                </a:rPr>
                <a:t>#2</a:t>
              </a:r>
              <a:endParaRPr sz="1039"/>
            </a:p>
          </p:txBody>
        </p:sp>
        <p:sp>
          <p:nvSpPr>
            <p:cNvPr id="153" name="Google Shape;153;p22"/>
            <p:cNvSpPr/>
            <p:nvPr/>
          </p:nvSpPr>
          <p:spPr>
            <a:xfrm>
              <a:off x="1400392" y="0"/>
              <a:ext cx="2379000" cy="1269900"/>
            </a:xfrm>
            <a:prstGeom prst="rect">
              <a:avLst/>
            </a:prstGeom>
            <a:solidFill>
              <a:srgbClr val="F3F4F7"/>
            </a:solidFill>
            <a:ln cap="flat" cmpd="sng" w="47150">
              <a:solidFill>
                <a:srgbClr val="FFC845"/>
              </a:solidFill>
              <a:prstDash val="solid"/>
              <a:miter lim="400000"/>
              <a:headEnd len="sm" w="sm" type="none"/>
              <a:tailEnd len="sm" w="sm" type="none"/>
            </a:ln>
          </p:spPr>
          <p:txBody>
            <a:bodyPr anchorCtr="0" anchor="ctr" bIns="33925" lIns="33925" spcFirstLastPara="1" rIns="33925" wrap="square" tIns="33925">
              <a:noAutofit/>
            </a:bodyPr>
            <a:lstStyle/>
            <a:p>
              <a:pPr indent="0" lvl="0" marL="0" marR="0" rtl="0" algn="ctr">
                <a:lnSpc>
                  <a:spcPct val="90000"/>
                </a:lnSpc>
                <a:spcBef>
                  <a:spcPts val="0"/>
                </a:spcBef>
                <a:spcAft>
                  <a:spcPts val="0"/>
                </a:spcAft>
                <a:buClr>
                  <a:srgbClr val="52565E"/>
                </a:buClr>
                <a:buSzPts val="2153"/>
                <a:buFont typeface="Lato Black"/>
                <a:buNone/>
              </a:pPr>
              <a:r>
                <a:rPr b="0" i="0" lang="en" sz="2153" u="none" cap="none" strike="noStrike">
                  <a:solidFill>
                    <a:srgbClr val="52565E"/>
                  </a:solidFill>
                  <a:latin typeface="Lato Black"/>
                  <a:ea typeface="Lato Black"/>
                  <a:cs typeface="Lato Black"/>
                  <a:sym typeface="Lato Black"/>
                </a:rPr>
                <a:t>OUTGOING </a:t>
              </a:r>
              <a:r>
                <a:rPr b="0" i="0" lang="en" sz="1707" u="none" cap="none" strike="noStrike">
                  <a:solidFill>
                    <a:srgbClr val="52565E"/>
                  </a:solidFill>
                  <a:latin typeface="Lato Black"/>
                  <a:ea typeface="Lato Black"/>
                  <a:cs typeface="Lato Black"/>
                  <a:sym typeface="Lato Black"/>
                </a:rPr>
                <a:t>PREPARATION</a:t>
              </a:r>
              <a:endParaRPr sz="1039"/>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23"/>
          <p:cNvSpPr txBox="1"/>
          <p:nvPr/>
        </p:nvSpPr>
        <p:spPr>
          <a:xfrm>
            <a:off x="118075" y="1782475"/>
            <a:ext cx="6917700" cy="22617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4000"/>
              <a:buFont typeface="Arial"/>
              <a:buNone/>
            </a:pPr>
            <a:r>
              <a:rPr lang="en" u="sng">
                <a:solidFill>
                  <a:schemeClr val="dk1"/>
                </a:solidFill>
                <a:latin typeface="Montserrat"/>
                <a:ea typeface="Montserrat"/>
                <a:cs typeface="Montserrat"/>
                <a:sym typeface="Montserrat"/>
              </a:rPr>
              <a:t>Seguro medico</a:t>
            </a:r>
            <a:endParaRPr u="sng">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El EP debe tener un seguro médico para su intercambio.</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El Mgr lo va a  guiar para conseguir un seguro adecuado, tener en cuenta que Aiesec Home y Host tienen convenios con aseguradoras que le permite al EP conseguir quizás un mejor precio en el mismo.</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Este seguro garantiza que el EP esté protegido en caso de emergencia.</a:t>
            </a:r>
            <a:endParaRPr u="sng">
              <a:solidFill>
                <a:schemeClr val="dk1"/>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u="none" cap="none" strike="noStrike">
              <a:solidFill>
                <a:schemeClr val="dk1"/>
              </a:solidFill>
              <a:latin typeface="Montserrat"/>
              <a:ea typeface="Montserrat"/>
              <a:cs typeface="Montserrat"/>
              <a:sym typeface="Montserrat"/>
            </a:endParaRPr>
          </a:p>
        </p:txBody>
      </p:sp>
      <p:grpSp>
        <p:nvGrpSpPr>
          <p:cNvPr id="159" name="Google Shape;159;p23"/>
          <p:cNvGrpSpPr/>
          <p:nvPr/>
        </p:nvGrpSpPr>
        <p:grpSpPr>
          <a:xfrm>
            <a:off x="2118074" y="419438"/>
            <a:ext cx="2917691" cy="1022523"/>
            <a:chOff x="0" y="0"/>
            <a:chExt cx="3779392" cy="1269900"/>
          </a:xfrm>
        </p:grpSpPr>
        <p:sp>
          <p:nvSpPr>
            <p:cNvPr id="160" name="Google Shape;160;p23"/>
            <p:cNvSpPr/>
            <p:nvPr/>
          </p:nvSpPr>
          <p:spPr>
            <a:xfrm>
              <a:off x="0" y="0"/>
              <a:ext cx="1273500" cy="1269900"/>
            </a:xfrm>
            <a:prstGeom prst="rect">
              <a:avLst/>
            </a:prstGeom>
            <a:solidFill>
              <a:srgbClr val="FFC845"/>
            </a:solidFill>
            <a:ln cap="flat" cmpd="sng" w="51125">
              <a:solidFill>
                <a:srgbClr val="FFC845"/>
              </a:solidFill>
              <a:prstDash val="solid"/>
              <a:miter lim="400000"/>
              <a:headEnd len="sm" w="sm" type="none"/>
              <a:tailEnd len="sm" w="sm" type="none"/>
            </a:ln>
          </p:spPr>
          <p:txBody>
            <a:bodyPr anchorCtr="0" anchor="ctr" bIns="36800" lIns="36800" spcFirstLastPara="1" rIns="36800" wrap="square" tIns="36800">
              <a:noAutofit/>
            </a:bodyPr>
            <a:lstStyle/>
            <a:p>
              <a:pPr indent="0" lvl="0" marL="0" marR="0" rtl="0" algn="ctr">
                <a:lnSpc>
                  <a:spcPct val="100000"/>
                </a:lnSpc>
                <a:spcBef>
                  <a:spcPts val="0"/>
                </a:spcBef>
                <a:spcAft>
                  <a:spcPts val="0"/>
                </a:spcAft>
                <a:buClr>
                  <a:srgbClr val="FFFFFF"/>
                </a:buClr>
                <a:buSzPts val="3865"/>
                <a:buFont typeface="Lato Black"/>
                <a:buNone/>
              </a:pPr>
              <a:r>
                <a:rPr b="0" i="0" lang="en" sz="3864" u="none" cap="none" strike="noStrike">
                  <a:solidFill>
                    <a:srgbClr val="FFFFFF"/>
                  </a:solidFill>
                  <a:latin typeface="Lato Black"/>
                  <a:ea typeface="Lato Black"/>
                  <a:cs typeface="Lato Black"/>
                  <a:sym typeface="Lato Black"/>
                </a:rPr>
                <a:t>#3</a:t>
              </a:r>
              <a:endParaRPr sz="1127"/>
            </a:p>
          </p:txBody>
        </p:sp>
        <p:sp>
          <p:nvSpPr>
            <p:cNvPr id="161" name="Google Shape;161;p23"/>
            <p:cNvSpPr/>
            <p:nvPr/>
          </p:nvSpPr>
          <p:spPr>
            <a:xfrm>
              <a:off x="1400392" y="0"/>
              <a:ext cx="2379000" cy="1269900"/>
            </a:xfrm>
            <a:prstGeom prst="rect">
              <a:avLst/>
            </a:prstGeom>
            <a:solidFill>
              <a:srgbClr val="F3F4F7"/>
            </a:solidFill>
            <a:ln cap="flat" cmpd="sng" w="51125">
              <a:solidFill>
                <a:srgbClr val="FFC845"/>
              </a:solidFill>
              <a:prstDash val="solid"/>
              <a:miter lim="400000"/>
              <a:headEnd len="sm" w="sm" type="none"/>
              <a:tailEnd len="sm" w="sm" type="none"/>
            </a:ln>
          </p:spPr>
          <p:txBody>
            <a:bodyPr anchorCtr="0" anchor="ctr" bIns="36800" lIns="36800" spcFirstLastPara="1" rIns="36800" wrap="square" tIns="36800">
              <a:noAutofit/>
            </a:bodyPr>
            <a:lstStyle/>
            <a:p>
              <a:pPr indent="0" lvl="0" marL="0" marR="0" rtl="0" algn="ctr">
                <a:lnSpc>
                  <a:spcPct val="90000"/>
                </a:lnSpc>
                <a:spcBef>
                  <a:spcPts val="0"/>
                </a:spcBef>
                <a:spcAft>
                  <a:spcPts val="0"/>
                </a:spcAft>
                <a:buClr>
                  <a:srgbClr val="52565E"/>
                </a:buClr>
                <a:buSzPts val="2174"/>
                <a:buFont typeface="Lato Black"/>
                <a:buNone/>
              </a:pPr>
              <a:r>
                <a:rPr b="0" i="0" lang="en" sz="2174" u="none" cap="none" strike="noStrike">
                  <a:solidFill>
                    <a:srgbClr val="52565E"/>
                  </a:solidFill>
                  <a:latin typeface="Lato Black"/>
                  <a:ea typeface="Lato Black"/>
                  <a:cs typeface="Lato Black"/>
                  <a:sym typeface="Lato Black"/>
                </a:rPr>
                <a:t>INSURANCE</a:t>
              </a:r>
              <a:endParaRPr sz="1127"/>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24"/>
          <p:cNvSpPr txBox="1"/>
          <p:nvPr/>
        </p:nvSpPr>
        <p:spPr>
          <a:xfrm>
            <a:off x="118088" y="2120500"/>
            <a:ext cx="6917700" cy="22617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Establecimiento de Expectativas</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AIESEC Host (donde el EP va a realizar su </a:t>
            </a:r>
            <a:r>
              <a:rPr lang="en">
                <a:solidFill>
                  <a:schemeClr val="dk1"/>
                </a:solidFill>
                <a:latin typeface="Montserrat"/>
                <a:ea typeface="Montserrat"/>
                <a:cs typeface="Montserrat"/>
                <a:sym typeface="Montserrat"/>
              </a:rPr>
              <a:t>pasantía</a:t>
            </a:r>
            <a:r>
              <a:rPr lang="en">
                <a:solidFill>
                  <a:schemeClr val="dk1"/>
                </a:solidFill>
                <a:latin typeface="Montserrat"/>
                <a:ea typeface="Montserrat"/>
                <a:cs typeface="Montserrat"/>
                <a:sym typeface="Montserrat"/>
              </a:rPr>
              <a:t>) debe dar información clara sobre el país y la experiencia.</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Costo de vida, cultura, condiciones de trabajo, etc.</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Ayuda a que el EP no tenga sorpresas al llegar y que el sueldo o los beneficios cubren los costos de vida del mismo.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le brindan números importantes por si el Ep tiene algún inconveniente.</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Recordar siempre pedir a Aiesec Host un correo con toda la información que se le brindo en esta reunión, ya que esto es importante para realizar el correo de Expectativas que el Mgr le tiene que mandar al EP.</a:t>
            </a:r>
            <a:endParaRPr u="sng">
              <a:solidFill>
                <a:schemeClr val="dk1"/>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u="none" cap="none" strike="noStrike">
              <a:solidFill>
                <a:schemeClr val="dk1"/>
              </a:solidFill>
              <a:latin typeface="Montserrat"/>
              <a:ea typeface="Montserrat"/>
              <a:cs typeface="Montserrat"/>
              <a:sym typeface="Montserrat"/>
            </a:endParaRPr>
          </a:p>
        </p:txBody>
      </p:sp>
      <p:grpSp>
        <p:nvGrpSpPr>
          <p:cNvPr id="167" name="Google Shape;167;p24"/>
          <p:cNvGrpSpPr/>
          <p:nvPr/>
        </p:nvGrpSpPr>
        <p:grpSpPr>
          <a:xfrm>
            <a:off x="2066124" y="461100"/>
            <a:ext cx="3021624" cy="1063785"/>
            <a:chOff x="0" y="0"/>
            <a:chExt cx="3779392" cy="1275674"/>
          </a:xfrm>
        </p:grpSpPr>
        <p:sp>
          <p:nvSpPr>
            <p:cNvPr id="168" name="Google Shape;168;p24"/>
            <p:cNvSpPr/>
            <p:nvPr/>
          </p:nvSpPr>
          <p:spPr>
            <a:xfrm>
              <a:off x="0" y="0"/>
              <a:ext cx="1273500" cy="1269900"/>
            </a:xfrm>
            <a:prstGeom prst="rect">
              <a:avLst/>
            </a:prstGeom>
            <a:solidFill>
              <a:srgbClr val="FFC845"/>
            </a:solidFill>
            <a:ln cap="flat" cmpd="sng" w="52950">
              <a:solidFill>
                <a:srgbClr val="FFC845"/>
              </a:solidFill>
              <a:prstDash val="solid"/>
              <a:miter lim="400000"/>
              <a:headEnd len="sm" w="sm" type="none"/>
              <a:tailEnd len="sm" w="sm" type="none"/>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003"/>
                <a:buFont typeface="Lato Black"/>
                <a:buNone/>
              </a:pPr>
              <a:r>
                <a:rPr b="0" i="0" lang="en" sz="4002" u="none" cap="none" strike="noStrike">
                  <a:solidFill>
                    <a:srgbClr val="FFFFFF"/>
                  </a:solidFill>
                  <a:latin typeface="Lato Black"/>
                  <a:ea typeface="Lato Black"/>
                  <a:cs typeface="Lato Black"/>
                  <a:sym typeface="Lato Black"/>
                </a:rPr>
                <a:t>#4</a:t>
              </a:r>
              <a:endParaRPr sz="1167"/>
            </a:p>
          </p:txBody>
        </p:sp>
        <p:sp>
          <p:nvSpPr>
            <p:cNvPr id="169" name="Google Shape;169;p24"/>
            <p:cNvSpPr/>
            <p:nvPr/>
          </p:nvSpPr>
          <p:spPr>
            <a:xfrm>
              <a:off x="1400392" y="5774"/>
              <a:ext cx="2379000" cy="1269900"/>
            </a:xfrm>
            <a:prstGeom prst="rect">
              <a:avLst/>
            </a:prstGeom>
            <a:solidFill>
              <a:srgbClr val="CACCD1"/>
            </a:solidFill>
            <a:ln cap="flat" cmpd="sng" w="52950">
              <a:solidFill>
                <a:srgbClr val="FFC845"/>
              </a:solidFill>
              <a:prstDash val="solid"/>
              <a:miter lim="400000"/>
              <a:headEnd len="sm" w="sm" type="none"/>
              <a:tailEnd len="sm" w="sm" type="none"/>
            </a:ln>
          </p:spPr>
          <p:txBody>
            <a:bodyPr anchorCtr="0" anchor="ctr" bIns="38100" lIns="38100" spcFirstLastPara="1" rIns="38100" wrap="square" tIns="38100">
              <a:noAutofit/>
            </a:bodyPr>
            <a:lstStyle/>
            <a:p>
              <a:pPr indent="0" lvl="0" marL="0" marR="0" rtl="0" algn="ctr">
                <a:lnSpc>
                  <a:spcPct val="80000"/>
                </a:lnSpc>
                <a:spcBef>
                  <a:spcPts val="0"/>
                </a:spcBef>
                <a:spcAft>
                  <a:spcPts val="0"/>
                </a:spcAft>
                <a:buClr>
                  <a:srgbClr val="52565E"/>
                </a:buClr>
                <a:buSzPts val="1835"/>
                <a:buFont typeface="Lato Black"/>
                <a:buNone/>
              </a:pPr>
              <a:r>
                <a:rPr b="0" i="0" lang="en" sz="1834" u="none" cap="none" strike="noStrike">
                  <a:solidFill>
                    <a:srgbClr val="52565E"/>
                  </a:solidFill>
                  <a:latin typeface="Lato Black"/>
                  <a:ea typeface="Lato Black"/>
                  <a:cs typeface="Lato Black"/>
                  <a:sym typeface="Lato Black"/>
                </a:rPr>
                <a:t>EXPECTATIONS</a:t>
              </a:r>
              <a:r>
                <a:rPr b="0" i="0" lang="en" sz="2418" u="none" cap="none" strike="noStrike">
                  <a:solidFill>
                    <a:srgbClr val="52565E"/>
                  </a:solidFill>
                  <a:latin typeface="Lato Black"/>
                  <a:ea typeface="Lato Black"/>
                  <a:cs typeface="Lato Black"/>
                  <a:sym typeface="Lato Black"/>
                </a:rPr>
                <a:t> </a:t>
              </a:r>
              <a:r>
                <a:rPr b="0" i="0" lang="en" sz="3252" u="none" cap="none" strike="noStrike">
                  <a:solidFill>
                    <a:srgbClr val="52565E"/>
                  </a:solidFill>
                  <a:latin typeface="Lato Black"/>
                  <a:ea typeface="Lato Black"/>
                  <a:cs typeface="Lato Black"/>
                  <a:sym typeface="Lato Black"/>
                </a:rPr>
                <a:t>SETTING</a:t>
              </a:r>
              <a:endParaRPr sz="1167"/>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 name="Shape 173"/>
        <p:cNvGrpSpPr/>
        <p:nvPr/>
      </p:nvGrpSpPr>
      <p:grpSpPr>
        <a:xfrm>
          <a:off x="0" y="0"/>
          <a:ext cx="0" cy="0"/>
          <a:chOff x="0" y="0"/>
          <a:chExt cx="0" cy="0"/>
        </a:xfrm>
      </p:grpSpPr>
      <p:sp>
        <p:nvSpPr>
          <p:cNvPr id="174" name="Google Shape;174;p25"/>
          <p:cNvSpPr txBox="1"/>
          <p:nvPr/>
        </p:nvSpPr>
        <p:spPr>
          <a:xfrm>
            <a:off x="118088" y="2120500"/>
            <a:ext cx="6917700" cy="22617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4000"/>
              <a:buFont typeface="Arial"/>
              <a:buNone/>
            </a:pPr>
            <a:r>
              <a:rPr lang="en" u="sng">
                <a:solidFill>
                  <a:srgbClr val="3F3F3F"/>
                </a:solidFill>
                <a:latin typeface="Montserrat"/>
                <a:ea typeface="Montserrat"/>
                <a:cs typeface="Montserrat"/>
                <a:sym typeface="Montserrat"/>
              </a:rPr>
              <a:t>Visa y Permiso de Trabajo</a:t>
            </a:r>
            <a:endParaRPr u="sng">
              <a:solidFill>
                <a:srgbClr val="3F3F3F"/>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rgbClr val="3F3F3F"/>
                </a:solidFill>
                <a:latin typeface="Montserrat"/>
                <a:ea typeface="Montserrat"/>
                <a:cs typeface="Montserrat"/>
                <a:sym typeface="Montserrat"/>
              </a:rPr>
              <a:t>📌 AIESEC host debe guiar al EP en los trámites de visa y permisos, ya que debe comunicarle al mismo el tipo de visado necesario para realizar el intercambio.</a:t>
            </a:r>
            <a:endParaRPr>
              <a:solidFill>
                <a:srgbClr val="3F3F3F"/>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rgbClr val="3F3F3F"/>
                </a:solidFill>
                <a:latin typeface="Montserrat"/>
                <a:ea typeface="Montserrat"/>
                <a:cs typeface="Montserrat"/>
                <a:sym typeface="Montserrat"/>
              </a:rPr>
              <a:t>✅ Se entrega la carta de invitación y otros documentos necesarios.</a:t>
            </a:r>
            <a:endParaRPr>
              <a:solidFill>
                <a:srgbClr val="3F3F3F"/>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rgbClr val="3F3F3F"/>
                </a:solidFill>
                <a:latin typeface="Montserrat"/>
                <a:ea typeface="Montserrat"/>
                <a:cs typeface="Montserrat"/>
                <a:sym typeface="Montserrat"/>
              </a:rPr>
              <a:t>✅ Asegura que el EP pueda trabajar legalmente en el país, para esto es necesario que Aiesec Host lo ayude guiandolo en el caso de que tenga que realizar trámites en el lugar de destino.</a:t>
            </a:r>
            <a:endParaRPr u="sng">
              <a:solidFill>
                <a:srgbClr val="3F3F3F"/>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u="none" cap="none" strike="noStrike">
              <a:solidFill>
                <a:schemeClr val="dk1"/>
              </a:solidFill>
              <a:latin typeface="Montserrat"/>
              <a:ea typeface="Montserrat"/>
              <a:cs typeface="Montserrat"/>
              <a:sym typeface="Montserrat"/>
            </a:endParaRPr>
          </a:p>
        </p:txBody>
      </p:sp>
      <p:grpSp>
        <p:nvGrpSpPr>
          <p:cNvPr id="175" name="Google Shape;175;p25"/>
          <p:cNvGrpSpPr/>
          <p:nvPr/>
        </p:nvGrpSpPr>
        <p:grpSpPr>
          <a:xfrm>
            <a:off x="1937825" y="401450"/>
            <a:ext cx="3124073" cy="1105155"/>
            <a:chOff x="0" y="0"/>
            <a:chExt cx="3753993" cy="1273220"/>
          </a:xfrm>
        </p:grpSpPr>
        <p:sp>
          <p:nvSpPr>
            <p:cNvPr id="176" name="Google Shape;176;p25"/>
            <p:cNvSpPr/>
            <p:nvPr/>
          </p:nvSpPr>
          <p:spPr>
            <a:xfrm>
              <a:off x="0" y="3320"/>
              <a:ext cx="1273500" cy="1269900"/>
            </a:xfrm>
            <a:prstGeom prst="rect">
              <a:avLst/>
            </a:prstGeom>
            <a:solidFill>
              <a:srgbClr val="FFC845"/>
            </a:solidFill>
            <a:ln cap="flat" cmpd="sng" w="55125">
              <a:solidFill>
                <a:srgbClr val="FFC845"/>
              </a:solidFill>
              <a:prstDash val="solid"/>
              <a:miter lim="400000"/>
              <a:headEnd len="sm" w="sm" type="none"/>
              <a:tailEnd len="sm" w="sm" type="none"/>
            </a:ln>
          </p:spPr>
          <p:txBody>
            <a:bodyPr anchorCtr="0" anchor="ctr" bIns="39675" lIns="39675" spcFirstLastPara="1" rIns="39675" wrap="square" tIns="39675">
              <a:noAutofit/>
            </a:bodyPr>
            <a:lstStyle/>
            <a:p>
              <a:pPr indent="0" lvl="0" marL="0" marR="0" rtl="0" algn="ctr">
                <a:lnSpc>
                  <a:spcPct val="100000"/>
                </a:lnSpc>
                <a:spcBef>
                  <a:spcPts val="0"/>
                </a:spcBef>
                <a:spcAft>
                  <a:spcPts val="0"/>
                </a:spcAft>
                <a:buClr>
                  <a:srgbClr val="FFFFFF"/>
                </a:buClr>
                <a:buSzPts val="4166"/>
                <a:buFont typeface="Lato Black"/>
                <a:buNone/>
              </a:pPr>
              <a:r>
                <a:rPr b="0" i="0" lang="en" sz="4166" u="none" cap="none" strike="noStrike">
                  <a:solidFill>
                    <a:srgbClr val="FFFFFF"/>
                  </a:solidFill>
                  <a:latin typeface="Lato Black"/>
                  <a:ea typeface="Lato Black"/>
                  <a:cs typeface="Lato Black"/>
                  <a:sym typeface="Lato Black"/>
                </a:rPr>
                <a:t>#5</a:t>
              </a:r>
              <a:endParaRPr sz="1215"/>
            </a:p>
          </p:txBody>
        </p:sp>
        <p:sp>
          <p:nvSpPr>
            <p:cNvPr id="177" name="Google Shape;177;p25"/>
            <p:cNvSpPr/>
            <p:nvPr/>
          </p:nvSpPr>
          <p:spPr>
            <a:xfrm>
              <a:off x="1374993" y="0"/>
              <a:ext cx="2379000" cy="1269900"/>
            </a:xfrm>
            <a:prstGeom prst="rect">
              <a:avLst/>
            </a:prstGeom>
            <a:solidFill>
              <a:srgbClr val="CACCD1"/>
            </a:solidFill>
            <a:ln cap="flat" cmpd="sng" w="55125">
              <a:solidFill>
                <a:srgbClr val="FFC845"/>
              </a:solidFill>
              <a:prstDash val="solid"/>
              <a:miter lim="400000"/>
              <a:headEnd len="sm" w="sm" type="none"/>
              <a:tailEnd len="sm" w="sm" type="none"/>
            </a:ln>
          </p:spPr>
          <p:txBody>
            <a:bodyPr anchorCtr="0" anchor="ctr" bIns="39675" lIns="39675" spcFirstLastPara="1" rIns="39675" wrap="square" tIns="39675">
              <a:noAutofit/>
            </a:bodyPr>
            <a:lstStyle/>
            <a:p>
              <a:pPr indent="0" lvl="0" marL="0" marR="0" rtl="0" algn="ctr">
                <a:lnSpc>
                  <a:spcPct val="90000"/>
                </a:lnSpc>
                <a:spcBef>
                  <a:spcPts val="0"/>
                </a:spcBef>
                <a:spcAft>
                  <a:spcPts val="0"/>
                </a:spcAft>
                <a:buClr>
                  <a:srgbClr val="52565E"/>
                </a:buClr>
                <a:buSzPts val="2951"/>
                <a:buFont typeface="Lato Black"/>
                <a:buNone/>
              </a:pPr>
              <a:r>
                <a:rPr b="0" i="0" lang="en" sz="2951" u="none" cap="none" strike="noStrike">
                  <a:solidFill>
                    <a:srgbClr val="52565E"/>
                  </a:solidFill>
                  <a:latin typeface="Lato Black"/>
                  <a:ea typeface="Lato Black"/>
                  <a:cs typeface="Lato Black"/>
                  <a:sym typeface="Lato Black"/>
                </a:rPr>
                <a:t>VISA AND</a:t>
              </a:r>
              <a:r>
                <a:rPr b="0" i="0" lang="en" sz="2517" u="none" cap="none" strike="noStrike">
                  <a:solidFill>
                    <a:srgbClr val="52565E"/>
                  </a:solidFill>
                  <a:latin typeface="Lato Black"/>
                  <a:ea typeface="Lato Black"/>
                  <a:cs typeface="Lato Black"/>
                  <a:sym typeface="Lato Black"/>
                </a:rPr>
                <a:t> </a:t>
              </a:r>
              <a:r>
                <a:rPr b="0" i="0" lang="en" sz="1909" u="none" cap="none" strike="noStrike">
                  <a:solidFill>
                    <a:srgbClr val="52565E"/>
                  </a:solidFill>
                  <a:latin typeface="Lato Black"/>
                  <a:ea typeface="Lato Black"/>
                  <a:cs typeface="Lato Black"/>
                  <a:sym typeface="Lato Black"/>
                </a:rPr>
                <a:t>WORK PERMIT</a:t>
              </a:r>
              <a:endParaRPr sz="1215"/>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26"/>
          <p:cNvSpPr txBox="1"/>
          <p:nvPr/>
        </p:nvSpPr>
        <p:spPr>
          <a:xfrm>
            <a:off x="118113" y="1928650"/>
            <a:ext cx="6917700" cy="22617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Apoyo a la Llegada</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AIESEC Host debe explicar cómo llegar al lugar donde el EP va a realizar el intercambio como también donde se va a estar hospedando.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brinda información sobre transporte y contacto en destino, es decir, tienen que brindarle toda la información necesario de transportes y medios que debe utilizar para llegar al lugar de destino con un máximo de 3 </a:t>
            </a:r>
            <a:r>
              <a:rPr lang="en">
                <a:solidFill>
                  <a:schemeClr val="dk1"/>
                </a:solidFill>
                <a:latin typeface="Montserrat"/>
                <a:ea typeface="Montserrat"/>
                <a:cs typeface="Montserrat"/>
                <a:sym typeface="Montserrat"/>
              </a:rPr>
              <a:t>días</a:t>
            </a:r>
            <a:r>
              <a:rPr lang="en">
                <a:solidFill>
                  <a:schemeClr val="dk1"/>
                </a:solidFill>
                <a:latin typeface="Montserrat"/>
                <a:ea typeface="Montserrat"/>
                <a:cs typeface="Montserrat"/>
                <a:sym typeface="Montserrat"/>
              </a:rPr>
              <a:t> antes de la llegada del EP al mismo.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Ayuda a que el EP llegue seguro y sin complicaciones.</a:t>
            </a:r>
            <a:endParaRPr u="sng">
              <a:solidFill>
                <a:srgbClr val="3F3F3F"/>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u="none" cap="none" strike="noStrike">
              <a:solidFill>
                <a:schemeClr val="dk1"/>
              </a:solidFill>
              <a:latin typeface="Montserrat"/>
              <a:ea typeface="Montserrat"/>
              <a:cs typeface="Montserrat"/>
              <a:sym typeface="Montserrat"/>
            </a:endParaRPr>
          </a:p>
        </p:txBody>
      </p:sp>
      <p:grpSp>
        <p:nvGrpSpPr>
          <p:cNvPr id="183" name="Google Shape;183;p26"/>
          <p:cNvGrpSpPr/>
          <p:nvPr/>
        </p:nvGrpSpPr>
        <p:grpSpPr>
          <a:xfrm>
            <a:off x="2000191" y="374025"/>
            <a:ext cx="3153525" cy="1105194"/>
            <a:chOff x="0" y="0"/>
            <a:chExt cx="3779392" cy="1269900"/>
          </a:xfrm>
        </p:grpSpPr>
        <p:sp>
          <p:nvSpPr>
            <p:cNvPr id="184" name="Google Shape;184;p26"/>
            <p:cNvSpPr/>
            <p:nvPr/>
          </p:nvSpPr>
          <p:spPr>
            <a:xfrm>
              <a:off x="0" y="0"/>
              <a:ext cx="1273500" cy="1269900"/>
            </a:xfrm>
            <a:prstGeom prst="rect">
              <a:avLst/>
            </a:prstGeom>
            <a:solidFill>
              <a:srgbClr val="FFC845"/>
            </a:solidFill>
            <a:ln cap="flat" cmpd="sng" w="55250">
              <a:solidFill>
                <a:srgbClr val="FFC845"/>
              </a:solidFill>
              <a:prstDash val="solid"/>
              <a:miter lim="400000"/>
              <a:headEnd len="sm" w="sm" type="none"/>
              <a:tailEnd len="sm" w="sm" type="none"/>
            </a:ln>
          </p:spPr>
          <p:txBody>
            <a:bodyPr anchorCtr="0" anchor="ctr" bIns="39775" lIns="39775" spcFirstLastPara="1" rIns="39775" wrap="square" tIns="39775">
              <a:noAutofit/>
            </a:bodyPr>
            <a:lstStyle/>
            <a:p>
              <a:pPr indent="0" lvl="0" marL="0" marR="0" rtl="0" algn="ctr">
                <a:lnSpc>
                  <a:spcPct val="100000"/>
                </a:lnSpc>
                <a:spcBef>
                  <a:spcPts val="0"/>
                </a:spcBef>
                <a:spcAft>
                  <a:spcPts val="0"/>
                </a:spcAft>
                <a:buClr>
                  <a:srgbClr val="FFFFFF"/>
                </a:buClr>
                <a:buSzPts val="4177"/>
                <a:buFont typeface="Lato Black"/>
                <a:buNone/>
              </a:pPr>
              <a:r>
                <a:rPr b="0" i="0" lang="en" sz="4177" u="none" cap="none" strike="noStrike">
                  <a:solidFill>
                    <a:srgbClr val="FFFFFF"/>
                  </a:solidFill>
                  <a:latin typeface="Lato Black"/>
                  <a:ea typeface="Lato Black"/>
                  <a:cs typeface="Lato Black"/>
                  <a:sym typeface="Lato Black"/>
                </a:rPr>
                <a:t>#6</a:t>
              </a:r>
              <a:endParaRPr sz="1218"/>
            </a:p>
          </p:txBody>
        </p:sp>
        <p:sp>
          <p:nvSpPr>
            <p:cNvPr id="185" name="Google Shape;185;p26"/>
            <p:cNvSpPr/>
            <p:nvPr/>
          </p:nvSpPr>
          <p:spPr>
            <a:xfrm>
              <a:off x="1400392" y="0"/>
              <a:ext cx="2379000" cy="1269900"/>
            </a:xfrm>
            <a:prstGeom prst="rect">
              <a:avLst/>
            </a:prstGeom>
            <a:solidFill>
              <a:srgbClr val="CACCD1"/>
            </a:solidFill>
            <a:ln cap="flat" cmpd="sng" w="55250">
              <a:solidFill>
                <a:srgbClr val="FFC845"/>
              </a:solidFill>
              <a:prstDash val="solid"/>
              <a:miter lim="400000"/>
              <a:headEnd len="sm" w="sm" type="none"/>
              <a:tailEnd len="sm" w="sm" type="none"/>
            </a:ln>
          </p:spPr>
          <p:txBody>
            <a:bodyPr anchorCtr="0" anchor="ctr" bIns="39775" lIns="39775" spcFirstLastPara="1" rIns="39775" wrap="square" tIns="39775">
              <a:noAutofit/>
            </a:bodyPr>
            <a:lstStyle/>
            <a:p>
              <a:pPr indent="0" lvl="0" marL="0" marR="0" rtl="0" algn="ctr">
                <a:lnSpc>
                  <a:spcPct val="90000"/>
                </a:lnSpc>
                <a:spcBef>
                  <a:spcPts val="0"/>
                </a:spcBef>
                <a:spcAft>
                  <a:spcPts val="0"/>
                </a:spcAft>
                <a:buClr>
                  <a:srgbClr val="52565E"/>
                </a:buClr>
                <a:buSzPts val="2785"/>
                <a:buFont typeface="Lato Black"/>
                <a:buNone/>
              </a:pPr>
              <a:r>
                <a:rPr b="0" i="0" lang="en" sz="2262" u="none" cap="none" strike="noStrike">
                  <a:solidFill>
                    <a:srgbClr val="52565E"/>
                  </a:solidFill>
                  <a:latin typeface="Lato Black"/>
                  <a:ea typeface="Lato Black"/>
                  <a:cs typeface="Lato Black"/>
                  <a:sym typeface="Lato Black"/>
                </a:rPr>
                <a:t>ARRIVAL</a:t>
              </a:r>
              <a:endParaRPr b="0" i="0" sz="2262" u="none" cap="none" strike="noStrike">
                <a:solidFill>
                  <a:srgbClr val="FFFFFF"/>
                </a:solidFill>
                <a:latin typeface="Arial"/>
                <a:ea typeface="Arial"/>
                <a:cs typeface="Arial"/>
                <a:sym typeface="Arial"/>
              </a:endParaRPr>
            </a:p>
            <a:p>
              <a:pPr indent="0" lvl="0" marL="0" marR="0" rtl="0" algn="ctr">
                <a:lnSpc>
                  <a:spcPct val="90000"/>
                </a:lnSpc>
                <a:spcBef>
                  <a:spcPts val="0"/>
                </a:spcBef>
                <a:spcAft>
                  <a:spcPts val="0"/>
                </a:spcAft>
                <a:buClr>
                  <a:srgbClr val="52565E"/>
                </a:buClr>
                <a:buSzPts val="3133"/>
                <a:buFont typeface="Lato Black"/>
                <a:buNone/>
              </a:pPr>
              <a:r>
                <a:rPr lang="en" sz="3132">
                  <a:solidFill>
                    <a:srgbClr val="52565E"/>
                  </a:solidFill>
                  <a:latin typeface="Lato Black"/>
                  <a:ea typeface="Lato Black"/>
                  <a:cs typeface="Lato Black"/>
                  <a:sym typeface="Lato Black"/>
                </a:rPr>
                <a:t>SUPPORT</a:t>
              </a:r>
              <a:endParaRPr sz="1218"/>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27"/>
          <p:cNvSpPr txBox="1"/>
          <p:nvPr/>
        </p:nvSpPr>
        <p:spPr>
          <a:xfrm>
            <a:off x="118113" y="1928650"/>
            <a:ext cx="6917700" cy="22617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4000"/>
              <a:buFont typeface="Arial"/>
              <a:buNone/>
            </a:pPr>
            <a:r>
              <a:rPr lang="en" u="sng">
                <a:solidFill>
                  <a:schemeClr val="dk1"/>
                </a:solidFill>
                <a:latin typeface="Montserrat"/>
                <a:ea typeface="Montserrat"/>
                <a:cs typeface="Montserrat"/>
                <a:sym typeface="Montserrat"/>
              </a:rPr>
              <a:t>Alojamiento</a:t>
            </a:r>
            <a:endParaRPr u="sng">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AIESEC Host debe garantizar alojamiento en el caso de que la oportunidad así lo aclare, o apoyo para encontrar uno en el caso de que la oportunidad no brinde hospedaje.</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En el caso de que la oportunidad cubra el alojamiento, este debe cumplir con condiciones básicas: cama, baño, agua potable, electricidad.</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Hay que evita problemas de vivienda durante la experiencia, ya que este es un punto muy importante.</a:t>
            </a:r>
            <a:endParaRPr u="sng">
              <a:solidFill>
                <a:schemeClr val="dk1"/>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u="none" cap="none" strike="noStrike">
              <a:solidFill>
                <a:schemeClr val="dk1"/>
              </a:solidFill>
              <a:latin typeface="Montserrat"/>
              <a:ea typeface="Montserrat"/>
              <a:cs typeface="Montserrat"/>
              <a:sym typeface="Montserrat"/>
            </a:endParaRPr>
          </a:p>
        </p:txBody>
      </p:sp>
      <p:grpSp>
        <p:nvGrpSpPr>
          <p:cNvPr id="191" name="Google Shape;191;p27"/>
          <p:cNvGrpSpPr/>
          <p:nvPr/>
        </p:nvGrpSpPr>
        <p:grpSpPr>
          <a:xfrm>
            <a:off x="2000225" y="414262"/>
            <a:ext cx="3153525" cy="1105194"/>
            <a:chOff x="0" y="0"/>
            <a:chExt cx="3779392" cy="1269900"/>
          </a:xfrm>
        </p:grpSpPr>
        <p:sp>
          <p:nvSpPr>
            <p:cNvPr id="192" name="Google Shape;192;p27"/>
            <p:cNvSpPr/>
            <p:nvPr/>
          </p:nvSpPr>
          <p:spPr>
            <a:xfrm>
              <a:off x="0" y="0"/>
              <a:ext cx="1273500" cy="1269900"/>
            </a:xfrm>
            <a:prstGeom prst="rect">
              <a:avLst/>
            </a:prstGeom>
            <a:solidFill>
              <a:srgbClr val="F6CA5E"/>
            </a:solidFill>
            <a:ln cap="flat" cmpd="sng" w="55250">
              <a:solidFill>
                <a:srgbClr val="F6CA5E"/>
              </a:solidFill>
              <a:prstDash val="solid"/>
              <a:miter lim="400000"/>
              <a:headEnd len="sm" w="sm" type="none"/>
              <a:tailEnd len="sm" w="sm" type="none"/>
            </a:ln>
          </p:spPr>
          <p:txBody>
            <a:bodyPr anchorCtr="0" anchor="ctr" bIns="39775" lIns="39775" spcFirstLastPara="1" rIns="39775" wrap="square" tIns="39775">
              <a:noAutofit/>
            </a:bodyPr>
            <a:lstStyle/>
            <a:p>
              <a:pPr indent="0" lvl="0" marL="0" marR="0" rtl="0" algn="ctr">
                <a:lnSpc>
                  <a:spcPct val="100000"/>
                </a:lnSpc>
                <a:spcBef>
                  <a:spcPts val="0"/>
                </a:spcBef>
                <a:spcAft>
                  <a:spcPts val="0"/>
                </a:spcAft>
                <a:buClr>
                  <a:srgbClr val="FFFFFF"/>
                </a:buClr>
                <a:buSzPts val="4177"/>
                <a:buFont typeface="Lato Black"/>
                <a:buNone/>
              </a:pPr>
              <a:r>
                <a:rPr b="0" i="0" lang="en" sz="4177" u="none" cap="none" strike="noStrike">
                  <a:solidFill>
                    <a:srgbClr val="FFFFFF"/>
                  </a:solidFill>
                  <a:latin typeface="Lato Black"/>
                  <a:ea typeface="Lato Black"/>
                  <a:cs typeface="Lato Black"/>
                  <a:sym typeface="Lato Black"/>
                </a:rPr>
                <a:t>#7</a:t>
              </a:r>
              <a:endParaRPr sz="1218"/>
            </a:p>
          </p:txBody>
        </p:sp>
        <p:sp>
          <p:nvSpPr>
            <p:cNvPr id="193" name="Google Shape;193;p27"/>
            <p:cNvSpPr/>
            <p:nvPr/>
          </p:nvSpPr>
          <p:spPr>
            <a:xfrm>
              <a:off x="1400392" y="0"/>
              <a:ext cx="2379000" cy="1269900"/>
            </a:xfrm>
            <a:prstGeom prst="rect">
              <a:avLst/>
            </a:prstGeom>
            <a:solidFill>
              <a:srgbClr val="CACCD1"/>
            </a:solidFill>
            <a:ln cap="flat" cmpd="sng" w="55250">
              <a:solidFill>
                <a:srgbClr val="F6CA5E"/>
              </a:solidFill>
              <a:prstDash val="solid"/>
              <a:miter lim="400000"/>
              <a:headEnd len="sm" w="sm" type="none"/>
              <a:tailEnd len="sm" w="sm" type="none"/>
            </a:ln>
          </p:spPr>
          <p:txBody>
            <a:bodyPr anchorCtr="0" anchor="ctr" bIns="39775" lIns="39775" spcFirstLastPara="1" rIns="39775" wrap="square" tIns="39775">
              <a:noAutofit/>
            </a:bodyPr>
            <a:lstStyle/>
            <a:p>
              <a:pPr indent="0" lvl="0" marL="0" marR="0" rtl="0" algn="ctr">
                <a:lnSpc>
                  <a:spcPct val="90000"/>
                </a:lnSpc>
                <a:spcBef>
                  <a:spcPts val="0"/>
                </a:spcBef>
                <a:spcAft>
                  <a:spcPts val="0"/>
                </a:spcAft>
                <a:buClr>
                  <a:srgbClr val="52565E"/>
                </a:buClr>
                <a:buSzPts val="1566"/>
                <a:buFont typeface="Lato Black"/>
                <a:buNone/>
              </a:pPr>
              <a:r>
                <a:rPr b="0" i="0" lang="en" sz="1566" u="none" cap="none" strike="noStrike">
                  <a:solidFill>
                    <a:srgbClr val="52565E"/>
                  </a:solidFill>
                  <a:latin typeface="Lato Black"/>
                  <a:ea typeface="Lato Black"/>
                  <a:cs typeface="Lato Black"/>
                  <a:sym typeface="Lato Black"/>
                </a:rPr>
                <a:t>ACCOMMODATION</a:t>
              </a:r>
              <a:endParaRPr sz="1218"/>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 name="Shape 197"/>
        <p:cNvGrpSpPr/>
        <p:nvPr/>
      </p:nvGrpSpPr>
      <p:grpSpPr>
        <a:xfrm>
          <a:off x="0" y="0"/>
          <a:ext cx="0" cy="0"/>
          <a:chOff x="0" y="0"/>
          <a:chExt cx="0" cy="0"/>
        </a:xfrm>
      </p:grpSpPr>
      <p:sp>
        <p:nvSpPr>
          <p:cNvPr id="198" name="Google Shape;198;p28"/>
          <p:cNvSpPr txBox="1"/>
          <p:nvPr/>
        </p:nvSpPr>
        <p:spPr>
          <a:xfrm>
            <a:off x="118125" y="1910400"/>
            <a:ext cx="6917700" cy="20748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Preparación para la Llegada</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El EP recibe una inducción por AIESEC host al llegar al país donde va a realizar su intercambio, esto debe suceder antes de que el EP comience su intercambio.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Incluye cultura, seguridad y adaptación.</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Asegura que el EP se sienta bienvenido y preparado.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brinda asistencia para las necesidades logísticas (transporte, banco y alquiler).</a:t>
            </a:r>
            <a:endParaRPr u="sng">
              <a:solidFill>
                <a:schemeClr val="dk1"/>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u="none" cap="none" strike="noStrike">
              <a:solidFill>
                <a:schemeClr val="dk1"/>
              </a:solidFill>
              <a:latin typeface="Montserrat"/>
              <a:ea typeface="Montserrat"/>
              <a:cs typeface="Montserrat"/>
              <a:sym typeface="Montserrat"/>
            </a:endParaRPr>
          </a:p>
        </p:txBody>
      </p:sp>
      <p:grpSp>
        <p:nvGrpSpPr>
          <p:cNvPr id="199" name="Google Shape;199;p28"/>
          <p:cNvGrpSpPr/>
          <p:nvPr/>
        </p:nvGrpSpPr>
        <p:grpSpPr>
          <a:xfrm>
            <a:off x="1959269" y="297900"/>
            <a:ext cx="3144076" cy="1105206"/>
            <a:chOff x="0" y="0"/>
            <a:chExt cx="3779392" cy="1273719"/>
          </a:xfrm>
        </p:grpSpPr>
        <p:sp>
          <p:nvSpPr>
            <p:cNvPr id="200" name="Google Shape;200;p28"/>
            <p:cNvSpPr/>
            <p:nvPr/>
          </p:nvSpPr>
          <p:spPr>
            <a:xfrm>
              <a:off x="0" y="3819"/>
              <a:ext cx="1273500" cy="1269900"/>
            </a:xfrm>
            <a:prstGeom prst="rect">
              <a:avLst/>
            </a:prstGeom>
            <a:solidFill>
              <a:srgbClr val="FFC845"/>
            </a:solidFill>
            <a:ln cap="flat" cmpd="sng" w="55100">
              <a:solidFill>
                <a:srgbClr val="FFC845"/>
              </a:solidFill>
              <a:prstDash val="solid"/>
              <a:miter lim="400000"/>
              <a:headEnd len="sm" w="sm" type="none"/>
              <a:tailEnd len="sm" w="sm" type="none"/>
            </a:ln>
          </p:spPr>
          <p:txBody>
            <a:bodyPr anchorCtr="0" anchor="ctr" bIns="39650" lIns="39650" spcFirstLastPara="1" rIns="39650" wrap="square" tIns="39650">
              <a:noAutofit/>
            </a:bodyPr>
            <a:lstStyle/>
            <a:p>
              <a:pPr indent="0" lvl="0" marL="0" marR="0" rtl="0" algn="ctr">
                <a:lnSpc>
                  <a:spcPct val="100000"/>
                </a:lnSpc>
                <a:spcBef>
                  <a:spcPts val="0"/>
                </a:spcBef>
                <a:spcAft>
                  <a:spcPts val="0"/>
                </a:spcAft>
                <a:buClr>
                  <a:srgbClr val="FFFFFF"/>
                </a:buClr>
                <a:buSzPts val="4165"/>
                <a:buFont typeface="Lato Black"/>
                <a:buNone/>
              </a:pPr>
              <a:r>
                <a:rPr b="0" i="0" lang="en" sz="4164" u="none" cap="none" strike="noStrike">
                  <a:solidFill>
                    <a:srgbClr val="FFFFFF"/>
                  </a:solidFill>
                  <a:latin typeface="Lato Black"/>
                  <a:ea typeface="Lato Black"/>
                  <a:cs typeface="Lato Black"/>
                  <a:sym typeface="Lato Black"/>
                </a:rPr>
                <a:t>#8</a:t>
              </a:r>
              <a:endParaRPr sz="1214"/>
            </a:p>
          </p:txBody>
        </p:sp>
        <p:sp>
          <p:nvSpPr>
            <p:cNvPr id="201" name="Google Shape;201;p28"/>
            <p:cNvSpPr/>
            <p:nvPr/>
          </p:nvSpPr>
          <p:spPr>
            <a:xfrm>
              <a:off x="1400392" y="0"/>
              <a:ext cx="2379000" cy="1269900"/>
            </a:xfrm>
            <a:prstGeom prst="rect">
              <a:avLst/>
            </a:prstGeom>
            <a:solidFill>
              <a:srgbClr val="CACCD1"/>
            </a:solidFill>
            <a:ln cap="flat" cmpd="sng" w="55100">
              <a:solidFill>
                <a:srgbClr val="FFC845"/>
              </a:solidFill>
              <a:prstDash val="solid"/>
              <a:miter lim="400000"/>
              <a:headEnd len="sm" w="sm" type="none"/>
              <a:tailEnd len="sm" w="sm" type="none"/>
            </a:ln>
          </p:spPr>
          <p:txBody>
            <a:bodyPr anchorCtr="0" anchor="ctr" bIns="39650" lIns="39650" spcFirstLastPara="1" rIns="39650" wrap="square" tIns="39650">
              <a:noAutofit/>
            </a:bodyPr>
            <a:lstStyle/>
            <a:p>
              <a:pPr indent="0" lvl="0" marL="0" marR="0" rtl="0" algn="ctr">
                <a:lnSpc>
                  <a:spcPct val="90000"/>
                </a:lnSpc>
                <a:spcBef>
                  <a:spcPts val="0"/>
                </a:spcBef>
                <a:spcAft>
                  <a:spcPts val="0"/>
                </a:spcAft>
                <a:buClr>
                  <a:srgbClr val="52565E"/>
                </a:buClr>
                <a:buSzPts val="2603"/>
                <a:buFont typeface="Lato Black"/>
                <a:buNone/>
              </a:pPr>
              <a:r>
                <a:rPr b="0" i="0" lang="en" sz="2603" u="none" cap="none" strike="noStrike">
                  <a:solidFill>
                    <a:srgbClr val="52565E"/>
                  </a:solidFill>
                  <a:latin typeface="Lato Black"/>
                  <a:ea typeface="Lato Black"/>
                  <a:cs typeface="Lato Black"/>
                  <a:sym typeface="Lato Black"/>
                </a:rPr>
                <a:t>INCOMING</a:t>
              </a:r>
              <a:r>
                <a:rPr b="0" i="0" lang="en" sz="2516" u="none" cap="none" strike="noStrike">
                  <a:solidFill>
                    <a:srgbClr val="52565E"/>
                  </a:solidFill>
                  <a:latin typeface="Lato Black"/>
                  <a:ea typeface="Lato Black"/>
                  <a:cs typeface="Lato Black"/>
                  <a:sym typeface="Lato Black"/>
                </a:rPr>
                <a:t> </a:t>
              </a:r>
              <a:r>
                <a:rPr b="0" i="0" lang="en" sz="1995" u="none" cap="none" strike="noStrike">
                  <a:solidFill>
                    <a:srgbClr val="52565E"/>
                  </a:solidFill>
                  <a:latin typeface="Lato Black"/>
                  <a:ea typeface="Lato Black"/>
                  <a:cs typeface="Lato Black"/>
                  <a:sym typeface="Lato Black"/>
                </a:rPr>
                <a:t>PREPARATION</a:t>
              </a:r>
              <a:endParaRPr sz="1214"/>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5" name="Shape 205"/>
        <p:cNvGrpSpPr/>
        <p:nvPr/>
      </p:nvGrpSpPr>
      <p:grpSpPr>
        <a:xfrm>
          <a:off x="0" y="0"/>
          <a:ext cx="0" cy="0"/>
          <a:chOff x="0" y="0"/>
          <a:chExt cx="0" cy="0"/>
        </a:xfrm>
      </p:grpSpPr>
      <p:sp>
        <p:nvSpPr>
          <p:cNvPr id="206" name="Google Shape;206;p29"/>
          <p:cNvSpPr txBox="1"/>
          <p:nvPr/>
        </p:nvSpPr>
        <p:spPr>
          <a:xfrm>
            <a:off x="118125" y="1910400"/>
            <a:ext cx="6917700" cy="20748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Primer Día de Trabajo</a:t>
            </a:r>
            <a:endParaRPr u="sng">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AIESEC host se asegura de que el EP llegue a su primer día de trabajo.</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El Mgr o un integrante de AIESEC host lo acompaña o le da instrucciones claras para llegar donde va a realizar su intercambio.</a:t>
            </a:r>
            <a:endParaRPr>
              <a:solidFill>
                <a:schemeClr val="dk1"/>
              </a:solidFill>
              <a:latin typeface="Montserrat"/>
              <a:ea typeface="Montserrat"/>
              <a:cs typeface="Montserrat"/>
              <a:sym typeface="Montserrat"/>
            </a:endParaRPr>
          </a:p>
          <a:p>
            <a:pPr indent="0" lvl="0" marL="0" marR="0" rtl="0" algn="ctr">
              <a:lnSpc>
                <a:spcPct val="147722"/>
              </a:lnSpc>
              <a:spcBef>
                <a:spcPts val="1200"/>
              </a:spcBef>
              <a:spcAft>
                <a:spcPts val="0"/>
              </a:spcAft>
              <a:buClr>
                <a:srgbClr val="000000"/>
              </a:buClr>
              <a:buSzPts val="1800"/>
              <a:buFont typeface="Arial"/>
              <a:buNone/>
            </a:pPr>
            <a:r>
              <a:t/>
            </a:r>
            <a:endParaRPr i="0" u="none" cap="none" strike="noStrike">
              <a:solidFill>
                <a:schemeClr val="dk1"/>
              </a:solidFill>
              <a:latin typeface="Montserrat"/>
              <a:ea typeface="Montserrat"/>
              <a:cs typeface="Montserrat"/>
              <a:sym typeface="Montserrat"/>
            </a:endParaRPr>
          </a:p>
        </p:txBody>
      </p:sp>
      <p:grpSp>
        <p:nvGrpSpPr>
          <p:cNvPr id="207" name="Google Shape;207;p29"/>
          <p:cNvGrpSpPr/>
          <p:nvPr/>
        </p:nvGrpSpPr>
        <p:grpSpPr>
          <a:xfrm>
            <a:off x="2004975" y="347233"/>
            <a:ext cx="3144000" cy="1097194"/>
            <a:chOff x="0" y="0"/>
            <a:chExt cx="3795268" cy="1269900"/>
          </a:xfrm>
        </p:grpSpPr>
        <p:sp>
          <p:nvSpPr>
            <p:cNvPr id="208" name="Google Shape;208;p29"/>
            <p:cNvSpPr/>
            <p:nvPr/>
          </p:nvSpPr>
          <p:spPr>
            <a:xfrm>
              <a:off x="0" y="0"/>
              <a:ext cx="1273500" cy="1269900"/>
            </a:xfrm>
            <a:prstGeom prst="rect">
              <a:avLst/>
            </a:prstGeom>
            <a:solidFill>
              <a:srgbClr val="F48924"/>
            </a:solidFill>
            <a:ln cap="flat" cmpd="sng" w="54875">
              <a:solidFill>
                <a:srgbClr val="F48924"/>
              </a:solidFill>
              <a:prstDash val="solid"/>
              <a:miter lim="400000"/>
              <a:headEnd len="sm" w="sm" type="none"/>
              <a:tailEnd len="sm" w="sm" type="none"/>
            </a:ln>
          </p:spPr>
          <p:txBody>
            <a:bodyPr anchorCtr="0" anchor="ctr" bIns="39475" lIns="39475" spcFirstLastPara="1" rIns="39475" wrap="square" tIns="39475">
              <a:noAutofit/>
            </a:bodyPr>
            <a:lstStyle/>
            <a:p>
              <a:pPr indent="0" lvl="0" marL="0" marR="0" rtl="0" algn="ctr">
                <a:lnSpc>
                  <a:spcPct val="100000"/>
                </a:lnSpc>
                <a:spcBef>
                  <a:spcPts val="0"/>
                </a:spcBef>
                <a:spcAft>
                  <a:spcPts val="0"/>
                </a:spcAft>
                <a:buClr>
                  <a:srgbClr val="FFFFFF"/>
                </a:buClr>
                <a:buSzPts val="4147"/>
                <a:buFont typeface="Lato Black"/>
                <a:buNone/>
              </a:pPr>
              <a:r>
                <a:rPr b="0" i="0" lang="en" sz="4147" u="none" cap="none" strike="noStrike">
                  <a:solidFill>
                    <a:srgbClr val="FFFFFF"/>
                  </a:solidFill>
                  <a:latin typeface="Lato Black"/>
                  <a:ea typeface="Lato Black"/>
                  <a:cs typeface="Lato Black"/>
                  <a:sym typeface="Lato Black"/>
                </a:rPr>
                <a:t>#9</a:t>
              </a:r>
              <a:endParaRPr sz="1209"/>
            </a:p>
          </p:txBody>
        </p:sp>
        <p:sp>
          <p:nvSpPr>
            <p:cNvPr id="209" name="Google Shape;209;p29"/>
            <p:cNvSpPr/>
            <p:nvPr/>
          </p:nvSpPr>
          <p:spPr>
            <a:xfrm>
              <a:off x="1416268" y="0"/>
              <a:ext cx="2379000" cy="1269900"/>
            </a:xfrm>
            <a:prstGeom prst="rect">
              <a:avLst/>
            </a:prstGeom>
            <a:solidFill>
              <a:srgbClr val="CACCD1"/>
            </a:solidFill>
            <a:ln cap="flat" cmpd="sng" w="54875">
              <a:solidFill>
                <a:srgbClr val="F48924"/>
              </a:solidFill>
              <a:prstDash val="solid"/>
              <a:miter lim="400000"/>
              <a:headEnd len="sm" w="sm" type="none"/>
              <a:tailEnd len="sm" w="sm" type="none"/>
            </a:ln>
          </p:spPr>
          <p:txBody>
            <a:bodyPr anchorCtr="0" anchor="ctr" bIns="39475" lIns="39475" spcFirstLastPara="1" rIns="39475" wrap="square" tIns="39475">
              <a:noAutofit/>
            </a:bodyPr>
            <a:lstStyle/>
            <a:p>
              <a:pPr indent="0" lvl="0" marL="0" marR="0" rtl="0" algn="ctr">
                <a:lnSpc>
                  <a:spcPct val="90000"/>
                </a:lnSpc>
                <a:spcBef>
                  <a:spcPts val="0"/>
                </a:spcBef>
                <a:spcAft>
                  <a:spcPts val="0"/>
                </a:spcAft>
                <a:buClr>
                  <a:srgbClr val="52565E"/>
                </a:buClr>
                <a:buSzPts val="2592"/>
                <a:buFont typeface="Lato Black"/>
                <a:buNone/>
              </a:pPr>
              <a:r>
                <a:rPr b="0" i="0" lang="en" sz="2592" u="none" cap="none" strike="noStrike">
                  <a:solidFill>
                    <a:srgbClr val="52565E"/>
                  </a:solidFill>
                  <a:latin typeface="Lato Black"/>
                  <a:ea typeface="Lato Black"/>
                  <a:cs typeface="Lato Black"/>
                  <a:sym typeface="Lato Black"/>
                </a:rPr>
                <a:t>FIRST DAY</a:t>
              </a:r>
              <a:r>
                <a:rPr b="0" i="0" lang="en" sz="2505" u="none" cap="none" strike="noStrike">
                  <a:solidFill>
                    <a:srgbClr val="52565E"/>
                  </a:solidFill>
                  <a:latin typeface="Lato Black"/>
                  <a:ea typeface="Lato Black"/>
                  <a:cs typeface="Lato Black"/>
                  <a:sym typeface="Lato Black"/>
                </a:rPr>
                <a:t> </a:t>
              </a:r>
              <a:r>
                <a:rPr b="0" i="0" lang="en" sz="2592" u="none" cap="none" strike="noStrike">
                  <a:solidFill>
                    <a:srgbClr val="52565E"/>
                  </a:solidFill>
                  <a:latin typeface="Lato Black"/>
                  <a:ea typeface="Lato Black"/>
                  <a:cs typeface="Lato Black"/>
                  <a:sym typeface="Lato Black"/>
                </a:rPr>
                <a:t>OF WORK</a:t>
              </a:r>
              <a:endParaRPr sz="1209"/>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30"/>
          <p:cNvSpPr txBox="1"/>
          <p:nvPr/>
        </p:nvSpPr>
        <p:spPr>
          <a:xfrm>
            <a:off x="118125" y="1910400"/>
            <a:ext cx="6917700" cy="20748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Espacios de Alineación con el Proveedor de la Oportunidad</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deben hacer reuniones de alineación entre EP y empresa, esto lo debe asegurar AIESEC host.</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Una al inicio de la experiencia, para alinear la descripción del puesto con los objetivos personales del EP, debe pasar en la primera semana del intercambio. Y otra al final de la experiencia para informar sobre los logros y el cumplimiento de los objetivos personales.</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Permite que el EP reciba feedback y tenga claridad sobre su rol.</a:t>
            </a:r>
            <a:endParaRPr u="sng">
              <a:solidFill>
                <a:schemeClr val="dk1"/>
              </a:solidFill>
              <a:latin typeface="Montserrat"/>
              <a:ea typeface="Montserrat"/>
              <a:cs typeface="Montserrat"/>
              <a:sym typeface="Montserrat"/>
            </a:endParaRPr>
          </a:p>
        </p:txBody>
      </p:sp>
      <p:grpSp>
        <p:nvGrpSpPr>
          <p:cNvPr id="215" name="Google Shape;215;p30"/>
          <p:cNvGrpSpPr/>
          <p:nvPr/>
        </p:nvGrpSpPr>
        <p:grpSpPr>
          <a:xfrm>
            <a:off x="2006296" y="456574"/>
            <a:ext cx="3141370" cy="1097194"/>
            <a:chOff x="0" y="0"/>
            <a:chExt cx="3792093" cy="1269900"/>
          </a:xfrm>
        </p:grpSpPr>
        <p:sp>
          <p:nvSpPr>
            <p:cNvPr id="216" name="Google Shape;216;p30"/>
            <p:cNvSpPr/>
            <p:nvPr/>
          </p:nvSpPr>
          <p:spPr>
            <a:xfrm>
              <a:off x="0" y="0"/>
              <a:ext cx="1273500" cy="1269900"/>
            </a:xfrm>
            <a:prstGeom prst="rect">
              <a:avLst/>
            </a:prstGeom>
            <a:solidFill>
              <a:srgbClr val="F48924"/>
            </a:solidFill>
            <a:ln cap="flat" cmpd="sng" w="54875">
              <a:solidFill>
                <a:srgbClr val="F48924"/>
              </a:solidFill>
              <a:prstDash val="solid"/>
              <a:miter lim="400000"/>
              <a:headEnd len="sm" w="sm" type="none"/>
              <a:tailEnd len="sm" w="sm" type="none"/>
            </a:ln>
          </p:spPr>
          <p:txBody>
            <a:bodyPr anchorCtr="0" anchor="ctr" bIns="39475" lIns="39475" spcFirstLastPara="1" rIns="39475" wrap="square" tIns="39475">
              <a:noAutofit/>
            </a:bodyPr>
            <a:lstStyle/>
            <a:p>
              <a:pPr indent="0" lvl="0" marL="0" marR="0" rtl="0" algn="ctr">
                <a:lnSpc>
                  <a:spcPct val="100000"/>
                </a:lnSpc>
                <a:spcBef>
                  <a:spcPts val="0"/>
                </a:spcBef>
                <a:spcAft>
                  <a:spcPts val="0"/>
                </a:spcAft>
                <a:buClr>
                  <a:srgbClr val="FFFFFF"/>
                </a:buClr>
                <a:buSzPts val="4147"/>
                <a:buFont typeface="Lato Black"/>
                <a:buNone/>
              </a:pPr>
              <a:r>
                <a:rPr b="0" i="0" lang="en" sz="4147" u="none" cap="none" strike="noStrike">
                  <a:solidFill>
                    <a:srgbClr val="FFFFFF"/>
                  </a:solidFill>
                  <a:latin typeface="Lato Black"/>
                  <a:ea typeface="Lato Black"/>
                  <a:cs typeface="Lato Black"/>
                  <a:sym typeface="Lato Black"/>
                </a:rPr>
                <a:t>#</a:t>
              </a:r>
              <a:r>
                <a:rPr b="0" i="0" lang="en" sz="4147" u="none" cap="none" strike="noStrike">
                  <a:solidFill>
                    <a:srgbClr val="FFFFFF"/>
                  </a:solidFill>
                  <a:latin typeface="Lato Black"/>
                  <a:ea typeface="Lato Black"/>
                  <a:cs typeface="Lato Black"/>
                  <a:sym typeface="Lato Black"/>
                </a:rPr>
                <a:t>10</a:t>
              </a:r>
              <a:endParaRPr sz="1209"/>
            </a:p>
          </p:txBody>
        </p:sp>
        <p:sp>
          <p:nvSpPr>
            <p:cNvPr id="217" name="Google Shape;217;p30"/>
            <p:cNvSpPr/>
            <p:nvPr/>
          </p:nvSpPr>
          <p:spPr>
            <a:xfrm>
              <a:off x="1413093" y="0"/>
              <a:ext cx="2379000" cy="1269900"/>
            </a:xfrm>
            <a:prstGeom prst="rect">
              <a:avLst/>
            </a:prstGeom>
            <a:solidFill>
              <a:srgbClr val="CACCD1"/>
            </a:solidFill>
            <a:ln cap="flat" cmpd="sng" w="54875">
              <a:solidFill>
                <a:srgbClr val="F48924"/>
              </a:solidFill>
              <a:prstDash val="solid"/>
              <a:miter lim="400000"/>
              <a:headEnd len="sm" w="sm" type="none"/>
              <a:tailEnd len="sm" w="sm" type="none"/>
            </a:ln>
          </p:spPr>
          <p:txBody>
            <a:bodyPr anchorCtr="0" anchor="ctr" bIns="39475" lIns="39475" spcFirstLastPara="1" rIns="39475" wrap="square" tIns="39475">
              <a:noAutofit/>
            </a:bodyPr>
            <a:lstStyle/>
            <a:p>
              <a:pPr indent="0" lvl="0" marL="0" marR="0" rtl="0" algn="ctr">
                <a:lnSpc>
                  <a:spcPct val="90000"/>
                </a:lnSpc>
                <a:spcBef>
                  <a:spcPts val="0"/>
                </a:spcBef>
                <a:spcAft>
                  <a:spcPts val="0"/>
                </a:spcAft>
                <a:buClr>
                  <a:srgbClr val="52565E"/>
                </a:buClr>
                <a:buSzPts val="1469"/>
                <a:buFont typeface="Lato Black"/>
                <a:buNone/>
              </a:pPr>
              <a:r>
                <a:rPr b="0" i="0" lang="en" sz="1468" u="none" cap="none" strike="noStrike">
                  <a:solidFill>
                    <a:srgbClr val="52565E"/>
                  </a:solidFill>
                  <a:latin typeface="Lato Black"/>
                  <a:ea typeface="Lato Black"/>
                  <a:cs typeface="Lato Black"/>
                  <a:sym typeface="Lato Black"/>
                </a:rPr>
                <a:t>ALIGNMENT SPACES </a:t>
              </a:r>
              <a:endParaRPr sz="1209"/>
            </a:p>
            <a:p>
              <a:pPr indent="0" lvl="0" marL="0" marR="0" rtl="0" algn="ctr">
                <a:lnSpc>
                  <a:spcPct val="90000"/>
                </a:lnSpc>
                <a:spcBef>
                  <a:spcPts val="0"/>
                </a:spcBef>
                <a:spcAft>
                  <a:spcPts val="0"/>
                </a:spcAft>
                <a:buClr>
                  <a:srgbClr val="52565E"/>
                </a:buClr>
                <a:buSzPts val="1382"/>
                <a:buFont typeface="Lato Black"/>
                <a:buNone/>
              </a:pPr>
              <a:r>
                <a:rPr b="0" i="0" lang="en" sz="1382" u="none" cap="none" strike="noStrike">
                  <a:solidFill>
                    <a:srgbClr val="52565E"/>
                  </a:solidFill>
                  <a:latin typeface="Lato Black"/>
                  <a:ea typeface="Lato Black"/>
                  <a:cs typeface="Lato Black"/>
                  <a:sym typeface="Lato Black"/>
                </a:rPr>
                <a:t>WITH OPPORTUNITY</a:t>
              </a:r>
              <a:r>
                <a:rPr b="0" i="0" lang="en" sz="1468" u="none" cap="none" strike="noStrike">
                  <a:solidFill>
                    <a:srgbClr val="52565E"/>
                  </a:solidFill>
                  <a:latin typeface="Lato Black"/>
                  <a:ea typeface="Lato Black"/>
                  <a:cs typeface="Lato Black"/>
                  <a:sym typeface="Lato Black"/>
                </a:rPr>
                <a:t> </a:t>
              </a:r>
              <a:r>
                <a:rPr b="0" i="0" lang="en" sz="1900" u="none" cap="none" strike="noStrike">
                  <a:solidFill>
                    <a:srgbClr val="52565E"/>
                  </a:solidFill>
                  <a:latin typeface="Lato Black"/>
                  <a:ea typeface="Lato Black"/>
                  <a:cs typeface="Lato Black"/>
                  <a:sym typeface="Lato Black"/>
                </a:rPr>
                <a:t>PROVIDER</a:t>
              </a:r>
              <a:endParaRPr sz="1209"/>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p31"/>
          <p:cNvSpPr txBox="1"/>
          <p:nvPr/>
        </p:nvSpPr>
        <p:spPr>
          <a:xfrm>
            <a:off x="118125" y="1910400"/>
            <a:ext cx="6917700" cy="20748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Descripción del Puesto</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El EP debe hacer el trabajo que se le prometió, dentro de la postulación del mismo, en expa o en el contrato se puede encontrar la JD que el EP va a realizar.</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AIESEC host y home deben verificar que la empresa cumpla con esto, en el caso de que el EP </a:t>
            </a:r>
            <a:r>
              <a:rPr lang="en">
                <a:solidFill>
                  <a:schemeClr val="dk1"/>
                </a:solidFill>
                <a:latin typeface="Montserrat"/>
                <a:ea typeface="Montserrat"/>
                <a:cs typeface="Montserrat"/>
                <a:sym typeface="Montserrat"/>
              </a:rPr>
              <a:t>está</a:t>
            </a:r>
            <a:r>
              <a:rPr lang="en">
                <a:solidFill>
                  <a:schemeClr val="dk1"/>
                </a:solidFill>
                <a:latin typeface="Montserrat"/>
                <a:ea typeface="Montserrat"/>
                <a:cs typeface="Montserrat"/>
                <a:sym typeface="Montserrat"/>
              </a:rPr>
              <a:t> realizando una JD diferente se debe avisar a su Mgr a ECB y establecer los siguientes pasos para solucionar el inconveniente lo antes posible.</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La buena comunicación y sinergia tanto con el EP como con AIESEC host evita confusiones o cambios inesperados.</a:t>
            </a:r>
            <a:endParaRPr u="sng">
              <a:solidFill>
                <a:schemeClr val="dk1"/>
              </a:solidFill>
              <a:latin typeface="Montserrat"/>
              <a:ea typeface="Montserrat"/>
              <a:cs typeface="Montserrat"/>
              <a:sym typeface="Montserrat"/>
            </a:endParaRPr>
          </a:p>
        </p:txBody>
      </p:sp>
      <p:grpSp>
        <p:nvGrpSpPr>
          <p:cNvPr id="223" name="Google Shape;223;p31"/>
          <p:cNvGrpSpPr/>
          <p:nvPr/>
        </p:nvGrpSpPr>
        <p:grpSpPr>
          <a:xfrm>
            <a:off x="1949375" y="413175"/>
            <a:ext cx="3255201" cy="1135926"/>
            <a:chOff x="0" y="0"/>
            <a:chExt cx="3795268" cy="1269900"/>
          </a:xfrm>
        </p:grpSpPr>
        <p:sp>
          <p:nvSpPr>
            <p:cNvPr id="224" name="Google Shape;224;p31"/>
            <p:cNvSpPr/>
            <p:nvPr/>
          </p:nvSpPr>
          <p:spPr>
            <a:xfrm>
              <a:off x="0" y="0"/>
              <a:ext cx="1273500" cy="1269900"/>
            </a:xfrm>
            <a:prstGeom prst="rect">
              <a:avLst/>
            </a:prstGeom>
            <a:solidFill>
              <a:srgbClr val="F48924"/>
            </a:solidFill>
            <a:ln cap="flat" cmpd="sng" w="56825">
              <a:solidFill>
                <a:srgbClr val="F48924"/>
              </a:solidFill>
              <a:prstDash val="solid"/>
              <a:miter lim="400000"/>
              <a:headEnd len="sm" w="sm" type="none"/>
              <a:tailEnd len="sm" w="sm" type="none"/>
            </a:ln>
          </p:spPr>
          <p:txBody>
            <a:bodyPr anchorCtr="0" anchor="ctr" bIns="40875" lIns="40875" spcFirstLastPara="1" rIns="40875" wrap="square" tIns="40875">
              <a:noAutofit/>
            </a:bodyPr>
            <a:lstStyle/>
            <a:p>
              <a:pPr indent="0" lvl="0" marL="0" marR="0" rtl="0" algn="ctr">
                <a:lnSpc>
                  <a:spcPct val="100000"/>
                </a:lnSpc>
                <a:spcBef>
                  <a:spcPts val="0"/>
                </a:spcBef>
                <a:spcAft>
                  <a:spcPts val="0"/>
                </a:spcAft>
                <a:buClr>
                  <a:srgbClr val="FFFFFF"/>
                </a:buClr>
                <a:buSzPts val="4294"/>
                <a:buFont typeface="Lato Black"/>
                <a:buNone/>
              </a:pPr>
              <a:r>
                <a:rPr b="0" i="0" lang="en" sz="4293" u="none" cap="none" strike="noStrike">
                  <a:solidFill>
                    <a:srgbClr val="FFFFFF"/>
                  </a:solidFill>
                  <a:latin typeface="Lato Black"/>
                  <a:ea typeface="Lato Black"/>
                  <a:cs typeface="Lato Black"/>
                  <a:sym typeface="Lato Black"/>
                </a:rPr>
                <a:t>#11</a:t>
              </a:r>
              <a:endParaRPr sz="1252"/>
            </a:p>
          </p:txBody>
        </p:sp>
        <p:sp>
          <p:nvSpPr>
            <p:cNvPr id="225" name="Google Shape;225;p31"/>
            <p:cNvSpPr/>
            <p:nvPr/>
          </p:nvSpPr>
          <p:spPr>
            <a:xfrm>
              <a:off x="1416268" y="0"/>
              <a:ext cx="2379000" cy="1269900"/>
            </a:xfrm>
            <a:prstGeom prst="rect">
              <a:avLst/>
            </a:prstGeom>
            <a:solidFill>
              <a:srgbClr val="CACCD1"/>
            </a:solidFill>
            <a:ln cap="flat" cmpd="sng" w="56825">
              <a:solidFill>
                <a:srgbClr val="F48924"/>
              </a:solidFill>
              <a:prstDash val="solid"/>
              <a:miter lim="400000"/>
              <a:headEnd len="sm" w="sm" type="none"/>
              <a:tailEnd len="sm" w="sm" type="none"/>
            </a:ln>
          </p:spPr>
          <p:txBody>
            <a:bodyPr anchorCtr="0" anchor="ctr" bIns="40875" lIns="40875" spcFirstLastPara="1" rIns="40875" wrap="square" tIns="40875">
              <a:noAutofit/>
            </a:bodyPr>
            <a:lstStyle/>
            <a:p>
              <a:pPr indent="0" lvl="0" marL="0" marR="0" rtl="0" algn="ctr">
                <a:lnSpc>
                  <a:spcPct val="90000"/>
                </a:lnSpc>
                <a:spcBef>
                  <a:spcPts val="0"/>
                </a:spcBef>
                <a:spcAft>
                  <a:spcPts val="0"/>
                </a:spcAft>
                <a:buClr>
                  <a:srgbClr val="52565E"/>
                </a:buClr>
                <a:buSzPts val="3489"/>
                <a:buFont typeface="Lato Black"/>
                <a:buNone/>
              </a:pPr>
              <a:r>
                <a:rPr b="0" i="0" lang="en" sz="3488" u="none" cap="none" strike="noStrike">
                  <a:solidFill>
                    <a:srgbClr val="52565E"/>
                  </a:solidFill>
                  <a:latin typeface="Lato Black"/>
                  <a:ea typeface="Lato Black"/>
                  <a:cs typeface="Lato Black"/>
                  <a:sym typeface="Lato Black"/>
                </a:rPr>
                <a:t>JOB</a:t>
              </a:r>
              <a:r>
                <a:rPr b="0" i="0" lang="en" sz="2594" u="none" cap="none" strike="noStrike">
                  <a:solidFill>
                    <a:srgbClr val="52565E"/>
                  </a:solidFill>
                  <a:latin typeface="Lato Black"/>
                  <a:ea typeface="Lato Black"/>
                  <a:cs typeface="Lato Black"/>
                  <a:sym typeface="Lato Black"/>
                </a:rPr>
                <a:t> </a:t>
              </a:r>
              <a:r>
                <a:rPr b="0" i="0" lang="en" sz="1878" u="none" cap="none" strike="noStrike">
                  <a:solidFill>
                    <a:srgbClr val="52565E"/>
                  </a:solidFill>
                  <a:latin typeface="Lato Black"/>
                  <a:ea typeface="Lato Black"/>
                  <a:cs typeface="Lato Black"/>
                  <a:sym typeface="Lato Black"/>
                </a:rPr>
                <a:t>DESCRIPTION</a:t>
              </a:r>
              <a:endParaRPr sz="1252"/>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9" name="Shape 229"/>
        <p:cNvGrpSpPr/>
        <p:nvPr/>
      </p:nvGrpSpPr>
      <p:grpSpPr>
        <a:xfrm>
          <a:off x="0" y="0"/>
          <a:ext cx="0" cy="0"/>
          <a:chOff x="0" y="0"/>
          <a:chExt cx="0" cy="0"/>
        </a:xfrm>
      </p:grpSpPr>
      <p:sp>
        <p:nvSpPr>
          <p:cNvPr id="230" name="Google Shape;230;p32"/>
          <p:cNvSpPr txBox="1"/>
          <p:nvPr/>
        </p:nvSpPr>
        <p:spPr>
          <a:xfrm>
            <a:off x="118138" y="1910400"/>
            <a:ext cx="6917700" cy="20748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b="1" lang="en" u="sng">
                <a:solidFill>
                  <a:schemeClr val="dk1"/>
                </a:solidFill>
                <a:latin typeface="Montserrat"/>
                <a:ea typeface="Montserrat"/>
                <a:cs typeface="Montserrat"/>
                <a:sym typeface="Montserrat"/>
              </a:rPr>
              <a:t>Horario de trabajo</a:t>
            </a:r>
            <a:endParaRPr b="1"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b="1"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El horario de trabajo debe ser el acordado en la plataforma donde la persona hizo su aplicación, como también en el contrato que el EP debe firmar antes de ser APD.</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Tomando como minimos y maximos permitidos para cada programa: GTa/GTe: 35-45 horas semanales. GV: 25-40 horas semanales.</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Por lo tanto, tenemos que asegurarnos que el EP tenga una carga horaria justa.</a:t>
            </a:r>
            <a:endParaRPr u="sng">
              <a:solidFill>
                <a:schemeClr val="dk1"/>
              </a:solidFill>
              <a:latin typeface="Montserrat"/>
              <a:ea typeface="Montserrat"/>
              <a:cs typeface="Montserrat"/>
              <a:sym typeface="Montserrat"/>
            </a:endParaRPr>
          </a:p>
        </p:txBody>
      </p:sp>
      <p:grpSp>
        <p:nvGrpSpPr>
          <p:cNvPr id="231" name="Google Shape;231;p32"/>
          <p:cNvGrpSpPr/>
          <p:nvPr/>
        </p:nvGrpSpPr>
        <p:grpSpPr>
          <a:xfrm>
            <a:off x="1974618" y="367522"/>
            <a:ext cx="3204724" cy="1120432"/>
            <a:chOff x="10280118" y="8823771"/>
            <a:chExt cx="3795268" cy="1272206"/>
          </a:xfrm>
        </p:grpSpPr>
        <p:sp>
          <p:nvSpPr>
            <p:cNvPr id="232" name="Google Shape;232;p32"/>
            <p:cNvSpPr/>
            <p:nvPr/>
          </p:nvSpPr>
          <p:spPr>
            <a:xfrm>
              <a:off x="10280118" y="8826077"/>
              <a:ext cx="1273500" cy="1269900"/>
            </a:xfrm>
            <a:prstGeom prst="rect">
              <a:avLst/>
            </a:prstGeom>
            <a:solidFill>
              <a:srgbClr val="F48924"/>
            </a:solidFill>
            <a:ln cap="flat" cmpd="sng" w="55925">
              <a:solidFill>
                <a:srgbClr val="F48924"/>
              </a:solidFill>
              <a:prstDash val="solid"/>
              <a:miter lim="400000"/>
              <a:headEnd len="sm" w="sm" type="none"/>
              <a:tailEnd len="sm" w="sm" type="none"/>
            </a:ln>
          </p:spPr>
          <p:txBody>
            <a:bodyPr anchorCtr="0" anchor="ctr" bIns="40250" lIns="40250" spcFirstLastPara="1" rIns="40250" wrap="square" tIns="40250">
              <a:noAutofit/>
            </a:bodyPr>
            <a:lstStyle/>
            <a:p>
              <a:pPr indent="0" lvl="0" marL="0" marR="0" rtl="0" algn="ctr">
                <a:lnSpc>
                  <a:spcPct val="100000"/>
                </a:lnSpc>
                <a:spcBef>
                  <a:spcPts val="0"/>
                </a:spcBef>
                <a:spcAft>
                  <a:spcPts val="0"/>
                </a:spcAft>
                <a:buClr>
                  <a:srgbClr val="FFFFFF"/>
                </a:buClr>
                <a:buSzPts val="4227"/>
                <a:buFont typeface="Lato Black"/>
                <a:buNone/>
              </a:pPr>
              <a:r>
                <a:rPr b="0" i="0" lang="en" sz="4227" u="none" cap="none" strike="noStrike">
                  <a:solidFill>
                    <a:srgbClr val="FFFFFF"/>
                  </a:solidFill>
                  <a:latin typeface="Lato Black"/>
                  <a:ea typeface="Lato Black"/>
                  <a:cs typeface="Lato Black"/>
                  <a:sym typeface="Lato Black"/>
                </a:rPr>
                <a:t>#12</a:t>
              </a:r>
              <a:endParaRPr sz="1232"/>
            </a:p>
          </p:txBody>
        </p:sp>
        <p:sp>
          <p:nvSpPr>
            <p:cNvPr id="233" name="Google Shape;233;p32"/>
            <p:cNvSpPr/>
            <p:nvPr/>
          </p:nvSpPr>
          <p:spPr>
            <a:xfrm>
              <a:off x="11696386" y="8823771"/>
              <a:ext cx="2379000" cy="1269900"/>
            </a:xfrm>
            <a:prstGeom prst="rect">
              <a:avLst/>
            </a:prstGeom>
            <a:solidFill>
              <a:srgbClr val="CACCD1"/>
            </a:solidFill>
            <a:ln cap="flat" cmpd="sng" w="55925">
              <a:solidFill>
                <a:srgbClr val="F48924"/>
              </a:solidFill>
              <a:prstDash val="solid"/>
              <a:miter lim="400000"/>
              <a:headEnd len="sm" w="sm" type="none"/>
              <a:tailEnd len="sm" w="sm" type="none"/>
            </a:ln>
          </p:spPr>
          <p:txBody>
            <a:bodyPr anchorCtr="0" anchor="ctr" bIns="40250" lIns="40250" spcFirstLastPara="1" rIns="40250" wrap="square" tIns="40250">
              <a:noAutofit/>
            </a:bodyPr>
            <a:lstStyle/>
            <a:p>
              <a:pPr indent="0" lvl="0" marL="0" marR="0" rtl="0" algn="ctr">
                <a:lnSpc>
                  <a:spcPct val="90000"/>
                </a:lnSpc>
                <a:spcBef>
                  <a:spcPts val="0"/>
                </a:spcBef>
                <a:spcAft>
                  <a:spcPts val="0"/>
                </a:spcAft>
                <a:buClr>
                  <a:srgbClr val="52565E"/>
                </a:buClr>
                <a:buSzPts val="2202"/>
                <a:buFont typeface="Lato Black"/>
                <a:buNone/>
              </a:pPr>
              <a:r>
                <a:rPr b="0" i="0" lang="en" sz="2201" u="none" cap="none" strike="noStrike">
                  <a:solidFill>
                    <a:srgbClr val="52565E"/>
                  </a:solidFill>
                  <a:latin typeface="Lato Black"/>
                  <a:ea typeface="Lato Black"/>
                  <a:cs typeface="Lato Black"/>
                  <a:sym typeface="Lato Black"/>
                </a:rPr>
                <a:t>WORKING</a:t>
              </a:r>
              <a:r>
                <a:rPr b="0" i="0" lang="en" sz="2554" u="none" cap="none" strike="noStrike">
                  <a:solidFill>
                    <a:srgbClr val="52565E"/>
                  </a:solidFill>
                  <a:latin typeface="Lato Black"/>
                  <a:ea typeface="Lato Black"/>
                  <a:cs typeface="Lato Black"/>
                  <a:sym typeface="Lato Black"/>
                </a:rPr>
                <a:t> </a:t>
              </a:r>
              <a:r>
                <a:rPr b="0" i="0" lang="en" sz="3082" u="none" cap="none" strike="noStrike">
                  <a:solidFill>
                    <a:srgbClr val="52565E"/>
                  </a:solidFill>
                  <a:latin typeface="Lato Black"/>
                  <a:ea typeface="Lato Black"/>
                  <a:cs typeface="Lato Black"/>
                  <a:sym typeface="Lato Black"/>
                </a:rPr>
                <a:t>HOURS</a:t>
              </a:r>
              <a:endParaRPr sz="1232"/>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7" name="Shape 237"/>
        <p:cNvGrpSpPr/>
        <p:nvPr/>
      </p:nvGrpSpPr>
      <p:grpSpPr>
        <a:xfrm>
          <a:off x="0" y="0"/>
          <a:ext cx="0" cy="0"/>
          <a:chOff x="0" y="0"/>
          <a:chExt cx="0" cy="0"/>
        </a:xfrm>
      </p:grpSpPr>
      <p:sp>
        <p:nvSpPr>
          <p:cNvPr id="238" name="Google Shape;238;p33"/>
          <p:cNvSpPr txBox="1"/>
          <p:nvPr/>
        </p:nvSpPr>
        <p:spPr>
          <a:xfrm>
            <a:off x="118150" y="1820075"/>
            <a:ext cx="6871800" cy="21651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Duración</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La duración del intercambio debe ser la acordada, es decir, la que aparece en aiesec.org, en expa y en el contrato. Si el EP firmó para comenzar su intercambio el 07 de Julio del 2025, la persona debe comenzar su pasantía o voluntariado dicho dia.</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No se puede reducir sin previo aviso y aceptación del EP.</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Permite una experiencia completa y bien planificada.</a:t>
            </a:r>
            <a:endParaRPr u="sng">
              <a:solidFill>
                <a:schemeClr val="dk1"/>
              </a:solidFill>
              <a:latin typeface="Montserrat"/>
              <a:ea typeface="Montserrat"/>
              <a:cs typeface="Montserrat"/>
              <a:sym typeface="Montserrat"/>
            </a:endParaRPr>
          </a:p>
        </p:txBody>
      </p:sp>
      <p:grpSp>
        <p:nvGrpSpPr>
          <p:cNvPr id="239" name="Google Shape;239;p33"/>
          <p:cNvGrpSpPr/>
          <p:nvPr/>
        </p:nvGrpSpPr>
        <p:grpSpPr>
          <a:xfrm>
            <a:off x="1974650" y="375969"/>
            <a:ext cx="3204724" cy="1118401"/>
            <a:chOff x="0" y="0"/>
            <a:chExt cx="3795268" cy="1269900"/>
          </a:xfrm>
        </p:grpSpPr>
        <p:sp>
          <p:nvSpPr>
            <p:cNvPr id="240" name="Google Shape;240;p33"/>
            <p:cNvSpPr/>
            <p:nvPr/>
          </p:nvSpPr>
          <p:spPr>
            <a:xfrm>
              <a:off x="0" y="0"/>
              <a:ext cx="1273500" cy="1269900"/>
            </a:xfrm>
            <a:prstGeom prst="rect">
              <a:avLst/>
            </a:prstGeom>
            <a:solidFill>
              <a:srgbClr val="F48924"/>
            </a:solidFill>
            <a:ln cap="flat" cmpd="sng" w="55925">
              <a:solidFill>
                <a:srgbClr val="F48924"/>
              </a:solidFill>
              <a:prstDash val="solid"/>
              <a:miter lim="400000"/>
              <a:headEnd len="sm" w="sm" type="none"/>
              <a:tailEnd len="sm" w="sm" type="none"/>
            </a:ln>
          </p:spPr>
          <p:txBody>
            <a:bodyPr anchorCtr="0" anchor="ctr" bIns="40250" lIns="40250" spcFirstLastPara="1" rIns="40250" wrap="square" tIns="40250">
              <a:noAutofit/>
            </a:bodyPr>
            <a:lstStyle/>
            <a:p>
              <a:pPr indent="0" lvl="0" marL="0" marR="0" rtl="0" algn="ctr">
                <a:lnSpc>
                  <a:spcPct val="100000"/>
                </a:lnSpc>
                <a:spcBef>
                  <a:spcPts val="0"/>
                </a:spcBef>
                <a:spcAft>
                  <a:spcPts val="0"/>
                </a:spcAft>
                <a:buClr>
                  <a:srgbClr val="FFFFFF"/>
                </a:buClr>
                <a:buSzPts val="4227"/>
                <a:buFont typeface="Lato Black"/>
                <a:buNone/>
              </a:pPr>
              <a:r>
                <a:rPr b="0" i="0" lang="en" sz="4227" u="none" cap="none" strike="noStrike">
                  <a:solidFill>
                    <a:srgbClr val="FFFFFF"/>
                  </a:solidFill>
                  <a:latin typeface="Lato Black"/>
                  <a:ea typeface="Lato Black"/>
                  <a:cs typeface="Lato Black"/>
                  <a:sym typeface="Lato Black"/>
                </a:rPr>
                <a:t>#13</a:t>
              </a:r>
              <a:endParaRPr sz="1232"/>
            </a:p>
          </p:txBody>
        </p:sp>
        <p:sp>
          <p:nvSpPr>
            <p:cNvPr id="241" name="Google Shape;241;p33"/>
            <p:cNvSpPr/>
            <p:nvPr/>
          </p:nvSpPr>
          <p:spPr>
            <a:xfrm>
              <a:off x="1416268" y="0"/>
              <a:ext cx="2379000" cy="1269900"/>
            </a:xfrm>
            <a:prstGeom prst="rect">
              <a:avLst/>
            </a:prstGeom>
            <a:solidFill>
              <a:srgbClr val="CACCD1"/>
            </a:solidFill>
            <a:ln cap="flat" cmpd="sng" w="55925">
              <a:solidFill>
                <a:srgbClr val="F48924"/>
              </a:solidFill>
              <a:prstDash val="solid"/>
              <a:miter lim="400000"/>
              <a:headEnd len="sm" w="sm" type="none"/>
              <a:tailEnd len="sm" w="sm" type="none"/>
            </a:ln>
          </p:spPr>
          <p:txBody>
            <a:bodyPr anchorCtr="0" anchor="ctr" bIns="40250" lIns="40250" spcFirstLastPara="1" rIns="40250" wrap="square" tIns="40250">
              <a:noAutofit/>
            </a:bodyPr>
            <a:lstStyle/>
            <a:p>
              <a:pPr indent="0" lvl="0" marL="0" marR="0" rtl="0" algn="ctr">
                <a:lnSpc>
                  <a:spcPct val="90000"/>
                </a:lnSpc>
                <a:spcBef>
                  <a:spcPts val="0"/>
                </a:spcBef>
                <a:spcAft>
                  <a:spcPts val="0"/>
                </a:spcAft>
                <a:buClr>
                  <a:srgbClr val="52565E"/>
                </a:buClr>
                <a:buSzPts val="2642"/>
                <a:buFont typeface="Lato Black"/>
                <a:buNone/>
              </a:pPr>
              <a:r>
                <a:rPr b="0" i="0" lang="en" sz="2642" u="none" cap="none" strike="noStrike">
                  <a:solidFill>
                    <a:srgbClr val="52565E"/>
                  </a:solidFill>
                  <a:latin typeface="Lato Black"/>
                  <a:ea typeface="Lato Black"/>
                  <a:cs typeface="Lato Black"/>
                  <a:sym typeface="Lato Black"/>
                </a:rPr>
                <a:t>DURATION</a:t>
              </a:r>
              <a:endParaRPr sz="1232"/>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5" name="Shape 245"/>
        <p:cNvGrpSpPr/>
        <p:nvPr/>
      </p:nvGrpSpPr>
      <p:grpSpPr>
        <a:xfrm>
          <a:off x="0" y="0"/>
          <a:ext cx="0" cy="0"/>
          <a:chOff x="0" y="0"/>
          <a:chExt cx="0" cy="0"/>
        </a:xfrm>
      </p:grpSpPr>
      <p:sp>
        <p:nvSpPr>
          <p:cNvPr id="246" name="Google Shape;246;p34"/>
          <p:cNvSpPr txBox="1"/>
          <p:nvPr/>
        </p:nvSpPr>
        <p:spPr>
          <a:xfrm>
            <a:off x="118175" y="2148975"/>
            <a:ext cx="6871800" cy="21651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Beneficios de la Oportunidad</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Se deben cumplir los beneficios ofrecidos en la oportunidad, es decir, si en aiesec.org, en expa y en el contrato se ofrece 1 comida al dia, el pago del traslado del lugar donde se realiza el intercambio al lugar donde vive el EP, esto se debe cumplir, lo mismo con el salario, se debe pagar en tiempo y forma.</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Salario, comida, transporte o alojamiento (según lo prometido).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✅Todas las oportunidades de GTe y GTa de más de 8 semanas deben proporcionar un salario que ayude a los EP a cubrir al menos los gastos básicos (alojamiento, comida, transporte, desarrollo personal).</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✅Las oportunidades de GTa con una duración de 6 a 8 semanas deben cubrir el coste del alojamiento u ofrecer un salario que ayude a los EP a cubrir al menos los costos de vida básicos.</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Debemos garantizar que el EP reciba lo acordado.</a:t>
            </a:r>
            <a:endParaRPr u="sng">
              <a:solidFill>
                <a:schemeClr val="dk1"/>
              </a:solidFill>
              <a:latin typeface="Montserrat"/>
              <a:ea typeface="Montserrat"/>
              <a:cs typeface="Montserrat"/>
              <a:sym typeface="Montserrat"/>
            </a:endParaRPr>
          </a:p>
        </p:txBody>
      </p:sp>
      <p:grpSp>
        <p:nvGrpSpPr>
          <p:cNvPr id="247" name="Google Shape;247;p34"/>
          <p:cNvGrpSpPr/>
          <p:nvPr/>
        </p:nvGrpSpPr>
        <p:grpSpPr>
          <a:xfrm>
            <a:off x="1951699" y="422624"/>
            <a:ext cx="3204724" cy="1118401"/>
            <a:chOff x="0" y="0"/>
            <a:chExt cx="3795268" cy="1269900"/>
          </a:xfrm>
        </p:grpSpPr>
        <p:sp>
          <p:nvSpPr>
            <p:cNvPr id="248" name="Google Shape;248;p34"/>
            <p:cNvSpPr/>
            <p:nvPr/>
          </p:nvSpPr>
          <p:spPr>
            <a:xfrm>
              <a:off x="0" y="0"/>
              <a:ext cx="1273500" cy="1269900"/>
            </a:xfrm>
            <a:prstGeom prst="rect">
              <a:avLst/>
            </a:prstGeom>
            <a:solidFill>
              <a:srgbClr val="F48924"/>
            </a:solidFill>
            <a:ln cap="flat" cmpd="sng" w="55925">
              <a:solidFill>
                <a:srgbClr val="F48924"/>
              </a:solidFill>
              <a:prstDash val="solid"/>
              <a:miter lim="400000"/>
              <a:headEnd len="sm" w="sm" type="none"/>
              <a:tailEnd len="sm" w="sm" type="none"/>
            </a:ln>
          </p:spPr>
          <p:txBody>
            <a:bodyPr anchorCtr="0" anchor="ctr" bIns="40250" lIns="40250" spcFirstLastPara="1" rIns="40250" wrap="square" tIns="40250">
              <a:noAutofit/>
            </a:bodyPr>
            <a:lstStyle/>
            <a:p>
              <a:pPr indent="0" lvl="0" marL="0" marR="0" rtl="0" algn="ctr">
                <a:lnSpc>
                  <a:spcPct val="100000"/>
                </a:lnSpc>
                <a:spcBef>
                  <a:spcPts val="0"/>
                </a:spcBef>
                <a:spcAft>
                  <a:spcPts val="0"/>
                </a:spcAft>
                <a:buClr>
                  <a:srgbClr val="FFFFFF"/>
                </a:buClr>
                <a:buSzPts val="4227"/>
                <a:buFont typeface="Lato Black"/>
                <a:buNone/>
              </a:pPr>
              <a:r>
                <a:rPr b="0" i="0" lang="en" sz="4227" u="none" cap="none" strike="noStrike">
                  <a:solidFill>
                    <a:srgbClr val="FFFFFF"/>
                  </a:solidFill>
                  <a:latin typeface="Lato Black"/>
                  <a:ea typeface="Lato Black"/>
                  <a:cs typeface="Lato Black"/>
                  <a:sym typeface="Lato Black"/>
                </a:rPr>
                <a:t>#1</a:t>
              </a:r>
              <a:r>
                <a:rPr lang="en" sz="4227">
                  <a:solidFill>
                    <a:srgbClr val="FFFFFF"/>
                  </a:solidFill>
                  <a:latin typeface="Lato Black"/>
                  <a:ea typeface="Lato Black"/>
                  <a:cs typeface="Lato Black"/>
                  <a:sym typeface="Lato Black"/>
                </a:rPr>
                <a:t>4</a:t>
              </a:r>
              <a:endParaRPr sz="1232"/>
            </a:p>
          </p:txBody>
        </p:sp>
        <p:sp>
          <p:nvSpPr>
            <p:cNvPr id="249" name="Google Shape;249;p34"/>
            <p:cNvSpPr/>
            <p:nvPr/>
          </p:nvSpPr>
          <p:spPr>
            <a:xfrm>
              <a:off x="1416268" y="0"/>
              <a:ext cx="2379000" cy="1269900"/>
            </a:xfrm>
            <a:prstGeom prst="rect">
              <a:avLst/>
            </a:prstGeom>
            <a:solidFill>
              <a:srgbClr val="CACCD1"/>
            </a:solidFill>
            <a:ln cap="flat" cmpd="sng" w="55925">
              <a:solidFill>
                <a:srgbClr val="F48924"/>
              </a:solidFill>
              <a:prstDash val="solid"/>
              <a:miter lim="400000"/>
              <a:headEnd len="sm" w="sm" type="none"/>
              <a:tailEnd len="sm" w="sm" type="none"/>
            </a:ln>
          </p:spPr>
          <p:txBody>
            <a:bodyPr anchorCtr="0" anchor="ctr" bIns="40250" lIns="40250" spcFirstLastPara="1" rIns="40250" wrap="square" tIns="40250">
              <a:noAutofit/>
            </a:bodyPr>
            <a:lstStyle/>
            <a:p>
              <a:pPr indent="0" lvl="0" marL="0" rtl="0" algn="ctr">
                <a:lnSpc>
                  <a:spcPct val="90000"/>
                </a:lnSpc>
                <a:spcBef>
                  <a:spcPts val="0"/>
                </a:spcBef>
                <a:spcAft>
                  <a:spcPts val="0"/>
                </a:spcAft>
                <a:buClr>
                  <a:srgbClr val="52565E"/>
                </a:buClr>
                <a:buSzPts val="1849"/>
                <a:buFont typeface="Lato Black"/>
                <a:buNone/>
              </a:pPr>
              <a:r>
                <a:rPr lang="en" sz="1849">
                  <a:solidFill>
                    <a:srgbClr val="52565E"/>
                  </a:solidFill>
                  <a:latin typeface="Lato Black"/>
                  <a:ea typeface="Lato Black"/>
                  <a:cs typeface="Lato Black"/>
                  <a:sym typeface="Lato Black"/>
                </a:rPr>
                <a:t>OPPORTUNITY </a:t>
              </a:r>
              <a:r>
                <a:rPr lang="en" sz="2554">
                  <a:solidFill>
                    <a:srgbClr val="52565E"/>
                  </a:solidFill>
                  <a:latin typeface="Lato Black"/>
                  <a:ea typeface="Lato Black"/>
                  <a:cs typeface="Lato Black"/>
                  <a:sym typeface="Lato Black"/>
                </a:rPr>
                <a:t>BENEFITS</a:t>
              </a:r>
              <a:endParaRPr sz="1232"/>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3" name="Shape 253"/>
        <p:cNvGrpSpPr/>
        <p:nvPr/>
      </p:nvGrpSpPr>
      <p:grpSpPr>
        <a:xfrm>
          <a:off x="0" y="0"/>
          <a:ext cx="0" cy="0"/>
          <a:chOff x="0" y="0"/>
          <a:chExt cx="0" cy="0"/>
        </a:xfrm>
      </p:grpSpPr>
      <p:sp>
        <p:nvSpPr>
          <p:cNvPr id="254" name="Google Shape;254;p35"/>
          <p:cNvSpPr txBox="1"/>
          <p:nvPr/>
        </p:nvSpPr>
        <p:spPr>
          <a:xfrm>
            <a:off x="118175" y="1911425"/>
            <a:ext cx="6871800" cy="21651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Educación en Liderazgo Basado en Valores</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AIESEC host debe brindar espacios de desarrollo en liderazgo.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Ayuda a que el EP crezca como profesional y persona.</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Refuerza los valores de AIESEC en la experiencia, esto ayuda a que el EP aprenda al menos uno de los valores de AIESEC.</a:t>
            </a:r>
            <a:endParaRPr u="sng">
              <a:solidFill>
                <a:schemeClr val="dk1"/>
              </a:solidFill>
              <a:latin typeface="Montserrat"/>
              <a:ea typeface="Montserrat"/>
              <a:cs typeface="Montserrat"/>
              <a:sym typeface="Montserrat"/>
            </a:endParaRPr>
          </a:p>
        </p:txBody>
      </p:sp>
      <p:grpSp>
        <p:nvGrpSpPr>
          <p:cNvPr id="255" name="Google Shape;255;p35"/>
          <p:cNvGrpSpPr/>
          <p:nvPr/>
        </p:nvGrpSpPr>
        <p:grpSpPr>
          <a:xfrm>
            <a:off x="2037487" y="342751"/>
            <a:ext cx="3033181" cy="1057587"/>
            <a:chOff x="0" y="0"/>
            <a:chExt cx="3804793" cy="1271903"/>
          </a:xfrm>
        </p:grpSpPr>
        <p:sp>
          <p:nvSpPr>
            <p:cNvPr id="256" name="Google Shape;256;p35"/>
            <p:cNvSpPr/>
            <p:nvPr/>
          </p:nvSpPr>
          <p:spPr>
            <a:xfrm>
              <a:off x="0" y="0"/>
              <a:ext cx="1273500" cy="1269900"/>
            </a:xfrm>
            <a:prstGeom prst="rect">
              <a:avLst/>
            </a:prstGeom>
            <a:solidFill>
              <a:srgbClr val="F48924"/>
            </a:solidFill>
            <a:ln cap="flat" cmpd="sng" w="52800">
              <a:solidFill>
                <a:srgbClr val="F48924"/>
              </a:solidFill>
              <a:prstDash val="solid"/>
              <a:miter lim="400000"/>
              <a:headEnd len="sm" w="sm" type="none"/>
              <a:tailEnd len="sm" w="sm" type="none"/>
            </a:ln>
          </p:spPr>
          <p:txBody>
            <a:bodyPr anchorCtr="0" anchor="ctr" bIns="38000" lIns="38000" spcFirstLastPara="1" rIns="38000" wrap="square" tIns="38000">
              <a:noAutofit/>
            </a:bodyPr>
            <a:lstStyle/>
            <a:p>
              <a:pPr indent="0" lvl="0" marL="0" marR="0" rtl="0" algn="ctr">
                <a:lnSpc>
                  <a:spcPct val="100000"/>
                </a:lnSpc>
                <a:spcBef>
                  <a:spcPts val="0"/>
                </a:spcBef>
                <a:spcAft>
                  <a:spcPts val="0"/>
                </a:spcAft>
                <a:buClr>
                  <a:srgbClr val="FFFFFF"/>
                </a:buClr>
                <a:buSzPts val="3991"/>
                <a:buFont typeface="Lato Black"/>
                <a:buNone/>
              </a:pPr>
              <a:r>
                <a:rPr b="0" i="0" lang="en" sz="3991" u="none" cap="none" strike="noStrike">
                  <a:solidFill>
                    <a:srgbClr val="FFFFFF"/>
                  </a:solidFill>
                  <a:latin typeface="Lato Black"/>
                  <a:ea typeface="Lato Black"/>
                  <a:cs typeface="Lato Black"/>
                  <a:sym typeface="Lato Black"/>
                </a:rPr>
                <a:t>#1</a:t>
              </a:r>
              <a:r>
                <a:rPr lang="en" sz="3991">
                  <a:solidFill>
                    <a:srgbClr val="FFFFFF"/>
                  </a:solidFill>
                  <a:latin typeface="Lato Black"/>
                  <a:ea typeface="Lato Black"/>
                  <a:cs typeface="Lato Black"/>
                  <a:sym typeface="Lato Black"/>
                </a:rPr>
                <a:t>5</a:t>
              </a:r>
              <a:endParaRPr sz="1164"/>
            </a:p>
          </p:txBody>
        </p:sp>
        <p:sp>
          <p:nvSpPr>
            <p:cNvPr id="257" name="Google Shape;257;p35"/>
            <p:cNvSpPr/>
            <p:nvPr/>
          </p:nvSpPr>
          <p:spPr>
            <a:xfrm>
              <a:off x="1425793" y="2003"/>
              <a:ext cx="2379000" cy="1269900"/>
            </a:xfrm>
            <a:prstGeom prst="rect">
              <a:avLst/>
            </a:prstGeom>
            <a:solidFill>
              <a:srgbClr val="CACCD1"/>
            </a:solidFill>
            <a:ln cap="flat" cmpd="sng" w="52800">
              <a:solidFill>
                <a:srgbClr val="F48924"/>
              </a:solidFill>
              <a:prstDash val="solid"/>
              <a:miter lim="400000"/>
              <a:headEnd len="sm" w="sm" type="none"/>
              <a:tailEnd len="sm" w="sm" type="none"/>
            </a:ln>
          </p:spPr>
          <p:txBody>
            <a:bodyPr anchorCtr="0" anchor="ctr" bIns="38000" lIns="38000" spcFirstLastPara="1" rIns="38000" wrap="square" tIns="38000">
              <a:noAutofit/>
            </a:bodyPr>
            <a:lstStyle/>
            <a:p>
              <a:pPr indent="0" lvl="0" marL="0" rtl="0" algn="ctr">
                <a:lnSpc>
                  <a:spcPct val="90000"/>
                </a:lnSpc>
                <a:spcBef>
                  <a:spcPts val="0"/>
                </a:spcBef>
                <a:spcAft>
                  <a:spcPts val="0"/>
                </a:spcAft>
                <a:buClr>
                  <a:srgbClr val="52565E"/>
                </a:buClr>
                <a:buSzPts val="2162"/>
                <a:buFont typeface="Lato Black"/>
                <a:buNone/>
              </a:pPr>
              <a:r>
                <a:rPr lang="en" sz="1496">
                  <a:solidFill>
                    <a:srgbClr val="52565E"/>
                  </a:solidFill>
                  <a:latin typeface="Lato Black"/>
                  <a:ea typeface="Lato Black"/>
                  <a:cs typeface="Lato Black"/>
                  <a:sym typeface="Lato Black"/>
                </a:rPr>
                <a:t>VALUE-DRIVEN</a:t>
              </a:r>
              <a:r>
                <a:rPr lang="en" sz="1579">
                  <a:solidFill>
                    <a:srgbClr val="52565E"/>
                  </a:solidFill>
                  <a:latin typeface="Lato Black"/>
                  <a:ea typeface="Lato Black"/>
                  <a:cs typeface="Lato Black"/>
                  <a:sym typeface="Lato Black"/>
                </a:rPr>
                <a:t> </a:t>
              </a:r>
              <a:r>
                <a:rPr lang="en" sz="2078">
                  <a:solidFill>
                    <a:srgbClr val="52565E"/>
                  </a:solidFill>
                  <a:latin typeface="Lato Black"/>
                  <a:ea typeface="Lato Black"/>
                  <a:cs typeface="Lato Black"/>
                  <a:sym typeface="Lato Black"/>
                </a:rPr>
                <a:t>LEADERSHIP EDUCATION</a:t>
              </a:r>
              <a:endParaRPr sz="2078">
                <a:solidFill>
                  <a:srgbClr val="52565E"/>
                </a:solidFill>
                <a:latin typeface="Lato Black"/>
                <a:ea typeface="Lato Black"/>
                <a:cs typeface="Lato Black"/>
                <a:sym typeface="Lato Black"/>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1" name="Shape 261"/>
        <p:cNvGrpSpPr/>
        <p:nvPr/>
      </p:nvGrpSpPr>
      <p:grpSpPr>
        <a:xfrm>
          <a:off x="0" y="0"/>
          <a:ext cx="0" cy="0"/>
          <a:chOff x="0" y="0"/>
          <a:chExt cx="0" cy="0"/>
        </a:xfrm>
      </p:grpSpPr>
      <p:sp>
        <p:nvSpPr>
          <p:cNvPr id="262" name="Google Shape;262;p36"/>
          <p:cNvSpPr txBox="1"/>
          <p:nvPr/>
        </p:nvSpPr>
        <p:spPr>
          <a:xfrm>
            <a:off x="118175" y="1911425"/>
            <a:ext cx="6871800" cy="21651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Apoyo en la salida</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AIESEC host debe ayudar al EP con información para su regreso. La idea de esto es brindarle al EP información necesaria al menos dos semanas antes de que finalice su experiencia para poder regresar a su pais.</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Transporte, documentos y asistencia si es necesario.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La idea es facilitar una salida ordenada del país.</a:t>
            </a:r>
            <a:endParaRPr u="sng">
              <a:solidFill>
                <a:schemeClr val="dk1"/>
              </a:solidFill>
              <a:latin typeface="Montserrat"/>
              <a:ea typeface="Montserrat"/>
              <a:cs typeface="Montserrat"/>
              <a:sym typeface="Montserrat"/>
            </a:endParaRPr>
          </a:p>
        </p:txBody>
      </p:sp>
      <p:grpSp>
        <p:nvGrpSpPr>
          <p:cNvPr id="263" name="Google Shape;263;p36"/>
          <p:cNvGrpSpPr/>
          <p:nvPr/>
        </p:nvGrpSpPr>
        <p:grpSpPr>
          <a:xfrm>
            <a:off x="1968790" y="468083"/>
            <a:ext cx="3170567" cy="1108473"/>
            <a:chOff x="10280118" y="8840780"/>
            <a:chExt cx="3795268" cy="1272206"/>
          </a:xfrm>
        </p:grpSpPr>
        <p:sp>
          <p:nvSpPr>
            <p:cNvPr id="264" name="Google Shape;264;p36"/>
            <p:cNvSpPr/>
            <p:nvPr/>
          </p:nvSpPr>
          <p:spPr>
            <a:xfrm>
              <a:off x="10280118" y="8843086"/>
              <a:ext cx="1273500" cy="1269900"/>
            </a:xfrm>
            <a:prstGeom prst="rect">
              <a:avLst/>
            </a:prstGeom>
            <a:solidFill>
              <a:srgbClr val="F48924"/>
            </a:solidFill>
            <a:ln cap="flat" cmpd="sng" w="55325">
              <a:solidFill>
                <a:srgbClr val="F48924"/>
              </a:solidFill>
              <a:prstDash val="solid"/>
              <a:miter lim="400000"/>
              <a:headEnd len="sm" w="sm" type="none"/>
              <a:tailEnd len="sm" w="sm" type="none"/>
            </a:ln>
          </p:spPr>
          <p:txBody>
            <a:bodyPr anchorCtr="0" anchor="ctr" bIns="39825" lIns="39825" spcFirstLastPara="1" rIns="39825" wrap="square" tIns="39825">
              <a:noAutofit/>
            </a:bodyPr>
            <a:lstStyle/>
            <a:p>
              <a:pPr indent="0" lvl="0" marL="0" marR="0" rtl="0" algn="ctr">
                <a:lnSpc>
                  <a:spcPct val="100000"/>
                </a:lnSpc>
                <a:spcBef>
                  <a:spcPts val="0"/>
                </a:spcBef>
                <a:spcAft>
                  <a:spcPts val="0"/>
                </a:spcAft>
                <a:buClr>
                  <a:srgbClr val="FFFFFF"/>
                </a:buClr>
                <a:buSzPts val="4182"/>
                <a:buFont typeface="Lato Black"/>
                <a:buNone/>
              </a:pPr>
              <a:r>
                <a:rPr b="0" i="0" lang="en" sz="4182" u="none" cap="none" strike="noStrike">
                  <a:solidFill>
                    <a:srgbClr val="FFFFFF"/>
                  </a:solidFill>
                  <a:latin typeface="Lato Black"/>
                  <a:ea typeface="Lato Black"/>
                  <a:cs typeface="Lato Black"/>
                  <a:sym typeface="Lato Black"/>
                </a:rPr>
                <a:t>#1</a:t>
              </a:r>
              <a:r>
                <a:rPr lang="en" sz="4182">
                  <a:solidFill>
                    <a:srgbClr val="FFFFFF"/>
                  </a:solidFill>
                  <a:latin typeface="Lato Black"/>
                  <a:ea typeface="Lato Black"/>
                  <a:cs typeface="Lato Black"/>
                  <a:sym typeface="Lato Black"/>
                </a:rPr>
                <a:t>6</a:t>
              </a:r>
              <a:endParaRPr sz="1219"/>
            </a:p>
          </p:txBody>
        </p:sp>
        <p:sp>
          <p:nvSpPr>
            <p:cNvPr id="265" name="Google Shape;265;p36"/>
            <p:cNvSpPr/>
            <p:nvPr/>
          </p:nvSpPr>
          <p:spPr>
            <a:xfrm>
              <a:off x="11696386" y="8840780"/>
              <a:ext cx="2379000" cy="1269900"/>
            </a:xfrm>
            <a:prstGeom prst="rect">
              <a:avLst/>
            </a:prstGeom>
            <a:solidFill>
              <a:srgbClr val="CACCD1"/>
            </a:solidFill>
            <a:ln cap="flat" cmpd="sng" w="55325">
              <a:solidFill>
                <a:srgbClr val="F48924"/>
              </a:solidFill>
              <a:prstDash val="solid"/>
              <a:miter lim="400000"/>
              <a:headEnd len="sm" w="sm" type="none"/>
              <a:tailEnd len="sm" w="sm" type="none"/>
            </a:ln>
          </p:spPr>
          <p:txBody>
            <a:bodyPr anchorCtr="0" anchor="ctr" bIns="39825" lIns="39825" spcFirstLastPara="1" rIns="39825" wrap="square" tIns="39825">
              <a:noAutofit/>
            </a:bodyPr>
            <a:lstStyle/>
            <a:p>
              <a:pPr indent="0" lvl="0" marL="0" rtl="0" algn="ctr">
                <a:lnSpc>
                  <a:spcPct val="90000"/>
                </a:lnSpc>
                <a:spcBef>
                  <a:spcPts val="0"/>
                </a:spcBef>
                <a:spcAft>
                  <a:spcPts val="0"/>
                </a:spcAft>
                <a:buClr>
                  <a:srgbClr val="52565E"/>
                </a:buClr>
                <a:buSzPts val="2265"/>
                <a:buFont typeface="Lato Black"/>
                <a:buNone/>
              </a:pPr>
              <a:r>
                <a:rPr lang="en" sz="2265">
                  <a:solidFill>
                    <a:srgbClr val="52565E"/>
                  </a:solidFill>
                  <a:latin typeface="Lato Black"/>
                  <a:ea typeface="Lato Black"/>
                  <a:cs typeface="Lato Black"/>
                  <a:sym typeface="Lato Black"/>
                </a:rPr>
                <a:t>DEPARTURE</a:t>
              </a:r>
              <a:r>
                <a:rPr lang="en" sz="2091">
                  <a:solidFill>
                    <a:srgbClr val="52565E"/>
                  </a:solidFill>
                  <a:latin typeface="Lato Black"/>
                  <a:ea typeface="Lato Black"/>
                  <a:cs typeface="Lato Black"/>
                  <a:sym typeface="Lato Black"/>
                </a:rPr>
                <a:t> </a:t>
              </a:r>
              <a:r>
                <a:rPr lang="en" sz="2875">
                  <a:solidFill>
                    <a:srgbClr val="52565E"/>
                  </a:solidFill>
                  <a:latin typeface="Lato Black"/>
                  <a:ea typeface="Lato Black"/>
                  <a:cs typeface="Lato Black"/>
                  <a:sym typeface="Lato Black"/>
                </a:rPr>
                <a:t>SUPPORT</a:t>
              </a:r>
              <a:endParaRPr sz="1742">
                <a:solidFill>
                  <a:srgbClr val="52565E"/>
                </a:solidFill>
                <a:latin typeface="Lato Black"/>
                <a:ea typeface="Lato Black"/>
                <a:cs typeface="Lato Black"/>
                <a:sym typeface="Lato Black"/>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9" name="Shape 269"/>
        <p:cNvGrpSpPr/>
        <p:nvPr/>
      </p:nvGrpSpPr>
      <p:grpSpPr>
        <a:xfrm>
          <a:off x="0" y="0"/>
          <a:ext cx="0" cy="0"/>
          <a:chOff x="0" y="0"/>
          <a:chExt cx="0" cy="0"/>
        </a:xfrm>
      </p:grpSpPr>
      <p:sp>
        <p:nvSpPr>
          <p:cNvPr id="270" name="Google Shape;270;p37"/>
          <p:cNvSpPr txBox="1"/>
          <p:nvPr/>
        </p:nvSpPr>
        <p:spPr>
          <a:xfrm>
            <a:off x="118175" y="2179425"/>
            <a:ext cx="7228200" cy="21987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Puntos de revisión</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AIESEC debe hacer seguimientos con el EP.</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Chequear condiciones de trabajo, seguridad y bienestar.</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Garantiza que la experiencia se desarrolle bien.</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AIESEC host debe proporcionar puntos de control  con el EP para evaluar el cumplimiento de los mínimos de seguridad, beneficios, salario, alojamiento, horario de trabajo, alineaciónes, apoyo de AIESEC y proporcionar canal de disputas y quejas.</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Los mínimos son para (GTa) y (GTe)</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Experiencia corta (6-12 semanas): a la llegada y a mitad y final de semana.</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Experiencia de duración media (13-26 semanas): a la llegada y después una vez al mes  mínimo.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Experiencia larga (27-78 semanas): a la llegada y después una vez al mes como mínimo.</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Para Voluntario Global (VG)</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 la llegada y a mitad y final de la semana.</a:t>
            </a:r>
            <a:endParaRPr u="sng">
              <a:solidFill>
                <a:schemeClr val="dk1"/>
              </a:solidFill>
              <a:latin typeface="Montserrat"/>
              <a:ea typeface="Montserrat"/>
              <a:cs typeface="Montserrat"/>
              <a:sym typeface="Montserrat"/>
            </a:endParaRPr>
          </a:p>
        </p:txBody>
      </p:sp>
      <p:grpSp>
        <p:nvGrpSpPr>
          <p:cNvPr id="271" name="Google Shape;271;p37"/>
          <p:cNvGrpSpPr/>
          <p:nvPr/>
        </p:nvGrpSpPr>
        <p:grpSpPr>
          <a:xfrm>
            <a:off x="1961961" y="355874"/>
            <a:ext cx="3184231" cy="1108496"/>
            <a:chOff x="0" y="0"/>
            <a:chExt cx="3804793" cy="1269900"/>
          </a:xfrm>
        </p:grpSpPr>
        <p:sp>
          <p:nvSpPr>
            <p:cNvPr id="272" name="Google Shape;272;p37"/>
            <p:cNvSpPr/>
            <p:nvPr/>
          </p:nvSpPr>
          <p:spPr>
            <a:xfrm>
              <a:off x="0" y="0"/>
              <a:ext cx="1273500" cy="1269900"/>
            </a:xfrm>
            <a:prstGeom prst="rect">
              <a:avLst/>
            </a:prstGeom>
            <a:solidFill>
              <a:srgbClr val="F48924"/>
            </a:solidFill>
            <a:ln cap="flat" cmpd="sng" w="55425">
              <a:solidFill>
                <a:srgbClr val="F48924"/>
              </a:solidFill>
              <a:prstDash val="solid"/>
              <a:miter lim="400000"/>
              <a:headEnd len="sm" w="sm" type="none"/>
              <a:tailEnd len="sm" w="sm" type="none"/>
            </a:ln>
          </p:spPr>
          <p:txBody>
            <a:bodyPr anchorCtr="0" anchor="ctr" bIns="39900" lIns="39900" spcFirstLastPara="1" rIns="39900" wrap="square" tIns="39900">
              <a:noAutofit/>
            </a:bodyPr>
            <a:lstStyle/>
            <a:p>
              <a:pPr indent="0" lvl="0" marL="0" marR="0" rtl="0" algn="ctr">
                <a:lnSpc>
                  <a:spcPct val="100000"/>
                </a:lnSpc>
                <a:spcBef>
                  <a:spcPts val="0"/>
                </a:spcBef>
                <a:spcAft>
                  <a:spcPts val="0"/>
                </a:spcAft>
                <a:buClr>
                  <a:srgbClr val="FFFFFF"/>
                </a:buClr>
                <a:buSzPts val="4190"/>
                <a:buFont typeface="Lato Black"/>
                <a:buNone/>
              </a:pPr>
              <a:r>
                <a:rPr b="0" i="0" lang="en" sz="4189" u="none" cap="none" strike="noStrike">
                  <a:solidFill>
                    <a:srgbClr val="FFFFFF"/>
                  </a:solidFill>
                  <a:latin typeface="Lato Black"/>
                  <a:ea typeface="Lato Black"/>
                  <a:cs typeface="Lato Black"/>
                  <a:sym typeface="Lato Black"/>
                </a:rPr>
                <a:t>#1</a:t>
              </a:r>
              <a:r>
                <a:rPr lang="en" sz="4189">
                  <a:solidFill>
                    <a:srgbClr val="FFFFFF"/>
                  </a:solidFill>
                  <a:latin typeface="Lato Black"/>
                  <a:ea typeface="Lato Black"/>
                  <a:cs typeface="Lato Black"/>
                  <a:sym typeface="Lato Black"/>
                </a:rPr>
                <a:t>7</a:t>
              </a:r>
              <a:endParaRPr sz="1222"/>
            </a:p>
          </p:txBody>
        </p:sp>
        <p:sp>
          <p:nvSpPr>
            <p:cNvPr id="273" name="Google Shape;273;p37"/>
            <p:cNvSpPr/>
            <p:nvPr/>
          </p:nvSpPr>
          <p:spPr>
            <a:xfrm>
              <a:off x="1425793" y="0"/>
              <a:ext cx="2379000" cy="1269900"/>
            </a:xfrm>
            <a:prstGeom prst="rect">
              <a:avLst/>
            </a:prstGeom>
            <a:solidFill>
              <a:srgbClr val="CACCD1"/>
            </a:solidFill>
            <a:ln cap="flat" cmpd="sng" w="55425">
              <a:solidFill>
                <a:srgbClr val="F48924"/>
              </a:solidFill>
              <a:prstDash val="solid"/>
              <a:miter lim="400000"/>
              <a:headEnd len="sm" w="sm" type="none"/>
              <a:tailEnd len="sm" w="sm" type="none"/>
            </a:ln>
          </p:spPr>
          <p:txBody>
            <a:bodyPr anchorCtr="0" anchor="ctr" bIns="39900" lIns="39900" spcFirstLastPara="1" rIns="39900" wrap="square" tIns="39900">
              <a:noAutofit/>
            </a:bodyPr>
            <a:lstStyle/>
            <a:p>
              <a:pPr indent="0" lvl="0" marL="0" rtl="0" algn="ctr">
                <a:lnSpc>
                  <a:spcPct val="90000"/>
                </a:lnSpc>
                <a:spcBef>
                  <a:spcPts val="0"/>
                </a:spcBef>
                <a:spcAft>
                  <a:spcPts val="0"/>
                </a:spcAft>
                <a:buClr>
                  <a:srgbClr val="52565E"/>
                </a:buClr>
                <a:buSzPts val="2182"/>
                <a:buFont typeface="Lato Black"/>
                <a:buNone/>
              </a:pPr>
              <a:r>
                <a:rPr lang="en" sz="2618">
                  <a:solidFill>
                    <a:srgbClr val="52565E"/>
                  </a:solidFill>
                  <a:latin typeface="Lato Black"/>
                  <a:ea typeface="Lato Black"/>
                  <a:cs typeface="Lato Black"/>
                  <a:sym typeface="Lato Black"/>
                </a:rPr>
                <a:t>REVIEW</a:t>
              </a:r>
              <a:endParaRPr sz="2618">
                <a:solidFill>
                  <a:srgbClr val="52565E"/>
                </a:solidFill>
                <a:latin typeface="Lato Black"/>
                <a:ea typeface="Lato Black"/>
                <a:cs typeface="Lato Black"/>
                <a:sym typeface="Lato Black"/>
              </a:endParaRPr>
            </a:p>
            <a:p>
              <a:pPr indent="0" lvl="0" marL="0" rtl="0" algn="ctr">
                <a:lnSpc>
                  <a:spcPct val="90000"/>
                </a:lnSpc>
                <a:spcBef>
                  <a:spcPts val="0"/>
                </a:spcBef>
                <a:spcAft>
                  <a:spcPts val="0"/>
                </a:spcAft>
                <a:buClr>
                  <a:srgbClr val="52565E"/>
                </a:buClr>
                <a:buSzPts val="2182"/>
                <a:buFont typeface="Lato Black"/>
                <a:buNone/>
              </a:pPr>
              <a:r>
                <a:rPr lang="en" sz="2094">
                  <a:solidFill>
                    <a:srgbClr val="52565E"/>
                  </a:solidFill>
                  <a:latin typeface="Lato Black"/>
                  <a:ea typeface="Lato Black"/>
                  <a:cs typeface="Lato Black"/>
                  <a:sym typeface="Lato Black"/>
                </a:rPr>
                <a:t>CHECKPOINTS</a:t>
              </a:r>
              <a:endParaRPr sz="2094">
                <a:solidFill>
                  <a:srgbClr val="52565E"/>
                </a:solidFill>
                <a:latin typeface="Lato Black"/>
                <a:ea typeface="Lato Black"/>
                <a:cs typeface="Lato Black"/>
                <a:sym typeface="Lato Black"/>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38"/>
          <p:cNvSpPr txBox="1"/>
          <p:nvPr/>
        </p:nvSpPr>
        <p:spPr>
          <a:xfrm>
            <a:off x="118175" y="2179425"/>
            <a:ext cx="7228200" cy="21987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100"/>
              <a:buFont typeface="Arial"/>
              <a:buNone/>
            </a:pPr>
            <a:r>
              <a:rPr lang="en" u="sng">
                <a:solidFill>
                  <a:schemeClr val="dk1"/>
                </a:solidFill>
                <a:latin typeface="Montserrat"/>
                <a:ea typeface="Montserrat"/>
                <a:cs typeface="Montserrat"/>
                <a:sym typeface="Montserrat"/>
              </a:rPr>
              <a:t>Revision con Aiesec (seminario de reintegración)(RIS)</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u="sng">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Al volver, el EP tiene una reunión de cierre con AIESEC home, generalmente por comodidad esta reunión sucede via meet.</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En esta MEET se evalúa su experiencia y su crecimiento personal.</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Espacio deberá incluir como mínimo lo siguiente</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Un espacio para analizar el logro de objetivos personales y el desarrollo del liderazgo. Analizar la entrega de los Estándares de Intercambio y ayudar a cumplimentar la encuesta.</a:t>
            </a:r>
            <a:endParaRPr>
              <a:solidFill>
                <a:schemeClr val="dk1"/>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Además nos permite mejorar futuros intercambios.</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Clr>
                <a:schemeClr val="dk1"/>
              </a:buClr>
              <a:buSzPts val="1100"/>
              <a:buFont typeface="Arial"/>
              <a:buNone/>
            </a:pPr>
            <a:r>
              <a:rPr lang="en">
                <a:solidFill>
                  <a:schemeClr val="lt1"/>
                </a:solidFill>
                <a:latin typeface="Montserrat"/>
                <a:ea typeface="Montserrat"/>
                <a:cs typeface="Montserrat"/>
                <a:sym typeface="Montserrat"/>
              </a:rPr>
              <a:t>🎯</a:t>
            </a:r>
            <a:r>
              <a:rPr lang="en">
                <a:solidFill>
                  <a:schemeClr val="dk1"/>
                </a:solidFill>
                <a:latin typeface="Montserrat"/>
                <a:ea typeface="Montserrat"/>
                <a:cs typeface="Montserrat"/>
                <a:sym typeface="Montserrat"/>
              </a:rPr>
              <a:t>Tener en cuenta que esta reunión (RIS) debe pasar en un plazo máximo de 2 semanas tras finalizar la experiencia.</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1200"/>
              </a:spcAft>
              <a:buClr>
                <a:schemeClr val="dk1"/>
              </a:buClr>
              <a:buSzPts val="1100"/>
              <a:buFont typeface="Arial"/>
              <a:buNone/>
            </a:pPr>
            <a:r>
              <a:rPr lang="en">
                <a:solidFill>
                  <a:schemeClr val="dk1"/>
                </a:solidFill>
                <a:latin typeface="Montserrat"/>
                <a:ea typeface="Montserrat"/>
                <a:cs typeface="Montserrat"/>
                <a:sym typeface="Montserrat"/>
              </a:rPr>
              <a:t>LINK para acceder al RIS: </a:t>
            </a:r>
            <a:r>
              <a:rPr lang="en" u="sng">
                <a:solidFill>
                  <a:schemeClr val="hlink"/>
                </a:solidFill>
                <a:latin typeface="Montserrat"/>
                <a:ea typeface="Montserrat"/>
                <a:cs typeface="Montserrat"/>
                <a:sym typeface="Montserrat"/>
                <a:hlinkClick r:id="rId4"/>
              </a:rPr>
              <a:t>RIS</a:t>
            </a:r>
            <a:endParaRPr u="sng">
              <a:solidFill>
                <a:schemeClr val="dk1"/>
              </a:solidFill>
              <a:latin typeface="Montserrat"/>
              <a:ea typeface="Montserrat"/>
              <a:cs typeface="Montserrat"/>
              <a:sym typeface="Montserrat"/>
            </a:endParaRPr>
          </a:p>
        </p:txBody>
      </p:sp>
      <p:grpSp>
        <p:nvGrpSpPr>
          <p:cNvPr id="279" name="Google Shape;279;p38"/>
          <p:cNvGrpSpPr/>
          <p:nvPr/>
        </p:nvGrpSpPr>
        <p:grpSpPr>
          <a:xfrm>
            <a:off x="2140200" y="294044"/>
            <a:ext cx="3184139" cy="1115861"/>
            <a:chOff x="0" y="0"/>
            <a:chExt cx="3779393" cy="1269900"/>
          </a:xfrm>
        </p:grpSpPr>
        <p:sp>
          <p:nvSpPr>
            <p:cNvPr id="280" name="Google Shape;280;p38"/>
            <p:cNvSpPr/>
            <p:nvPr/>
          </p:nvSpPr>
          <p:spPr>
            <a:xfrm>
              <a:off x="0" y="0"/>
              <a:ext cx="1273500" cy="1269900"/>
            </a:xfrm>
            <a:prstGeom prst="rect">
              <a:avLst/>
            </a:prstGeom>
            <a:solidFill>
              <a:srgbClr val="30C39E"/>
            </a:solidFill>
            <a:ln cap="flat" cmpd="sng" w="55800">
              <a:solidFill>
                <a:srgbClr val="30C39E"/>
              </a:solidFill>
              <a:prstDash val="solid"/>
              <a:miter lim="400000"/>
              <a:headEnd len="sm" w="sm" type="none"/>
              <a:tailEnd len="sm" w="sm" type="none"/>
            </a:ln>
          </p:spPr>
          <p:txBody>
            <a:bodyPr anchorCtr="0" anchor="ctr" bIns="40150" lIns="40150" spcFirstLastPara="1" rIns="40150" wrap="square" tIns="40150">
              <a:noAutofit/>
            </a:bodyPr>
            <a:lstStyle/>
            <a:p>
              <a:pPr indent="0" lvl="0" marL="0" marR="0" rtl="0" algn="ctr">
                <a:lnSpc>
                  <a:spcPct val="100000"/>
                </a:lnSpc>
                <a:spcBef>
                  <a:spcPts val="0"/>
                </a:spcBef>
                <a:spcAft>
                  <a:spcPts val="0"/>
                </a:spcAft>
                <a:buClr>
                  <a:srgbClr val="FFFFFF"/>
                </a:buClr>
                <a:buSzPts val="4218"/>
                <a:buFont typeface="Lato Black"/>
                <a:buNone/>
              </a:pPr>
              <a:r>
                <a:rPr b="0" i="0" lang="en" sz="4217" u="none" cap="none" strike="noStrike">
                  <a:solidFill>
                    <a:srgbClr val="FFFFFF"/>
                  </a:solidFill>
                  <a:latin typeface="Lato Black"/>
                  <a:ea typeface="Lato Black"/>
                  <a:cs typeface="Lato Black"/>
                  <a:sym typeface="Lato Black"/>
                </a:rPr>
                <a:t>#1</a:t>
              </a:r>
              <a:r>
                <a:rPr lang="en" sz="4217">
                  <a:solidFill>
                    <a:srgbClr val="FFFFFF"/>
                  </a:solidFill>
                  <a:latin typeface="Lato Black"/>
                  <a:ea typeface="Lato Black"/>
                  <a:cs typeface="Lato Black"/>
                  <a:sym typeface="Lato Black"/>
                </a:rPr>
                <a:t>8</a:t>
              </a:r>
              <a:endParaRPr sz="1230"/>
            </a:p>
          </p:txBody>
        </p:sp>
        <p:sp>
          <p:nvSpPr>
            <p:cNvPr id="281" name="Google Shape;281;p38"/>
            <p:cNvSpPr/>
            <p:nvPr/>
          </p:nvSpPr>
          <p:spPr>
            <a:xfrm>
              <a:off x="1400393" y="0"/>
              <a:ext cx="2379000" cy="1269900"/>
            </a:xfrm>
            <a:prstGeom prst="rect">
              <a:avLst/>
            </a:prstGeom>
            <a:solidFill>
              <a:srgbClr val="F3F4F7"/>
            </a:solidFill>
            <a:ln cap="flat" cmpd="sng" w="55800">
              <a:solidFill>
                <a:srgbClr val="30C39E"/>
              </a:solidFill>
              <a:prstDash val="solid"/>
              <a:miter lim="400000"/>
              <a:headEnd len="sm" w="sm" type="none"/>
              <a:tailEnd len="sm" w="sm" type="none"/>
            </a:ln>
          </p:spPr>
          <p:txBody>
            <a:bodyPr anchorCtr="0" anchor="ctr" bIns="40150" lIns="40150" spcFirstLastPara="1" rIns="40150" wrap="square" tIns="40150">
              <a:noAutofit/>
            </a:bodyPr>
            <a:lstStyle/>
            <a:p>
              <a:pPr indent="0" lvl="0" marL="0" marR="0" rtl="0" algn="ctr">
                <a:lnSpc>
                  <a:spcPct val="90000"/>
                </a:lnSpc>
                <a:spcBef>
                  <a:spcPts val="0"/>
                </a:spcBef>
                <a:spcAft>
                  <a:spcPts val="0"/>
                </a:spcAft>
                <a:buClr>
                  <a:srgbClr val="52565E"/>
                </a:buClr>
                <a:buSzPts val="2900"/>
                <a:buFont typeface="Lato Black"/>
                <a:buNone/>
              </a:pPr>
              <a:r>
                <a:rPr b="0" i="0" lang="en" sz="2899" u="none" cap="none" strike="noStrike">
                  <a:solidFill>
                    <a:srgbClr val="52565E"/>
                  </a:solidFill>
                  <a:latin typeface="Lato Black"/>
                  <a:ea typeface="Lato Black"/>
                  <a:cs typeface="Lato Black"/>
                  <a:sym typeface="Lato Black"/>
                </a:rPr>
                <a:t>DEBRIEF</a:t>
              </a:r>
              <a:r>
                <a:rPr b="0" i="0" lang="en" sz="2108" u="none" cap="none" strike="noStrike">
                  <a:solidFill>
                    <a:srgbClr val="52565E"/>
                  </a:solidFill>
                  <a:latin typeface="Lato Black"/>
                  <a:ea typeface="Lato Black"/>
                  <a:cs typeface="Lato Black"/>
                  <a:sym typeface="Lato Black"/>
                </a:rPr>
                <a:t> </a:t>
              </a:r>
              <a:endParaRPr sz="1230"/>
            </a:p>
            <a:p>
              <a:pPr indent="0" lvl="0" marL="0" marR="0" rtl="0" algn="ctr">
                <a:lnSpc>
                  <a:spcPct val="90000"/>
                </a:lnSpc>
                <a:spcBef>
                  <a:spcPts val="0"/>
                </a:spcBef>
                <a:spcAft>
                  <a:spcPts val="0"/>
                </a:spcAft>
                <a:buClr>
                  <a:srgbClr val="52565E"/>
                </a:buClr>
                <a:buSzPts val="1845"/>
                <a:buFont typeface="Lato Black"/>
                <a:buNone/>
              </a:pPr>
              <a:r>
                <a:rPr b="0" i="0" lang="en" sz="1845" u="none" cap="none" strike="noStrike">
                  <a:solidFill>
                    <a:srgbClr val="52565E"/>
                  </a:solidFill>
                  <a:latin typeface="Lato Black"/>
                  <a:ea typeface="Lato Black"/>
                  <a:cs typeface="Lato Black"/>
                  <a:sym typeface="Lato Black"/>
                </a:rPr>
                <a:t>WITH AIESEC</a:t>
              </a:r>
              <a:endParaRPr sz="123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5" name="Shape 285"/>
        <p:cNvGrpSpPr/>
        <p:nvPr/>
      </p:nvGrpSpPr>
      <p:grpSpPr>
        <a:xfrm>
          <a:off x="0" y="0"/>
          <a:ext cx="0" cy="0"/>
          <a:chOff x="0" y="0"/>
          <a:chExt cx="0" cy="0"/>
        </a:xfrm>
      </p:grpSpPr>
      <p:sp>
        <p:nvSpPr>
          <p:cNvPr id="286" name="Google Shape;286;p39"/>
          <p:cNvSpPr txBox="1"/>
          <p:nvPr/>
        </p:nvSpPr>
        <p:spPr>
          <a:xfrm>
            <a:off x="1300050" y="837150"/>
            <a:ext cx="6543900" cy="3469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4000"/>
              <a:buFont typeface="Arial"/>
              <a:buNone/>
            </a:pPr>
            <a:r>
              <a:rPr i="0" lang="en" u="none" cap="none" strike="noStrike">
                <a:solidFill>
                  <a:schemeClr val="dk1"/>
                </a:solidFill>
                <a:latin typeface="Montserrat"/>
                <a:ea typeface="Montserrat"/>
                <a:cs typeface="Montserrat"/>
                <a:sym typeface="Montserrat"/>
              </a:rPr>
              <a:t>¿Cómo aseguramos una experiencia completa?</a:t>
            </a:r>
            <a:endParaRPr i="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3600"/>
              <a:buFont typeface="Arial"/>
              <a:buNone/>
            </a:pPr>
            <a:r>
              <a:rPr i="0" lang="en" u="none" cap="none" strike="noStrike">
                <a:solidFill>
                  <a:schemeClr val="dk1"/>
                </a:solidFill>
                <a:latin typeface="Montserrat"/>
                <a:ea typeface="Montserrat"/>
                <a:cs typeface="Montserrat"/>
                <a:sym typeface="Montserrat"/>
              </a:rPr>
              <a:t>📌 Para que una experiencia sea "Complete" (CO) se deben cumplir al menos 16 de los 18 estándares.</a:t>
            </a:r>
            <a:br>
              <a:rPr i="0" lang="en" u="none" cap="none" strike="noStrike">
                <a:solidFill>
                  <a:schemeClr val="dk1"/>
                </a:solidFill>
                <a:latin typeface="Montserrat"/>
                <a:ea typeface="Montserrat"/>
                <a:cs typeface="Montserrat"/>
                <a:sym typeface="Montserrat"/>
              </a:rPr>
            </a:br>
            <a:r>
              <a:rPr i="0" lang="en" u="none" cap="none" strike="noStrike">
                <a:solidFill>
                  <a:schemeClr val="dk1"/>
                </a:solidFill>
                <a:latin typeface="Montserrat"/>
                <a:ea typeface="Montserrat"/>
                <a:cs typeface="Montserrat"/>
                <a:sym typeface="Montserrat"/>
              </a:rPr>
              <a:t>✅ 13 estándares son obligatorios.</a:t>
            </a:r>
            <a:br>
              <a:rPr i="0" lang="en" u="none" cap="none" strike="noStrike">
                <a:solidFill>
                  <a:schemeClr val="dk1"/>
                </a:solidFill>
                <a:latin typeface="Montserrat"/>
                <a:ea typeface="Montserrat"/>
                <a:cs typeface="Montserrat"/>
                <a:sym typeface="Montserrat"/>
              </a:rPr>
            </a:br>
            <a:r>
              <a:rPr i="0" lang="en" u="none" cap="none" strike="noStrike">
                <a:solidFill>
                  <a:schemeClr val="dk1"/>
                </a:solidFill>
                <a:latin typeface="Montserrat"/>
                <a:ea typeface="Montserrat"/>
                <a:cs typeface="Montserrat"/>
                <a:sym typeface="Montserrat"/>
              </a:rPr>
              <a:t>✅ Solo 2 de los 5 no obligatorios pueden quedar sin cumplir.</a:t>
            </a:r>
            <a:endParaRPr i="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3600"/>
              <a:buFont typeface="Arial"/>
              <a:buNone/>
            </a:pPr>
            <a:r>
              <a:t/>
            </a:r>
            <a:endParaRPr>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Nosotros aseguramos que estos estándares en cada intercambio se cumplan.</a:t>
            </a:r>
            <a:endParaRPr>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Preparamos y guiamos a los EPs en todo momento.</a:t>
            </a:r>
            <a:endParaRPr>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 Nos aseguramos de que reciban lo que se les prometió.</a:t>
            </a:r>
            <a:endParaRPr>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3600"/>
              <a:buFont typeface="Arial"/>
              <a:buNone/>
            </a:pPr>
            <a:r>
              <a:rPr lang="en">
                <a:solidFill>
                  <a:schemeClr val="dk1"/>
                </a:solidFill>
                <a:latin typeface="Montserrat"/>
                <a:ea typeface="Montserrat"/>
                <a:cs typeface="Montserrat"/>
                <a:sym typeface="Montserrat"/>
              </a:rPr>
              <a:t>✅ Construimos experiencias transformadoras y de impacto.</a:t>
            </a:r>
            <a:endParaRPr>
              <a:solidFill>
                <a:schemeClr val="dk1"/>
              </a:solidFill>
              <a:latin typeface="Montserrat"/>
              <a:ea typeface="Montserrat"/>
              <a:cs typeface="Montserrat"/>
              <a:sym typeface="Montserrat"/>
            </a:endParaRPr>
          </a:p>
          <a:p>
            <a:pPr indent="0" lvl="0" marL="0" marR="0" rtl="0" algn="l">
              <a:lnSpc>
                <a:spcPct val="100000"/>
              </a:lnSpc>
              <a:spcBef>
                <a:spcPts val="1200"/>
              </a:spcBef>
              <a:spcAft>
                <a:spcPts val="0"/>
              </a:spcAft>
              <a:buClr>
                <a:srgbClr val="000000"/>
              </a:buClr>
              <a:buSzPts val="3200"/>
              <a:buFont typeface="Arial"/>
              <a:buNone/>
            </a:pPr>
            <a:r>
              <a:t/>
            </a:r>
            <a:endParaRPr i="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0" name="Shape 290"/>
        <p:cNvGrpSpPr/>
        <p:nvPr/>
      </p:nvGrpSpPr>
      <p:grpSpPr>
        <a:xfrm>
          <a:off x="0" y="0"/>
          <a:ext cx="0" cy="0"/>
          <a:chOff x="0" y="0"/>
          <a:chExt cx="0" cy="0"/>
        </a:xfrm>
      </p:grpSpPr>
      <p:sp>
        <p:nvSpPr>
          <p:cNvPr id="291" name="Google Shape;291;p40"/>
          <p:cNvSpPr txBox="1"/>
          <p:nvPr/>
        </p:nvSpPr>
        <p:spPr>
          <a:xfrm>
            <a:off x="58050" y="183225"/>
            <a:ext cx="87864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800">
                <a:solidFill>
                  <a:schemeClr val="lt1"/>
                </a:solidFill>
                <a:highlight>
                  <a:srgbClr val="405E78"/>
                </a:highlight>
                <a:latin typeface="Montserrat"/>
                <a:ea typeface="Montserrat"/>
                <a:cs typeface="Montserrat"/>
                <a:sym typeface="Montserrat"/>
              </a:rPr>
              <a:t>IMPORTANTE:</a:t>
            </a:r>
            <a:endParaRPr sz="28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800">
              <a:solidFill>
                <a:srgbClr val="405E78"/>
              </a:solidFill>
              <a:highlight>
                <a:srgbClr val="405E78"/>
              </a:highlight>
              <a:latin typeface="Nunito"/>
              <a:ea typeface="Nunito"/>
              <a:cs typeface="Nunito"/>
              <a:sym typeface="Nunito"/>
            </a:endParaRPr>
          </a:p>
        </p:txBody>
      </p:sp>
      <p:sp>
        <p:nvSpPr>
          <p:cNvPr id="292" name="Google Shape;292;p40"/>
          <p:cNvSpPr txBox="1"/>
          <p:nvPr/>
        </p:nvSpPr>
        <p:spPr>
          <a:xfrm>
            <a:off x="422250" y="1620600"/>
            <a:ext cx="8058000" cy="1902300"/>
          </a:xfrm>
          <a:prstGeom prst="rect">
            <a:avLst/>
          </a:prstGeom>
          <a:noFill/>
          <a:ln>
            <a:noFill/>
          </a:ln>
        </p:spPr>
        <p:txBody>
          <a:bodyPr anchorCtr="0" anchor="ctr" bIns="182850" lIns="182850" spcFirstLastPara="1" rIns="182850" wrap="square" tIns="182850">
            <a:spAutoFit/>
          </a:bodyPr>
          <a:lstStyle/>
          <a:p>
            <a:pPr indent="0" lvl="0" marL="0" rtl="0" algn="ctr">
              <a:lnSpc>
                <a:spcPct val="115000"/>
              </a:lnSpc>
              <a:spcBef>
                <a:spcPts val="1200"/>
              </a:spcBef>
              <a:spcAft>
                <a:spcPts val="0"/>
              </a:spcAft>
              <a:buClr>
                <a:schemeClr val="dk1"/>
              </a:buClr>
              <a:buSzPts val="1100"/>
              <a:buFont typeface="Arial"/>
              <a:buNone/>
            </a:pPr>
            <a:r>
              <a:rPr lang="en" sz="1600">
                <a:solidFill>
                  <a:schemeClr val="dk1"/>
                </a:solidFill>
                <a:latin typeface="Montserrat"/>
                <a:ea typeface="Montserrat"/>
                <a:cs typeface="Montserrat"/>
                <a:sym typeface="Montserrat"/>
              </a:rPr>
              <a:t>Estos estándares se miden en EXPA a través de las encuestas que completan los EPs (personas que están realizando el intercambio) durante y al final de la experiencia.</a:t>
            </a:r>
            <a:endParaRPr sz="1600">
              <a:solidFill>
                <a:schemeClr val="dk1"/>
              </a:solidFill>
              <a:latin typeface="Montserrat"/>
              <a:ea typeface="Montserrat"/>
              <a:cs typeface="Montserrat"/>
              <a:sym typeface="Montserrat"/>
            </a:endParaRPr>
          </a:p>
          <a:p>
            <a:pPr indent="0" lvl="0" marL="0" rtl="0" algn="ctr">
              <a:lnSpc>
                <a:spcPct val="115000"/>
              </a:lnSpc>
              <a:spcBef>
                <a:spcPts val="1200"/>
              </a:spcBef>
              <a:spcAft>
                <a:spcPts val="1200"/>
              </a:spcAft>
              <a:buClr>
                <a:schemeClr val="dk1"/>
              </a:buClr>
              <a:buSzPts val="1100"/>
              <a:buFont typeface="Arial"/>
              <a:buNone/>
            </a:pPr>
            <a:r>
              <a:rPr lang="en" sz="1600">
                <a:solidFill>
                  <a:schemeClr val="dk1"/>
                </a:solidFill>
                <a:latin typeface="Montserrat"/>
                <a:ea typeface="Montserrat"/>
                <a:cs typeface="Montserrat"/>
                <a:sym typeface="Montserrat"/>
              </a:rPr>
              <a:t>📝 La última encuesta determina si el EP es CO (Completed) o no. ¡Por eso es clave asegurarnos de que cada experiencia sea increíble!</a:t>
            </a:r>
            <a:endParaRPr sz="1600">
              <a:solidFill>
                <a:srgbClr val="3F3F3F"/>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p41"/>
          <p:cNvSpPr txBox="1"/>
          <p:nvPr/>
        </p:nvSpPr>
        <p:spPr>
          <a:xfrm>
            <a:off x="413125" y="1181100"/>
            <a:ext cx="8058000" cy="2533500"/>
          </a:xfrm>
          <a:prstGeom prst="rect">
            <a:avLst/>
          </a:prstGeom>
          <a:noFill/>
          <a:ln>
            <a:noFill/>
          </a:ln>
        </p:spPr>
        <p:txBody>
          <a:bodyPr anchorCtr="0" anchor="ctr" bIns="182850" lIns="182850" spcFirstLastPara="1" rIns="182850" wrap="square" tIns="182850">
            <a:spAutoFit/>
          </a:bodyPr>
          <a:lstStyle/>
          <a:p>
            <a:pPr indent="0" lvl="0" marL="0" rtl="0" algn="ctr">
              <a:lnSpc>
                <a:spcPct val="115000"/>
              </a:lnSpc>
              <a:spcBef>
                <a:spcPts val="1200"/>
              </a:spcBef>
              <a:spcAft>
                <a:spcPts val="0"/>
              </a:spcAft>
              <a:buNone/>
            </a:pPr>
            <a:r>
              <a:rPr lang="en">
                <a:solidFill>
                  <a:schemeClr val="dk1"/>
                </a:solidFill>
                <a:latin typeface="Montserrat"/>
                <a:ea typeface="Montserrat"/>
                <a:cs typeface="Montserrat"/>
                <a:sym typeface="Montserrat"/>
              </a:rPr>
              <a:t>🚀 ¡Depende de nosotros hacer que cada intercambio sea de calidad!</a:t>
            </a:r>
            <a:br>
              <a:rPr lang="en">
                <a:solidFill>
                  <a:schemeClr val="dk1"/>
                </a:solidFill>
                <a:latin typeface="Montserrat"/>
                <a:ea typeface="Montserrat"/>
                <a:cs typeface="Montserrat"/>
                <a:sym typeface="Montserrat"/>
              </a:rPr>
            </a:br>
            <a:r>
              <a:rPr lang="en">
                <a:solidFill>
                  <a:schemeClr val="dk1"/>
                </a:solidFill>
                <a:latin typeface="Montserrat"/>
                <a:ea typeface="Montserrat"/>
                <a:cs typeface="Montserrat"/>
                <a:sym typeface="Montserrat"/>
              </a:rPr>
              <a:t>✅ Asegurémonos de cumplir cada estándar en nuestras experiencias.</a:t>
            </a:r>
            <a:br>
              <a:rPr lang="en">
                <a:solidFill>
                  <a:schemeClr val="dk1"/>
                </a:solidFill>
                <a:latin typeface="Montserrat"/>
                <a:ea typeface="Montserrat"/>
                <a:cs typeface="Montserrat"/>
                <a:sym typeface="Montserrat"/>
              </a:rPr>
            </a:br>
            <a:r>
              <a:rPr lang="en">
                <a:solidFill>
                  <a:schemeClr val="dk1"/>
                </a:solidFill>
                <a:latin typeface="Montserrat"/>
                <a:ea typeface="Montserrat"/>
                <a:cs typeface="Montserrat"/>
                <a:sym typeface="Montserrat"/>
              </a:rPr>
              <a:t>✅ Hagamos seguimiento y mejoremos los procesos.</a:t>
            </a:r>
            <a:br>
              <a:rPr lang="en">
                <a:solidFill>
                  <a:schemeClr val="dk1"/>
                </a:solidFill>
                <a:latin typeface="Montserrat"/>
                <a:ea typeface="Montserrat"/>
                <a:cs typeface="Montserrat"/>
                <a:sym typeface="Montserrat"/>
              </a:rPr>
            </a:br>
            <a:r>
              <a:rPr lang="en">
                <a:solidFill>
                  <a:schemeClr val="dk1"/>
                </a:solidFill>
                <a:latin typeface="Montserrat"/>
                <a:ea typeface="Montserrat"/>
                <a:cs typeface="Montserrat"/>
                <a:sym typeface="Montserrat"/>
              </a:rPr>
              <a:t>✅ Convirtamos cada intercambio en una historia de éxito.</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None/>
            </a:pPr>
            <a:r>
              <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0"/>
              </a:spcAft>
              <a:buNone/>
            </a:pPr>
            <a:r>
              <a:rPr lang="en">
                <a:solidFill>
                  <a:schemeClr val="dk1"/>
                </a:solidFill>
                <a:latin typeface="Montserrat"/>
                <a:ea typeface="Montserrat"/>
                <a:cs typeface="Montserrat"/>
                <a:sym typeface="Montserrat"/>
              </a:rPr>
              <a:t> 🔗 Les dejo un link con toda la información que necesiten de los estándares:</a:t>
            </a:r>
            <a:endParaRPr>
              <a:solidFill>
                <a:schemeClr val="dk1"/>
              </a:solidFill>
              <a:latin typeface="Montserrat"/>
              <a:ea typeface="Montserrat"/>
              <a:cs typeface="Montserrat"/>
              <a:sym typeface="Montserrat"/>
            </a:endParaRPr>
          </a:p>
          <a:p>
            <a:pPr indent="0" lvl="0" marL="0" rtl="0" algn="ctr">
              <a:lnSpc>
                <a:spcPct val="115000"/>
              </a:lnSpc>
              <a:spcBef>
                <a:spcPts val="1200"/>
              </a:spcBef>
              <a:spcAft>
                <a:spcPts val="1200"/>
              </a:spcAft>
              <a:buNone/>
            </a:pPr>
            <a:r>
              <a:rPr lang="en" u="sng">
                <a:solidFill>
                  <a:schemeClr val="hlink"/>
                </a:solidFill>
                <a:latin typeface="Montserrat"/>
                <a:ea typeface="Montserrat"/>
                <a:cs typeface="Montserrat"/>
                <a:sym typeface="Montserrat"/>
                <a:hlinkClick r:id="rId4"/>
              </a:rPr>
              <a:t>Estandares</a:t>
            </a:r>
            <a:r>
              <a:rPr lang="en">
                <a:solidFill>
                  <a:schemeClr val="dk1"/>
                </a:solidFill>
                <a:latin typeface="Montserrat"/>
                <a:ea typeface="Montserrat"/>
                <a:cs typeface="Montserrat"/>
                <a:sym typeface="Montserrat"/>
              </a:rPr>
              <a:t> </a:t>
            </a:r>
            <a:endParaRPr>
              <a:solidFill>
                <a:schemeClr val="dk1"/>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1" name="Shape 30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